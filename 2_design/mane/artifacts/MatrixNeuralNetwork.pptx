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handoutMasterIdLst>
    <p:handoutMasterId r:id="rId64"/>
  </p:handoutMasterIdLst>
  <p:sldIdLst>
    <p:sldId id="256" r:id="rId2"/>
    <p:sldId id="313" r:id="rId3"/>
    <p:sldId id="314" r:id="rId4"/>
    <p:sldId id="366" r:id="rId5"/>
    <p:sldId id="371" r:id="rId6"/>
    <p:sldId id="373" r:id="rId7"/>
    <p:sldId id="374" r:id="rId8"/>
    <p:sldId id="379" r:id="rId9"/>
    <p:sldId id="375" r:id="rId10"/>
    <p:sldId id="376" r:id="rId11"/>
    <p:sldId id="377" r:id="rId12"/>
    <p:sldId id="378" r:id="rId13"/>
    <p:sldId id="423" r:id="rId14"/>
    <p:sldId id="367" r:id="rId15"/>
    <p:sldId id="380" r:id="rId16"/>
    <p:sldId id="420" r:id="rId17"/>
    <p:sldId id="421" r:id="rId18"/>
    <p:sldId id="422" r:id="rId19"/>
    <p:sldId id="381" r:id="rId20"/>
    <p:sldId id="382" r:id="rId21"/>
    <p:sldId id="383" r:id="rId22"/>
    <p:sldId id="384" r:id="rId23"/>
    <p:sldId id="385" r:id="rId24"/>
    <p:sldId id="386" r:id="rId25"/>
    <p:sldId id="387" r:id="rId26"/>
    <p:sldId id="388" r:id="rId27"/>
    <p:sldId id="389" r:id="rId28"/>
    <p:sldId id="390" r:id="rId29"/>
    <p:sldId id="391" r:id="rId30"/>
    <p:sldId id="392" r:id="rId31"/>
    <p:sldId id="393" r:id="rId32"/>
    <p:sldId id="394" r:id="rId33"/>
    <p:sldId id="395" r:id="rId34"/>
    <p:sldId id="396" r:id="rId35"/>
    <p:sldId id="368" r:id="rId36"/>
    <p:sldId id="397" r:id="rId37"/>
    <p:sldId id="398" r:id="rId38"/>
    <p:sldId id="399" r:id="rId39"/>
    <p:sldId id="400" r:id="rId40"/>
    <p:sldId id="401" r:id="rId41"/>
    <p:sldId id="402" r:id="rId42"/>
    <p:sldId id="369" r:id="rId43"/>
    <p:sldId id="403" r:id="rId44"/>
    <p:sldId id="404" r:id="rId45"/>
    <p:sldId id="405" r:id="rId46"/>
    <p:sldId id="407" r:id="rId47"/>
    <p:sldId id="408" r:id="rId48"/>
    <p:sldId id="409" r:id="rId49"/>
    <p:sldId id="410" r:id="rId50"/>
    <p:sldId id="411" r:id="rId51"/>
    <p:sldId id="412" r:id="rId52"/>
    <p:sldId id="413" r:id="rId53"/>
    <p:sldId id="415" r:id="rId54"/>
    <p:sldId id="414" r:id="rId55"/>
    <p:sldId id="416" r:id="rId56"/>
    <p:sldId id="417" r:id="rId57"/>
    <p:sldId id="418" r:id="rId58"/>
    <p:sldId id="372" r:id="rId59"/>
    <p:sldId id="419" r:id="rId60"/>
    <p:sldId id="370" r:id="rId61"/>
    <p:sldId id="311"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533" autoAdjust="0"/>
  </p:normalViewPr>
  <p:slideViewPr>
    <p:cSldViewPr snapToGrid="0">
      <p:cViewPr varScale="1">
        <p:scale>
          <a:sx n="63" d="100"/>
          <a:sy n="63" d="100"/>
        </p:scale>
        <p:origin x="804" y="6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6" d="100"/>
          <a:sy n="56" d="100"/>
        </p:scale>
        <p:origin x="2856"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A3D5FF-0CEC-49D8-BF8A-0B00BB6525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5ADA447-B21B-4FBA-A3C9-575D56E9B35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6B30CB-839A-47A6-9532-260122BEAE9C}" type="datetimeFigureOut">
              <a:rPr lang="en-US" smtClean="0"/>
              <a:t>9/25/2026</a:t>
            </a:fld>
            <a:endParaRPr lang="en-US"/>
          </a:p>
        </p:txBody>
      </p:sp>
      <p:sp>
        <p:nvSpPr>
          <p:cNvPr id="4" name="Footer Placeholder 3">
            <a:extLst>
              <a:ext uri="{FF2B5EF4-FFF2-40B4-BE49-F238E27FC236}">
                <a16:creationId xmlns:a16="http://schemas.microsoft.com/office/drawing/2014/main" id="{003E0C6A-F00E-45DE-9607-30984D6402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B8D0529-25A5-4112-9369-21C35E3F78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14DF5EF-899D-4A93-BF6E-10CBE4B2D858}" type="slidenum">
              <a:rPr lang="en-US" smtClean="0"/>
              <a:t>‹#›</a:t>
            </a:fld>
            <a:endParaRPr lang="en-US"/>
          </a:p>
        </p:txBody>
      </p:sp>
    </p:spTree>
    <p:extLst>
      <p:ext uri="{BB962C8B-B14F-4D97-AF65-F5344CB8AC3E}">
        <p14:creationId xmlns:p14="http://schemas.microsoft.com/office/powerpoint/2010/main" val="1489358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6BD8EF-833A-4756-9DE8-262172883D9B}"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3153D4-6007-4D70-A0D5-F421EBC11E1D}" type="slidenum">
              <a:rPr lang="en-US" smtClean="0"/>
              <a:t>‹#›</a:t>
            </a:fld>
            <a:endParaRPr lang="en-US"/>
          </a:p>
        </p:txBody>
      </p:sp>
    </p:spTree>
    <p:extLst>
      <p:ext uri="{BB962C8B-B14F-4D97-AF65-F5344CB8AC3E}">
        <p14:creationId xmlns:p14="http://schemas.microsoft.com/office/powerpoint/2010/main" val="1119136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2pPr>
    <a:lvl3pPr marL="9144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3pPr>
    <a:lvl4pPr marL="13716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4pPr>
    <a:lvl5pPr marL="18288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83153D4-6007-4D70-A0D5-F421EBC11E1D}" type="slidenum">
              <a:rPr lang="en-US" smtClean="0"/>
              <a:t>1</a:t>
            </a:fld>
            <a:endParaRPr lang="en-US"/>
          </a:p>
        </p:txBody>
      </p:sp>
    </p:spTree>
    <p:extLst>
      <p:ext uri="{BB962C8B-B14F-4D97-AF65-F5344CB8AC3E}">
        <p14:creationId xmlns:p14="http://schemas.microsoft.com/office/powerpoint/2010/main" val="2446642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3153D4-6007-4D70-A0D5-F421EBC11E1D}" type="slidenum">
              <a:rPr lang="en-US" smtClean="0"/>
              <a:t>14</a:t>
            </a:fld>
            <a:endParaRPr lang="en-US"/>
          </a:p>
        </p:txBody>
      </p:sp>
    </p:spTree>
    <p:extLst>
      <p:ext uri="{BB962C8B-B14F-4D97-AF65-F5344CB8AC3E}">
        <p14:creationId xmlns:p14="http://schemas.microsoft.com/office/powerpoint/2010/main" val="1688659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 are some mathematical calculations to estimate MNN parameters.</a:t>
            </a:r>
            <a:endParaRPr lang="en-US" dirty="0"/>
          </a:p>
        </p:txBody>
      </p:sp>
      <p:sp>
        <p:nvSpPr>
          <p:cNvPr id="4" name="Slide Number Placeholder 3"/>
          <p:cNvSpPr>
            <a:spLocks noGrp="1"/>
          </p:cNvSpPr>
          <p:nvPr>
            <p:ph type="sldNum" sz="quarter" idx="10"/>
          </p:nvPr>
        </p:nvSpPr>
        <p:spPr/>
        <p:txBody>
          <a:bodyPr/>
          <a:lstStyle/>
          <a:p>
            <a:fld id="{583153D4-6007-4D70-A0D5-F421EBC11E1D}" type="slidenum">
              <a:rPr lang="en-US" smtClean="0"/>
              <a:t>16</a:t>
            </a:fld>
            <a:endParaRPr lang="en-US"/>
          </a:p>
        </p:txBody>
      </p:sp>
    </p:spTree>
    <p:extLst>
      <p:ext uri="{BB962C8B-B14F-4D97-AF65-F5344CB8AC3E}">
        <p14:creationId xmlns:p14="http://schemas.microsoft.com/office/powerpoint/2010/main" val="1948253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Some mathematical calculations to estimate</a:t>
            </a:r>
            <a:r>
              <a:rPr lang="en-US" baseline="0" dirty="0" smtClean="0"/>
              <a:t> transformer parameters.</a:t>
            </a:r>
            <a:endParaRPr lang="en-US" dirty="0"/>
          </a:p>
        </p:txBody>
      </p:sp>
      <p:sp>
        <p:nvSpPr>
          <p:cNvPr id="4" name="Slide Number Placeholder 3"/>
          <p:cNvSpPr>
            <a:spLocks noGrp="1"/>
          </p:cNvSpPr>
          <p:nvPr>
            <p:ph type="sldNum" sz="quarter" idx="10"/>
          </p:nvPr>
        </p:nvSpPr>
        <p:spPr/>
        <p:txBody>
          <a:bodyPr/>
          <a:lstStyle/>
          <a:p>
            <a:fld id="{583153D4-6007-4D70-A0D5-F421EBC11E1D}" type="slidenum">
              <a:rPr lang="en-US" smtClean="0"/>
              <a:t>28</a:t>
            </a:fld>
            <a:endParaRPr lang="en-US"/>
          </a:p>
        </p:txBody>
      </p:sp>
    </p:spTree>
    <p:extLst>
      <p:ext uri="{BB962C8B-B14F-4D97-AF65-F5344CB8AC3E}">
        <p14:creationId xmlns:p14="http://schemas.microsoft.com/office/powerpoint/2010/main" val="598890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83153D4-6007-4D70-A0D5-F421EBC11E1D}" type="slidenum">
              <a:rPr lang="en-US" smtClean="0"/>
              <a:t>42</a:t>
            </a:fld>
            <a:endParaRPr lang="en-US"/>
          </a:p>
        </p:txBody>
      </p:sp>
    </p:spTree>
    <p:extLst>
      <p:ext uri="{BB962C8B-B14F-4D97-AF65-F5344CB8AC3E}">
        <p14:creationId xmlns:p14="http://schemas.microsoft.com/office/powerpoint/2010/main" val="3640705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83153D4-6007-4D70-A0D5-F421EBC11E1D}" type="slidenum">
              <a:rPr lang="en-US" smtClean="0"/>
              <a:t>61</a:t>
            </a:fld>
            <a:endParaRPr lang="en-US"/>
          </a:p>
        </p:txBody>
      </p:sp>
    </p:spTree>
    <p:extLst>
      <p:ext uri="{BB962C8B-B14F-4D97-AF65-F5344CB8AC3E}">
        <p14:creationId xmlns:p14="http://schemas.microsoft.com/office/powerpoint/2010/main" val="396290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55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3/4/2026</a:t>
            </a:r>
            <a:endParaRPr lang="en-US"/>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4161090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17986"/>
            <a:ext cx="10515600" cy="660486"/>
          </a:xfrm>
        </p:spPr>
        <p:txBody>
          <a:bodyPr/>
          <a:lstStyle>
            <a:lvl1pPr>
              <a:lnSpc>
                <a:spcPct val="100000"/>
              </a:lnSpc>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838200" y="914399"/>
            <a:ext cx="10515600" cy="5176066"/>
          </a:xfrm>
        </p:spPr>
        <p:txBody>
          <a:bodyPr/>
          <a:lstStyle>
            <a:lvl1pPr algn="just">
              <a:lnSpc>
                <a:spcPct val="100000"/>
              </a:lnSpc>
              <a:spcBef>
                <a:spcPts val="0"/>
              </a:spcBef>
              <a:defRPr>
                <a:latin typeface="Times New Roman" panose="02020603050405020304" pitchFamily="18" charset="0"/>
                <a:cs typeface="Times New Roman" panose="02020603050405020304" pitchFamily="18" charset="0"/>
              </a:defRPr>
            </a:lvl1pPr>
            <a:lvl2pPr algn="just">
              <a:lnSpc>
                <a:spcPct val="100000"/>
              </a:lnSpc>
              <a:spcBef>
                <a:spcPts val="0"/>
              </a:spcBef>
              <a:defRPr>
                <a:latin typeface="Times New Roman" panose="02020603050405020304" pitchFamily="18" charset="0"/>
                <a:cs typeface="Times New Roman" panose="02020603050405020304" pitchFamily="18" charset="0"/>
              </a:defRPr>
            </a:lvl2pPr>
            <a:lvl3pPr algn="just">
              <a:lnSpc>
                <a:spcPct val="100000"/>
              </a:lnSpc>
              <a:spcBef>
                <a:spcPts val="0"/>
              </a:spcBef>
              <a:defRPr>
                <a:latin typeface="Times New Roman" panose="02020603050405020304" pitchFamily="18" charset="0"/>
                <a:cs typeface="Times New Roman" panose="02020603050405020304" pitchFamily="18" charset="0"/>
              </a:defRPr>
            </a:lvl3pPr>
            <a:lvl4pPr algn="just">
              <a:lnSpc>
                <a:spcPct val="100000"/>
              </a:lnSpc>
              <a:spcBef>
                <a:spcPts val="0"/>
              </a:spcBef>
              <a:defRPr>
                <a:latin typeface="Times New Roman" panose="02020603050405020304" pitchFamily="18" charset="0"/>
                <a:cs typeface="Times New Roman" panose="02020603050405020304" pitchFamily="18" charset="0"/>
              </a:defRPr>
            </a:lvl4pPr>
            <a:lvl5pPr algn="just">
              <a:lnSpc>
                <a:spcPct val="100000"/>
              </a:lnSpc>
              <a:spcBef>
                <a:spcPts val="0"/>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3/4/2026</a:t>
            </a:r>
            <a:endParaRPr lang="en-US"/>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2872447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3/4/2026</a:t>
            </a:r>
            <a:endParaRPr lang="en-US"/>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2008347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3/4/2026</a:t>
            </a:r>
            <a:endParaRPr lang="en-US"/>
          </a:p>
        </p:txBody>
      </p:sp>
      <p:sp>
        <p:nvSpPr>
          <p:cNvPr id="6" name="Footer Placeholder 5"/>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Matrix neural network - Loc Nguyen</a:t>
            </a:r>
            <a:endParaRPr lang="en-US"/>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106093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atin typeface="Times New Roman" panose="02020603050405020304" pitchFamily="18" charset="0"/>
                <a:cs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atin typeface="Times New Roman" panose="02020603050405020304" pitchFamily="18" charset="0"/>
                <a:cs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3/4/2026</a:t>
            </a:r>
            <a:endParaRPr lang="en-US"/>
          </a:p>
        </p:txBody>
      </p:sp>
      <p:sp>
        <p:nvSpPr>
          <p:cNvPr id="8" name="Footer Placeholder 7"/>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Matrix neural network - Loc Nguyen</a:t>
            </a:r>
            <a:endParaRPr lang="en-US"/>
          </a:p>
        </p:txBody>
      </p:sp>
      <p:sp>
        <p:nvSpPr>
          <p:cNvPr id="9" name="Slide Number Placeholder 8"/>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1867996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Date Placeholder 2"/>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3/4/2026</a:t>
            </a:r>
            <a:endParaRPr lang="en-US"/>
          </a:p>
        </p:txBody>
      </p:sp>
      <p:sp>
        <p:nvSpPr>
          <p:cNvPr id="4" name="Footer Placeholder 3"/>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Matrix neural network - Loc Nguyen</a:t>
            </a:r>
            <a:endParaRPr lang="en-US"/>
          </a:p>
        </p:txBody>
      </p:sp>
      <p:sp>
        <p:nvSpPr>
          <p:cNvPr id="5" name="Slide Number Placeholder 4"/>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656700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3/4/2026</a:t>
            </a:r>
            <a:endParaRPr lang="en-US"/>
          </a:p>
        </p:txBody>
      </p:sp>
      <p:sp>
        <p:nvSpPr>
          <p:cNvPr id="3" name="Footer Placeholder 2"/>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Matrix neural network - Loc Nguyen</a:t>
            </a:r>
            <a:endParaRPr lang="en-US"/>
          </a:p>
        </p:txBody>
      </p:sp>
      <p:sp>
        <p:nvSpPr>
          <p:cNvPr id="4" name="Slide Number Placeholder 3"/>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3959342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atin typeface="Times New Roman" panose="02020603050405020304" pitchFamily="18" charset="0"/>
                <a:cs typeface="Times New Roman" panose="02020603050405020304" pitchFamily="18" charset="0"/>
              </a:defRPr>
            </a:lvl1pPr>
            <a:lvl2pPr>
              <a:defRPr sz="2800">
                <a:latin typeface="Times New Roman" panose="02020603050405020304" pitchFamily="18" charset="0"/>
                <a:cs typeface="Times New Roman" panose="02020603050405020304" pitchFamily="18" charset="0"/>
              </a:defRPr>
            </a:lvl2pPr>
            <a:lvl3pPr>
              <a:defRPr sz="2400">
                <a:latin typeface="Times New Roman" panose="02020603050405020304" pitchFamily="18" charset="0"/>
                <a:cs typeface="Times New Roman" panose="02020603050405020304" pitchFamily="18" charset="0"/>
              </a:defRPr>
            </a:lvl3pPr>
            <a:lvl4pPr>
              <a:defRPr sz="2000">
                <a:latin typeface="Times New Roman" panose="02020603050405020304" pitchFamily="18" charset="0"/>
                <a:cs typeface="Times New Roman" panose="02020603050405020304" pitchFamily="18" charset="0"/>
              </a:defRPr>
            </a:lvl4pPr>
            <a:lvl5pPr>
              <a:defRPr sz="2000">
                <a:latin typeface="Times New Roman" panose="02020603050405020304" pitchFamily="18" charset="0"/>
                <a:cs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atin typeface="Times New Roman" panose="02020603050405020304" pitchFamily="18" charset="0"/>
                <a:cs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3/4/2026</a:t>
            </a:r>
            <a:endParaRPr lang="en-US"/>
          </a:p>
        </p:txBody>
      </p:sp>
      <p:sp>
        <p:nvSpPr>
          <p:cNvPr id="6" name="Footer Placeholder 5"/>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Matrix neural network - Loc Nguyen</a:t>
            </a:r>
            <a:endParaRPr lang="en-US"/>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77249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atin typeface="Times New Roman" panose="02020603050405020304" pitchFamily="18" charset="0"/>
                <a:cs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atin typeface="Times New Roman" panose="02020603050405020304" pitchFamily="18" charset="0"/>
                <a:cs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3/4/2026</a:t>
            </a:r>
            <a:endParaRPr lang="en-US"/>
          </a:p>
        </p:txBody>
      </p:sp>
      <p:sp>
        <p:nvSpPr>
          <p:cNvPr id="6" name="Footer Placeholder 5"/>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Matrix neural network - Loc Nguyen</a:t>
            </a:r>
            <a:endParaRPr lang="en-US"/>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600367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3/4/2026</a:t>
            </a:r>
            <a:endParaRPr lang="en-US"/>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1349822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3/4/2026</a:t>
            </a:r>
            <a:endParaRPr lang="en-US"/>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3453315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16842"/>
            <a:ext cx="10515600" cy="66048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223319"/>
            <a:ext cx="10515600" cy="495364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cs typeface="Times New Roman" panose="02020603050405020304" pitchFamily="18" charset="0"/>
              </a:defRPr>
            </a:lvl1pPr>
          </a:lstStyle>
          <a:p>
            <a:r>
              <a:rPr lang="en-US" smtClean="0"/>
              <a:t>3/4/2026</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cs typeface="Times New Roman" panose="02020603050405020304" pitchFamily="18" charset="0"/>
              </a:defRPr>
            </a:lvl1pPr>
          </a:lstStyle>
          <a:p>
            <a:r>
              <a:rPr lang="en-US" smtClean="0"/>
              <a:t>Matrix neural network - Loc Nguyen</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4878035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35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87287" y="949111"/>
            <a:ext cx="10217426" cy="2387600"/>
          </a:xfrm>
        </p:spPr>
        <p:txBody>
          <a:bodyPr>
            <a:normAutofit/>
          </a:bodyPr>
          <a:lstStyle/>
          <a:p>
            <a:r>
              <a:rPr lang="en-US" sz="3500" b="1" dirty="0"/>
              <a:t>Is matrix neural network the alternative of convolutional neural network?</a:t>
            </a:r>
            <a:endParaRPr lang="en-US" sz="3500" dirty="0"/>
          </a:p>
        </p:txBody>
      </p:sp>
      <p:sp>
        <p:nvSpPr>
          <p:cNvPr id="3" name="Subtitle 2"/>
          <p:cNvSpPr>
            <a:spLocks noGrp="1"/>
          </p:cNvSpPr>
          <p:nvPr>
            <p:ph type="subTitle" idx="1"/>
          </p:nvPr>
        </p:nvSpPr>
        <p:spPr>
          <a:xfrm>
            <a:off x="1524000" y="3534803"/>
            <a:ext cx="9144000" cy="1655762"/>
          </a:xfrm>
        </p:spPr>
        <p:txBody>
          <a:bodyPr>
            <a:normAutofit lnSpcReduction="10000"/>
          </a:bodyPr>
          <a:lstStyle/>
          <a:p>
            <a:r>
              <a:rPr lang="en-US" dirty="0" smtClean="0"/>
              <a:t>Professor Dr. </a:t>
            </a:r>
            <a:r>
              <a:rPr lang="en-US" dirty="0"/>
              <a:t>Loc </a:t>
            </a:r>
            <a:r>
              <a:rPr lang="en-US" dirty="0" smtClean="0"/>
              <a:t>Nguyen, PhD</a:t>
            </a:r>
            <a:r>
              <a:rPr lang="en-US" dirty="0"/>
              <a:t>, </a:t>
            </a:r>
            <a:r>
              <a:rPr lang="en-US" dirty="0" smtClean="0"/>
              <a:t>Postdoc</a:t>
            </a:r>
            <a:endParaRPr lang="en-US" dirty="0"/>
          </a:p>
          <a:p>
            <a:r>
              <a:rPr lang="en-US" dirty="0" smtClean="0"/>
              <a:t>Loc Nguyen’s Academic Network, </a:t>
            </a:r>
            <a:r>
              <a:rPr lang="en-US" dirty="0"/>
              <a:t>Vietnam</a:t>
            </a:r>
          </a:p>
          <a:p>
            <a:r>
              <a:rPr lang="en-US" dirty="0"/>
              <a:t>Email: ng_phloc@yahoo.com</a:t>
            </a:r>
          </a:p>
          <a:p>
            <a:r>
              <a:rPr lang="en-US" dirty="0"/>
              <a:t>Homepage: www.locnguyen.net</a:t>
            </a:r>
          </a:p>
          <a:p>
            <a:endParaRPr lang="en-US" dirty="0"/>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Date Placeholder 5"/>
          <p:cNvSpPr>
            <a:spLocks noGrp="1"/>
          </p:cNvSpPr>
          <p:nvPr>
            <p:ph type="dt" sz="half" idx="10"/>
          </p:nvPr>
        </p:nvSpPr>
        <p:spPr/>
        <p:txBody>
          <a:bodyPr/>
          <a:lstStyle/>
          <a:p>
            <a:r>
              <a:rPr lang="en-US" smtClean="0"/>
              <a:t>3/4/2026</a:t>
            </a:r>
            <a:endParaRPr lang="en-US"/>
          </a:p>
        </p:txBody>
      </p:sp>
      <p:sp>
        <p:nvSpPr>
          <p:cNvPr id="7" name="Slide Number Placeholder 6"/>
          <p:cNvSpPr>
            <a:spLocks noGrp="1"/>
          </p:cNvSpPr>
          <p:nvPr>
            <p:ph type="sldNum" sz="quarter" idx="12"/>
          </p:nvPr>
        </p:nvSpPr>
        <p:spPr/>
        <p:txBody>
          <a:bodyPr/>
          <a:lstStyle/>
          <a:p>
            <a:fld id="{5DB5036F-1FF2-46C4-8D2B-59C7E3B91952}" type="slidenum">
              <a:rPr lang="en-US" smtClean="0"/>
              <a:pPr/>
              <a:t>1</a:t>
            </a:fld>
            <a:endParaRPr lang="en-US"/>
          </a:p>
        </p:txBody>
      </p:sp>
    </p:spTree>
    <p:extLst>
      <p:ext uri="{BB962C8B-B14F-4D97-AF65-F5344CB8AC3E}">
        <p14:creationId xmlns:p14="http://schemas.microsoft.com/office/powerpoint/2010/main" val="6468080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p>
        </p:txBody>
      </p:sp>
      <p:sp>
        <p:nvSpPr>
          <p:cNvPr id="3" name="Content Placeholder 2"/>
          <p:cNvSpPr>
            <a:spLocks noGrp="1"/>
          </p:cNvSpPr>
          <p:nvPr>
            <p:ph idx="1"/>
          </p:nvPr>
        </p:nvSpPr>
        <p:spPr>
          <a:xfrm>
            <a:off x="142240" y="914399"/>
            <a:ext cx="11856720" cy="5176066"/>
          </a:xfrm>
        </p:spPr>
        <p:txBody>
          <a:bodyPr>
            <a:noAutofit/>
          </a:bodyPr>
          <a:lstStyle/>
          <a:p>
            <a:pPr marL="0" indent="0">
              <a:buNone/>
            </a:pPr>
            <a:r>
              <a:rPr lang="en-US" sz="1900" dirty="0"/>
              <a:t>Currently (2025), deep learning is the most important and popular methodology in artificial intelligence (AI) and artificial neural network (ANN) is the foundation of deep learning. The main drawback of ANN is the boom problem of a huge number of parametric weights when ANN in deep learning establishes a large number of hidden layers</a:t>
            </a:r>
            <a:r>
              <a:rPr lang="en-US" sz="1900" dirty="0" smtClean="0"/>
              <a:t>. </a:t>
            </a:r>
            <a:r>
              <a:rPr lang="en-US" sz="1900" dirty="0"/>
              <a:t>The excellent solution for image processing within context of deep </a:t>
            </a:r>
            <a:r>
              <a:rPr lang="en-US" sz="1900" dirty="0" smtClean="0"/>
              <a:t>learning is convolutional </a:t>
            </a:r>
            <a:r>
              <a:rPr lang="en-US" sz="1900" dirty="0"/>
              <a:t>neural network (CNN</a:t>
            </a:r>
            <a:r>
              <a:rPr lang="en-US" sz="1900" dirty="0" smtClean="0"/>
              <a:t>) where </a:t>
            </a:r>
            <a:r>
              <a:rPr lang="en-US" sz="1900" dirty="0"/>
              <a:t>a so-called filtering kernel which is often 3x3 </a:t>
            </a:r>
            <a:r>
              <a:rPr lang="en-US" sz="1900" dirty="0" smtClean="0"/>
              <a:t>or </a:t>
            </a:r>
            <a:r>
              <a:rPr lang="en-US" sz="1900" dirty="0"/>
              <a:t>5x5 matrix which is convoluted over entire image </a:t>
            </a:r>
            <a:r>
              <a:rPr lang="en-US" sz="1900" dirty="0" smtClean="0"/>
              <a:t>data. Another </a:t>
            </a:r>
            <a:r>
              <a:rPr lang="en-US" sz="1900" dirty="0"/>
              <a:t>solution of the boom problem is that large parametric weight vector is organized as matrix that is the same structure of 2-dimension data like image, which leads to a so-called matrix neural network (MNN</a:t>
            </a:r>
            <a:r>
              <a:rPr lang="en-US" sz="1900" dirty="0" smtClean="0"/>
              <a:t>). </a:t>
            </a:r>
            <a:r>
              <a:rPr lang="en-US" sz="1900" dirty="0"/>
              <a:t>Computation cost of MNN is decreased significantly in comparison with ANN but it is necessary to test the effectiveness of MNN with respect to </a:t>
            </a:r>
            <a:r>
              <a:rPr lang="en-US" sz="1900" dirty="0" smtClean="0"/>
              <a:t>CNN according to the </a:t>
            </a:r>
            <a:r>
              <a:rPr lang="en-US" sz="1900" dirty="0"/>
              <a:t>main hypothesis “whether MNN is the alternative of CNN</a:t>
            </a:r>
            <a:r>
              <a:rPr lang="en-US" sz="1900" dirty="0" smtClean="0"/>
              <a:t>”.</a:t>
            </a:r>
            <a:r>
              <a:rPr lang="en-US" sz="1900" dirty="0"/>
              <a:t> </a:t>
            </a:r>
            <a:r>
              <a:rPr lang="en-US" sz="1900" dirty="0" smtClean="0"/>
              <a:t>Moreover</a:t>
            </a:r>
            <a:r>
              <a:rPr lang="en-US" sz="1900" dirty="0"/>
              <a:t>, transformer which is the new trend (2025) in AI and deep learning, which aims to improve/replace traditional ANN by self-supervised learning, in which attention is the significant mechanism of self-supervised learning</a:t>
            </a:r>
            <a:r>
              <a:rPr lang="en-US" sz="1900" dirty="0" smtClean="0"/>
              <a:t>.</a:t>
            </a:r>
            <a:r>
              <a:rPr lang="en-US" sz="1900" dirty="0"/>
              <a:t> Therefore, the implicit deep meanings of attention and filtering kernel are similar, which represents feature of data, which does not go beyond parametric weights too. </a:t>
            </a:r>
            <a:r>
              <a:rPr lang="en-US" sz="1900" dirty="0">
                <a:effectLst>
                  <a:outerShdw blurRad="38100" dist="38100" dir="2700000" algn="tl">
                    <a:srgbClr val="000000">
                      <a:alpha val="43137"/>
                    </a:srgbClr>
                  </a:outerShdw>
                </a:effectLst>
              </a:rPr>
              <a:t>In general, the research has two goals: 1) explaining and implementing ANN, CNN, and transformer (attention) and 2) applying analysis of variance (ANOVA) into evaluating the effectiveness of ANN, CNN, and transformer (attention) within context of image classification. The ultimate result is that it is not asserted that MNN is the alternative of CNN but MNN can be an optional choice for implementing ANN in context of image processing instead of focusing on the unique CNN solution.</a:t>
            </a:r>
            <a:r>
              <a:rPr lang="en-US" sz="1900" dirty="0"/>
              <a:t> Moreover, the incorporation of MNN and attention in implementing transformer produces a compromising solution of high performance and computational cost.</a:t>
            </a:r>
          </a:p>
        </p:txBody>
      </p:sp>
      <p:sp>
        <p:nvSpPr>
          <p:cNvPr id="4" name="Slide Number Placeholder 3"/>
          <p:cNvSpPr>
            <a:spLocks noGrp="1"/>
          </p:cNvSpPr>
          <p:nvPr>
            <p:ph type="sldNum" sz="quarter" idx="12"/>
          </p:nvPr>
        </p:nvSpPr>
        <p:spPr/>
        <p:txBody>
          <a:bodyPr/>
          <a:lstStyle/>
          <a:p>
            <a:fld id="{5DB5036F-1FF2-46C4-8D2B-59C7E3B91952}" type="slidenum">
              <a:rPr lang="en-US" smtClean="0"/>
              <a:pPr/>
              <a:t>2</a:t>
            </a:fld>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Date Placeholder 5"/>
          <p:cNvSpPr>
            <a:spLocks noGrp="1"/>
          </p:cNvSpPr>
          <p:nvPr>
            <p:ph type="dt" sz="half" idx="10"/>
          </p:nvPr>
        </p:nvSpPr>
        <p:spPr/>
        <p:txBody>
          <a:bodyPr/>
          <a:lstStyle/>
          <a:p>
            <a:r>
              <a:rPr lang="en-US" smtClean="0"/>
              <a:t>3/4/2026</a:t>
            </a:r>
            <a:endParaRPr lang="en-US"/>
          </a:p>
        </p:txBody>
      </p:sp>
    </p:spTree>
    <p:extLst>
      <p:ext uri="{BB962C8B-B14F-4D97-AF65-F5344CB8AC3E}">
        <p14:creationId xmlns:p14="http://schemas.microsoft.com/office/powerpoint/2010/main" val="29531206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Table of contents</a:t>
            </a:r>
          </a:p>
        </p:txBody>
      </p:sp>
      <p:sp>
        <p:nvSpPr>
          <p:cNvPr id="3" name="Content Placeholder 2"/>
          <p:cNvSpPr>
            <a:spLocks noGrp="1"/>
          </p:cNvSpPr>
          <p:nvPr>
            <p:ph idx="1"/>
          </p:nvPr>
        </p:nvSpPr>
        <p:spPr/>
        <p:txBody>
          <a:bodyPr/>
          <a:lstStyle/>
          <a:p>
            <a:pPr marL="457200" indent="-457200">
              <a:buFont typeface="+mj-lt"/>
              <a:buAutoNum type="arabicPeriod"/>
            </a:pPr>
            <a:r>
              <a:rPr lang="en-US" dirty="0"/>
              <a:t>Introduction</a:t>
            </a:r>
          </a:p>
          <a:p>
            <a:pPr marL="457200" indent="-457200">
              <a:buFont typeface="+mj-lt"/>
              <a:buAutoNum type="arabicPeriod"/>
            </a:pPr>
            <a:r>
              <a:rPr lang="en-US" dirty="0" smtClean="0"/>
              <a:t>Related works</a:t>
            </a:r>
          </a:p>
          <a:p>
            <a:pPr marL="457200" indent="-457200">
              <a:buFont typeface="+mj-lt"/>
              <a:buAutoNum type="arabicPeriod"/>
            </a:pPr>
            <a:r>
              <a:rPr lang="en-US" dirty="0"/>
              <a:t>Matrix neural network</a:t>
            </a:r>
          </a:p>
          <a:p>
            <a:pPr marL="457200" indent="-457200">
              <a:buFont typeface="+mj-lt"/>
              <a:buAutoNum type="arabicPeriod"/>
            </a:pPr>
            <a:r>
              <a:rPr lang="en-US" dirty="0"/>
              <a:t>Experimental </a:t>
            </a:r>
            <a:r>
              <a:rPr lang="en-US" dirty="0" smtClean="0"/>
              <a:t>design</a:t>
            </a:r>
          </a:p>
          <a:p>
            <a:pPr marL="457200" indent="-457200">
              <a:buFont typeface="+mj-lt"/>
              <a:buAutoNum type="arabicPeriod"/>
            </a:pPr>
            <a:r>
              <a:rPr lang="en-US" dirty="0"/>
              <a:t>Results and discussions</a:t>
            </a:r>
          </a:p>
          <a:p>
            <a:pPr marL="457200" indent="-457200">
              <a:buFont typeface="+mj-lt"/>
              <a:buAutoNum type="arabicPeriod"/>
            </a:pPr>
            <a:r>
              <a:rPr lang="en-US" dirty="0"/>
              <a:t>Conclusions</a:t>
            </a:r>
          </a:p>
        </p:txBody>
      </p:sp>
      <p:sp>
        <p:nvSpPr>
          <p:cNvPr id="4" name="Slide Number Placeholder 3"/>
          <p:cNvSpPr>
            <a:spLocks noGrp="1"/>
          </p:cNvSpPr>
          <p:nvPr>
            <p:ph type="sldNum" sz="quarter" idx="12"/>
          </p:nvPr>
        </p:nvSpPr>
        <p:spPr/>
        <p:txBody>
          <a:bodyPr/>
          <a:lstStyle/>
          <a:p>
            <a:fld id="{5DB5036F-1FF2-46C4-8D2B-59C7E3B91952}" type="slidenum">
              <a:rPr lang="en-US" smtClean="0"/>
              <a:pPr/>
              <a:t>3</a:t>
            </a:fld>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Date Placeholder 5"/>
          <p:cNvSpPr>
            <a:spLocks noGrp="1"/>
          </p:cNvSpPr>
          <p:nvPr>
            <p:ph type="dt" sz="half" idx="10"/>
          </p:nvPr>
        </p:nvSpPr>
        <p:spPr/>
        <p:txBody>
          <a:bodyPr/>
          <a:lstStyle/>
          <a:p>
            <a:r>
              <a:rPr lang="en-US" smtClean="0"/>
              <a:t>3/4/2026</a:t>
            </a:r>
            <a:endParaRPr lang="en-US"/>
          </a:p>
        </p:txBody>
      </p:sp>
    </p:spTree>
    <p:extLst>
      <p:ext uri="{BB962C8B-B14F-4D97-AF65-F5344CB8AC3E}">
        <p14:creationId xmlns:p14="http://schemas.microsoft.com/office/powerpoint/2010/main" val="31122415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smtClean="0"/>
              <a:t>Introduction (main)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1280" y="914399"/>
                <a:ext cx="12029440" cy="5176066"/>
              </a:xfrm>
            </p:spPr>
            <p:txBody>
              <a:bodyPr>
                <a:noAutofit/>
              </a:bodyPr>
              <a:lstStyle/>
              <a:p>
                <a:r>
                  <a:rPr lang="en-US" sz="2300" i="1" dirty="0" smtClean="0">
                    <a:effectLst>
                      <a:outerShdw blurRad="38100" dist="38100" dir="2700000" algn="tl">
                        <a:srgbClr val="000000">
                          <a:alpha val="43137"/>
                        </a:srgbClr>
                      </a:outerShdw>
                    </a:effectLst>
                  </a:rPr>
                  <a:t>Artificial </a:t>
                </a:r>
                <a:r>
                  <a:rPr lang="en-US" sz="2300" i="1" dirty="0">
                    <a:effectLst>
                      <a:outerShdw blurRad="38100" dist="38100" dir="2700000" algn="tl">
                        <a:srgbClr val="000000">
                          <a:alpha val="43137"/>
                        </a:srgbClr>
                      </a:outerShdw>
                    </a:effectLst>
                  </a:rPr>
                  <a:t>neural network</a:t>
                </a:r>
                <a:r>
                  <a:rPr lang="en-US" sz="2300" dirty="0">
                    <a:effectLst>
                      <a:outerShdw blurRad="38100" dist="38100" dir="2700000" algn="tl">
                        <a:srgbClr val="000000">
                          <a:alpha val="43137"/>
                        </a:srgbClr>
                      </a:outerShdw>
                    </a:effectLst>
                  </a:rPr>
                  <a:t> (</a:t>
                </a:r>
                <a:r>
                  <a:rPr lang="en-US" sz="2300" i="1" dirty="0">
                    <a:effectLst>
                      <a:outerShdw blurRad="38100" dist="38100" dir="2700000" algn="tl">
                        <a:srgbClr val="000000">
                          <a:alpha val="43137"/>
                        </a:srgbClr>
                      </a:outerShdw>
                    </a:effectLst>
                  </a:rPr>
                  <a:t>ANN</a:t>
                </a:r>
                <a:r>
                  <a:rPr lang="en-US" sz="2300" dirty="0">
                    <a:effectLst>
                      <a:outerShdw blurRad="38100" dist="38100" dir="2700000" algn="tl">
                        <a:srgbClr val="000000">
                          <a:alpha val="43137"/>
                        </a:srgbClr>
                      </a:outerShdw>
                    </a:effectLst>
                  </a:rPr>
                  <a:t>)</a:t>
                </a:r>
                <a:r>
                  <a:rPr lang="en-US" sz="2300" dirty="0" smtClean="0">
                    <a:effectLst>
                      <a:outerShdw blurRad="38100" dist="38100" dir="2700000" algn="tl">
                        <a:srgbClr val="000000">
                          <a:alpha val="43137"/>
                        </a:srgbClr>
                      </a:outerShdw>
                    </a:effectLst>
                  </a:rPr>
                  <a:t> </a:t>
                </a:r>
                <a:r>
                  <a:rPr lang="en-US" sz="2300" dirty="0">
                    <a:effectLst>
                      <a:outerShdw blurRad="38100" dist="38100" dir="2700000" algn="tl">
                        <a:srgbClr val="000000">
                          <a:alpha val="43137"/>
                        </a:srgbClr>
                      </a:outerShdw>
                    </a:effectLst>
                  </a:rPr>
                  <a:t>which simulates human neural network consists of one input </a:t>
                </a:r>
                <a:r>
                  <a:rPr lang="en-US" sz="2300" dirty="0" smtClean="0">
                    <a:effectLst>
                      <a:outerShdw blurRad="38100" dist="38100" dir="2700000" algn="tl">
                        <a:srgbClr val="000000">
                          <a:alpha val="43137"/>
                        </a:srgbClr>
                      </a:outerShdw>
                    </a:effectLst>
                  </a:rPr>
                  <a:t>layer, </a:t>
                </a:r>
                <a:r>
                  <a:rPr lang="en-US" sz="2300" dirty="0">
                    <a:effectLst>
                      <a:outerShdw blurRad="38100" dist="38100" dir="2700000" algn="tl">
                        <a:srgbClr val="000000">
                          <a:alpha val="43137"/>
                        </a:srgbClr>
                      </a:outerShdw>
                    </a:effectLst>
                  </a:rPr>
                  <a:t>many enough hidden layers, and one output layer so that the information is entered input layer</a:t>
                </a:r>
                <a:r>
                  <a:rPr lang="en-US" sz="2300" dirty="0"/>
                  <a:t>, then is propagated through hidden layers, and finally evaluated at output layer </a:t>
                </a:r>
                <a:r>
                  <a:rPr lang="en-US" sz="2300" dirty="0" smtClean="0"/>
                  <a:t>according </a:t>
                </a:r>
                <a:r>
                  <a:rPr lang="en-US" sz="2300" dirty="0"/>
                  <a:t>to a so-called </a:t>
                </a:r>
                <a:r>
                  <a:rPr lang="en-US" sz="2300" i="1" dirty="0"/>
                  <a:t>propagation </a:t>
                </a:r>
                <a:r>
                  <a:rPr lang="en-US" sz="2300" i="1" dirty="0" smtClean="0"/>
                  <a:t>rule</a:t>
                </a:r>
                <a:r>
                  <a:rPr lang="en-US" sz="2300" dirty="0"/>
                  <a:t> </a:t>
                </a:r>
                <a:r>
                  <a:rPr lang="en-US" sz="2300" dirty="0" smtClean="0"/>
                  <a:t>in which </a:t>
                </a:r>
                <a:r>
                  <a:rPr lang="en-US" sz="2300" i="1" dirty="0" err="1"/>
                  <a:t>W</a:t>
                </a:r>
                <a:r>
                  <a:rPr lang="en-US" sz="2300" i="1" baseline="-25000" dirty="0" err="1"/>
                  <a:t>k</a:t>
                </a:r>
                <a:r>
                  <a:rPr lang="en-US" sz="2300" dirty="0"/>
                  <a:t> and </a:t>
                </a:r>
                <a:r>
                  <a:rPr lang="en-US" sz="2300" dirty="0" err="1"/>
                  <a:t>Θ</a:t>
                </a:r>
                <a:r>
                  <a:rPr lang="en-US" sz="2300" i="1" baseline="-25000" dirty="0" err="1"/>
                  <a:t>k</a:t>
                </a:r>
                <a:r>
                  <a:rPr lang="en-US" sz="2300" dirty="0"/>
                  <a:t> are </a:t>
                </a:r>
                <a:r>
                  <a:rPr lang="en-US" sz="2300" dirty="0" smtClean="0"/>
                  <a:t>weight parameter and </a:t>
                </a:r>
                <a:r>
                  <a:rPr lang="en-US" sz="2300" dirty="0"/>
                  <a:t>bias parameter at layer </a:t>
                </a:r>
                <a:r>
                  <a:rPr lang="en-US" sz="2300" i="1" dirty="0" smtClean="0"/>
                  <a:t>k </a:t>
                </a:r>
                <a:r>
                  <a:rPr lang="en-US" sz="2300" dirty="0" smtClean="0"/>
                  <a:t>among </a:t>
                </a:r>
                <a:r>
                  <a:rPr lang="en-US" sz="2300" dirty="0"/>
                  <a:t>a series of </a:t>
                </a:r>
                <a:r>
                  <a:rPr lang="en-US" sz="2300" dirty="0" smtClean="0"/>
                  <a:t>layers </a:t>
                </a:r>
                <a:r>
                  <a:rPr lang="en-US" sz="2300" b="1" i="1" dirty="0"/>
                  <a:t>x</a:t>
                </a:r>
                <a:r>
                  <a:rPr lang="en-US" sz="2300" baseline="-25000" dirty="0"/>
                  <a:t>0</a:t>
                </a:r>
                <a:r>
                  <a:rPr lang="en-US" sz="2300" dirty="0"/>
                  <a:t>, </a:t>
                </a:r>
                <a:r>
                  <a:rPr lang="en-US" sz="2300" b="1" i="1" dirty="0"/>
                  <a:t>x</a:t>
                </a:r>
                <a:r>
                  <a:rPr lang="en-US" sz="2300" baseline="-25000" dirty="0"/>
                  <a:t>1</a:t>
                </a:r>
                <a:r>
                  <a:rPr lang="en-US" sz="2300" dirty="0"/>
                  <a:t>, </a:t>
                </a:r>
                <a:r>
                  <a:rPr lang="en-US" sz="2300" b="1" i="1" dirty="0"/>
                  <a:t>x</a:t>
                </a:r>
                <a:r>
                  <a:rPr lang="en-US" sz="2300" baseline="-25000" dirty="0"/>
                  <a:t>2</a:t>
                </a:r>
                <a:r>
                  <a:rPr lang="en-US" sz="2300" dirty="0"/>
                  <a:t>,…, </a:t>
                </a:r>
                <a:r>
                  <a:rPr lang="en-US" sz="2300" b="1" i="1" dirty="0" err="1" smtClean="0"/>
                  <a:t>x</a:t>
                </a:r>
                <a:r>
                  <a:rPr lang="en-US" sz="2300" i="1" baseline="-25000" dirty="0" err="1" smtClean="0"/>
                  <a:t>K</a:t>
                </a:r>
                <a:r>
                  <a:rPr lang="en-US" sz="2300" i="1" dirty="0"/>
                  <a:t> </a:t>
                </a:r>
                <a:r>
                  <a:rPr lang="en-US" sz="2300" dirty="0" smtClean="0"/>
                  <a:t>known as </a:t>
                </a:r>
                <a:r>
                  <a:rPr lang="en-US" sz="2300" dirty="0"/>
                  <a:t>common representation of </a:t>
                </a:r>
                <a:r>
                  <a:rPr lang="en-US" sz="2300" dirty="0" smtClean="0"/>
                  <a:t>ANN which is </a:t>
                </a:r>
                <a:r>
                  <a:rPr lang="en-US" sz="2300" i="1" dirty="0"/>
                  <a:t>feedforward network</a:t>
                </a:r>
                <a:r>
                  <a:rPr lang="en-US" sz="2300" dirty="0"/>
                  <a:t> (FFN</a:t>
                </a:r>
                <a:r>
                  <a:rPr lang="en-US" sz="2300" dirty="0" smtClean="0"/>
                  <a:t>).</a:t>
                </a:r>
              </a:p>
              <a:p>
                <a:pPr marL="0" indent="0">
                  <a:buNone/>
                </a:pPr>
                <a14:m>
                  <m:oMathPara xmlns:m="http://schemas.openxmlformats.org/officeDocument/2006/math">
                    <m:oMathParaPr>
                      <m:jc m:val="centerGroup"/>
                    </m:oMathParaPr>
                    <m:oMath xmlns:m="http://schemas.openxmlformats.org/officeDocument/2006/math">
                      <m:sSub>
                        <m:sSubPr>
                          <m:ctrlPr>
                            <a:rPr lang="en-US" sz="2300" i="1">
                              <a:latin typeface="Cambria Math" panose="02040503050406030204" pitchFamily="18" charset="0"/>
                            </a:rPr>
                          </m:ctrlPr>
                        </m:sSubPr>
                        <m:e>
                          <m:r>
                            <a:rPr lang="en-US" sz="2300" b="1" i="1">
                              <a:latin typeface="Cambria Math" panose="02040503050406030204" pitchFamily="18" charset="0"/>
                            </a:rPr>
                            <m:t>𝒙</m:t>
                          </m:r>
                        </m:e>
                        <m:sub>
                          <m:r>
                            <a:rPr lang="en-US" sz="2300" i="1">
                              <a:latin typeface="Cambria Math" panose="02040503050406030204" pitchFamily="18" charset="0"/>
                            </a:rPr>
                            <m:t>𝑘</m:t>
                          </m:r>
                        </m:sub>
                      </m:sSub>
                      <m:r>
                        <a:rPr lang="en-US" sz="2300" i="1">
                          <a:latin typeface="Cambria Math" panose="02040503050406030204" pitchFamily="18" charset="0"/>
                        </a:rPr>
                        <m:t>=</m:t>
                      </m:r>
                      <m:r>
                        <a:rPr lang="en-US" sz="2300" i="1">
                          <a:latin typeface="Cambria Math" panose="02040503050406030204" pitchFamily="18" charset="0"/>
                        </a:rPr>
                        <m:t>𝑓</m:t>
                      </m:r>
                      <m:d>
                        <m:dPr>
                          <m:ctrlPr>
                            <a:rPr lang="en-US" sz="2300" i="1">
                              <a:latin typeface="Cambria Math" panose="02040503050406030204" pitchFamily="18" charset="0"/>
                            </a:rPr>
                          </m:ctrlPr>
                        </m:dPr>
                        <m:e>
                          <m:sSub>
                            <m:sSubPr>
                              <m:ctrlPr>
                                <a:rPr lang="en-US" sz="2300" i="1">
                                  <a:latin typeface="Cambria Math" panose="02040503050406030204" pitchFamily="18" charset="0"/>
                                </a:rPr>
                              </m:ctrlPr>
                            </m:sSubPr>
                            <m:e>
                              <m:acc>
                                <m:accPr>
                                  <m:chr m:val="̂"/>
                                  <m:ctrlPr>
                                    <a:rPr lang="en-US" sz="2300" i="1">
                                      <a:latin typeface="Cambria Math" panose="02040503050406030204" pitchFamily="18" charset="0"/>
                                    </a:rPr>
                                  </m:ctrlPr>
                                </m:accPr>
                                <m:e>
                                  <m:r>
                                    <a:rPr lang="en-US" sz="2300" b="1" i="1">
                                      <a:latin typeface="Cambria Math" panose="02040503050406030204" pitchFamily="18" charset="0"/>
                                    </a:rPr>
                                    <m:t>𝒙</m:t>
                                  </m:r>
                                </m:e>
                              </m:acc>
                            </m:e>
                            <m:sub>
                              <m:r>
                                <a:rPr lang="en-US" sz="2300" i="1">
                                  <a:latin typeface="Cambria Math" panose="02040503050406030204" pitchFamily="18" charset="0"/>
                                </a:rPr>
                                <m:t>𝑘</m:t>
                              </m:r>
                              <m:r>
                                <a:rPr lang="en-US" sz="2300" i="1">
                                  <a:latin typeface="Cambria Math" panose="02040503050406030204" pitchFamily="18" charset="0"/>
                                </a:rPr>
                                <m:t>−1</m:t>
                              </m:r>
                            </m:sub>
                          </m:sSub>
                          <m:r>
                            <a:rPr lang="en-US" sz="2300" i="1">
                              <a:latin typeface="Cambria Math" panose="02040503050406030204" pitchFamily="18" charset="0"/>
                            </a:rPr>
                            <m:t>=</m:t>
                          </m:r>
                          <m:sSub>
                            <m:sSubPr>
                              <m:ctrlPr>
                                <a:rPr lang="en-US" sz="2300" i="1">
                                  <a:latin typeface="Cambria Math" panose="02040503050406030204" pitchFamily="18" charset="0"/>
                                </a:rPr>
                              </m:ctrlPr>
                            </m:sSubPr>
                            <m:e>
                              <m:r>
                                <a:rPr lang="en-US" sz="2300" i="1">
                                  <a:latin typeface="Cambria Math" panose="02040503050406030204" pitchFamily="18" charset="0"/>
                                </a:rPr>
                                <m:t>𝑊</m:t>
                              </m:r>
                            </m:e>
                            <m:sub>
                              <m:r>
                                <a:rPr lang="en-US" sz="2300" i="1">
                                  <a:latin typeface="Cambria Math" panose="02040503050406030204" pitchFamily="18" charset="0"/>
                                </a:rPr>
                                <m:t>𝑘</m:t>
                              </m:r>
                            </m:sub>
                          </m:sSub>
                          <m:sSub>
                            <m:sSubPr>
                              <m:ctrlPr>
                                <a:rPr lang="en-US" sz="2300" i="1">
                                  <a:latin typeface="Cambria Math" panose="02040503050406030204" pitchFamily="18" charset="0"/>
                                </a:rPr>
                              </m:ctrlPr>
                            </m:sSubPr>
                            <m:e>
                              <m:r>
                                <a:rPr lang="en-US" sz="2300" b="1" i="1">
                                  <a:latin typeface="Cambria Math" panose="02040503050406030204" pitchFamily="18" charset="0"/>
                                </a:rPr>
                                <m:t>𝒙</m:t>
                              </m:r>
                            </m:e>
                            <m:sub>
                              <m:r>
                                <a:rPr lang="en-US" sz="2300" i="1">
                                  <a:latin typeface="Cambria Math" panose="02040503050406030204" pitchFamily="18" charset="0"/>
                                </a:rPr>
                                <m:t>𝑘</m:t>
                              </m:r>
                              <m:r>
                                <a:rPr lang="en-US" sz="2300" i="1">
                                  <a:latin typeface="Cambria Math" panose="02040503050406030204" pitchFamily="18" charset="0"/>
                                </a:rPr>
                                <m:t>−1</m:t>
                              </m:r>
                            </m:sub>
                          </m:sSub>
                          <m:r>
                            <a:rPr lang="en-US" sz="2300" i="1">
                              <a:latin typeface="Cambria Math" panose="02040503050406030204" pitchFamily="18" charset="0"/>
                            </a:rPr>
                            <m:t>+</m:t>
                          </m:r>
                          <m:sSub>
                            <m:sSubPr>
                              <m:ctrlPr>
                                <a:rPr lang="en-US" sz="2300" i="1">
                                  <a:latin typeface="Cambria Math" panose="02040503050406030204" pitchFamily="18" charset="0"/>
                                </a:rPr>
                              </m:ctrlPr>
                            </m:sSubPr>
                            <m:e>
                              <m:r>
                                <m:rPr>
                                  <m:sty m:val="p"/>
                                </m:rPr>
                                <a:rPr lang="en-US" sz="2300">
                                  <a:latin typeface="Cambria Math" panose="02040503050406030204" pitchFamily="18" charset="0"/>
                                </a:rPr>
                                <m:t>Θ</m:t>
                              </m:r>
                            </m:e>
                            <m:sub>
                              <m:r>
                                <a:rPr lang="en-US" sz="2300" i="1">
                                  <a:latin typeface="Cambria Math" panose="02040503050406030204" pitchFamily="18" charset="0"/>
                                </a:rPr>
                                <m:t>𝑘</m:t>
                              </m:r>
                            </m:sub>
                          </m:sSub>
                        </m:e>
                      </m:d>
                      <m:r>
                        <a:rPr lang="en-US" sz="2300" i="1">
                          <a:latin typeface="Cambria Math" panose="02040503050406030204" pitchFamily="18" charset="0"/>
                        </a:rPr>
                        <m:t>,∀</m:t>
                      </m:r>
                      <m:r>
                        <a:rPr lang="en-US" sz="2300" i="1">
                          <a:latin typeface="Cambria Math" panose="02040503050406030204" pitchFamily="18" charset="0"/>
                        </a:rPr>
                        <m:t>𝑘</m:t>
                      </m:r>
                      <m:r>
                        <a:rPr lang="en-US" sz="2300" i="1">
                          <a:latin typeface="Cambria Math" panose="02040503050406030204" pitchFamily="18" charset="0"/>
                        </a:rPr>
                        <m:t>=</m:t>
                      </m:r>
                      <m:acc>
                        <m:accPr>
                          <m:chr m:val="̅"/>
                          <m:ctrlPr>
                            <a:rPr lang="en-US" sz="2300" i="1">
                              <a:latin typeface="Cambria Math" panose="02040503050406030204" pitchFamily="18" charset="0"/>
                            </a:rPr>
                          </m:ctrlPr>
                        </m:accPr>
                        <m:e>
                          <m:r>
                            <a:rPr lang="en-US" sz="2300" i="1">
                              <a:latin typeface="Cambria Math" panose="02040503050406030204" pitchFamily="18" charset="0"/>
                            </a:rPr>
                            <m:t>1,</m:t>
                          </m:r>
                          <m:r>
                            <a:rPr lang="en-US" sz="2300" i="1">
                              <a:latin typeface="Cambria Math" panose="02040503050406030204" pitchFamily="18" charset="0"/>
                            </a:rPr>
                            <m:t>𝐾</m:t>
                          </m:r>
                        </m:e>
                      </m:acc>
                    </m:oMath>
                  </m:oMathPara>
                </a14:m>
                <a:endParaRPr lang="en-US" sz="2300" dirty="0" smtClean="0"/>
              </a:p>
              <a:p>
                <a:r>
                  <a:rPr lang="en-US" sz="2300" dirty="0"/>
                  <a:t>Classification is the most popular method belonging to supervised </a:t>
                </a:r>
                <a:r>
                  <a:rPr lang="en-US" sz="2300" dirty="0" smtClean="0"/>
                  <a:t>learning, which is the context of this research.</a:t>
                </a:r>
                <a:r>
                  <a:rPr lang="en-US" sz="2300" dirty="0"/>
                  <a:t> </a:t>
                </a:r>
                <a:r>
                  <a:rPr lang="en-US" sz="2300" dirty="0" smtClean="0">
                    <a:effectLst>
                      <a:outerShdw blurRad="38100" dist="38100" dir="2700000" algn="tl">
                        <a:srgbClr val="000000">
                          <a:alpha val="43137"/>
                        </a:srgbClr>
                      </a:outerShdw>
                    </a:effectLst>
                  </a:rPr>
                  <a:t>Training </a:t>
                </a:r>
                <a:r>
                  <a:rPr lang="en-US" sz="2300" dirty="0">
                    <a:effectLst>
                      <a:outerShdw blurRad="38100" dist="38100" dir="2700000" algn="tl">
                        <a:srgbClr val="000000">
                          <a:alpha val="43137"/>
                        </a:srgbClr>
                      </a:outerShdw>
                    </a:effectLst>
                  </a:rPr>
                  <a:t>FFN classifier (ANN classifier) aims to minimize the so-called </a:t>
                </a:r>
                <a:r>
                  <a:rPr lang="en-US" sz="2300" i="1" dirty="0">
                    <a:effectLst>
                      <a:outerShdw blurRad="38100" dist="38100" dir="2700000" algn="tl">
                        <a:srgbClr val="000000">
                          <a:alpha val="43137"/>
                        </a:srgbClr>
                      </a:outerShdw>
                    </a:effectLst>
                  </a:rPr>
                  <a:t>cross-entropy loss function</a:t>
                </a:r>
                <a:r>
                  <a:rPr lang="en-US" sz="2300" dirty="0"/>
                  <a:t> loss(</a:t>
                </a:r>
                <a:r>
                  <a:rPr lang="en-US" sz="2300" b="1" i="1" dirty="0" err="1"/>
                  <a:t>x</a:t>
                </a:r>
                <a:r>
                  <a:rPr lang="en-US" sz="2300" i="1" baseline="-25000" dirty="0" err="1"/>
                  <a:t>K</a:t>
                </a:r>
                <a:r>
                  <a:rPr lang="en-US" sz="2300" dirty="0" smtClean="0"/>
                  <a:t>)</a:t>
                </a:r>
                <a:r>
                  <a:rPr lang="en-US" sz="2300" dirty="0"/>
                  <a:t> given the last output vector </a:t>
                </a:r>
                <a:r>
                  <a:rPr lang="en-US" sz="2300" b="1" i="1" dirty="0" err="1"/>
                  <a:t>x</a:t>
                </a:r>
                <a:r>
                  <a:rPr lang="en-US" sz="2300" i="1" baseline="-25000" dirty="0" err="1"/>
                  <a:t>K</a:t>
                </a:r>
                <a:r>
                  <a:rPr lang="en-US" sz="2300" dirty="0"/>
                  <a:t> </a:t>
                </a:r>
                <a:r>
                  <a:rPr lang="en-US" sz="2300" dirty="0" smtClean="0"/>
                  <a:t>and </a:t>
                </a:r>
                <a:r>
                  <a:rPr lang="en-US" sz="2300" dirty="0"/>
                  <a:t>the real class probability </a:t>
                </a:r>
                <a:r>
                  <a:rPr lang="en-US" sz="2300" b="1" i="1" dirty="0"/>
                  <a:t>p</a:t>
                </a:r>
                <a:r>
                  <a:rPr lang="en-US" sz="2300" dirty="0"/>
                  <a:t> = (</a:t>
                </a:r>
                <a:r>
                  <a:rPr lang="en-US" sz="2300" i="1" dirty="0"/>
                  <a:t>p</a:t>
                </a:r>
                <a:r>
                  <a:rPr lang="en-US" sz="2300" baseline="-25000" dirty="0"/>
                  <a:t>1</a:t>
                </a:r>
                <a:r>
                  <a:rPr lang="en-US" sz="2300" dirty="0"/>
                  <a:t>, </a:t>
                </a:r>
                <a:r>
                  <a:rPr lang="en-US" sz="2300" i="1" dirty="0"/>
                  <a:t>p</a:t>
                </a:r>
                <a:r>
                  <a:rPr lang="en-US" sz="2300" baseline="-25000" dirty="0"/>
                  <a:t>2</a:t>
                </a:r>
                <a:r>
                  <a:rPr lang="en-US" sz="2300" dirty="0"/>
                  <a:t>,…, </a:t>
                </a:r>
                <a:r>
                  <a:rPr lang="en-US" sz="2300" i="1" dirty="0" err="1"/>
                  <a:t>p</a:t>
                </a:r>
                <a:r>
                  <a:rPr lang="en-US" sz="2300" i="1" baseline="-25000" dirty="0" err="1"/>
                  <a:t>n</a:t>
                </a:r>
                <a:r>
                  <a:rPr lang="en-US" sz="2300" dirty="0"/>
                  <a:t>)</a:t>
                </a:r>
                <a:r>
                  <a:rPr lang="en-US" sz="2300" i="1" baseline="30000" dirty="0"/>
                  <a:t>T</a:t>
                </a:r>
                <a:r>
                  <a:rPr lang="en-US" sz="2300" dirty="0"/>
                  <a:t> of such vector </a:t>
                </a:r>
                <a:r>
                  <a:rPr lang="en-US" sz="2300" b="1" i="1" dirty="0" err="1" smtClean="0"/>
                  <a:t>x</a:t>
                </a:r>
                <a:r>
                  <a:rPr lang="en-US" sz="2300" i="1" baseline="-25000" dirty="0" err="1" smtClean="0"/>
                  <a:t>K</a:t>
                </a:r>
                <a:r>
                  <a:rPr lang="en-US" sz="2300" dirty="0" smtClean="0"/>
                  <a:t>.</a:t>
                </a:r>
              </a:p>
              <a:p>
                <a:pPr marL="0" indent="0">
                  <a:buNone/>
                </a:pPr>
                <a14:m>
                  <m:oMathPara xmlns:m="http://schemas.openxmlformats.org/officeDocument/2006/math">
                    <m:oMathParaPr>
                      <m:jc m:val="centerGroup"/>
                    </m:oMathParaPr>
                    <m:oMath xmlns:m="http://schemas.openxmlformats.org/officeDocument/2006/math">
                      <m:r>
                        <m:rPr>
                          <m:sty m:val="p"/>
                        </m:rPr>
                        <a:rPr lang="en-US" sz="2300">
                          <a:latin typeface="Cambria Math" panose="02040503050406030204" pitchFamily="18" charset="0"/>
                        </a:rPr>
                        <m:t>loss</m:t>
                      </m:r>
                      <m:d>
                        <m:dPr>
                          <m:ctrlPr>
                            <a:rPr lang="en-US" sz="2300" i="1">
                              <a:latin typeface="Cambria Math" panose="02040503050406030204" pitchFamily="18" charset="0"/>
                            </a:rPr>
                          </m:ctrlPr>
                        </m:dPr>
                        <m:e>
                          <m:sSub>
                            <m:sSubPr>
                              <m:ctrlPr>
                                <a:rPr lang="en-US" sz="2300" i="1">
                                  <a:latin typeface="Cambria Math" panose="02040503050406030204" pitchFamily="18" charset="0"/>
                                </a:rPr>
                              </m:ctrlPr>
                            </m:sSubPr>
                            <m:e>
                              <m:r>
                                <a:rPr lang="en-US" sz="2300" b="1" i="1">
                                  <a:latin typeface="Cambria Math" panose="02040503050406030204" pitchFamily="18" charset="0"/>
                                </a:rPr>
                                <m:t>𝒙</m:t>
                              </m:r>
                            </m:e>
                            <m:sub>
                              <m:r>
                                <a:rPr lang="en-US" sz="2300" i="1">
                                  <a:latin typeface="Cambria Math" panose="02040503050406030204" pitchFamily="18" charset="0"/>
                                </a:rPr>
                                <m:t>𝐾</m:t>
                              </m:r>
                            </m:sub>
                          </m:sSub>
                        </m:e>
                      </m:d>
                      <m:r>
                        <a:rPr lang="en-US" sz="2300" i="1">
                          <a:latin typeface="Cambria Math" panose="02040503050406030204" pitchFamily="18" charset="0"/>
                        </a:rPr>
                        <m:t>=−</m:t>
                      </m:r>
                      <m:nary>
                        <m:naryPr>
                          <m:chr m:val="∑"/>
                          <m:limLoc m:val="undOvr"/>
                          <m:ctrlPr>
                            <a:rPr lang="en-US" sz="2300" i="1">
                              <a:latin typeface="Cambria Math" panose="02040503050406030204" pitchFamily="18" charset="0"/>
                            </a:rPr>
                          </m:ctrlPr>
                        </m:naryPr>
                        <m:sub>
                          <m:r>
                            <a:rPr lang="en-US" sz="2300" i="1">
                              <a:latin typeface="Cambria Math" panose="02040503050406030204" pitchFamily="18" charset="0"/>
                            </a:rPr>
                            <m:t>𝑖</m:t>
                          </m:r>
                          <m:r>
                            <a:rPr lang="en-US" sz="2300" i="1">
                              <a:latin typeface="Cambria Math" panose="02040503050406030204" pitchFamily="18" charset="0"/>
                            </a:rPr>
                            <m:t>=1</m:t>
                          </m:r>
                        </m:sub>
                        <m:sup>
                          <m:r>
                            <a:rPr lang="en-US" sz="2300" i="1">
                              <a:latin typeface="Cambria Math" panose="02040503050406030204" pitchFamily="18" charset="0"/>
                            </a:rPr>
                            <m:t>𝑛</m:t>
                          </m:r>
                        </m:sup>
                        <m:e>
                          <m:sSub>
                            <m:sSubPr>
                              <m:ctrlPr>
                                <a:rPr lang="en-US" sz="2300" i="1">
                                  <a:latin typeface="Cambria Math" panose="02040503050406030204" pitchFamily="18" charset="0"/>
                                </a:rPr>
                              </m:ctrlPr>
                            </m:sSubPr>
                            <m:e>
                              <m:r>
                                <a:rPr lang="en-US" sz="2300" i="1">
                                  <a:latin typeface="Cambria Math" panose="02040503050406030204" pitchFamily="18" charset="0"/>
                                </a:rPr>
                                <m:t>𝑝</m:t>
                              </m:r>
                            </m:e>
                            <m:sub>
                              <m:r>
                                <a:rPr lang="en-US" sz="2300" i="1">
                                  <a:latin typeface="Cambria Math" panose="02040503050406030204" pitchFamily="18" charset="0"/>
                                </a:rPr>
                                <m:t>𝑖</m:t>
                              </m:r>
                            </m:sub>
                          </m:sSub>
                          <m:r>
                            <m:rPr>
                              <m:sty m:val="p"/>
                            </m:rPr>
                            <a:rPr lang="en-US" sz="2300">
                              <a:latin typeface="Cambria Math" panose="02040503050406030204" pitchFamily="18" charset="0"/>
                            </a:rPr>
                            <m:t>log</m:t>
                          </m:r>
                          <m:d>
                            <m:dPr>
                              <m:ctrlPr>
                                <a:rPr lang="en-US" sz="2300" i="1">
                                  <a:latin typeface="Cambria Math" panose="02040503050406030204" pitchFamily="18" charset="0"/>
                                </a:rPr>
                              </m:ctrlPr>
                            </m:dPr>
                            <m:e>
                              <m:sSub>
                                <m:sSubPr>
                                  <m:ctrlPr>
                                    <a:rPr lang="en-US" sz="2300" i="1">
                                      <a:latin typeface="Cambria Math" panose="02040503050406030204" pitchFamily="18" charset="0"/>
                                    </a:rPr>
                                  </m:ctrlPr>
                                </m:sSubPr>
                                <m:e>
                                  <m:acc>
                                    <m:accPr>
                                      <m:chr m:val="̂"/>
                                      <m:ctrlPr>
                                        <a:rPr lang="en-US" sz="2300" i="1">
                                          <a:latin typeface="Cambria Math" panose="02040503050406030204" pitchFamily="18" charset="0"/>
                                        </a:rPr>
                                      </m:ctrlPr>
                                    </m:accPr>
                                    <m:e>
                                      <m:r>
                                        <a:rPr lang="en-US" sz="2300" i="1">
                                          <a:latin typeface="Cambria Math" panose="02040503050406030204" pitchFamily="18" charset="0"/>
                                        </a:rPr>
                                        <m:t>𝑝</m:t>
                                      </m:r>
                                    </m:e>
                                  </m:acc>
                                </m:e>
                                <m:sub>
                                  <m:r>
                                    <a:rPr lang="en-US" sz="2300" i="1">
                                      <a:latin typeface="Cambria Math" panose="02040503050406030204" pitchFamily="18" charset="0"/>
                                    </a:rPr>
                                    <m:t>𝑖</m:t>
                                  </m:r>
                                </m:sub>
                              </m:sSub>
                            </m:e>
                          </m:d>
                        </m:e>
                      </m:nary>
                    </m:oMath>
                  </m:oMathPara>
                </a14:m>
                <a:endParaRPr lang="en-US" sz="2300" dirty="0" smtClean="0"/>
              </a:p>
              <a:p>
                <a:pPr marL="0" indent="0">
                  <a:buNone/>
                </a:pPr>
                <a14:m>
                  <m:oMathPara xmlns:m="http://schemas.openxmlformats.org/officeDocument/2006/math">
                    <m:oMathParaPr>
                      <m:jc m:val="centerGroup"/>
                    </m:oMathParaPr>
                    <m:oMath xmlns:m="http://schemas.openxmlformats.org/officeDocument/2006/math">
                      <m:sSub>
                        <m:sSubPr>
                          <m:ctrlPr>
                            <a:rPr lang="en-US" sz="2300" i="1">
                              <a:latin typeface="Cambria Math" panose="02040503050406030204" pitchFamily="18" charset="0"/>
                            </a:rPr>
                          </m:ctrlPr>
                        </m:sSubPr>
                        <m:e>
                          <m:acc>
                            <m:accPr>
                              <m:chr m:val="̂"/>
                              <m:ctrlPr>
                                <a:rPr lang="en-US" sz="2300" i="1">
                                  <a:latin typeface="Cambria Math" panose="02040503050406030204" pitchFamily="18" charset="0"/>
                                </a:rPr>
                              </m:ctrlPr>
                            </m:accPr>
                            <m:e>
                              <m:r>
                                <a:rPr lang="en-US" sz="2300" i="1">
                                  <a:latin typeface="Cambria Math" panose="02040503050406030204" pitchFamily="18" charset="0"/>
                                </a:rPr>
                                <m:t>𝑝</m:t>
                              </m:r>
                            </m:e>
                          </m:acc>
                        </m:e>
                        <m:sub>
                          <m:r>
                            <a:rPr lang="en-US" sz="2300" i="1">
                              <a:latin typeface="Cambria Math" panose="02040503050406030204" pitchFamily="18" charset="0"/>
                            </a:rPr>
                            <m:t>𝑖</m:t>
                          </m:r>
                        </m:sub>
                      </m:sSub>
                      <m:r>
                        <a:rPr lang="en-US" sz="2300" i="1">
                          <a:latin typeface="Cambria Math" panose="02040503050406030204" pitchFamily="18" charset="0"/>
                        </a:rPr>
                        <m:t>=</m:t>
                      </m:r>
                      <m:r>
                        <m:rPr>
                          <m:sty m:val="p"/>
                        </m:rPr>
                        <a:rPr lang="en-US" sz="2300">
                          <a:latin typeface="Cambria Math" panose="02040503050406030204" pitchFamily="18" charset="0"/>
                        </a:rPr>
                        <m:t>softmax</m:t>
                      </m:r>
                      <m:d>
                        <m:dPr>
                          <m:ctrlPr>
                            <a:rPr lang="en-US" sz="2300" i="1">
                              <a:latin typeface="Cambria Math" panose="02040503050406030204" pitchFamily="18" charset="0"/>
                            </a:rPr>
                          </m:ctrlPr>
                        </m:dPr>
                        <m:e>
                          <m:sSub>
                            <m:sSubPr>
                              <m:ctrlPr>
                                <a:rPr lang="en-US" sz="2300" i="1">
                                  <a:latin typeface="Cambria Math" panose="02040503050406030204" pitchFamily="18" charset="0"/>
                                </a:rPr>
                              </m:ctrlPr>
                            </m:sSubPr>
                            <m:e>
                              <m:r>
                                <a:rPr lang="en-US" sz="2300" i="1">
                                  <a:latin typeface="Cambria Math" panose="02040503050406030204" pitchFamily="18" charset="0"/>
                                </a:rPr>
                                <m:t>𝑥</m:t>
                              </m:r>
                            </m:e>
                            <m:sub>
                              <m:r>
                                <a:rPr lang="en-US" sz="2300" i="1">
                                  <a:latin typeface="Cambria Math" panose="02040503050406030204" pitchFamily="18" charset="0"/>
                                </a:rPr>
                                <m:t>𝐾𝑖</m:t>
                              </m:r>
                            </m:sub>
                          </m:sSub>
                        </m:e>
                      </m:d>
                    </m:oMath>
                  </m:oMathPara>
                </a14:m>
                <a:endParaRPr lang="en-US" sz="23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1280" y="914399"/>
                <a:ext cx="12029440" cy="5176066"/>
              </a:xfrm>
              <a:blipFill>
                <a:blip r:embed="rId2"/>
                <a:stretch>
                  <a:fillRect l="-659" t="-1060" r="-963" b="-2473"/>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4</a:t>
            </a:fld>
            <a:endParaRPr lang="en-US"/>
          </a:p>
        </p:txBody>
      </p:sp>
    </p:spTree>
    <p:extLst>
      <p:ext uri="{BB962C8B-B14F-4D97-AF65-F5344CB8AC3E}">
        <p14:creationId xmlns:p14="http://schemas.microsoft.com/office/powerpoint/2010/main" val="22376104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smtClean="0"/>
              <a:t>Introduction (main)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 y="914399"/>
                <a:ext cx="11988800" cy="5176066"/>
              </a:xfrm>
            </p:spPr>
            <p:txBody>
              <a:bodyPr>
                <a:noAutofit/>
              </a:bodyPr>
              <a:lstStyle/>
              <a:p>
                <a:pPr marL="0" indent="0">
                  <a:buNone/>
                </a:pPr>
                <a:r>
                  <a:rPr lang="en-US" sz="2000" dirty="0" smtClean="0">
                    <a:effectLst>
                      <a:outerShdw blurRad="38100" dist="38100" dir="2700000" algn="tl">
                        <a:srgbClr val="000000">
                          <a:alpha val="43137"/>
                        </a:srgbClr>
                      </a:outerShdw>
                    </a:effectLst>
                  </a:rPr>
                  <a:t>The parameters </a:t>
                </a:r>
                <a:r>
                  <a:rPr lang="en-US" sz="2000" i="1" dirty="0"/>
                  <a:t>W</a:t>
                </a:r>
                <a:r>
                  <a:rPr lang="en-US" sz="2000" i="1" baseline="-25000" dirty="0"/>
                  <a:t>K</a:t>
                </a:r>
                <a:r>
                  <a:rPr lang="en-US" sz="2000" dirty="0"/>
                  <a:t> and Θ</a:t>
                </a:r>
                <a:r>
                  <a:rPr lang="en-US" sz="2000" i="1" baseline="-25000" dirty="0"/>
                  <a:t>K</a:t>
                </a:r>
                <a:r>
                  <a:rPr lang="en-US" sz="2000" dirty="0"/>
                  <a:t> at the last layer </a:t>
                </a:r>
                <a:r>
                  <a:rPr lang="en-US" sz="2000" i="1" dirty="0"/>
                  <a:t>K</a:t>
                </a:r>
                <a:r>
                  <a:rPr lang="en-US" sz="2000" dirty="0"/>
                  <a:t> </a:t>
                </a:r>
                <a:r>
                  <a:rPr lang="en-US" sz="2000" dirty="0" smtClean="0">
                    <a:effectLst>
                      <a:outerShdw blurRad="38100" dist="38100" dir="2700000" algn="tl">
                        <a:srgbClr val="000000">
                          <a:alpha val="43137"/>
                        </a:srgbClr>
                      </a:outerShdw>
                    </a:effectLst>
                  </a:rPr>
                  <a:t>are </a:t>
                </a:r>
                <a:r>
                  <a:rPr lang="en-US" sz="2000" dirty="0">
                    <a:effectLst>
                      <a:outerShdw blurRad="38100" dist="38100" dir="2700000" algn="tl">
                        <a:srgbClr val="000000">
                          <a:alpha val="43137"/>
                        </a:srgbClr>
                      </a:outerShdw>
                    </a:effectLst>
                  </a:rPr>
                  <a:t>estimated by stochastic gradient descent (</a:t>
                </a:r>
                <a:r>
                  <a:rPr lang="en-US" sz="2000" b="1" dirty="0">
                    <a:effectLst>
                      <a:outerShdw blurRad="38100" dist="38100" dir="2700000" algn="tl">
                        <a:srgbClr val="000000">
                          <a:alpha val="43137"/>
                        </a:srgbClr>
                      </a:outerShdw>
                    </a:effectLst>
                  </a:rPr>
                  <a:t>SGD</a:t>
                </a:r>
                <a:r>
                  <a:rPr lang="en-US" sz="2000" dirty="0">
                    <a:effectLst>
                      <a:outerShdw blurRad="38100" dist="38100" dir="2700000" algn="tl">
                        <a:srgbClr val="000000">
                          <a:alpha val="43137"/>
                        </a:srgbClr>
                      </a:outerShdw>
                    </a:effectLst>
                  </a:rPr>
                  <a:t>) </a:t>
                </a:r>
                <a:r>
                  <a:rPr lang="en-US" sz="2000" dirty="0" smtClean="0">
                    <a:effectLst>
                      <a:outerShdw blurRad="38100" dist="38100" dir="2700000" algn="tl">
                        <a:srgbClr val="000000">
                          <a:alpha val="43137"/>
                        </a:srgbClr>
                      </a:outerShdw>
                    </a:effectLst>
                  </a:rPr>
                  <a:t>algorithm associated with </a:t>
                </a:r>
                <a:r>
                  <a:rPr lang="en-US" sz="2000" b="1" dirty="0" smtClean="0">
                    <a:effectLst>
                      <a:outerShdw blurRad="38100" dist="38100" dir="2700000" algn="tl">
                        <a:srgbClr val="000000">
                          <a:alpha val="43137"/>
                        </a:srgbClr>
                      </a:outerShdw>
                    </a:effectLst>
                  </a:rPr>
                  <a:t>backpropagation</a:t>
                </a:r>
                <a:r>
                  <a:rPr lang="en-US" sz="2000" dirty="0" smtClean="0">
                    <a:effectLst>
                      <a:outerShdw blurRad="38100" dist="38100" dir="2700000" algn="tl">
                        <a:srgbClr val="000000">
                          <a:alpha val="43137"/>
                        </a:srgbClr>
                      </a:outerShdw>
                    </a:effectLst>
                  </a:rPr>
                  <a:t> algorithm</a:t>
                </a:r>
                <a:r>
                  <a:rPr lang="en-US" sz="2000" dirty="0" smtClean="0"/>
                  <a:t> as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𝑊</m:t>
                        </m:r>
                      </m:e>
                      <m:sub>
                        <m:r>
                          <a:rPr lang="en-US" sz="2000" i="1">
                            <a:latin typeface="Cambria Math" panose="02040503050406030204" pitchFamily="18" charset="0"/>
                          </a:rPr>
                          <m:t>𝐾</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𝑊</m:t>
                        </m:r>
                      </m:e>
                      <m:sub>
                        <m:r>
                          <a:rPr lang="en-US" sz="2000" i="1">
                            <a:latin typeface="Cambria Math" panose="02040503050406030204" pitchFamily="18" charset="0"/>
                          </a:rPr>
                          <m:t>𝐾</m:t>
                        </m:r>
                      </m:sub>
                    </m:sSub>
                    <m:r>
                      <a:rPr lang="en-US" sz="2000" i="1">
                        <a:latin typeface="Cambria Math" panose="02040503050406030204" pitchFamily="18" charset="0"/>
                      </a:rPr>
                      <m:t>+</m:t>
                    </m:r>
                    <m:r>
                      <a:rPr lang="en-US" sz="2000" i="1">
                        <a:latin typeface="Cambria Math" panose="02040503050406030204" pitchFamily="18" charset="0"/>
                      </a:rPr>
                      <m:t>𝛾</m:t>
                    </m:r>
                    <m:sSub>
                      <m:sSubPr>
                        <m:ctrlPr>
                          <a:rPr lang="en-US" sz="2000" i="1">
                            <a:latin typeface="Cambria Math" panose="02040503050406030204" pitchFamily="18" charset="0"/>
                          </a:rPr>
                        </m:ctrlPr>
                      </m:sSubPr>
                      <m:e>
                        <m:r>
                          <a:rPr lang="en-US" sz="2000">
                            <a:latin typeface="Cambria Math" panose="02040503050406030204" pitchFamily="18" charset="0"/>
                          </a:rPr>
                          <m:t>𝛻</m:t>
                        </m:r>
                      </m:e>
                      <m:sub>
                        <m:sSub>
                          <m:sSubPr>
                            <m:ctrlPr>
                              <a:rPr lang="en-US" sz="2000" i="1">
                                <a:latin typeface="Cambria Math" panose="02040503050406030204" pitchFamily="18" charset="0"/>
                              </a:rPr>
                            </m:ctrlPr>
                          </m:sSubPr>
                          <m:e>
                            <m:r>
                              <a:rPr lang="en-US" sz="2000" i="1">
                                <a:latin typeface="Cambria Math" panose="02040503050406030204" pitchFamily="18" charset="0"/>
                              </a:rPr>
                              <m:t>𝑊</m:t>
                            </m:r>
                          </m:e>
                          <m:sub>
                            <m:r>
                              <a:rPr lang="en-US" sz="2000" i="1">
                                <a:latin typeface="Cambria Math" panose="02040503050406030204" pitchFamily="18" charset="0"/>
                              </a:rPr>
                              <m:t>𝑘</m:t>
                            </m:r>
                          </m:sub>
                        </m:sSub>
                      </m:sub>
                    </m:sSub>
                    <m:r>
                      <a:rPr lang="en-US" sz="2000" i="1">
                        <a:latin typeface="Cambria Math" panose="02040503050406030204" pitchFamily="18" charset="0"/>
                      </a:rPr>
                      <m:t>𝑙</m:t>
                    </m:r>
                  </m:oMath>
                </a14:m>
                <a:r>
                  <a:rPr lang="en-US" sz="2000" dirty="0" smtClean="0"/>
                  <a:t> and </a:t>
                </a:r>
                <a14:m>
                  <m:oMath xmlns:m="http://schemas.openxmlformats.org/officeDocument/2006/math">
                    <m:sSub>
                      <m:sSubPr>
                        <m:ctrlPr>
                          <a:rPr lang="en-US" sz="2000" i="1">
                            <a:latin typeface="Cambria Math" panose="02040503050406030204" pitchFamily="18" charset="0"/>
                          </a:rPr>
                        </m:ctrlPr>
                      </m:sSubPr>
                      <m:e>
                        <m:r>
                          <m:rPr>
                            <m:sty m:val="p"/>
                          </m:rPr>
                          <a:rPr lang="en-US" sz="2000">
                            <a:latin typeface="Cambria Math" panose="02040503050406030204" pitchFamily="18" charset="0"/>
                          </a:rPr>
                          <m:t>Θ</m:t>
                        </m:r>
                      </m:e>
                      <m:sub>
                        <m:r>
                          <a:rPr lang="en-US" sz="2000" i="1">
                            <a:latin typeface="Cambria Math" panose="02040503050406030204" pitchFamily="18" charset="0"/>
                          </a:rPr>
                          <m:t>𝐾</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m:rPr>
                            <m:sty m:val="p"/>
                          </m:rPr>
                          <a:rPr lang="en-US" sz="2000">
                            <a:latin typeface="Cambria Math" panose="02040503050406030204" pitchFamily="18" charset="0"/>
                          </a:rPr>
                          <m:t>Θ</m:t>
                        </m:r>
                      </m:e>
                      <m:sub>
                        <m:r>
                          <a:rPr lang="en-US" sz="2000" i="1">
                            <a:latin typeface="Cambria Math" panose="02040503050406030204" pitchFamily="18" charset="0"/>
                          </a:rPr>
                          <m:t>𝐾</m:t>
                        </m:r>
                      </m:sub>
                    </m:sSub>
                    <m:r>
                      <a:rPr lang="en-US" sz="2000" i="1">
                        <a:latin typeface="Cambria Math" panose="02040503050406030204" pitchFamily="18" charset="0"/>
                      </a:rPr>
                      <m:t>+</m:t>
                    </m:r>
                    <m:r>
                      <a:rPr lang="en-US" sz="2000" i="1">
                        <a:latin typeface="Cambria Math" panose="02040503050406030204" pitchFamily="18" charset="0"/>
                      </a:rPr>
                      <m:t>𝛾</m:t>
                    </m:r>
                    <m:sSub>
                      <m:sSubPr>
                        <m:ctrlPr>
                          <a:rPr lang="en-US" sz="2000" i="1">
                            <a:latin typeface="Cambria Math" panose="02040503050406030204" pitchFamily="18" charset="0"/>
                          </a:rPr>
                        </m:ctrlPr>
                      </m:sSubPr>
                      <m:e>
                        <m:r>
                          <a:rPr lang="en-US" sz="2000">
                            <a:latin typeface="Cambria Math" panose="02040503050406030204" pitchFamily="18" charset="0"/>
                          </a:rPr>
                          <m:t>𝛻</m:t>
                        </m:r>
                      </m:e>
                      <m:sub>
                        <m:sSub>
                          <m:sSubPr>
                            <m:ctrlPr>
                              <a:rPr lang="en-US" sz="2000" i="1">
                                <a:latin typeface="Cambria Math" panose="02040503050406030204" pitchFamily="18" charset="0"/>
                              </a:rPr>
                            </m:ctrlPr>
                          </m:sSubPr>
                          <m:e>
                            <m:r>
                              <m:rPr>
                                <m:sty m:val="p"/>
                              </m:rPr>
                              <a:rPr lang="en-US" sz="2000">
                                <a:latin typeface="Cambria Math" panose="02040503050406030204" pitchFamily="18" charset="0"/>
                              </a:rPr>
                              <m:t>Θ</m:t>
                            </m:r>
                          </m:e>
                          <m:sub>
                            <m:r>
                              <a:rPr lang="en-US" sz="2000" i="1">
                                <a:latin typeface="Cambria Math" panose="02040503050406030204" pitchFamily="18" charset="0"/>
                              </a:rPr>
                              <m:t>𝑘</m:t>
                            </m:r>
                          </m:sub>
                        </m:sSub>
                      </m:sub>
                    </m:sSub>
                    <m:r>
                      <a:rPr lang="en-US" sz="2000" i="1">
                        <a:latin typeface="Cambria Math" panose="02040503050406030204" pitchFamily="18" charset="0"/>
                      </a:rPr>
                      <m:t>𝑙</m:t>
                    </m:r>
                  </m:oMath>
                </a14:m>
                <a:r>
                  <a:rPr lang="en-US" sz="2000" dirty="0" smtClean="0"/>
                  <a:t> where </a:t>
                </a:r>
                <a:r>
                  <a:rPr lang="en-US" sz="2000" i="1" dirty="0"/>
                  <a:t>γ</a:t>
                </a:r>
                <a:r>
                  <a:rPr lang="en-US" sz="2000" dirty="0"/>
                  <a:t> (0 &lt; </a:t>
                </a:r>
                <a:r>
                  <a:rPr lang="en-US" sz="2000" i="1" dirty="0"/>
                  <a:t>γ</a:t>
                </a:r>
                <a:r>
                  <a:rPr lang="en-US" sz="2000" dirty="0"/>
                  <a:t> ≤ 1) is learning </a:t>
                </a:r>
                <a:r>
                  <a:rPr lang="en-US" sz="2000" dirty="0" smtClean="0"/>
                  <a:t>rate, </a:t>
                </a:r>
                <a:r>
                  <a:rPr lang="en-US" sz="2000" dirty="0"/>
                  <a:t>which </a:t>
                </a:r>
                <a:r>
                  <a:rPr lang="en-US" sz="2000" dirty="0" smtClean="0"/>
                  <a:t>is </a:t>
                </a:r>
                <a:r>
                  <a:rPr lang="en-US" sz="2000" dirty="0"/>
                  <a:t>determined based on the cross-entropy gradient ∇loss(</a:t>
                </a:r>
                <a:r>
                  <a:rPr lang="en-US" sz="2000" b="1" i="1" dirty="0"/>
                  <a:t>x</a:t>
                </a:r>
                <a:r>
                  <a:rPr lang="en-US" sz="2000" dirty="0"/>
                  <a:t>) that is calculated as </a:t>
                </a:r>
                <a:r>
                  <a:rPr lang="en-US" sz="2000" dirty="0" smtClean="0"/>
                  <a:t>follows:</a:t>
                </a:r>
              </a:p>
              <a:p>
                <a:pPr marL="0" indent="0">
                  <a:buNone/>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rPr>
                        <m:t>𝛻</m:t>
                      </m:r>
                      <m:r>
                        <m:rPr>
                          <m:sty m:val="p"/>
                        </m:rPr>
                        <a:rPr lang="en-US" sz="2000">
                          <a:latin typeface="Cambria Math" panose="02040503050406030204" pitchFamily="18" charset="0"/>
                        </a:rPr>
                        <m:t>loss</m:t>
                      </m:r>
                      <m:d>
                        <m:dPr>
                          <m:ctrlPr>
                            <a:rPr lang="en-US" sz="2000" i="1">
                              <a:latin typeface="Cambria Math" panose="02040503050406030204" pitchFamily="18" charset="0"/>
                            </a:rPr>
                          </m:ctrlPr>
                        </m:dPr>
                        <m:e>
                          <m:r>
                            <a:rPr lang="en-US" sz="2000" b="1" i="1">
                              <a:latin typeface="Cambria Math" panose="02040503050406030204" pitchFamily="18" charset="0"/>
                            </a:rPr>
                            <m:t>𝒙</m:t>
                          </m:r>
                        </m:e>
                      </m:d>
                      <m:r>
                        <a:rPr lang="en-US" sz="2000" i="1">
                          <a:latin typeface="Cambria Math" panose="02040503050406030204" pitchFamily="18" charset="0"/>
                        </a:rPr>
                        <m:t>=−</m:t>
                      </m:r>
                      <m:sSub>
                        <m:sSubPr>
                          <m:ctrlPr>
                            <a:rPr lang="en-US" sz="2000" i="1">
                              <a:latin typeface="Cambria Math" panose="02040503050406030204" pitchFamily="18" charset="0"/>
                            </a:rPr>
                          </m:ctrlPr>
                        </m:sSubPr>
                        <m:e>
                          <m:d>
                            <m:dPr>
                              <m:ctrlPr>
                                <a:rPr lang="en-US" sz="2000" i="1">
                                  <a:latin typeface="Cambria Math" panose="02040503050406030204" pitchFamily="18" charset="0"/>
                                </a:rPr>
                              </m:ctrlPr>
                            </m:dPr>
                            <m:e>
                              <m:nary>
                                <m:naryPr>
                                  <m:chr m:val="∑"/>
                                  <m:limLoc m:val="undOvr"/>
                                  <m:ctrlPr>
                                    <a:rPr lang="en-US" sz="2000" i="1">
                                      <a:latin typeface="Cambria Math" panose="02040503050406030204" pitchFamily="18" charset="0"/>
                                    </a:rPr>
                                  </m:ctrlPr>
                                </m:naryPr>
                                <m:sub>
                                  <m:r>
                                    <a:rPr lang="en-US" sz="2000" i="1">
                                      <a:latin typeface="Cambria Math" panose="02040503050406030204" pitchFamily="18" charset="0"/>
                                    </a:rPr>
                                    <m:t>𝑖</m:t>
                                  </m:r>
                                  <m:r>
                                    <a:rPr lang="en-US" sz="2000" i="1">
                                      <a:latin typeface="Cambria Math" panose="02040503050406030204" pitchFamily="18" charset="0"/>
                                    </a:rPr>
                                    <m:t>=1</m:t>
                                  </m:r>
                                </m:sub>
                                <m:sup>
                                  <m:r>
                                    <a:rPr lang="en-US" sz="2000" i="1">
                                      <a:latin typeface="Cambria Math" panose="02040503050406030204" pitchFamily="18" charset="0"/>
                                    </a:rPr>
                                    <m:t>𝑛</m:t>
                                  </m:r>
                                </m:sup>
                                <m:e>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𝑖</m:t>
                                      </m:r>
                                    </m:sub>
                                  </m:sSub>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𝛿</m:t>
                                          </m:r>
                                        </m:e>
                                        <m:sub>
                                          <m:r>
                                            <a:rPr lang="en-US" sz="2000" i="1">
                                              <a:latin typeface="Cambria Math" panose="02040503050406030204" pitchFamily="18" charset="0"/>
                                            </a:rPr>
                                            <m:t>𝑖𝑗</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sub>
                                          <m:r>
                                            <a:rPr lang="en-US" sz="2000" i="1">
                                              <a:latin typeface="Cambria Math" panose="02040503050406030204" pitchFamily="18" charset="0"/>
                                            </a:rPr>
                                            <m:t>𝑗</m:t>
                                          </m:r>
                                        </m:sub>
                                      </m:sSub>
                                    </m:e>
                                  </m:d>
                                </m:e>
                              </m:nary>
                            </m:e>
                          </m:d>
                        </m:e>
                        <m:sub>
                          <m:r>
                            <a:rPr lang="en-US" sz="2000" i="1">
                              <a:latin typeface="Cambria Math" panose="02040503050406030204" pitchFamily="18" charset="0"/>
                            </a:rPr>
                            <m:t>𝑗</m:t>
                          </m:r>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1,</m:t>
                              </m:r>
                              <m:r>
                                <a:rPr lang="en-US" sz="2000" i="1">
                                  <a:latin typeface="Cambria Math" panose="02040503050406030204" pitchFamily="18" charset="0"/>
                                </a:rPr>
                                <m:t>𝑛</m:t>
                              </m:r>
                            </m:e>
                          </m:acc>
                        </m:sub>
                      </m:sSub>
                    </m:oMath>
                  </m:oMathPara>
                </a14:m>
                <a:endParaRPr lang="en-US" sz="2000" dirty="0" smtClean="0"/>
              </a:p>
              <a:p>
                <a:pPr marL="0" indent="0">
                  <a:buNone/>
                </a:pPr>
                <a:r>
                  <a:rPr lang="en-US" sz="2000" dirty="0" smtClean="0"/>
                  <a:t>Where,</a:t>
                </a:r>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𝛿</m:t>
                          </m:r>
                        </m:e>
                        <m:sub>
                          <m:r>
                            <a:rPr lang="en-US" sz="2000" i="1">
                              <a:latin typeface="Cambria Math" panose="02040503050406030204" pitchFamily="18" charset="0"/>
                            </a:rPr>
                            <m:t>𝑖𝑗</m:t>
                          </m:r>
                        </m:sub>
                      </m:sSub>
                      <m:r>
                        <m:rPr>
                          <m:aln/>
                        </m:rP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m>
                            <m:mPr>
                              <m:mcs>
                                <m:mc>
                                  <m:mcPr>
                                    <m:count m:val="1"/>
                                    <m:mcJc m:val="center"/>
                                  </m:mcPr>
                                </m:mc>
                              </m:mcs>
                              <m:ctrlPr>
                                <a:rPr lang="en-US" sz="2000" i="1">
                                  <a:latin typeface="Cambria Math" panose="02040503050406030204" pitchFamily="18" charset="0"/>
                                </a:rPr>
                              </m:ctrlPr>
                            </m:mPr>
                            <m:mr>
                              <m:e>
                                <m:r>
                                  <a:rPr lang="en-US" sz="2000" i="1">
                                    <a:latin typeface="Cambria Math" panose="02040503050406030204" pitchFamily="18" charset="0"/>
                                  </a:rPr>
                                  <m:t>1 </m:t>
                                </m:r>
                                <m:r>
                                  <m:rPr>
                                    <m:sty m:val="p"/>
                                  </m:rPr>
                                  <a:rPr lang="en-US" sz="2000">
                                    <a:latin typeface="Cambria Math" panose="02040503050406030204" pitchFamily="18" charset="0"/>
                                  </a:rPr>
                                  <m:t>if</m:t>
                                </m:r>
                                <m:r>
                                  <a:rPr lang="en-US" sz="2000" i="1">
                                    <a:latin typeface="Cambria Math" panose="02040503050406030204" pitchFamily="18" charset="0"/>
                                  </a:rPr>
                                  <m:t> </m:t>
                                </m:r>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𝑗</m:t>
                                </m:r>
                              </m:e>
                            </m:mr>
                            <m:mr>
                              <m:e>
                                <m:r>
                                  <a:rPr lang="en-US" sz="2000" i="1">
                                    <a:latin typeface="Cambria Math" panose="02040503050406030204" pitchFamily="18" charset="0"/>
                                  </a:rPr>
                                  <m:t>0 </m:t>
                                </m:r>
                                <m:r>
                                  <m:rPr>
                                    <m:sty m:val="p"/>
                                  </m:rPr>
                                  <a:rPr lang="en-US" sz="2000">
                                    <a:latin typeface="Cambria Math" panose="02040503050406030204" pitchFamily="18" charset="0"/>
                                  </a:rPr>
                                  <m:t>if</m:t>
                                </m:r>
                                <m:r>
                                  <a:rPr lang="en-US" sz="2000" i="1">
                                    <a:latin typeface="Cambria Math" panose="02040503050406030204" pitchFamily="18" charset="0"/>
                                  </a:rPr>
                                  <m:t> </m:t>
                                </m:r>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𝑗</m:t>
                                </m:r>
                              </m:e>
                            </m:mr>
                          </m:m>
                        </m:e>
                      </m:d>
                      <m:r>
                        <a:rPr lang="en-US" sz="2000" b="0" i="1" smtClean="0">
                          <a:latin typeface="Cambria Math" panose="02040503050406030204" pitchFamily="18" charset="0"/>
                        </a:rPr>
                        <m:t> </m:t>
                      </m:r>
                      <m:r>
                        <m:rPr>
                          <m:sty m:val="p"/>
                        </m:rPr>
                        <a:rPr lang="en-US" sz="2000" b="0" i="0" smtClean="0">
                          <a:latin typeface="Cambria Math" panose="02040503050406030204" pitchFamily="18" charset="0"/>
                        </a:rPr>
                        <m:t>and</m:t>
                      </m:r>
                      <m:r>
                        <a:rPr lang="en-US" sz="2000" b="0" i="1" smtClean="0">
                          <a:latin typeface="Cambria Math" panose="02040503050406030204" pitchFamily="18" charset="0"/>
                        </a:rPr>
                        <m:t> </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sub>
                          <m:r>
                            <a:rPr lang="en-US" sz="2000" i="1">
                              <a:latin typeface="Cambria Math" panose="02040503050406030204" pitchFamily="18" charset="0"/>
                            </a:rPr>
                            <m:t>𝑗</m:t>
                          </m:r>
                        </m:sub>
                      </m:sSub>
                      <m:r>
                        <m:rPr>
                          <m:aln/>
                        </m:rPr>
                        <a:rPr lang="en-US" sz="2000" i="1">
                          <a:latin typeface="Cambria Math" panose="02040503050406030204" pitchFamily="18" charset="0"/>
                        </a:rPr>
                        <m:t>=</m:t>
                      </m:r>
                      <m:r>
                        <m:rPr>
                          <m:sty m:val="p"/>
                        </m:rPr>
                        <a:rPr lang="en-US" sz="2000">
                          <a:latin typeface="Cambria Math" panose="02040503050406030204" pitchFamily="18" charset="0"/>
                        </a:rPr>
                        <m:t>softmax</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𝑗</m:t>
                              </m:r>
                            </m:sub>
                          </m:sSub>
                        </m:e>
                      </m:d>
                    </m:oMath>
                  </m:oMathPara>
                </a14:m>
                <a:endParaRPr lang="en-US" sz="2000" dirty="0"/>
              </a:p>
              <a:p>
                <a:pPr marL="0" indent="0">
                  <a:buNone/>
                </a:pPr>
                <a:r>
                  <a:rPr lang="en-US" sz="2000" dirty="0" smtClean="0"/>
                  <a:t>All </a:t>
                </a:r>
                <a:r>
                  <a:rPr lang="en-US" sz="2000" dirty="0"/>
                  <a:t>gradients </a:t>
                </a:r>
                <a14:m>
                  <m:oMath xmlns:m="http://schemas.openxmlformats.org/officeDocument/2006/math">
                    <m:sSub>
                      <m:sSubPr>
                        <m:ctrlPr>
                          <a:rPr lang="en-US" sz="2000" i="1">
                            <a:latin typeface="Cambria Math" panose="02040503050406030204" pitchFamily="18" charset="0"/>
                          </a:rPr>
                        </m:ctrlPr>
                      </m:sSubPr>
                      <m:e>
                        <m:r>
                          <a:rPr lang="en-US" sz="2000">
                            <a:latin typeface="Cambria Math" panose="02040503050406030204" pitchFamily="18" charset="0"/>
                          </a:rPr>
                          <m:t>𝛻</m:t>
                        </m:r>
                      </m:e>
                      <m:sub>
                        <m:sSub>
                          <m:sSubPr>
                            <m:ctrlPr>
                              <a:rPr lang="en-US" sz="2000" i="1">
                                <a:latin typeface="Cambria Math" panose="02040503050406030204" pitchFamily="18" charset="0"/>
                              </a:rPr>
                            </m:ctrlPr>
                          </m:sSubPr>
                          <m:e>
                            <m:r>
                              <a:rPr lang="en-US" sz="2000" i="1">
                                <a:latin typeface="Cambria Math" panose="02040503050406030204" pitchFamily="18" charset="0"/>
                              </a:rPr>
                              <m:t>𝑊</m:t>
                            </m:r>
                          </m:e>
                          <m:sub>
                            <m:r>
                              <a:rPr lang="en-US" sz="2000" i="1">
                                <a:latin typeface="Cambria Math" panose="02040503050406030204" pitchFamily="18" charset="0"/>
                              </a:rPr>
                              <m:t>𝑘</m:t>
                            </m:r>
                          </m:sub>
                        </m:sSub>
                      </m:sub>
                    </m:sSub>
                    <m:r>
                      <a:rPr lang="en-US" sz="2000" i="1">
                        <a:latin typeface="Cambria Math" panose="02040503050406030204" pitchFamily="18" charset="0"/>
                      </a:rPr>
                      <m:t>𝑙</m:t>
                    </m:r>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a:latin typeface="Cambria Math" panose="02040503050406030204" pitchFamily="18" charset="0"/>
                          </a:rPr>
                          <m:t>𝛻</m:t>
                        </m:r>
                      </m:e>
                      <m:sub>
                        <m:sSub>
                          <m:sSubPr>
                            <m:ctrlPr>
                              <a:rPr lang="en-US" sz="2000" i="1">
                                <a:latin typeface="Cambria Math" panose="02040503050406030204" pitchFamily="18" charset="0"/>
                              </a:rPr>
                            </m:ctrlPr>
                          </m:sSubPr>
                          <m:e>
                            <m:r>
                              <m:rPr>
                                <m:sty m:val="p"/>
                              </m:rPr>
                              <a:rPr lang="en-US" sz="2000">
                                <a:latin typeface="Cambria Math" panose="02040503050406030204" pitchFamily="18" charset="0"/>
                              </a:rPr>
                              <m:t>Θ</m:t>
                            </m:r>
                          </m:e>
                          <m:sub>
                            <m:r>
                              <a:rPr lang="en-US" sz="2000" i="1">
                                <a:latin typeface="Cambria Math" panose="02040503050406030204" pitchFamily="18" charset="0"/>
                              </a:rPr>
                              <m:t>𝑘</m:t>
                            </m:r>
                          </m:sub>
                        </m:sSub>
                      </m:sub>
                    </m:sSub>
                    <m:r>
                      <a:rPr lang="en-US" sz="2000" i="1">
                        <a:latin typeface="Cambria Math" panose="02040503050406030204" pitchFamily="18" charset="0"/>
                      </a:rPr>
                      <m:t>𝑙</m:t>
                    </m:r>
                  </m:oMath>
                </a14:m>
                <a:r>
                  <a:rPr lang="en-US" sz="2000" dirty="0"/>
                  <a:t> </a:t>
                </a:r>
                <a:r>
                  <a:rPr lang="en-US" sz="2000" dirty="0" smtClean="0"/>
                  <a:t>will be determined, which is the core of training ANN in classification:</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000" i="1">
                              <a:latin typeface="Cambria Math" panose="02040503050406030204" pitchFamily="18" charset="0"/>
                            </a:rPr>
                          </m:ctrlPr>
                        </m:mPr>
                        <m:mr>
                          <m:e>
                            <m:sSub>
                              <m:sSubPr>
                                <m:ctrlPr>
                                  <a:rPr lang="en-US" sz="2000" i="1">
                                    <a:latin typeface="Cambria Math" panose="02040503050406030204" pitchFamily="18" charset="0"/>
                                  </a:rPr>
                                </m:ctrlPr>
                              </m:sSubPr>
                              <m:e>
                                <m:r>
                                  <a:rPr lang="en-US" sz="2000">
                                    <a:latin typeface="Cambria Math" panose="02040503050406030204" pitchFamily="18" charset="0"/>
                                  </a:rPr>
                                  <m:t>𝛻</m:t>
                                </m:r>
                              </m:e>
                              <m:sub>
                                <m:sSub>
                                  <m:sSubPr>
                                    <m:ctrlPr>
                                      <a:rPr lang="en-US" sz="2000" i="1">
                                        <a:latin typeface="Cambria Math" panose="02040503050406030204" pitchFamily="18" charset="0"/>
                                      </a:rPr>
                                    </m:ctrlPr>
                                  </m:sSubPr>
                                  <m:e>
                                    <m:r>
                                      <a:rPr lang="en-US" sz="2000" i="1">
                                        <a:latin typeface="Cambria Math" panose="02040503050406030204" pitchFamily="18" charset="0"/>
                                      </a:rPr>
                                      <m:t>𝑊</m:t>
                                    </m:r>
                                  </m:e>
                                  <m:sub>
                                    <m:r>
                                      <a:rPr lang="en-US" sz="2000" i="1">
                                        <a:latin typeface="Cambria Math" panose="02040503050406030204" pitchFamily="18" charset="0"/>
                                      </a:rPr>
                                      <m:t>𝑘</m:t>
                                    </m:r>
                                  </m:sub>
                                </m:sSub>
                              </m:sub>
                            </m:sSub>
                            <m:r>
                              <a:rPr lang="en-US" sz="2000" i="1">
                                <a:latin typeface="Cambria Math" panose="02040503050406030204" pitchFamily="18" charset="0"/>
                              </a:rPr>
                              <m:t>𝑙</m:t>
                            </m:r>
                            <m:r>
                              <m:rPr>
                                <m:aln/>
                              </m:rPr>
                              <a:rPr lang="en-US" sz="2000" i="1">
                                <a:latin typeface="Cambria Math" panose="02040503050406030204" pitchFamily="18" charset="0"/>
                              </a:rPr>
                              <m:t>=</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a:latin typeface="Cambria Math" panose="02040503050406030204" pitchFamily="18" charset="0"/>
                                      </a:rPr>
                                      <m:t>𝛻</m:t>
                                    </m:r>
                                  </m:e>
                                  <m:sub>
                                    <m:sSub>
                                      <m:sSubPr>
                                        <m:ctrlPr>
                                          <a:rPr lang="en-US" sz="2000" i="1">
                                            <a:latin typeface="Cambria Math" panose="02040503050406030204" pitchFamily="18" charset="0"/>
                                          </a:rPr>
                                        </m:ctrlPr>
                                      </m:sSubPr>
                                      <m:e>
                                        <m:r>
                                          <m:rPr>
                                            <m:sty m:val="p"/>
                                          </m:rPr>
                                          <a:rPr lang="en-US" sz="2000">
                                            <a:latin typeface="Cambria Math" panose="02040503050406030204" pitchFamily="18" charset="0"/>
                                          </a:rPr>
                                          <m:t>Θ</m:t>
                                        </m:r>
                                      </m:e>
                                      <m:sub>
                                        <m:r>
                                          <a:rPr lang="en-US" sz="2000" i="1">
                                            <a:latin typeface="Cambria Math" panose="02040503050406030204" pitchFamily="18" charset="0"/>
                                          </a:rPr>
                                          <m:t>𝑘</m:t>
                                        </m:r>
                                      </m:sub>
                                    </m:sSub>
                                  </m:sub>
                                </m:sSub>
                                <m:r>
                                  <a:rPr lang="en-US" sz="2000" i="1">
                                    <a:latin typeface="Cambria Math" panose="02040503050406030204" pitchFamily="18" charset="0"/>
                                  </a:rPr>
                                  <m:t>𝑙</m:t>
                                </m:r>
                              </m:e>
                            </m:d>
                            <m:sSubSup>
                              <m:sSubSupPr>
                                <m:ctrlPr>
                                  <a:rPr lang="en-US" sz="2000" i="1">
                                    <a:latin typeface="Cambria Math" panose="02040503050406030204" pitchFamily="18" charset="0"/>
                                  </a:rPr>
                                </m:ctrlPr>
                              </m:sSubSupPr>
                              <m:e>
                                <m:r>
                                  <a:rPr lang="en-US" sz="2000" b="1" i="1">
                                    <a:latin typeface="Cambria Math" panose="02040503050406030204" pitchFamily="18" charset="0"/>
                                  </a:rPr>
                                  <m:t>𝒙</m:t>
                                </m:r>
                              </m:e>
                              <m:sub>
                                <m:r>
                                  <a:rPr lang="en-US" sz="2000" i="1">
                                    <a:latin typeface="Cambria Math" panose="02040503050406030204" pitchFamily="18" charset="0"/>
                                  </a:rPr>
                                  <m:t>𝑘</m:t>
                                </m:r>
                                <m:r>
                                  <a:rPr lang="en-US" sz="2000" i="1">
                                    <a:latin typeface="Cambria Math" panose="02040503050406030204" pitchFamily="18" charset="0"/>
                                  </a:rPr>
                                  <m:t>−1</m:t>
                                </m:r>
                              </m:sub>
                              <m:sup>
                                <m:r>
                                  <a:rPr lang="en-US" sz="2000" i="1">
                                    <a:latin typeface="Cambria Math" panose="02040503050406030204" pitchFamily="18" charset="0"/>
                                  </a:rPr>
                                  <m:t>𝑇</m:t>
                                </m:r>
                              </m:sup>
                            </m:sSubSup>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1,</m:t>
                                </m:r>
                                <m:r>
                                  <a:rPr lang="en-US" sz="2000" i="1">
                                    <a:latin typeface="Cambria Math" panose="02040503050406030204" pitchFamily="18" charset="0"/>
                                  </a:rPr>
                                  <m:t>𝐾</m:t>
                                </m:r>
                              </m:e>
                            </m:acc>
                          </m:e>
                        </m:mr>
                        <m:mr>
                          <m:e>
                            <m:sSub>
                              <m:sSubPr>
                                <m:ctrlPr>
                                  <a:rPr lang="en-US" sz="2000" i="1">
                                    <a:latin typeface="Cambria Math" panose="02040503050406030204" pitchFamily="18" charset="0"/>
                                  </a:rPr>
                                </m:ctrlPr>
                              </m:sSubPr>
                              <m:e>
                                <m:r>
                                  <a:rPr lang="en-US" sz="2000">
                                    <a:latin typeface="Cambria Math" panose="02040503050406030204" pitchFamily="18" charset="0"/>
                                  </a:rPr>
                                  <m:t>𝛻</m:t>
                                </m:r>
                              </m:e>
                              <m:sub>
                                <m:sSub>
                                  <m:sSubPr>
                                    <m:ctrlPr>
                                      <a:rPr lang="en-US" sz="2000" i="1">
                                        <a:latin typeface="Cambria Math" panose="02040503050406030204" pitchFamily="18" charset="0"/>
                                      </a:rPr>
                                    </m:ctrlPr>
                                  </m:sSubPr>
                                  <m:e>
                                    <m:r>
                                      <m:rPr>
                                        <m:sty m:val="p"/>
                                      </m:rPr>
                                      <a:rPr lang="en-US" sz="2000">
                                        <a:latin typeface="Cambria Math" panose="02040503050406030204" pitchFamily="18" charset="0"/>
                                      </a:rPr>
                                      <m:t>Θ</m:t>
                                    </m:r>
                                  </m:e>
                                  <m:sub>
                                    <m:r>
                                      <a:rPr lang="en-US" sz="2000" i="1">
                                        <a:latin typeface="Cambria Math" panose="02040503050406030204" pitchFamily="18" charset="0"/>
                                      </a:rPr>
                                      <m:t>𝐾</m:t>
                                    </m:r>
                                  </m:sub>
                                </m:sSub>
                              </m:sub>
                            </m:sSub>
                            <m:r>
                              <a:rPr lang="en-US" sz="2000" i="1">
                                <a:latin typeface="Cambria Math" panose="02040503050406030204" pitchFamily="18" charset="0"/>
                              </a:rPr>
                              <m:t>𝑙</m:t>
                            </m:r>
                            <m:r>
                              <a:rPr lang="en-US" sz="2000" i="1">
                                <a:latin typeface="Cambria Math" panose="02040503050406030204" pitchFamily="18" charset="0"/>
                              </a:rPr>
                              <m:t>=</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i="1">
                                            <a:latin typeface="Cambria Math" panose="02040503050406030204" pitchFamily="18" charset="0"/>
                                          </a:rPr>
                                          <m:t>𝑓</m:t>
                                        </m:r>
                                      </m:e>
                                      <m:sub>
                                        <m:sSub>
                                          <m:sSubPr>
                                            <m:ctrlPr>
                                              <a:rPr lang="en-US" sz="2000" i="1">
                                                <a:latin typeface="Cambria Math" panose="02040503050406030204" pitchFamily="18" charset="0"/>
                                              </a:rPr>
                                            </m:ctrlPr>
                                          </m:sSubPr>
                                          <m:e>
                                            <m:r>
                                              <a:rPr lang="en-US" sz="2000" b="1" i="1">
                                                <a:latin typeface="Cambria Math" panose="02040503050406030204" pitchFamily="18" charset="0"/>
                                              </a:rPr>
                                              <m:t>𝒙</m:t>
                                            </m:r>
                                          </m:e>
                                          <m:sub>
                                            <m:r>
                                              <a:rPr lang="en-US" sz="2000" i="1">
                                                <a:latin typeface="Cambria Math" panose="02040503050406030204" pitchFamily="18" charset="0"/>
                                              </a:rPr>
                                              <m:t>𝐾</m:t>
                                            </m:r>
                                          </m:sub>
                                        </m:sSub>
                                      </m:sub>
                                      <m:sup>
                                        <m:r>
                                          <a:rPr lang="en-US" sz="2000" i="1">
                                            <a:latin typeface="Cambria Math" panose="02040503050406030204" pitchFamily="18" charset="0"/>
                                          </a:rPr>
                                          <m:t>′</m:t>
                                        </m:r>
                                      </m:sup>
                                    </m:sSubSup>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b="1" i="1">
                                                    <a:latin typeface="Cambria Math" panose="02040503050406030204" pitchFamily="18" charset="0"/>
                                                  </a:rPr>
                                                  <m:t>𝒙</m:t>
                                                </m:r>
                                              </m:e>
                                            </m:acc>
                                          </m:e>
                                          <m:sub>
                                            <m:r>
                                              <a:rPr lang="en-US" sz="2000" i="1">
                                                <a:latin typeface="Cambria Math" panose="02040503050406030204" pitchFamily="18" charset="0"/>
                                              </a:rPr>
                                              <m:t>𝐾</m:t>
                                            </m:r>
                                            <m:r>
                                              <a:rPr lang="en-US" sz="2000" i="1">
                                                <a:latin typeface="Cambria Math" panose="02040503050406030204" pitchFamily="18" charset="0"/>
                                              </a:rPr>
                                              <m:t>−1</m:t>
                                            </m:r>
                                          </m:sub>
                                        </m:sSub>
                                      </m:e>
                                    </m:d>
                                  </m:e>
                                </m:d>
                              </m:e>
                              <m:sup>
                                <m:r>
                                  <a:rPr lang="en-US" sz="2000" i="1">
                                    <a:latin typeface="Cambria Math" panose="02040503050406030204" pitchFamily="18" charset="0"/>
                                  </a:rPr>
                                  <m:t>𝑇</m:t>
                                </m:r>
                              </m:sup>
                            </m:sSup>
                            <m:sSubSup>
                              <m:sSubSupPr>
                                <m:ctrlPr>
                                  <a:rPr lang="en-US" sz="2000" i="1">
                                    <a:latin typeface="Cambria Math" panose="02040503050406030204" pitchFamily="18" charset="0"/>
                                  </a:rPr>
                                </m:ctrlPr>
                              </m:sSubSupPr>
                              <m:e>
                                <m:d>
                                  <m:dPr>
                                    <m:ctrlPr>
                                      <a:rPr lang="en-US" sz="2000" i="1">
                                        <a:latin typeface="Cambria Math" panose="02040503050406030204" pitchFamily="18" charset="0"/>
                                      </a:rPr>
                                    </m:ctrlPr>
                                  </m:dPr>
                                  <m:e>
                                    <m:nary>
                                      <m:naryPr>
                                        <m:chr m:val="∑"/>
                                        <m:limLoc m:val="undOvr"/>
                                        <m:ctrlPr>
                                          <a:rPr lang="en-US" sz="2000" i="1">
                                            <a:latin typeface="Cambria Math" panose="02040503050406030204" pitchFamily="18" charset="0"/>
                                          </a:rPr>
                                        </m:ctrlPr>
                                      </m:naryPr>
                                      <m:sub>
                                        <m:r>
                                          <a:rPr lang="en-US" sz="2000" i="1">
                                            <a:latin typeface="Cambria Math" panose="02040503050406030204" pitchFamily="18" charset="0"/>
                                          </a:rPr>
                                          <m:t>𝑖</m:t>
                                        </m:r>
                                        <m:r>
                                          <a:rPr lang="en-US" sz="2000" i="1">
                                            <a:latin typeface="Cambria Math" panose="02040503050406030204" pitchFamily="18" charset="0"/>
                                          </a:rPr>
                                          <m:t>=1</m:t>
                                        </m:r>
                                      </m:sub>
                                      <m:sup>
                                        <m:r>
                                          <a:rPr lang="en-US" sz="2000" i="1">
                                            <a:latin typeface="Cambria Math" panose="02040503050406030204" pitchFamily="18" charset="0"/>
                                          </a:rPr>
                                          <m:t>𝑛</m:t>
                                        </m:r>
                                      </m:sup>
                                      <m:e>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𝑖</m:t>
                                            </m:r>
                                          </m:sub>
                                        </m:sSub>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𝛿</m:t>
                                                </m:r>
                                              </m:e>
                                              <m:sub>
                                                <m:r>
                                                  <a:rPr lang="en-US" sz="2000" i="1">
                                                    <a:latin typeface="Cambria Math" panose="02040503050406030204" pitchFamily="18" charset="0"/>
                                                  </a:rPr>
                                                  <m:t>𝑖𝑗</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sub>
                                                <m:r>
                                                  <a:rPr lang="en-US" sz="2000" i="1">
                                                    <a:latin typeface="Cambria Math" panose="02040503050406030204" pitchFamily="18" charset="0"/>
                                                  </a:rPr>
                                                  <m:t>𝑗</m:t>
                                                </m:r>
                                              </m:sub>
                                            </m:sSub>
                                          </m:e>
                                        </m:d>
                                      </m:e>
                                    </m:nary>
                                  </m:e>
                                </m:d>
                              </m:e>
                              <m:sub>
                                <m:r>
                                  <a:rPr lang="en-US" sz="2000" i="1">
                                    <a:latin typeface="Cambria Math" panose="02040503050406030204" pitchFamily="18" charset="0"/>
                                  </a:rPr>
                                  <m:t>𝑗</m:t>
                                </m:r>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1,</m:t>
                                    </m:r>
                                    <m:r>
                                      <a:rPr lang="en-US" sz="2000" i="1">
                                        <a:latin typeface="Cambria Math" panose="02040503050406030204" pitchFamily="18" charset="0"/>
                                      </a:rPr>
                                      <m:t>𝑛</m:t>
                                    </m:r>
                                  </m:e>
                                </m:acc>
                              </m:sub>
                              <m:sup>
                                <m:r>
                                  <a:rPr lang="en-US" sz="2000" i="1">
                                    <a:latin typeface="Cambria Math" panose="02040503050406030204" pitchFamily="18" charset="0"/>
                                  </a:rPr>
                                  <m:t>𝑇</m:t>
                                </m:r>
                              </m:sup>
                            </m:sSubSup>
                          </m:e>
                        </m:mr>
                        <m:mr>
                          <m:e>
                            <m:sSub>
                              <m:sSubPr>
                                <m:ctrlPr>
                                  <a:rPr lang="en-US" sz="2000" i="1">
                                    <a:latin typeface="Cambria Math" panose="02040503050406030204" pitchFamily="18" charset="0"/>
                                  </a:rPr>
                                </m:ctrlPr>
                              </m:sSubPr>
                              <m:e>
                                <m:r>
                                  <a:rPr lang="en-US" sz="2000">
                                    <a:latin typeface="Cambria Math" panose="02040503050406030204" pitchFamily="18" charset="0"/>
                                  </a:rPr>
                                  <m:t>𝛻</m:t>
                                </m:r>
                              </m:e>
                              <m:sub>
                                <m:sSub>
                                  <m:sSubPr>
                                    <m:ctrlPr>
                                      <a:rPr lang="en-US" sz="2000" i="1">
                                        <a:latin typeface="Cambria Math" panose="02040503050406030204" pitchFamily="18" charset="0"/>
                                      </a:rPr>
                                    </m:ctrlPr>
                                  </m:sSubPr>
                                  <m:e>
                                    <m:r>
                                      <m:rPr>
                                        <m:sty m:val="p"/>
                                      </m:rPr>
                                      <a:rPr lang="en-US" sz="2000">
                                        <a:latin typeface="Cambria Math" panose="02040503050406030204" pitchFamily="18" charset="0"/>
                                      </a:rPr>
                                      <m:t>Θ</m:t>
                                    </m:r>
                                  </m:e>
                                  <m:sub>
                                    <m:r>
                                      <a:rPr lang="en-US" sz="2000" i="1">
                                        <a:latin typeface="Cambria Math" panose="02040503050406030204" pitchFamily="18" charset="0"/>
                                      </a:rPr>
                                      <m:t>𝑘</m:t>
                                    </m:r>
                                  </m:sub>
                                </m:sSub>
                              </m:sub>
                            </m:sSub>
                            <m:r>
                              <a:rPr lang="en-US" sz="2000" i="1">
                                <a:latin typeface="Cambria Math" panose="02040503050406030204" pitchFamily="18" charset="0"/>
                              </a:rPr>
                              <m:t>𝑙</m:t>
                            </m:r>
                            <m:r>
                              <a:rPr lang="en-US" sz="2000" i="1">
                                <a:latin typeface="Cambria Math" panose="02040503050406030204" pitchFamily="18" charset="0"/>
                              </a:rPr>
                              <m:t>=</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i="1">
                                            <a:latin typeface="Cambria Math" panose="02040503050406030204" pitchFamily="18" charset="0"/>
                                          </a:rPr>
                                          <m:t>𝑓</m:t>
                                        </m:r>
                                      </m:e>
                                      <m:sub>
                                        <m:sSub>
                                          <m:sSubPr>
                                            <m:ctrlPr>
                                              <a:rPr lang="en-US" sz="2000" i="1">
                                                <a:latin typeface="Cambria Math" panose="02040503050406030204" pitchFamily="18" charset="0"/>
                                              </a:rPr>
                                            </m:ctrlPr>
                                          </m:sSubPr>
                                          <m:e>
                                            <m:r>
                                              <a:rPr lang="en-US" sz="2000" b="1" i="1">
                                                <a:latin typeface="Cambria Math" panose="02040503050406030204" pitchFamily="18" charset="0"/>
                                              </a:rPr>
                                              <m:t>𝒙</m:t>
                                            </m:r>
                                          </m:e>
                                          <m:sub>
                                            <m:r>
                                              <a:rPr lang="en-US" sz="2000" i="1">
                                                <a:latin typeface="Cambria Math" panose="02040503050406030204" pitchFamily="18" charset="0"/>
                                              </a:rPr>
                                              <m:t>𝑘</m:t>
                                            </m:r>
                                          </m:sub>
                                        </m:sSub>
                                      </m:sub>
                                      <m:sup>
                                        <m:r>
                                          <a:rPr lang="en-US" sz="2000" i="1">
                                            <a:latin typeface="Cambria Math" panose="02040503050406030204" pitchFamily="18" charset="0"/>
                                          </a:rPr>
                                          <m:t>′</m:t>
                                        </m:r>
                                      </m:sup>
                                    </m:sSubSup>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b="1" i="1">
                                                    <a:latin typeface="Cambria Math" panose="02040503050406030204" pitchFamily="18" charset="0"/>
                                                  </a:rPr>
                                                  <m:t>𝒙</m:t>
                                                </m:r>
                                              </m:e>
                                            </m:acc>
                                          </m:e>
                                          <m:sub>
                                            <m:r>
                                              <a:rPr lang="en-US" sz="2000" i="1">
                                                <a:latin typeface="Cambria Math" panose="02040503050406030204" pitchFamily="18" charset="0"/>
                                              </a:rPr>
                                              <m:t>𝑘</m:t>
                                            </m:r>
                                            <m:r>
                                              <a:rPr lang="en-US" sz="2000" i="1">
                                                <a:latin typeface="Cambria Math" panose="02040503050406030204" pitchFamily="18" charset="0"/>
                                              </a:rPr>
                                              <m:t>−1</m:t>
                                            </m:r>
                                          </m:sub>
                                        </m:sSub>
                                      </m:e>
                                    </m:d>
                                  </m:e>
                                </m:d>
                              </m:e>
                              <m:sup>
                                <m:r>
                                  <a:rPr lang="en-US" sz="2000" i="1">
                                    <a:latin typeface="Cambria Math" panose="02040503050406030204" pitchFamily="18" charset="0"/>
                                  </a:rPr>
                                  <m:t>𝑇</m:t>
                                </m:r>
                              </m:sup>
                            </m:sSup>
                            <m:sSubSup>
                              <m:sSubSupPr>
                                <m:ctrlPr>
                                  <a:rPr lang="en-US" sz="2000" i="1">
                                    <a:latin typeface="Cambria Math" panose="02040503050406030204" pitchFamily="18" charset="0"/>
                                  </a:rPr>
                                </m:ctrlPr>
                              </m:sSubSupPr>
                              <m:e>
                                <m:r>
                                  <a:rPr lang="en-US" sz="2000" i="1">
                                    <a:latin typeface="Cambria Math" panose="02040503050406030204" pitchFamily="18" charset="0"/>
                                  </a:rPr>
                                  <m:t>𝑊</m:t>
                                </m:r>
                              </m:e>
                              <m:sub>
                                <m:r>
                                  <a:rPr lang="en-US" sz="2000" i="1">
                                    <a:latin typeface="Cambria Math" panose="02040503050406030204" pitchFamily="18" charset="0"/>
                                  </a:rPr>
                                  <m:t>𝑘</m:t>
                                </m:r>
                                <m:r>
                                  <a:rPr lang="en-US" sz="2000" i="1">
                                    <a:latin typeface="Cambria Math" panose="02040503050406030204" pitchFamily="18" charset="0"/>
                                  </a:rPr>
                                  <m:t>+1</m:t>
                                </m:r>
                              </m:sub>
                              <m:sup>
                                <m:r>
                                  <a:rPr lang="en-US" sz="2000" i="1">
                                    <a:latin typeface="Cambria Math" panose="02040503050406030204" pitchFamily="18" charset="0"/>
                                  </a:rPr>
                                  <m:t>𝑇</m:t>
                                </m:r>
                              </m:sup>
                            </m:sSubSup>
                            <m:sSub>
                              <m:sSubPr>
                                <m:ctrlPr>
                                  <a:rPr lang="en-US" sz="2000" i="1">
                                    <a:latin typeface="Cambria Math" panose="02040503050406030204" pitchFamily="18" charset="0"/>
                                  </a:rPr>
                                </m:ctrlPr>
                              </m:sSubPr>
                              <m:e>
                                <m:r>
                                  <a:rPr lang="en-US" sz="2000">
                                    <a:latin typeface="Cambria Math" panose="02040503050406030204" pitchFamily="18" charset="0"/>
                                  </a:rPr>
                                  <m:t>𝛻</m:t>
                                </m:r>
                              </m:e>
                              <m:sub>
                                <m:sSub>
                                  <m:sSubPr>
                                    <m:ctrlPr>
                                      <a:rPr lang="en-US" sz="2000" i="1">
                                        <a:latin typeface="Cambria Math" panose="02040503050406030204" pitchFamily="18" charset="0"/>
                                      </a:rPr>
                                    </m:ctrlPr>
                                  </m:sSubPr>
                                  <m:e>
                                    <m:r>
                                      <m:rPr>
                                        <m:sty m:val="p"/>
                                      </m:rPr>
                                      <a:rPr lang="en-US" sz="2000">
                                        <a:latin typeface="Cambria Math" panose="02040503050406030204" pitchFamily="18" charset="0"/>
                                      </a:rPr>
                                      <m:t>Θ</m:t>
                                    </m:r>
                                  </m:e>
                                  <m:sub>
                                    <m:r>
                                      <a:rPr lang="en-US" sz="2000" i="1">
                                        <a:latin typeface="Cambria Math" panose="02040503050406030204" pitchFamily="18" charset="0"/>
                                      </a:rPr>
                                      <m:t>𝑘</m:t>
                                    </m:r>
                                    <m:r>
                                      <a:rPr lang="en-US" sz="2000" i="1">
                                        <a:latin typeface="Cambria Math" panose="02040503050406030204" pitchFamily="18" charset="0"/>
                                      </a:rPr>
                                      <m:t>+1</m:t>
                                    </m:r>
                                  </m:sub>
                                </m:sSub>
                              </m:sub>
                            </m:sSub>
                            <m:r>
                              <a:rPr lang="en-US" sz="2000" i="1">
                                <a:latin typeface="Cambria Math" panose="02040503050406030204" pitchFamily="18" charset="0"/>
                              </a:rPr>
                              <m:t>𝑙</m:t>
                            </m:r>
                            <m:r>
                              <a:rPr lang="en-US" sz="2000" i="1">
                                <a:latin typeface="Cambria Math" panose="02040503050406030204" pitchFamily="18" charset="0"/>
                              </a:rPr>
                              <m:t> </m:t>
                            </m:r>
                            <m:r>
                              <m:rPr>
                                <m:sty m:val="p"/>
                              </m:rPr>
                              <a:rPr lang="en-US" sz="2000">
                                <a:latin typeface="Cambria Math" panose="02040503050406030204" pitchFamily="18" charset="0"/>
                              </a:rPr>
                              <m:t>if</m:t>
                            </m:r>
                            <m:r>
                              <a:rPr lang="en-US" sz="2000" i="1">
                                <a:latin typeface="Cambria Math" panose="02040503050406030204" pitchFamily="18" charset="0"/>
                              </a:rPr>
                              <m:t> </m:t>
                            </m:r>
                            <m:r>
                              <a:rPr lang="en-US" sz="2000" i="1">
                                <a:latin typeface="Cambria Math" panose="02040503050406030204" pitchFamily="18" charset="0"/>
                              </a:rPr>
                              <m:t>𝑘</m:t>
                            </m:r>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1,</m:t>
                                </m:r>
                                <m:r>
                                  <a:rPr lang="en-US" sz="2000" i="1">
                                    <a:latin typeface="Cambria Math" panose="02040503050406030204" pitchFamily="18" charset="0"/>
                                  </a:rPr>
                                  <m:t>𝐾</m:t>
                                </m:r>
                                <m:r>
                                  <a:rPr lang="en-US" sz="2000" i="1">
                                    <a:latin typeface="Cambria Math" panose="02040503050406030204" pitchFamily="18" charset="0"/>
                                  </a:rPr>
                                  <m:t>−1</m:t>
                                </m:r>
                              </m:e>
                            </m:acc>
                          </m:e>
                        </m:mr>
                      </m:m>
                    </m:oMath>
                  </m:oMathPara>
                </a14:m>
                <a:endParaRPr lang="en-US" sz="2000" dirty="0" smtClean="0"/>
              </a:p>
              <a:p>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 y="914399"/>
                <a:ext cx="11988800" cy="5176066"/>
              </a:xfrm>
              <a:blipFill>
                <a:blip r:embed="rId2"/>
                <a:stretch>
                  <a:fillRect l="-559" t="-707" r="-712"/>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5</a:t>
            </a:fld>
            <a:endParaRPr lang="en-US"/>
          </a:p>
        </p:txBody>
      </p:sp>
    </p:spTree>
    <p:extLst>
      <p:ext uri="{BB962C8B-B14F-4D97-AF65-F5344CB8AC3E}">
        <p14:creationId xmlns:p14="http://schemas.microsoft.com/office/powerpoint/2010/main" val="33050847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smtClean="0"/>
              <a:t>Introduction(main)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1120" y="914399"/>
                <a:ext cx="12029440" cy="5176066"/>
              </a:xfrm>
            </p:spPr>
            <p:txBody>
              <a:bodyPr>
                <a:noAutofit/>
              </a:bodyPr>
              <a:lstStyle/>
              <a:p>
                <a:pPr marL="0" indent="0">
                  <a:buNone/>
                </a:pPr>
                <a:r>
                  <a:rPr lang="en-US" sz="2150" dirty="0" smtClean="0">
                    <a:effectLst>
                      <a:outerShdw blurRad="38100" dist="38100" dir="2700000" algn="tl">
                        <a:srgbClr val="000000">
                          <a:alpha val="43137"/>
                        </a:srgbClr>
                      </a:outerShdw>
                    </a:effectLst>
                  </a:rPr>
                  <a:t>Convolutional </a:t>
                </a:r>
                <a:r>
                  <a:rPr lang="en-US" sz="2150" dirty="0">
                    <a:effectLst>
                      <a:outerShdw blurRad="38100" dist="38100" dir="2700000" algn="tl">
                        <a:srgbClr val="000000">
                          <a:alpha val="43137"/>
                        </a:srgbClr>
                      </a:outerShdw>
                    </a:effectLst>
                  </a:rPr>
                  <a:t>neural network (CNN) is invented to solve such boom </a:t>
                </a:r>
                <a:r>
                  <a:rPr lang="en-US" sz="2150" dirty="0" smtClean="0">
                    <a:effectLst>
                      <a:outerShdw blurRad="38100" dist="38100" dir="2700000" algn="tl">
                        <a:srgbClr val="000000">
                          <a:alpha val="43137"/>
                        </a:srgbClr>
                      </a:outerShdw>
                    </a:effectLst>
                  </a:rPr>
                  <a:t>problem where high-resolution </a:t>
                </a:r>
                <a:r>
                  <a:rPr lang="en-US" sz="2150" dirty="0">
                    <a:effectLst>
                      <a:outerShdw blurRad="38100" dist="38100" dir="2700000" algn="tl">
                        <a:srgbClr val="000000">
                          <a:alpha val="43137"/>
                        </a:srgbClr>
                      </a:outerShdw>
                    </a:effectLst>
                  </a:rPr>
                  <a:t>image causes </a:t>
                </a:r>
                <a:r>
                  <a:rPr lang="en-US" sz="2150" dirty="0" smtClean="0">
                    <a:effectLst>
                      <a:outerShdw blurRad="38100" dist="38100" dir="2700000" algn="tl">
                        <a:srgbClr val="000000">
                          <a:alpha val="43137"/>
                        </a:srgbClr>
                      </a:outerShdw>
                    </a:effectLst>
                  </a:rPr>
                  <a:t>a </a:t>
                </a:r>
                <a:r>
                  <a:rPr lang="en-US" sz="2150" dirty="0">
                    <a:effectLst>
                      <a:outerShdw blurRad="38100" dist="38100" dir="2700000" algn="tl">
                        <a:srgbClr val="000000">
                          <a:alpha val="43137"/>
                        </a:srgbClr>
                      </a:outerShdw>
                    </a:effectLst>
                  </a:rPr>
                  <a:t>huge number of </a:t>
                </a:r>
                <a:r>
                  <a:rPr lang="en-US" sz="2150" dirty="0" smtClean="0">
                    <a:effectLst>
                      <a:outerShdw blurRad="38100" dist="38100" dir="2700000" algn="tl">
                        <a:srgbClr val="000000">
                          <a:alpha val="43137"/>
                        </a:srgbClr>
                      </a:outerShdw>
                    </a:effectLst>
                  </a:rPr>
                  <a:t>parameters so that CNN </a:t>
                </a:r>
                <a:r>
                  <a:rPr lang="en-US" sz="2150" dirty="0">
                    <a:effectLst>
                      <a:outerShdw blurRad="38100" dist="38100" dir="2700000" algn="tl">
                        <a:srgbClr val="000000">
                          <a:alpha val="43137"/>
                        </a:srgbClr>
                      </a:outerShdw>
                    </a:effectLst>
                  </a:rPr>
                  <a:t>has two connected parts: 1) the first part called </a:t>
                </a:r>
                <a:r>
                  <a:rPr lang="en-US" sz="2150" i="1" dirty="0">
                    <a:effectLst>
                      <a:outerShdw blurRad="38100" dist="38100" dir="2700000" algn="tl">
                        <a:srgbClr val="000000">
                          <a:alpha val="43137"/>
                        </a:srgbClr>
                      </a:outerShdw>
                    </a:effectLst>
                  </a:rPr>
                  <a:t>convolutional network</a:t>
                </a:r>
                <a:r>
                  <a:rPr lang="en-US" sz="2150" dirty="0">
                    <a:effectLst>
                      <a:outerShdw blurRad="38100" dist="38100" dir="2700000" algn="tl">
                        <a:srgbClr val="000000">
                          <a:alpha val="43137"/>
                        </a:srgbClr>
                      </a:outerShdw>
                    </a:effectLst>
                  </a:rPr>
                  <a:t> consists of a set of sequential convolutional layers which of them is filtered by a </a:t>
                </a:r>
                <a:r>
                  <a:rPr lang="en-US" sz="2150" i="1" dirty="0" err="1">
                    <a:effectLst>
                      <a:outerShdw blurRad="38100" dist="38100" dir="2700000" algn="tl">
                        <a:srgbClr val="000000">
                          <a:alpha val="43137"/>
                        </a:srgbClr>
                      </a:outerShdw>
                    </a:effectLst>
                  </a:rPr>
                  <a:t>k</a:t>
                </a:r>
                <a:r>
                  <a:rPr lang="en-US" sz="2150" dirty="0" err="1">
                    <a:effectLst>
                      <a:outerShdw blurRad="38100" dist="38100" dir="2700000" algn="tl">
                        <a:srgbClr val="000000">
                          <a:alpha val="43137"/>
                        </a:srgbClr>
                      </a:outerShdw>
                    </a:effectLst>
                  </a:rPr>
                  <a:t>x</a:t>
                </a:r>
                <a:r>
                  <a:rPr lang="en-US" sz="2150" i="1" dirty="0" err="1">
                    <a:effectLst>
                      <a:outerShdw blurRad="38100" dist="38100" dir="2700000" algn="tl">
                        <a:srgbClr val="000000">
                          <a:alpha val="43137"/>
                        </a:srgbClr>
                      </a:outerShdw>
                    </a:effectLst>
                  </a:rPr>
                  <a:t>k</a:t>
                </a:r>
                <a:r>
                  <a:rPr lang="en-US" sz="2150" dirty="0">
                    <a:effectLst>
                      <a:outerShdw blurRad="38100" dist="38100" dir="2700000" algn="tl">
                        <a:srgbClr val="000000">
                          <a:alpha val="43137"/>
                        </a:srgbClr>
                      </a:outerShdw>
                    </a:effectLst>
                  </a:rPr>
                  <a:t> filter </a:t>
                </a:r>
                <a:r>
                  <a:rPr lang="en-US" sz="2150" dirty="0" smtClean="0">
                    <a:effectLst>
                      <a:outerShdw blurRad="38100" dist="38100" dir="2700000" algn="tl">
                        <a:srgbClr val="000000">
                          <a:alpha val="43137"/>
                        </a:srgbClr>
                      </a:outerShdw>
                    </a:effectLst>
                  </a:rPr>
                  <a:t>in order to produce image feature and </a:t>
                </a:r>
                <a:r>
                  <a:rPr lang="en-US" sz="2150" dirty="0">
                    <a:effectLst>
                      <a:outerShdw blurRad="38100" dist="38100" dir="2700000" algn="tl">
                        <a:srgbClr val="000000">
                          <a:alpha val="43137"/>
                        </a:srgbClr>
                      </a:outerShdw>
                    </a:effectLst>
                  </a:rPr>
                  <a:t>2) the second part called fully connected network or dense network </a:t>
                </a:r>
                <a:r>
                  <a:rPr lang="en-US" sz="2150" dirty="0" smtClean="0">
                    <a:effectLst>
                      <a:outerShdw blurRad="38100" dist="38100" dir="2700000" algn="tl">
                        <a:srgbClr val="000000">
                          <a:alpha val="43137"/>
                        </a:srgbClr>
                      </a:outerShdw>
                    </a:effectLst>
                  </a:rPr>
                  <a:t>performs </a:t>
                </a:r>
                <a:r>
                  <a:rPr lang="en-US" sz="2150" i="1" dirty="0" smtClean="0">
                    <a:effectLst>
                      <a:outerShdw blurRad="38100" dist="38100" dir="2700000" algn="tl">
                        <a:srgbClr val="000000">
                          <a:alpha val="43137"/>
                        </a:srgbClr>
                      </a:outerShdw>
                    </a:effectLst>
                  </a:rPr>
                  <a:t>image classification</a:t>
                </a:r>
                <a:r>
                  <a:rPr lang="en-US" sz="2150" dirty="0" smtClean="0">
                    <a:effectLst>
                      <a:outerShdw blurRad="38100" dist="38100" dir="2700000" algn="tl">
                        <a:srgbClr val="000000">
                          <a:alpha val="43137"/>
                        </a:srgbClr>
                      </a:outerShdw>
                    </a:effectLst>
                  </a:rPr>
                  <a:t> </a:t>
                </a:r>
                <a:r>
                  <a:rPr lang="en-US" sz="2150" dirty="0">
                    <a:effectLst>
                      <a:outerShdw blurRad="38100" dist="38100" dir="2700000" algn="tl">
                        <a:srgbClr val="000000">
                          <a:alpha val="43137"/>
                        </a:srgbClr>
                      </a:outerShdw>
                    </a:effectLst>
                  </a:rPr>
                  <a:t>task on such feature</a:t>
                </a:r>
                <a:r>
                  <a:rPr lang="en-US" sz="2150" dirty="0" smtClean="0"/>
                  <a:t>.</a:t>
                </a:r>
                <a:r>
                  <a:rPr lang="en-US" sz="2150" dirty="0"/>
                  <a:t> For instance, </a:t>
                </a:r>
                <a:r>
                  <a:rPr lang="en-US" sz="2150" dirty="0" smtClean="0"/>
                  <a:t>given </a:t>
                </a:r>
                <a:r>
                  <a:rPr lang="en-US" sz="2150" i="1" dirty="0"/>
                  <a:t>K</a:t>
                </a:r>
                <a:r>
                  <a:rPr lang="en-US" sz="2150" dirty="0"/>
                  <a:t>-layer CNN whose layers are </a:t>
                </a:r>
                <a:r>
                  <a:rPr lang="en-US" sz="2150" b="1" i="1" dirty="0"/>
                  <a:t>X</a:t>
                </a:r>
                <a:r>
                  <a:rPr lang="en-US" sz="2150" baseline="-25000" dirty="0"/>
                  <a:t>0</a:t>
                </a:r>
                <a:r>
                  <a:rPr lang="en-US" sz="2150" dirty="0"/>
                  <a:t>, </a:t>
                </a:r>
                <a:r>
                  <a:rPr lang="en-US" sz="2150" b="1" i="1" dirty="0"/>
                  <a:t>X</a:t>
                </a:r>
                <a:r>
                  <a:rPr lang="en-US" sz="2150" baseline="-25000" dirty="0"/>
                  <a:t>1</a:t>
                </a:r>
                <a:r>
                  <a:rPr lang="en-US" sz="2150" dirty="0"/>
                  <a:t>, </a:t>
                </a:r>
                <a:r>
                  <a:rPr lang="en-US" sz="2150" b="1" i="1" dirty="0"/>
                  <a:t>X</a:t>
                </a:r>
                <a:r>
                  <a:rPr lang="en-US" sz="2150" baseline="-25000" dirty="0"/>
                  <a:t>2</a:t>
                </a:r>
                <a:r>
                  <a:rPr lang="en-US" sz="2150" dirty="0"/>
                  <a:t>,…, </a:t>
                </a:r>
                <a:r>
                  <a:rPr lang="en-US" sz="2150" b="1" i="1" dirty="0"/>
                  <a:t>X</a:t>
                </a:r>
                <a:r>
                  <a:rPr lang="en-US" sz="2150" i="1" baseline="-25000" dirty="0"/>
                  <a:t>K</a:t>
                </a:r>
                <a:r>
                  <a:rPr lang="en-US" sz="2150" dirty="0"/>
                  <a:t> where each </a:t>
                </a:r>
                <a:r>
                  <a:rPr lang="en-US" sz="2150" i="1" dirty="0"/>
                  <a:t>convolutional layer</a:t>
                </a:r>
                <a:r>
                  <a:rPr lang="en-US" sz="2150" dirty="0"/>
                  <a:t> </a:t>
                </a:r>
                <a:r>
                  <a:rPr lang="en-US" sz="2150" b="1" i="1" dirty="0" err="1"/>
                  <a:t>X</a:t>
                </a:r>
                <a:r>
                  <a:rPr lang="en-US" sz="2150" i="1" baseline="-25000" dirty="0" err="1"/>
                  <a:t>k</a:t>
                </a:r>
                <a:r>
                  <a:rPr lang="en-US" sz="2150" dirty="0"/>
                  <a:t> has parametric filter weight  matrix </a:t>
                </a:r>
                <a:r>
                  <a:rPr lang="en-US" sz="2150" i="1" dirty="0"/>
                  <a:t>W</a:t>
                </a:r>
                <a:r>
                  <a:rPr lang="en-US" sz="2150" baseline="30000" dirty="0"/>
                  <a:t>(</a:t>
                </a:r>
                <a:r>
                  <a:rPr lang="en-US" sz="2150" i="1" baseline="30000" dirty="0"/>
                  <a:t>k</a:t>
                </a:r>
                <a:r>
                  <a:rPr lang="en-US" sz="2150" baseline="30000" dirty="0"/>
                  <a:t>)</a:t>
                </a:r>
                <a:r>
                  <a:rPr lang="en-US" sz="2150" dirty="0"/>
                  <a:t> and parametric filter bias </a:t>
                </a:r>
                <a:r>
                  <a:rPr lang="en-US" sz="2150" i="1" dirty="0"/>
                  <a:t>θ</a:t>
                </a:r>
                <a:r>
                  <a:rPr lang="en-US" sz="2150" baseline="30000" dirty="0"/>
                  <a:t>(</a:t>
                </a:r>
                <a:r>
                  <a:rPr lang="en-US" sz="2150" i="1" baseline="30000" dirty="0"/>
                  <a:t>k</a:t>
                </a:r>
                <a:r>
                  <a:rPr lang="en-US" sz="2150" baseline="30000" dirty="0" smtClean="0"/>
                  <a:t>)</a:t>
                </a:r>
                <a:r>
                  <a:rPr lang="en-US" sz="2150" dirty="0"/>
                  <a:t> </a:t>
                </a:r>
                <a:r>
                  <a:rPr lang="en-US" sz="2150" dirty="0" smtClean="0"/>
                  <a:t>where </a:t>
                </a:r>
                <a:r>
                  <a:rPr lang="en-US" sz="2150" i="1" dirty="0"/>
                  <a:t>W</a:t>
                </a:r>
                <a:r>
                  <a:rPr lang="en-US" sz="2150" baseline="30000" dirty="0"/>
                  <a:t>(</a:t>
                </a:r>
                <a:r>
                  <a:rPr lang="en-US" sz="2150" i="1" baseline="30000" dirty="0"/>
                  <a:t>k</a:t>
                </a:r>
                <a:r>
                  <a:rPr lang="en-US" sz="2150" baseline="30000" dirty="0"/>
                  <a:t>)</a:t>
                </a:r>
                <a:r>
                  <a:rPr lang="en-US" sz="2150" dirty="0"/>
                  <a:t> </a:t>
                </a:r>
                <a:r>
                  <a:rPr lang="en-US" sz="2150" dirty="0" smtClean="0"/>
                  <a:t>is called </a:t>
                </a:r>
                <a:r>
                  <a:rPr lang="en-US" sz="2150" i="1" dirty="0" smtClean="0"/>
                  <a:t>filter</a:t>
                </a:r>
                <a:r>
                  <a:rPr lang="en-US" sz="2150" dirty="0" smtClean="0"/>
                  <a:t>, kernel </a:t>
                </a:r>
                <a:r>
                  <a:rPr lang="en-US" sz="2150" dirty="0"/>
                  <a:t>or filtering </a:t>
                </a:r>
                <a:r>
                  <a:rPr lang="en-US" sz="2150" dirty="0" smtClean="0"/>
                  <a:t>kernel.</a:t>
                </a:r>
              </a:p>
              <a:p>
                <a:pPr marL="0" indent="0">
                  <a:buNone/>
                </a:pPr>
                <a14:m>
                  <m:oMathPara xmlns:m="http://schemas.openxmlformats.org/officeDocument/2006/math">
                    <m:oMathParaPr>
                      <m:jc m:val="centerGroup"/>
                    </m:oMathParaPr>
                    <m:oMath xmlns:m="http://schemas.openxmlformats.org/officeDocument/2006/math">
                      <m:sSubSup>
                        <m:sSubSupPr>
                          <m:ctrlPr>
                            <a:rPr lang="en-US" sz="2150" i="1">
                              <a:latin typeface="Cambria Math" panose="02040503050406030204" pitchFamily="18" charset="0"/>
                            </a:rPr>
                          </m:ctrlPr>
                        </m:sSubSupPr>
                        <m:e>
                          <m:r>
                            <a:rPr lang="en-US" sz="2150" i="1">
                              <a:latin typeface="Cambria Math" panose="02040503050406030204" pitchFamily="18" charset="0"/>
                            </a:rPr>
                            <m:t>𝑥</m:t>
                          </m:r>
                        </m:e>
                        <m:sub>
                          <m:r>
                            <a:rPr lang="en-US" sz="2150" i="1">
                              <a:latin typeface="Cambria Math" panose="02040503050406030204" pitchFamily="18" charset="0"/>
                            </a:rPr>
                            <m:t>𝑖𝑗</m:t>
                          </m:r>
                        </m:sub>
                        <m:sup>
                          <m:d>
                            <m:dPr>
                              <m:ctrlPr>
                                <a:rPr lang="en-US" sz="2150" i="1">
                                  <a:latin typeface="Cambria Math" panose="02040503050406030204" pitchFamily="18" charset="0"/>
                                </a:rPr>
                              </m:ctrlPr>
                            </m:dPr>
                            <m:e>
                              <m:r>
                                <a:rPr lang="en-US" sz="2150" i="1">
                                  <a:latin typeface="Cambria Math" panose="02040503050406030204" pitchFamily="18" charset="0"/>
                                </a:rPr>
                                <m:t>𝑘</m:t>
                              </m:r>
                            </m:e>
                          </m:d>
                        </m:sup>
                      </m:sSubSup>
                      <m:r>
                        <a:rPr lang="en-US" sz="2150" i="1">
                          <a:latin typeface="Cambria Math" panose="02040503050406030204" pitchFamily="18" charset="0"/>
                        </a:rPr>
                        <m:t>=</m:t>
                      </m:r>
                      <m:r>
                        <a:rPr lang="en-US" sz="2150" i="1">
                          <a:latin typeface="Cambria Math" panose="02040503050406030204" pitchFamily="18" charset="0"/>
                        </a:rPr>
                        <m:t>𝑓</m:t>
                      </m:r>
                      <m:d>
                        <m:dPr>
                          <m:ctrlPr>
                            <a:rPr lang="en-US" sz="2150" i="1">
                              <a:latin typeface="Cambria Math" panose="02040503050406030204" pitchFamily="18" charset="0"/>
                            </a:rPr>
                          </m:ctrlPr>
                        </m:dPr>
                        <m:e>
                          <m:sSubSup>
                            <m:sSubSupPr>
                              <m:ctrlPr>
                                <a:rPr lang="en-US" sz="2150" i="1">
                                  <a:latin typeface="Cambria Math" panose="02040503050406030204" pitchFamily="18" charset="0"/>
                                </a:rPr>
                              </m:ctrlPr>
                            </m:sSubSupPr>
                            <m:e>
                              <m:acc>
                                <m:accPr>
                                  <m:chr m:val="̂"/>
                                  <m:ctrlPr>
                                    <a:rPr lang="en-US" sz="2150" i="1">
                                      <a:latin typeface="Cambria Math" panose="02040503050406030204" pitchFamily="18" charset="0"/>
                                    </a:rPr>
                                  </m:ctrlPr>
                                </m:accPr>
                                <m:e>
                                  <m:r>
                                    <a:rPr lang="en-US" sz="2150" i="1">
                                      <a:latin typeface="Cambria Math" panose="02040503050406030204" pitchFamily="18" charset="0"/>
                                    </a:rPr>
                                    <m:t>𝑥</m:t>
                                  </m:r>
                                </m:e>
                              </m:acc>
                            </m:e>
                            <m:sub>
                              <m:r>
                                <a:rPr lang="en-US" sz="2150" i="1">
                                  <a:latin typeface="Cambria Math" panose="02040503050406030204" pitchFamily="18" charset="0"/>
                                </a:rPr>
                                <m:t>𝑖𝑗</m:t>
                              </m:r>
                            </m:sub>
                            <m:sup>
                              <m:d>
                                <m:dPr>
                                  <m:ctrlPr>
                                    <a:rPr lang="en-US" sz="2150" i="1">
                                      <a:latin typeface="Cambria Math" panose="02040503050406030204" pitchFamily="18" charset="0"/>
                                    </a:rPr>
                                  </m:ctrlPr>
                                </m:dPr>
                                <m:e>
                                  <m:r>
                                    <a:rPr lang="en-US" sz="2150" i="1">
                                      <a:latin typeface="Cambria Math" panose="02040503050406030204" pitchFamily="18" charset="0"/>
                                    </a:rPr>
                                    <m:t>𝑘</m:t>
                                  </m:r>
                                  <m:r>
                                    <a:rPr lang="en-US" sz="2150" i="1">
                                      <a:latin typeface="Cambria Math" panose="02040503050406030204" pitchFamily="18" charset="0"/>
                                    </a:rPr>
                                    <m:t>−1</m:t>
                                  </m:r>
                                </m:e>
                              </m:d>
                            </m:sup>
                          </m:sSubSup>
                          <m:r>
                            <a:rPr lang="en-US" sz="2150" i="1">
                              <a:latin typeface="Cambria Math" panose="02040503050406030204" pitchFamily="18" charset="0"/>
                            </a:rPr>
                            <m:t>=</m:t>
                          </m:r>
                          <m:d>
                            <m:dPr>
                              <m:ctrlPr>
                                <a:rPr lang="en-US" sz="2150" i="1">
                                  <a:latin typeface="Cambria Math" panose="02040503050406030204" pitchFamily="18" charset="0"/>
                                </a:rPr>
                              </m:ctrlPr>
                            </m:dPr>
                            <m:e>
                              <m:nary>
                                <m:naryPr>
                                  <m:chr m:val="∑"/>
                                  <m:limLoc m:val="undOvr"/>
                                  <m:supHide m:val="on"/>
                                  <m:ctrlPr>
                                    <a:rPr lang="en-US" sz="2150" i="1">
                                      <a:latin typeface="Cambria Math" panose="02040503050406030204" pitchFamily="18" charset="0"/>
                                    </a:rPr>
                                  </m:ctrlPr>
                                </m:naryPr>
                                <m:sub>
                                  <m:r>
                                    <a:rPr lang="en-US" sz="2150" i="1">
                                      <a:latin typeface="Cambria Math" panose="02040503050406030204" pitchFamily="18" charset="0"/>
                                    </a:rPr>
                                    <m:t>𝑢</m:t>
                                  </m:r>
                                  <m:r>
                                    <a:rPr lang="en-US" sz="2150" i="1">
                                      <a:latin typeface="Cambria Math" panose="02040503050406030204" pitchFamily="18" charset="0"/>
                                    </a:rPr>
                                    <m:t>,</m:t>
                                  </m:r>
                                  <m:r>
                                    <a:rPr lang="en-US" sz="2150" i="1">
                                      <a:latin typeface="Cambria Math" panose="02040503050406030204" pitchFamily="18" charset="0"/>
                                    </a:rPr>
                                    <m:t>𝑣</m:t>
                                  </m:r>
                                </m:sub>
                                <m:sup/>
                                <m:e>
                                  <m:sSubSup>
                                    <m:sSubSupPr>
                                      <m:ctrlPr>
                                        <a:rPr lang="en-US" sz="2150" i="1">
                                          <a:latin typeface="Cambria Math" panose="02040503050406030204" pitchFamily="18" charset="0"/>
                                        </a:rPr>
                                      </m:ctrlPr>
                                    </m:sSubSupPr>
                                    <m:e>
                                      <m:r>
                                        <a:rPr lang="en-US" sz="2150" i="1">
                                          <a:latin typeface="Cambria Math" panose="02040503050406030204" pitchFamily="18" charset="0"/>
                                        </a:rPr>
                                        <m:t>𝑤</m:t>
                                      </m:r>
                                    </m:e>
                                    <m:sub>
                                      <m:r>
                                        <a:rPr lang="en-US" sz="2150" i="1">
                                          <a:latin typeface="Cambria Math" panose="02040503050406030204" pitchFamily="18" charset="0"/>
                                        </a:rPr>
                                        <m:t>𝑢𝑣</m:t>
                                      </m:r>
                                    </m:sub>
                                    <m:sup>
                                      <m:d>
                                        <m:dPr>
                                          <m:ctrlPr>
                                            <a:rPr lang="en-US" sz="2150" i="1">
                                              <a:latin typeface="Cambria Math" panose="02040503050406030204" pitchFamily="18" charset="0"/>
                                            </a:rPr>
                                          </m:ctrlPr>
                                        </m:dPr>
                                        <m:e>
                                          <m:r>
                                            <a:rPr lang="en-US" sz="2150" i="1">
                                              <a:latin typeface="Cambria Math" panose="02040503050406030204" pitchFamily="18" charset="0"/>
                                            </a:rPr>
                                            <m:t>𝑘</m:t>
                                          </m:r>
                                        </m:e>
                                      </m:d>
                                    </m:sup>
                                  </m:sSubSup>
                                  <m:sSubSup>
                                    <m:sSubSupPr>
                                      <m:ctrlPr>
                                        <a:rPr lang="en-US" sz="2150" i="1">
                                          <a:latin typeface="Cambria Math" panose="02040503050406030204" pitchFamily="18" charset="0"/>
                                        </a:rPr>
                                      </m:ctrlPr>
                                    </m:sSubSupPr>
                                    <m:e>
                                      <m:r>
                                        <a:rPr lang="en-US" sz="2150" i="1">
                                          <a:latin typeface="Cambria Math" panose="02040503050406030204" pitchFamily="18" charset="0"/>
                                        </a:rPr>
                                        <m:t>𝑥</m:t>
                                      </m:r>
                                    </m:e>
                                    <m:sub>
                                      <m:r>
                                        <a:rPr lang="en-US" sz="2150" i="1">
                                          <a:latin typeface="Cambria Math" panose="02040503050406030204" pitchFamily="18" charset="0"/>
                                        </a:rPr>
                                        <m:t>𝑖</m:t>
                                      </m:r>
                                      <m:r>
                                        <a:rPr lang="en-US" sz="2150" i="1">
                                          <a:latin typeface="Cambria Math" panose="02040503050406030204" pitchFamily="18" charset="0"/>
                                        </a:rPr>
                                        <m:t>+</m:t>
                                      </m:r>
                                      <m:r>
                                        <a:rPr lang="en-US" sz="2150" i="1">
                                          <a:latin typeface="Cambria Math" panose="02040503050406030204" pitchFamily="18" charset="0"/>
                                        </a:rPr>
                                        <m:t>𝑢</m:t>
                                      </m:r>
                                      <m:r>
                                        <a:rPr lang="en-US" sz="2150" i="1">
                                          <a:latin typeface="Cambria Math" panose="02040503050406030204" pitchFamily="18" charset="0"/>
                                        </a:rPr>
                                        <m:t>,</m:t>
                                      </m:r>
                                      <m:r>
                                        <a:rPr lang="en-US" sz="2150" i="1">
                                          <a:latin typeface="Cambria Math" panose="02040503050406030204" pitchFamily="18" charset="0"/>
                                        </a:rPr>
                                        <m:t>𝑗</m:t>
                                      </m:r>
                                      <m:r>
                                        <a:rPr lang="en-US" sz="2150" i="1">
                                          <a:latin typeface="Cambria Math" panose="02040503050406030204" pitchFamily="18" charset="0"/>
                                        </a:rPr>
                                        <m:t>+</m:t>
                                      </m:r>
                                      <m:r>
                                        <a:rPr lang="en-US" sz="2150" i="1">
                                          <a:latin typeface="Cambria Math" panose="02040503050406030204" pitchFamily="18" charset="0"/>
                                        </a:rPr>
                                        <m:t>𝑣</m:t>
                                      </m:r>
                                    </m:sub>
                                    <m:sup>
                                      <m:d>
                                        <m:dPr>
                                          <m:ctrlPr>
                                            <a:rPr lang="en-US" sz="2150" i="1">
                                              <a:latin typeface="Cambria Math" panose="02040503050406030204" pitchFamily="18" charset="0"/>
                                            </a:rPr>
                                          </m:ctrlPr>
                                        </m:dPr>
                                        <m:e>
                                          <m:r>
                                            <a:rPr lang="en-US" sz="2150" i="1">
                                              <a:latin typeface="Cambria Math" panose="02040503050406030204" pitchFamily="18" charset="0"/>
                                            </a:rPr>
                                            <m:t>𝑘</m:t>
                                          </m:r>
                                          <m:r>
                                            <a:rPr lang="en-US" sz="2150" i="1">
                                              <a:latin typeface="Cambria Math" panose="02040503050406030204" pitchFamily="18" charset="0"/>
                                            </a:rPr>
                                            <m:t>−1</m:t>
                                          </m:r>
                                        </m:e>
                                      </m:d>
                                    </m:sup>
                                  </m:sSubSup>
                                </m:e>
                              </m:nary>
                            </m:e>
                          </m:d>
                          <m:r>
                            <a:rPr lang="en-US" sz="2150" i="1">
                              <a:latin typeface="Cambria Math" panose="02040503050406030204" pitchFamily="18" charset="0"/>
                            </a:rPr>
                            <m:t>+</m:t>
                          </m:r>
                          <m:sSup>
                            <m:sSupPr>
                              <m:ctrlPr>
                                <a:rPr lang="en-US" sz="2150" i="1">
                                  <a:latin typeface="Cambria Math" panose="02040503050406030204" pitchFamily="18" charset="0"/>
                                </a:rPr>
                              </m:ctrlPr>
                            </m:sSupPr>
                            <m:e>
                              <m:r>
                                <a:rPr lang="en-US" sz="2150" i="1">
                                  <a:latin typeface="Cambria Math" panose="02040503050406030204" pitchFamily="18" charset="0"/>
                                </a:rPr>
                                <m:t>𝜃</m:t>
                              </m:r>
                            </m:e>
                            <m:sup>
                              <m:d>
                                <m:dPr>
                                  <m:ctrlPr>
                                    <a:rPr lang="en-US" sz="2150" i="1">
                                      <a:latin typeface="Cambria Math" panose="02040503050406030204" pitchFamily="18" charset="0"/>
                                    </a:rPr>
                                  </m:ctrlPr>
                                </m:dPr>
                                <m:e>
                                  <m:r>
                                    <a:rPr lang="en-US" sz="2150" i="1">
                                      <a:latin typeface="Cambria Math" panose="02040503050406030204" pitchFamily="18" charset="0"/>
                                    </a:rPr>
                                    <m:t>𝑘</m:t>
                                  </m:r>
                                </m:e>
                              </m:d>
                            </m:sup>
                          </m:sSup>
                        </m:e>
                      </m:d>
                    </m:oMath>
                  </m:oMathPara>
                </a14:m>
                <a:endParaRPr lang="en-US" sz="2150" dirty="0" smtClean="0"/>
              </a:p>
              <a:p>
                <a:pPr marL="0" indent="0">
                  <a:buNone/>
                </a:pPr>
                <a:r>
                  <a:rPr lang="en-US" sz="2150" dirty="0"/>
                  <a:t>Let </a:t>
                </a:r>
                <a14:m>
                  <m:oMath xmlns:m="http://schemas.openxmlformats.org/officeDocument/2006/math">
                    <m:r>
                      <a:rPr lang="en-US" sz="2150" i="1">
                        <a:latin typeface="Cambria Math" panose="02040503050406030204" pitchFamily="18" charset="0"/>
                      </a:rPr>
                      <m:t>𝑙</m:t>
                    </m:r>
                    <m:d>
                      <m:dPr>
                        <m:ctrlPr>
                          <a:rPr lang="en-US" sz="2150" i="1">
                            <a:latin typeface="Cambria Math" panose="02040503050406030204" pitchFamily="18" charset="0"/>
                          </a:rPr>
                        </m:ctrlPr>
                      </m:dPr>
                      <m:e>
                        <m:sSubSup>
                          <m:sSubSupPr>
                            <m:ctrlPr>
                              <a:rPr lang="en-US" sz="2150" i="1">
                                <a:latin typeface="Cambria Math" panose="02040503050406030204" pitchFamily="18" charset="0"/>
                              </a:rPr>
                            </m:ctrlPr>
                          </m:sSubSupPr>
                          <m:e>
                            <m:r>
                              <a:rPr lang="en-US" sz="2150" i="1">
                                <a:latin typeface="Cambria Math" panose="02040503050406030204" pitchFamily="18" charset="0"/>
                              </a:rPr>
                              <m:t>𝑥</m:t>
                            </m:r>
                          </m:e>
                          <m:sub>
                            <m:r>
                              <a:rPr lang="en-US" sz="2150" i="1">
                                <a:latin typeface="Cambria Math" panose="02040503050406030204" pitchFamily="18" charset="0"/>
                              </a:rPr>
                              <m:t>𝑖𝑗</m:t>
                            </m:r>
                          </m:sub>
                          <m:sup>
                            <m:d>
                              <m:dPr>
                                <m:ctrlPr>
                                  <a:rPr lang="en-US" sz="2150" i="1">
                                    <a:latin typeface="Cambria Math" panose="02040503050406030204" pitchFamily="18" charset="0"/>
                                  </a:rPr>
                                </m:ctrlPr>
                              </m:dPr>
                              <m:e>
                                <m:r>
                                  <a:rPr lang="en-US" sz="2150" i="1">
                                    <a:latin typeface="Cambria Math" panose="02040503050406030204" pitchFamily="18" charset="0"/>
                                  </a:rPr>
                                  <m:t>𝐾</m:t>
                                </m:r>
                              </m:e>
                            </m:d>
                          </m:sup>
                        </m:sSubSup>
                      </m:e>
                    </m:d>
                  </m:oMath>
                </a14:m>
                <a:r>
                  <a:rPr lang="en-US" sz="2150" dirty="0"/>
                  <a:t> be the </a:t>
                </a:r>
                <a:r>
                  <a:rPr lang="en-US" sz="2150" i="1" dirty="0"/>
                  <a:t>likelihood function</a:t>
                </a:r>
                <a:r>
                  <a:rPr lang="en-US" sz="2150" dirty="0"/>
                  <a:t> which takes </a:t>
                </a:r>
                <a14:m>
                  <m:oMath xmlns:m="http://schemas.openxmlformats.org/officeDocument/2006/math">
                    <m:sSubSup>
                      <m:sSubSupPr>
                        <m:ctrlPr>
                          <a:rPr lang="en-US" sz="2150" i="1">
                            <a:latin typeface="Cambria Math" panose="02040503050406030204" pitchFamily="18" charset="0"/>
                          </a:rPr>
                        </m:ctrlPr>
                      </m:sSubSupPr>
                      <m:e>
                        <m:r>
                          <a:rPr lang="en-US" sz="2150" i="1">
                            <a:latin typeface="Cambria Math" panose="02040503050406030204" pitchFamily="18" charset="0"/>
                          </a:rPr>
                          <m:t>𝑥</m:t>
                        </m:r>
                      </m:e>
                      <m:sub>
                        <m:r>
                          <a:rPr lang="en-US" sz="2150" i="1">
                            <a:latin typeface="Cambria Math" panose="02040503050406030204" pitchFamily="18" charset="0"/>
                          </a:rPr>
                          <m:t>𝑖𝑗</m:t>
                        </m:r>
                      </m:sub>
                      <m:sup>
                        <m:d>
                          <m:dPr>
                            <m:ctrlPr>
                              <a:rPr lang="en-US" sz="2150" i="1">
                                <a:latin typeface="Cambria Math" panose="02040503050406030204" pitchFamily="18" charset="0"/>
                              </a:rPr>
                            </m:ctrlPr>
                          </m:dPr>
                          <m:e>
                            <m:r>
                              <a:rPr lang="en-US" sz="2150" i="1">
                                <a:latin typeface="Cambria Math" panose="02040503050406030204" pitchFamily="18" charset="0"/>
                              </a:rPr>
                              <m:t>𝐾</m:t>
                            </m:r>
                          </m:e>
                        </m:d>
                      </m:sup>
                    </m:sSubSup>
                  </m:oMath>
                </a14:m>
                <a:r>
                  <a:rPr lang="en-US" sz="2150" dirty="0"/>
                  <a:t> as its input at the last layer </a:t>
                </a:r>
                <a:r>
                  <a:rPr lang="en-US" sz="2150" b="1" i="1" dirty="0"/>
                  <a:t>X</a:t>
                </a:r>
                <a:r>
                  <a:rPr lang="en-US" sz="2150" i="1" baseline="-25000" dirty="0"/>
                  <a:t>K</a:t>
                </a:r>
                <a:r>
                  <a:rPr lang="en-US" sz="2150" dirty="0"/>
                  <a:t>, as usual, </a:t>
                </a:r>
                <a14:m>
                  <m:oMath xmlns:m="http://schemas.openxmlformats.org/officeDocument/2006/math">
                    <m:r>
                      <a:rPr lang="en-US" sz="2150" i="1">
                        <a:latin typeface="Cambria Math" panose="02040503050406030204" pitchFamily="18" charset="0"/>
                      </a:rPr>
                      <m:t>𝑙</m:t>
                    </m:r>
                    <m:d>
                      <m:dPr>
                        <m:ctrlPr>
                          <a:rPr lang="en-US" sz="2150" i="1">
                            <a:latin typeface="Cambria Math" panose="02040503050406030204" pitchFamily="18" charset="0"/>
                          </a:rPr>
                        </m:ctrlPr>
                      </m:dPr>
                      <m:e>
                        <m:sSubSup>
                          <m:sSubSupPr>
                            <m:ctrlPr>
                              <a:rPr lang="en-US" sz="2150" i="1">
                                <a:latin typeface="Cambria Math" panose="02040503050406030204" pitchFamily="18" charset="0"/>
                              </a:rPr>
                            </m:ctrlPr>
                          </m:sSubSupPr>
                          <m:e>
                            <m:r>
                              <a:rPr lang="en-US" sz="2150" i="1">
                                <a:latin typeface="Cambria Math" panose="02040503050406030204" pitchFamily="18" charset="0"/>
                              </a:rPr>
                              <m:t>𝑥</m:t>
                            </m:r>
                          </m:e>
                          <m:sub>
                            <m:r>
                              <a:rPr lang="en-US" sz="2150" i="1">
                                <a:latin typeface="Cambria Math" panose="02040503050406030204" pitchFamily="18" charset="0"/>
                              </a:rPr>
                              <m:t>𝑖𝑗</m:t>
                            </m:r>
                          </m:sub>
                          <m:sup>
                            <m:d>
                              <m:dPr>
                                <m:ctrlPr>
                                  <a:rPr lang="en-US" sz="2150" i="1">
                                    <a:latin typeface="Cambria Math" panose="02040503050406030204" pitchFamily="18" charset="0"/>
                                  </a:rPr>
                                </m:ctrlPr>
                              </m:dPr>
                              <m:e>
                                <m:r>
                                  <a:rPr lang="en-US" sz="2150" i="1">
                                    <a:latin typeface="Cambria Math" panose="02040503050406030204" pitchFamily="18" charset="0"/>
                                  </a:rPr>
                                  <m:t>𝐾</m:t>
                                </m:r>
                              </m:e>
                            </m:d>
                          </m:sup>
                        </m:sSubSup>
                      </m:e>
                    </m:d>
                  </m:oMath>
                </a14:m>
                <a:r>
                  <a:rPr lang="en-US" sz="2150" dirty="0"/>
                  <a:t> is the negative of error </a:t>
                </a:r>
                <a:r>
                  <a:rPr lang="en-US" sz="2150" dirty="0" smtClean="0"/>
                  <a:t>function </a:t>
                </a:r>
                <a14:m>
                  <m:oMath xmlns:m="http://schemas.openxmlformats.org/officeDocument/2006/math">
                    <m:r>
                      <a:rPr lang="en-US" sz="2150" i="1">
                        <a:latin typeface="Cambria Math" panose="02040503050406030204" pitchFamily="18" charset="0"/>
                      </a:rPr>
                      <m:t>𝑙</m:t>
                    </m:r>
                    <m:d>
                      <m:dPr>
                        <m:ctrlPr>
                          <a:rPr lang="en-US" sz="2150" i="1">
                            <a:latin typeface="Cambria Math" panose="02040503050406030204" pitchFamily="18" charset="0"/>
                          </a:rPr>
                        </m:ctrlPr>
                      </m:dPr>
                      <m:e>
                        <m:sSubSup>
                          <m:sSubSupPr>
                            <m:ctrlPr>
                              <a:rPr lang="en-US" sz="2150" i="1">
                                <a:latin typeface="Cambria Math" panose="02040503050406030204" pitchFamily="18" charset="0"/>
                              </a:rPr>
                            </m:ctrlPr>
                          </m:sSubSupPr>
                          <m:e>
                            <m:r>
                              <a:rPr lang="en-US" sz="2150" i="1">
                                <a:latin typeface="Cambria Math" panose="02040503050406030204" pitchFamily="18" charset="0"/>
                              </a:rPr>
                              <m:t>𝑥</m:t>
                            </m:r>
                          </m:e>
                          <m:sub>
                            <m:r>
                              <a:rPr lang="en-US" sz="2150" i="1">
                                <a:latin typeface="Cambria Math" panose="02040503050406030204" pitchFamily="18" charset="0"/>
                              </a:rPr>
                              <m:t>𝑖𝑗</m:t>
                            </m:r>
                          </m:sub>
                          <m:sup>
                            <m:d>
                              <m:dPr>
                                <m:ctrlPr>
                                  <a:rPr lang="en-US" sz="2150" i="1">
                                    <a:latin typeface="Cambria Math" panose="02040503050406030204" pitchFamily="18" charset="0"/>
                                  </a:rPr>
                                </m:ctrlPr>
                              </m:dPr>
                              <m:e>
                                <m:r>
                                  <a:rPr lang="en-US" sz="2150" i="1">
                                    <a:latin typeface="Cambria Math" panose="02040503050406030204" pitchFamily="18" charset="0"/>
                                  </a:rPr>
                                  <m:t>𝐾</m:t>
                                </m:r>
                              </m:e>
                            </m:d>
                          </m:sup>
                        </m:sSubSup>
                      </m:e>
                    </m:d>
                    <m:r>
                      <a:rPr lang="en-US" sz="2150" i="1">
                        <a:latin typeface="Cambria Math" panose="02040503050406030204" pitchFamily="18" charset="0"/>
                      </a:rPr>
                      <m:t>=−</m:t>
                    </m:r>
                    <m:r>
                      <a:rPr lang="en-US" sz="2150" i="1">
                        <a:latin typeface="Cambria Math" panose="02040503050406030204" pitchFamily="18" charset="0"/>
                      </a:rPr>
                      <m:t>𝜀</m:t>
                    </m:r>
                    <m:d>
                      <m:dPr>
                        <m:ctrlPr>
                          <a:rPr lang="en-US" sz="2150" i="1">
                            <a:latin typeface="Cambria Math" panose="02040503050406030204" pitchFamily="18" charset="0"/>
                          </a:rPr>
                        </m:ctrlPr>
                      </m:dPr>
                      <m:e>
                        <m:sSubSup>
                          <m:sSubSupPr>
                            <m:ctrlPr>
                              <a:rPr lang="en-US" sz="2150" i="1">
                                <a:latin typeface="Cambria Math" panose="02040503050406030204" pitchFamily="18" charset="0"/>
                              </a:rPr>
                            </m:ctrlPr>
                          </m:sSubSupPr>
                          <m:e>
                            <m:r>
                              <a:rPr lang="en-US" sz="2150" i="1">
                                <a:latin typeface="Cambria Math" panose="02040503050406030204" pitchFamily="18" charset="0"/>
                              </a:rPr>
                              <m:t>𝑥</m:t>
                            </m:r>
                          </m:e>
                          <m:sub>
                            <m:r>
                              <a:rPr lang="en-US" sz="2150" i="1">
                                <a:latin typeface="Cambria Math" panose="02040503050406030204" pitchFamily="18" charset="0"/>
                              </a:rPr>
                              <m:t>𝑖𝑗</m:t>
                            </m:r>
                          </m:sub>
                          <m:sup>
                            <m:d>
                              <m:dPr>
                                <m:ctrlPr>
                                  <a:rPr lang="en-US" sz="2150" i="1">
                                    <a:latin typeface="Cambria Math" panose="02040503050406030204" pitchFamily="18" charset="0"/>
                                  </a:rPr>
                                </m:ctrlPr>
                              </m:dPr>
                              <m:e>
                                <m:r>
                                  <a:rPr lang="en-US" sz="2150" i="1">
                                    <a:latin typeface="Cambria Math" panose="02040503050406030204" pitchFamily="18" charset="0"/>
                                  </a:rPr>
                                  <m:t>𝐾</m:t>
                                </m:r>
                              </m:e>
                            </m:d>
                          </m:sup>
                        </m:sSubSup>
                      </m:e>
                    </m:d>
                  </m:oMath>
                </a14:m>
                <a:r>
                  <a:rPr lang="en-US" sz="2150" dirty="0" smtClean="0"/>
                  <a:t>.</a:t>
                </a:r>
                <a:r>
                  <a:rPr lang="en-US" sz="2150" dirty="0"/>
                  <a:t> Let </a:t>
                </a:r>
                <a:r>
                  <a:rPr lang="en-US" sz="2150" i="1" dirty="0"/>
                  <a:t>l</a:t>
                </a:r>
                <a:r>
                  <a:rPr lang="en-US" sz="2150" dirty="0"/>
                  <a:t>(</a:t>
                </a:r>
                <a:r>
                  <a:rPr lang="en-US" sz="2150" b="1" i="1" dirty="0"/>
                  <a:t>X</a:t>
                </a:r>
                <a:r>
                  <a:rPr lang="en-US" sz="2150" i="1" baseline="-25000" dirty="0"/>
                  <a:t>K</a:t>
                </a:r>
                <a:r>
                  <a:rPr lang="en-US" sz="2150" dirty="0"/>
                  <a:t>) be the entire likelihood </a:t>
                </a:r>
                <a:r>
                  <a:rPr lang="en-US" sz="2150" dirty="0" smtClean="0"/>
                  <a:t>function.</a:t>
                </a:r>
              </a:p>
              <a:p>
                <a:pPr marL="0" indent="0">
                  <a:buNone/>
                </a:pPr>
                <a14:m>
                  <m:oMathPara xmlns:m="http://schemas.openxmlformats.org/officeDocument/2006/math">
                    <m:oMathParaPr>
                      <m:jc m:val="centerGroup"/>
                    </m:oMathParaPr>
                    <m:oMath xmlns:m="http://schemas.openxmlformats.org/officeDocument/2006/math">
                      <m:r>
                        <a:rPr lang="en-US" sz="2150" i="1">
                          <a:latin typeface="Cambria Math" panose="02040503050406030204" pitchFamily="18" charset="0"/>
                        </a:rPr>
                        <m:t>𝑙</m:t>
                      </m:r>
                      <m:d>
                        <m:dPr>
                          <m:ctrlPr>
                            <a:rPr lang="en-US" sz="2150" i="1">
                              <a:latin typeface="Cambria Math" panose="02040503050406030204" pitchFamily="18" charset="0"/>
                            </a:rPr>
                          </m:ctrlPr>
                        </m:dPr>
                        <m:e>
                          <m:sSub>
                            <m:sSubPr>
                              <m:ctrlPr>
                                <a:rPr lang="en-US" sz="2150" i="1">
                                  <a:latin typeface="Cambria Math" panose="02040503050406030204" pitchFamily="18" charset="0"/>
                                </a:rPr>
                              </m:ctrlPr>
                            </m:sSubPr>
                            <m:e>
                              <m:r>
                                <a:rPr lang="en-US" sz="2150" b="1" i="1">
                                  <a:latin typeface="Cambria Math" panose="02040503050406030204" pitchFamily="18" charset="0"/>
                                </a:rPr>
                                <m:t>𝑿</m:t>
                              </m:r>
                            </m:e>
                            <m:sub>
                              <m:r>
                                <a:rPr lang="en-US" sz="2150" i="1">
                                  <a:latin typeface="Cambria Math" panose="02040503050406030204" pitchFamily="18" charset="0"/>
                                </a:rPr>
                                <m:t>𝐾</m:t>
                              </m:r>
                            </m:sub>
                          </m:sSub>
                        </m:e>
                      </m:d>
                      <m:r>
                        <a:rPr lang="en-US" sz="2150" i="1">
                          <a:latin typeface="Cambria Math" panose="02040503050406030204" pitchFamily="18" charset="0"/>
                        </a:rPr>
                        <m:t>=</m:t>
                      </m:r>
                      <m:nary>
                        <m:naryPr>
                          <m:chr m:val="∑"/>
                          <m:limLoc m:val="undOvr"/>
                          <m:supHide m:val="on"/>
                          <m:ctrlPr>
                            <a:rPr lang="en-US" sz="2150" i="1">
                              <a:latin typeface="Cambria Math" panose="02040503050406030204" pitchFamily="18" charset="0"/>
                            </a:rPr>
                          </m:ctrlPr>
                        </m:naryPr>
                        <m:sub>
                          <m:r>
                            <a:rPr lang="en-US" sz="2150" i="1">
                              <a:latin typeface="Cambria Math" panose="02040503050406030204" pitchFamily="18" charset="0"/>
                            </a:rPr>
                            <m:t>𝑖</m:t>
                          </m:r>
                          <m:r>
                            <a:rPr lang="en-US" sz="2150" i="1">
                              <a:latin typeface="Cambria Math" panose="02040503050406030204" pitchFamily="18" charset="0"/>
                            </a:rPr>
                            <m:t>,</m:t>
                          </m:r>
                          <m:r>
                            <a:rPr lang="en-US" sz="2150" i="1">
                              <a:latin typeface="Cambria Math" panose="02040503050406030204" pitchFamily="18" charset="0"/>
                            </a:rPr>
                            <m:t>𝑗</m:t>
                          </m:r>
                        </m:sub>
                        <m:sup/>
                        <m:e>
                          <m:r>
                            <a:rPr lang="en-US" sz="2150" i="1">
                              <a:latin typeface="Cambria Math" panose="02040503050406030204" pitchFamily="18" charset="0"/>
                            </a:rPr>
                            <m:t>𝑙</m:t>
                          </m:r>
                          <m:d>
                            <m:dPr>
                              <m:ctrlPr>
                                <a:rPr lang="en-US" sz="2150" i="1">
                                  <a:latin typeface="Cambria Math" panose="02040503050406030204" pitchFamily="18" charset="0"/>
                                </a:rPr>
                              </m:ctrlPr>
                            </m:dPr>
                            <m:e>
                              <m:sSubSup>
                                <m:sSubSupPr>
                                  <m:ctrlPr>
                                    <a:rPr lang="en-US" sz="2150" i="1">
                                      <a:latin typeface="Cambria Math" panose="02040503050406030204" pitchFamily="18" charset="0"/>
                                    </a:rPr>
                                  </m:ctrlPr>
                                </m:sSubSupPr>
                                <m:e>
                                  <m:r>
                                    <a:rPr lang="en-US" sz="2150" i="1">
                                      <a:latin typeface="Cambria Math" panose="02040503050406030204" pitchFamily="18" charset="0"/>
                                    </a:rPr>
                                    <m:t>𝑥</m:t>
                                  </m:r>
                                </m:e>
                                <m:sub>
                                  <m:r>
                                    <a:rPr lang="en-US" sz="2150" i="1">
                                      <a:latin typeface="Cambria Math" panose="02040503050406030204" pitchFamily="18" charset="0"/>
                                    </a:rPr>
                                    <m:t>𝑖𝑗</m:t>
                                  </m:r>
                                </m:sub>
                                <m:sup>
                                  <m:d>
                                    <m:dPr>
                                      <m:ctrlPr>
                                        <a:rPr lang="en-US" sz="2150" i="1">
                                          <a:latin typeface="Cambria Math" panose="02040503050406030204" pitchFamily="18" charset="0"/>
                                        </a:rPr>
                                      </m:ctrlPr>
                                    </m:dPr>
                                    <m:e>
                                      <m:r>
                                        <a:rPr lang="en-US" sz="2150" i="1">
                                          <a:latin typeface="Cambria Math" panose="02040503050406030204" pitchFamily="18" charset="0"/>
                                        </a:rPr>
                                        <m:t>𝐾</m:t>
                                      </m:r>
                                    </m:e>
                                  </m:d>
                                </m:sup>
                              </m:sSubSup>
                            </m:e>
                          </m:d>
                        </m:e>
                      </m:nary>
                      <m:r>
                        <a:rPr lang="en-US" sz="2150" i="1">
                          <a:latin typeface="Cambria Math" panose="02040503050406030204" pitchFamily="18" charset="0"/>
                        </a:rPr>
                        <m:t>=</m:t>
                      </m:r>
                      <m:nary>
                        <m:naryPr>
                          <m:chr m:val="∑"/>
                          <m:limLoc m:val="undOvr"/>
                          <m:supHide m:val="on"/>
                          <m:ctrlPr>
                            <a:rPr lang="en-US" sz="2150" i="1">
                              <a:latin typeface="Cambria Math" panose="02040503050406030204" pitchFamily="18" charset="0"/>
                            </a:rPr>
                          </m:ctrlPr>
                        </m:naryPr>
                        <m:sub>
                          <m:r>
                            <a:rPr lang="en-US" sz="2150" i="1">
                              <a:latin typeface="Cambria Math" panose="02040503050406030204" pitchFamily="18" charset="0"/>
                            </a:rPr>
                            <m:t>𝑖</m:t>
                          </m:r>
                        </m:sub>
                        <m:sup/>
                        <m:e>
                          <m:nary>
                            <m:naryPr>
                              <m:chr m:val="∑"/>
                              <m:limLoc m:val="undOvr"/>
                              <m:supHide m:val="on"/>
                              <m:ctrlPr>
                                <a:rPr lang="en-US" sz="2150" i="1">
                                  <a:latin typeface="Cambria Math" panose="02040503050406030204" pitchFamily="18" charset="0"/>
                                </a:rPr>
                              </m:ctrlPr>
                            </m:naryPr>
                            <m:sub>
                              <m:r>
                                <a:rPr lang="en-US" sz="2150" i="1">
                                  <a:latin typeface="Cambria Math" panose="02040503050406030204" pitchFamily="18" charset="0"/>
                                </a:rPr>
                                <m:t>𝑗</m:t>
                              </m:r>
                            </m:sub>
                            <m:sup/>
                            <m:e>
                              <m:r>
                                <a:rPr lang="en-US" sz="2150" i="1">
                                  <a:latin typeface="Cambria Math" panose="02040503050406030204" pitchFamily="18" charset="0"/>
                                </a:rPr>
                                <m:t>𝑙</m:t>
                              </m:r>
                              <m:d>
                                <m:dPr>
                                  <m:ctrlPr>
                                    <a:rPr lang="en-US" sz="2150" i="1">
                                      <a:latin typeface="Cambria Math" panose="02040503050406030204" pitchFamily="18" charset="0"/>
                                    </a:rPr>
                                  </m:ctrlPr>
                                </m:dPr>
                                <m:e>
                                  <m:sSubSup>
                                    <m:sSubSupPr>
                                      <m:ctrlPr>
                                        <a:rPr lang="en-US" sz="2150" i="1">
                                          <a:latin typeface="Cambria Math" panose="02040503050406030204" pitchFamily="18" charset="0"/>
                                        </a:rPr>
                                      </m:ctrlPr>
                                    </m:sSubSupPr>
                                    <m:e>
                                      <m:r>
                                        <a:rPr lang="en-US" sz="2150" i="1">
                                          <a:latin typeface="Cambria Math" panose="02040503050406030204" pitchFamily="18" charset="0"/>
                                        </a:rPr>
                                        <m:t>𝑥</m:t>
                                      </m:r>
                                    </m:e>
                                    <m:sub>
                                      <m:r>
                                        <a:rPr lang="en-US" sz="2150" i="1">
                                          <a:latin typeface="Cambria Math" panose="02040503050406030204" pitchFamily="18" charset="0"/>
                                        </a:rPr>
                                        <m:t>𝑖𝑗</m:t>
                                      </m:r>
                                    </m:sub>
                                    <m:sup>
                                      <m:d>
                                        <m:dPr>
                                          <m:ctrlPr>
                                            <a:rPr lang="en-US" sz="2150" i="1">
                                              <a:latin typeface="Cambria Math" panose="02040503050406030204" pitchFamily="18" charset="0"/>
                                            </a:rPr>
                                          </m:ctrlPr>
                                        </m:dPr>
                                        <m:e>
                                          <m:r>
                                            <a:rPr lang="en-US" sz="2150" i="1">
                                              <a:latin typeface="Cambria Math" panose="02040503050406030204" pitchFamily="18" charset="0"/>
                                            </a:rPr>
                                            <m:t>𝐾</m:t>
                                          </m:r>
                                        </m:e>
                                      </m:d>
                                    </m:sup>
                                  </m:sSubSup>
                                </m:e>
                              </m:d>
                            </m:e>
                          </m:nary>
                        </m:e>
                      </m:nary>
                    </m:oMath>
                  </m:oMathPara>
                </a14:m>
                <a:endParaRPr lang="en-US" sz="2150" dirty="0"/>
              </a:p>
              <a:p>
                <a:endParaRPr lang="en-US" sz="2150" dirty="0"/>
              </a:p>
              <a:p>
                <a:pPr marL="0" indent="0">
                  <a:buNone/>
                </a:pPr>
                <a:endParaRPr lang="en-US" sz="2150" dirty="0"/>
              </a:p>
              <a:p>
                <a:pPr marL="0" indent="0">
                  <a:buNone/>
                </a:pPr>
                <a:endParaRPr lang="en-US" sz="2150" dirty="0" smtClean="0"/>
              </a:p>
              <a:p>
                <a:pPr marL="0" indent="0">
                  <a:buNone/>
                </a:pPr>
                <a:endParaRPr lang="en-US" sz="215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1120" y="914399"/>
                <a:ext cx="12029440" cy="5176066"/>
              </a:xfrm>
              <a:blipFill>
                <a:blip r:embed="rId2"/>
                <a:stretch>
                  <a:fillRect l="-710" t="-824" r="-862"/>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6</a:t>
            </a:fld>
            <a:endParaRPr lang="en-US"/>
          </a:p>
        </p:txBody>
      </p:sp>
    </p:spTree>
    <p:extLst>
      <p:ext uri="{BB962C8B-B14F-4D97-AF65-F5344CB8AC3E}">
        <p14:creationId xmlns:p14="http://schemas.microsoft.com/office/powerpoint/2010/main" val="38068166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smtClean="0"/>
              <a:t>Introduction (main)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1280" y="914399"/>
                <a:ext cx="12009120" cy="5176066"/>
              </a:xfrm>
            </p:spPr>
            <p:txBody>
              <a:bodyPr>
                <a:noAutofit/>
              </a:bodyPr>
              <a:lstStyle/>
              <a:p>
                <a:pPr marL="0" indent="0">
                  <a:buNone/>
                </a:pPr>
                <a:r>
                  <a:rPr lang="en-US" sz="2000" dirty="0" smtClean="0">
                    <a:effectLst>
                      <a:outerShdw blurRad="38100" dist="38100" dir="2700000" algn="tl">
                        <a:srgbClr val="000000">
                          <a:alpha val="43137"/>
                        </a:srgbClr>
                      </a:outerShdw>
                    </a:effectLst>
                  </a:rPr>
                  <a:t>Training CNN which is to maximize the likelihood </a:t>
                </a:r>
                <a:r>
                  <a:rPr lang="en-US" sz="2000" i="1" dirty="0">
                    <a:effectLst>
                      <a:outerShdw blurRad="38100" dist="38100" dir="2700000" algn="tl">
                        <a:srgbClr val="000000">
                          <a:alpha val="43137"/>
                        </a:srgbClr>
                      </a:outerShdw>
                    </a:effectLst>
                  </a:rPr>
                  <a:t>l</a:t>
                </a:r>
                <a:r>
                  <a:rPr lang="en-US" sz="2000" dirty="0">
                    <a:effectLst>
                      <a:outerShdw blurRad="38100" dist="38100" dir="2700000" algn="tl">
                        <a:srgbClr val="000000">
                          <a:alpha val="43137"/>
                        </a:srgbClr>
                      </a:outerShdw>
                    </a:effectLst>
                  </a:rPr>
                  <a:t>(</a:t>
                </a:r>
                <a:r>
                  <a:rPr lang="en-US" sz="2000" b="1" i="1" dirty="0">
                    <a:effectLst>
                      <a:outerShdw blurRad="38100" dist="38100" dir="2700000" algn="tl">
                        <a:srgbClr val="000000">
                          <a:alpha val="43137"/>
                        </a:srgbClr>
                      </a:outerShdw>
                    </a:effectLst>
                  </a:rPr>
                  <a:t>X</a:t>
                </a:r>
                <a:r>
                  <a:rPr lang="en-US" sz="2000" i="1" baseline="-25000" dirty="0">
                    <a:effectLst>
                      <a:outerShdw blurRad="38100" dist="38100" dir="2700000" algn="tl">
                        <a:srgbClr val="000000">
                          <a:alpha val="43137"/>
                        </a:srgbClr>
                      </a:outerShdw>
                    </a:effectLst>
                  </a:rPr>
                  <a:t>K</a:t>
                </a:r>
                <a:r>
                  <a:rPr lang="en-US" sz="2000" dirty="0" smtClean="0">
                    <a:effectLst>
                      <a:outerShdw blurRad="38100" dist="38100" dir="2700000" algn="tl">
                        <a:srgbClr val="000000">
                          <a:alpha val="43137"/>
                        </a:srgbClr>
                      </a:outerShdw>
                    </a:effectLst>
                  </a:rPr>
                  <a:t>) is implemented by association of SGD algorithm and backpropagation algorithm</a:t>
                </a:r>
                <a:r>
                  <a:rPr lang="en-US" sz="2000" dirty="0" smtClean="0"/>
                  <a:t>, which is in turn to calculate the likelihood gradients with respect to parametric </a:t>
                </a:r>
                <a:r>
                  <a:rPr lang="en-US" sz="2000" dirty="0"/>
                  <a:t>filter </a:t>
                </a:r>
                <a:r>
                  <a:rPr lang="en-US" sz="2000" i="1" dirty="0" err="1" smtClean="0"/>
                  <a:t>w</a:t>
                </a:r>
                <a:r>
                  <a:rPr lang="en-US" sz="2000" i="1" baseline="-25000" dirty="0" err="1" smtClean="0"/>
                  <a:t>uv</a:t>
                </a:r>
                <a:r>
                  <a:rPr lang="en-US" sz="2000" baseline="30000" dirty="0" smtClean="0"/>
                  <a:t>(</a:t>
                </a:r>
                <a:r>
                  <a:rPr lang="en-US" sz="2000" i="1" baseline="30000" dirty="0" smtClean="0"/>
                  <a:t>k</a:t>
                </a:r>
                <a:r>
                  <a:rPr lang="en-US" sz="2000" baseline="30000" dirty="0" smtClean="0"/>
                  <a:t>)</a:t>
                </a:r>
                <a:r>
                  <a:rPr lang="en-US" sz="2000" dirty="0" smtClean="0"/>
                  <a:t> </a:t>
                </a:r>
                <a:r>
                  <a:rPr lang="en-US" sz="2000" dirty="0"/>
                  <a:t>and parametric bias </a:t>
                </a:r>
                <a:r>
                  <a:rPr lang="en-US" sz="2000" i="1" dirty="0" smtClean="0"/>
                  <a:t>θ</a:t>
                </a:r>
                <a:r>
                  <a:rPr lang="en-US" sz="2000" baseline="30000" dirty="0" smtClean="0"/>
                  <a:t>(</a:t>
                </a:r>
                <a:r>
                  <a:rPr lang="en-US" sz="2000" i="1" baseline="30000" dirty="0" smtClean="0"/>
                  <a:t>k</a:t>
                </a:r>
                <a:r>
                  <a:rPr lang="en-US" sz="2000" baseline="30000" dirty="0" smtClean="0"/>
                  <a:t>)</a:t>
                </a:r>
                <a:r>
                  <a:rPr lang="en-US" sz="2000" dirty="0" smtClean="0"/>
                  <a:t>:</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000" i="1">
                              <a:latin typeface="Cambria Math" panose="02040503050406030204" pitchFamily="18" charset="0"/>
                            </a:rPr>
                          </m:ctrlPr>
                        </m:mPr>
                        <m:mr>
                          <m:e>
                            <m:sSubSup>
                              <m:sSubSupPr>
                                <m:ctrlPr>
                                  <a:rPr lang="en-US" sz="2000" i="1">
                                    <a:latin typeface="Cambria Math" panose="02040503050406030204" pitchFamily="18" charset="0"/>
                                  </a:rPr>
                                </m:ctrlPr>
                              </m:sSubSupPr>
                              <m:e>
                                <m:r>
                                  <a:rPr lang="en-US" sz="2000" i="1">
                                    <a:latin typeface="Cambria Math" panose="02040503050406030204" pitchFamily="18" charset="0"/>
                                  </a:rPr>
                                  <m:t>𝑤</m:t>
                                </m:r>
                              </m:e>
                              <m:sub>
                                <m:r>
                                  <a:rPr lang="en-US" sz="2000" i="1">
                                    <a:latin typeface="Cambria Math" panose="02040503050406030204" pitchFamily="18" charset="0"/>
                                  </a:rPr>
                                  <m:t>𝑢𝑣</m:t>
                                </m:r>
                              </m:sub>
                              <m:sup>
                                <m:d>
                                  <m:dPr>
                                    <m:ctrlPr>
                                      <a:rPr lang="en-US" sz="2000" i="1">
                                        <a:latin typeface="Cambria Math" panose="02040503050406030204" pitchFamily="18" charset="0"/>
                                      </a:rPr>
                                    </m:ctrlPr>
                                  </m:dPr>
                                  <m:e>
                                    <m:r>
                                      <a:rPr lang="en-US" sz="2000" b="0" i="1" smtClean="0">
                                        <a:latin typeface="Cambria Math" panose="02040503050406030204" pitchFamily="18" charset="0"/>
                                      </a:rPr>
                                      <m:t>𝑘</m:t>
                                    </m:r>
                                  </m:e>
                                </m:d>
                              </m:sup>
                            </m:sSubSup>
                            <m:r>
                              <a:rPr lang="en-US" sz="2000" i="1">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rPr>
                                  <m:t>𝑤</m:t>
                                </m:r>
                              </m:e>
                              <m:sub>
                                <m:r>
                                  <a:rPr lang="en-US" sz="2000" i="1">
                                    <a:latin typeface="Cambria Math" panose="02040503050406030204" pitchFamily="18" charset="0"/>
                                  </a:rPr>
                                  <m:t>𝑢𝑣</m:t>
                                </m:r>
                              </m:sub>
                              <m:sup>
                                <m:d>
                                  <m:dPr>
                                    <m:ctrlPr>
                                      <a:rPr lang="en-US" sz="2000" i="1">
                                        <a:latin typeface="Cambria Math" panose="02040503050406030204" pitchFamily="18" charset="0"/>
                                      </a:rPr>
                                    </m:ctrlPr>
                                  </m:dPr>
                                  <m:e>
                                    <m:r>
                                      <a:rPr lang="en-US" sz="2000" b="0" i="1" smtClean="0">
                                        <a:latin typeface="Cambria Math" panose="02040503050406030204" pitchFamily="18" charset="0"/>
                                      </a:rPr>
                                      <m:t>𝑘</m:t>
                                    </m:r>
                                  </m:e>
                                </m:d>
                              </m:sup>
                            </m:sSubSup>
                            <m:r>
                              <a:rPr lang="en-US" sz="2000" i="1">
                                <a:latin typeface="Cambria Math" panose="02040503050406030204" pitchFamily="18" charset="0"/>
                              </a:rPr>
                              <m:t>+</m:t>
                            </m:r>
                            <m:r>
                              <a:rPr lang="en-US" sz="2000" i="1">
                                <a:latin typeface="Cambria Math" panose="02040503050406030204" pitchFamily="18" charset="0"/>
                              </a:rPr>
                              <m:t>𝛾</m:t>
                            </m:r>
                            <m:sSub>
                              <m:sSubPr>
                                <m:ctrlPr>
                                  <a:rPr lang="en-US" sz="2000" i="1">
                                    <a:latin typeface="Cambria Math" panose="02040503050406030204" pitchFamily="18" charset="0"/>
                                  </a:rPr>
                                </m:ctrlPr>
                              </m:sSubPr>
                              <m:e>
                                <m:r>
                                  <a:rPr lang="en-US" sz="2000">
                                    <a:latin typeface="Cambria Math" panose="02040503050406030204" pitchFamily="18" charset="0"/>
                                  </a:rPr>
                                  <m:t>𝛻</m:t>
                                </m:r>
                              </m:e>
                              <m:sub>
                                <m:sSubSup>
                                  <m:sSubSupPr>
                                    <m:ctrlPr>
                                      <a:rPr lang="en-US" sz="2000" i="1">
                                        <a:latin typeface="Cambria Math" panose="02040503050406030204" pitchFamily="18" charset="0"/>
                                      </a:rPr>
                                    </m:ctrlPr>
                                  </m:sSubSupPr>
                                  <m:e>
                                    <m:r>
                                      <a:rPr lang="en-US" sz="2000" i="1">
                                        <a:latin typeface="Cambria Math" panose="02040503050406030204" pitchFamily="18" charset="0"/>
                                      </a:rPr>
                                      <m:t>𝑤</m:t>
                                    </m:r>
                                  </m:e>
                                  <m:sub>
                                    <m:r>
                                      <a:rPr lang="en-US" sz="2000" i="1">
                                        <a:latin typeface="Cambria Math" panose="02040503050406030204" pitchFamily="18" charset="0"/>
                                      </a:rPr>
                                      <m:t>𝑢𝑣</m:t>
                                    </m:r>
                                  </m:sub>
                                  <m:sup>
                                    <m:d>
                                      <m:dPr>
                                        <m:ctrlPr>
                                          <a:rPr lang="en-US" sz="2000" i="1">
                                            <a:latin typeface="Cambria Math" panose="02040503050406030204" pitchFamily="18" charset="0"/>
                                          </a:rPr>
                                        </m:ctrlPr>
                                      </m:dPr>
                                      <m:e>
                                        <m:r>
                                          <a:rPr lang="en-US" sz="2000" i="1">
                                            <a:latin typeface="Cambria Math" panose="02040503050406030204" pitchFamily="18" charset="0"/>
                                          </a:rPr>
                                          <m:t>𝐾</m:t>
                                        </m:r>
                                      </m:e>
                                    </m:d>
                                  </m:sup>
                                </m:sSubSup>
                              </m:sub>
                            </m:sSub>
                            <m:r>
                              <a:rPr lang="en-US" sz="2000" i="1">
                                <a:latin typeface="Cambria Math" panose="02040503050406030204" pitchFamily="18" charset="0"/>
                              </a:rPr>
                              <m:t>𝑙</m:t>
                            </m:r>
                            <m:r>
                              <a:rPr lang="en-US" sz="2000" b="0" i="1" smtClean="0">
                                <a:latin typeface="Cambria Math" panose="02040503050406030204" pitchFamily="18" charset="0"/>
                              </a:rPr>
                              <m:t> </m:t>
                            </m:r>
                            <m:r>
                              <m:rPr>
                                <m:sty m:val="p"/>
                              </m:rPr>
                              <a:rPr lang="en-US" sz="2000" b="0" i="0" smtClean="0">
                                <a:latin typeface="Cambria Math" panose="02040503050406030204" pitchFamily="18" charset="0"/>
                              </a:rPr>
                              <m:t>and</m:t>
                            </m:r>
                            <m:r>
                              <a:rPr lang="en-US" sz="2000" b="0" i="1" smtClean="0">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rPr>
                                  <m:t>𝜃</m:t>
                                </m:r>
                              </m:e>
                              <m:sup>
                                <m:d>
                                  <m:dPr>
                                    <m:ctrlPr>
                                      <a:rPr lang="en-US" sz="2000" i="1">
                                        <a:latin typeface="Cambria Math" panose="02040503050406030204" pitchFamily="18" charset="0"/>
                                      </a:rPr>
                                    </m:ctrlPr>
                                  </m:dPr>
                                  <m:e>
                                    <m:r>
                                      <a:rPr lang="en-US" sz="2000" b="0" i="1" smtClean="0">
                                        <a:latin typeface="Cambria Math" panose="02040503050406030204" pitchFamily="18" charset="0"/>
                                      </a:rPr>
                                      <m:t>𝑘</m:t>
                                    </m:r>
                                  </m:e>
                                </m:d>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𝜃</m:t>
                                </m:r>
                              </m:e>
                              <m:sup>
                                <m:d>
                                  <m:dPr>
                                    <m:ctrlPr>
                                      <a:rPr lang="en-US" sz="2000" i="1">
                                        <a:latin typeface="Cambria Math" panose="02040503050406030204" pitchFamily="18" charset="0"/>
                                      </a:rPr>
                                    </m:ctrlPr>
                                  </m:dPr>
                                  <m:e>
                                    <m:r>
                                      <a:rPr lang="en-US" sz="2000" b="0" i="1" smtClean="0">
                                        <a:latin typeface="Cambria Math" panose="02040503050406030204" pitchFamily="18" charset="0"/>
                                      </a:rPr>
                                      <m:t>𝑘</m:t>
                                    </m:r>
                                  </m:e>
                                </m:d>
                              </m:sup>
                            </m:sSup>
                            <m:r>
                              <a:rPr lang="en-US" sz="2000" i="1">
                                <a:latin typeface="Cambria Math" panose="02040503050406030204" pitchFamily="18" charset="0"/>
                              </a:rPr>
                              <m:t>+</m:t>
                            </m:r>
                            <m:r>
                              <a:rPr lang="en-US" sz="2000" i="1">
                                <a:latin typeface="Cambria Math" panose="02040503050406030204" pitchFamily="18" charset="0"/>
                              </a:rPr>
                              <m:t>𝛾</m:t>
                            </m:r>
                            <m:sSub>
                              <m:sSubPr>
                                <m:ctrlPr>
                                  <a:rPr lang="en-US" sz="2000" i="1">
                                    <a:latin typeface="Cambria Math" panose="02040503050406030204" pitchFamily="18" charset="0"/>
                                  </a:rPr>
                                </m:ctrlPr>
                              </m:sSubPr>
                              <m:e>
                                <m:r>
                                  <a:rPr lang="en-US" sz="2000">
                                    <a:latin typeface="Cambria Math" panose="02040503050406030204" pitchFamily="18" charset="0"/>
                                  </a:rPr>
                                  <m:t>𝛻</m:t>
                                </m:r>
                              </m:e>
                              <m:sub>
                                <m:sSup>
                                  <m:sSupPr>
                                    <m:ctrlPr>
                                      <a:rPr lang="en-US" sz="2000" i="1">
                                        <a:latin typeface="Cambria Math" panose="02040503050406030204" pitchFamily="18" charset="0"/>
                                      </a:rPr>
                                    </m:ctrlPr>
                                  </m:sSupPr>
                                  <m:e>
                                    <m:r>
                                      <a:rPr lang="en-US" sz="2000" i="1">
                                        <a:latin typeface="Cambria Math" panose="02040503050406030204" pitchFamily="18" charset="0"/>
                                      </a:rPr>
                                      <m:t>𝜃</m:t>
                                    </m:r>
                                  </m:e>
                                  <m:sup>
                                    <m:d>
                                      <m:dPr>
                                        <m:ctrlPr>
                                          <a:rPr lang="en-US" sz="2000" i="1">
                                            <a:latin typeface="Cambria Math" panose="02040503050406030204" pitchFamily="18" charset="0"/>
                                          </a:rPr>
                                        </m:ctrlPr>
                                      </m:dPr>
                                      <m:e>
                                        <m:r>
                                          <a:rPr lang="en-US" sz="2000" b="0" i="1" smtClean="0">
                                            <a:latin typeface="Cambria Math" panose="02040503050406030204" pitchFamily="18" charset="0"/>
                                          </a:rPr>
                                          <m:t>𝑘</m:t>
                                        </m:r>
                                      </m:e>
                                    </m:d>
                                  </m:sup>
                                </m:sSup>
                              </m:sub>
                            </m:sSub>
                            <m:r>
                              <a:rPr lang="en-US" sz="2000" i="1">
                                <a:latin typeface="Cambria Math" panose="02040503050406030204" pitchFamily="18" charset="0"/>
                              </a:rPr>
                              <m:t>𝑙</m:t>
                            </m:r>
                          </m:e>
                        </m:mr>
                      </m:m>
                    </m:oMath>
                  </m:oMathPara>
                </a14:m>
                <a:endParaRPr lang="en-US" sz="2000" dirty="0"/>
              </a:p>
              <a:p>
                <a:pPr marL="0" indent="0">
                  <a:buNone/>
                </a:pPr>
                <a:r>
                  <a:rPr lang="en-US" sz="2000" dirty="0" smtClean="0"/>
                  <a:t>By error backpropagation, </a:t>
                </a:r>
                <a:r>
                  <a:rPr lang="en-US" sz="2000" dirty="0"/>
                  <a:t>necessary gradients for training CNN are summarized from </a:t>
                </a:r>
                <a:r>
                  <a:rPr lang="en-US" sz="2000" i="1" dirty="0"/>
                  <a:t>k</a:t>
                </a:r>
                <a:r>
                  <a:rPr lang="en-US" sz="2000" dirty="0"/>
                  <a:t>=</a:t>
                </a:r>
                <a:r>
                  <a:rPr lang="en-US" sz="2000" i="1" dirty="0"/>
                  <a:t>K</a:t>
                </a:r>
                <a:r>
                  <a:rPr lang="en-US" sz="2000" dirty="0"/>
                  <a:t> down </a:t>
                </a:r>
                <a:r>
                  <a:rPr lang="en-US" sz="2000" i="1" dirty="0"/>
                  <a:t>k</a:t>
                </a:r>
                <a:r>
                  <a:rPr lang="en-US" sz="2000" dirty="0"/>
                  <a:t>=1 as </a:t>
                </a:r>
                <a:r>
                  <a:rPr lang="en-US" sz="2000" dirty="0" smtClean="0"/>
                  <a:t>follows:</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000" i="1">
                              <a:latin typeface="Cambria Math" panose="02040503050406030204" pitchFamily="18" charset="0"/>
                            </a:rPr>
                          </m:ctrlPr>
                        </m:mPr>
                        <m:mr>
                          <m:e>
                            <m:sSub>
                              <m:sSubPr>
                                <m:ctrlPr>
                                  <a:rPr lang="en-US" sz="2000" i="1">
                                    <a:latin typeface="Cambria Math" panose="02040503050406030204" pitchFamily="18" charset="0"/>
                                  </a:rPr>
                                </m:ctrlPr>
                              </m:sSubPr>
                              <m:e>
                                <m:r>
                                  <a:rPr lang="en-US" sz="2000">
                                    <a:latin typeface="Cambria Math" panose="02040503050406030204" pitchFamily="18" charset="0"/>
                                  </a:rPr>
                                  <m:t>𝛻</m:t>
                                </m:r>
                              </m:e>
                              <m:sub>
                                <m:sSubSup>
                                  <m:sSubSupPr>
                                    <m:ctrlPr>
                                      <a:rPr lang="en-US" sz="2000" i="1">
                                        <a:latin typeface="Cambria Math" panose="02040503050406030204" pitchFamily="18" charset="0"/>
                                      </a:rPr>
                                    </m:ctrlPr>
                                  </m:sSubSupPr>
                                  <m:e>
                                    <m:r>
                                      <a:rPr lang="en-US" sz="2000" i="1">
                                        <a:latin typeface="Cambria Math" panose="02040503050406030204" pitchFamily="18" charset="0"/>
                                      </a:rPr>
                                      <m:t>𝑤</m:t>
                                    </m:r>
                                  </m:e>
                                  <m:sub>
                                    <m:r>
                                      <a:rPr lang="en-US" sz="2000" i="1">
                                        <a:latin typeface="Cambria Math" panose="02040503050406030204" pitchFamily="18" charset="0"/>
                                      </a:rPr>
                                      <m:t>𝑢𝑣</m:t>
                                    </m:r>
                                  </m:sub>
                                  <m:sup>
                                    <m:d>
                                      <m:dPr>
                                        <m:ctrlPr>
                                          <a:rPr lang="en-US" sz="2000" i="1">
                                            <a:latin typeface="Cambria Math" panose="02040503050406030204" pitchFamily="18" charset="0"/>
                                          </a:rPr>
                                        </m:ctrlPr>
                                      </m:dPr>
                                      <m:e>
                                        <m:r>
                                          <a:rPr lang="en-US" sz="2000" i="1">
                                            <a:latin typeface="Cambria Math" panose="02040503050406030204" pitchFamily="18" charset="0"/>
                                          </a:rPr>
                                          <m:t>𝑘</m:t>
                                        </m:r>
                                      </m:e>
                                    </m:d>
                                  </m:sup>
                                </m:sSubSup>
                              </m:sub>
                            </m:sSub>
                            <m:r>
                              <a:rPr lang="en-US" sz="2000" i="1">
                                <a:latin typeface="Cambria Math" panose="02040503050406030204" pitchFamily="18" charset="0"/>
                              </a:rPr>
                              <m:t>𝑙</m:t>
                            </m:r>
                            <m:r>
                              <a:rPr lang="en-US" sz="2000" i="1">
                                <a:latin typeface="Cambria Math" panose="02040503050406030204" pitchFamily="18" charset="0"/>
                              </a:rPr>
                              <m:t>=</m:t>
                            </m:r>
                            <m:nary>
                              <m:naryPr>
                                <m:chr m:val="∑"/>
                                <m:limLoc m:val="undOvr"/>
                                <m:supHide m:val="on"/>
                                <m:ctrlPr>
                                  <a:rPr lang="en-US" sz="2000" i="1">
                                    <a:latin typeface="Cambria Math" panose="02040503050406030204" pitchFamily="18" charset="0"/>
                                  </a:rPr>
                                </m:ctrlPr>
                              </m:naryPr>
                              <m:sub>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𝑢</m:t>
                                </m:r>
                                <m:r>
                                  <a:rPr lang="en-US" sz="2000" i="1">
                                    <a:latin typeface="Cambria Math" panose="02040503050406030204" pitchFamily="18" charset="0"/>
                                  </a:rPr>
                                  <m:t>,</m:t>
                                </m:r>
                                <m:r>
                                  <a:rPr lang="en-US" sz="2000" i="1">
                                    <a:latin typeface="Cambria Math" panose="02040503050406030204" pitchFamily="18" charset="0"/>
                                  </a:rPr>
                                  <m:t>𝑗</m:t>
                                </m:r>
                                <m:r>
                                  <a:rPr lang="en-US" sz="2000" i="1">
                                    <a:latin typeface="Cambria Math" panose="02040503050406030204" pitchFamily="18" charset="0"/>
                                  </a:rPr>
                                  <m:t>:</m:t>
                                </m:r>
                                <m:r>
                                  <a:rPr lang="en-US" sz="2000" i="1">
                                    <a:latin typeface="Cambria Math" panose="02040503050406030204" pitchFamily="18" charset="0"/>
                                  </a:rPr>
                                  <m:t>𝑣</m:t>
                                </m:r>
                              </m:sub>
                              <m:sup/>
                              <m:e>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𝑢</m:t>
                                    </m:r>
                                    <m:r>
                                      <a:rPr lang="en-US" sz="2000" i="1">
                                        <a:latin typeface="Cambria Math" panose="02040503050406030204" pitchFamily="18" charset="0"/>
                                      </a:rPr>
                                      <m:t>,</m:t>
                                    </m:r>
                                    <m:r>
                                      <a:rPr lang="en-US" sz="2000" i="1">
                                        <a:latin typeface="Cambria Math" panose="02040503050406030204" pitchFamily="18" charset="0"/>
                                      </a:rPr>
                                      <m:t>𝑗</m:t>
                                    </m:r>
                                    <m:r>
                                      <a:rPr lang="en-US" sz="2000" i="1">
                                        <a:latin typeface="Cambria Math" panose="02040503050406030204" pitchFamily="18" charset="0"/>
                                      </a:rPr>
                                      <m:t>+</m:t>
                                    </m:r>
                                    <m:r>
                                      <a:rPr lang="en-US" sz="2000" i="1">
                                        <a:latin typeface="Cambria Math" panose="02040503050406030204" pitchFamily="18" charset="0"/>
                                      </a:rPr>
                                      <m:t>𝑣</m:t>
                                    </m:r>
                                  </m:sub>
                                  <m:sup>
                                    <m:d>
                                      <m:dPr>
                                        <m:ctrlPr>
                                          <a:rPr lang="en-US" sz="2000" i="1">
                                            <a:latin typeface="Cambria Math" panose="02040503050406030204" pitchFamily="18" charset="0"/>
                                          </a:rPr>
                                        </m:ctrlPr>
                                      </m:dPr>
                                      <m:e>
                                        <m:r>
                                          <a:rPr lang="en-US" sz="2000" i="1">
                                            <a:latin typeface="Cambria Math" panose="02040503050406030204" pitchFamily="18" charset="0"/>
                                          </a:rPr>
                                          <m:t>𝑘</m:t>
                                        </m:r>
                                        <m:r>
                                          <a:rPr lang="en-US" sz="2000" i="1">
                                            <a:latin typeface="Cambria Math" panose="02040503050406030204" pitchFamily="18" charset="0"/>
                                          </a:rPr>
                                          <m:t>−1</m:t>
                                        </m:r>
                                      </m:e>
                                    </m:d>
                                  </m:sup>
                                </m:sSubSup>
                                <m:sSub>
                                  <m:sSubPr>
                                    <m:ctrlPr>
                                      <a:rPr lang="en-US" sz="2000" i="1">
                                        <a:latin typeface="Cambria Math" panose="02040503050406030204" pitchFamily="18" charset="0"/>
                                      </a:rPr>
                                    </m:ctrlPr>
                                  </m:sSubPr>
                                  <m:e>
                                    <m:r>
                                      <a:rPr lang="en-US" sz="2000">
                                        <a:latin typeface="Cambria Math" panose="02040503050406030204" pitchFamily="18" charset="0"/>
                                      </a:rPr>
                                      <m:t>𝛻</m:t>
                                    </m:r>
                                  </m:e>
                                  <m:sub>
                                    <m:sSup>
                                      <m:sSupPr>
                                        <m:ctrlPr>
                                          <a:rPr lang="en-US" sz="2000" i="1">
                                            <a:latin typeface="Cambria Math" panose="02040503050406030204" pitchFamily="18" charset="0"/>
                                          </a:rPr>
                                        </m:ctrlPr>
                                      </m:sSupPr>
                                      <m:e>
                                        <m:r>
                                          <a:rPr lang="en-US" sz="2000" i="1">
                                            <a:latin typeface="Cambria Math" panose="02040503050406030204" pitchFamily="18" charset="0"/>
                                          </a:rPr>
                                          <m:t>𝜃</m:t>
                                        </m:r>
                                      </m:e>
                                      <m:sup>
                                        <m:d>
                                          <m:dPr>
                                            <m:ctrlPr>
                                              <a:rPr lang="en-US" sz="2000" i="1">
                                                <a:latin typeface="Cambria Math" panose="02040503050406030204" pitchFamily="18" charset="0"/>
                                              </a:rPr>
                                            </m:ctrlPr>
                                          </m:dPr>
                                          <m:e>
                                            <m:r>
                                              <a:rPr lang="en-US" sz="2000" i="1">
                                                <a:latin typeface="Cambria Math" panose="02040503050406030204" pitchFamily="18" charset="0"/>
                                              </a:rPr>
                                              <m:t>𝑘</m:t>
                                            </m:r>
                                          </m:e>
                                        </m:d>
                                      </m:sup>
                                    </m:sSup>
                                  </m:sub>
                                </m:sSub>
                                <m:r>
                                  <a:rPr lang="en-US" sz="2000" i="1">
                                    <a:latin typeface="Cambria Math" panose="02040503050406030204" pitchFamily="18" charset="0"/>
                                  </a:rPr>
                                  <m:t>𝑙</m:t>
                                </m:r>
                                <m:d>
                                  <m:dPr>
                                    <m:ctrlPr>
                                      <a:rPr lang="en-US" sz="2000" i="1">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i="1">
                                            <a:latin typeface="Cambria Math" panose="02040503050406030204" pitchFamily="18" charset="0"/>
                                          </a:rPr>
                                          <m:t>𝑖𝑗</m:t>
                                        </m:r>
                                      </m:sub>
                                      <m:sup>
                                        <m:d>
                                          <m:dPr>
                                            <m:ctrlPr>
                                              <a:rPr lang="en-US" sz="2000" i="1">
                                                <a:latin typeface="Cambria Math" panose="02040503050406030204" pitchFamily="18" charset="0"/>
                                              </a:rPr>
                                            </m:ctrlPr>
                                          </m:dPr>
                                          <m:e>
                                            <m:r>
                                              <a:rPr lang="en-US" sz="2000" i="1">
                                                <a:latin typeface="Cambria Math" panose="02040503050406030204" pitchFamily="18" charset="0"/>
                                              </a:rPr>
                                              <m:t>𝑘</m:t>
                                            </m:r>
                                          </m:e>
                                        </m:d>
                                      </m:sup>
                                    </m:sSubSup>
                                  </m:e>
                                </m:d>
                              </m:e>
                            </m:nary>
                          </m:e>
                        </m:mr>
                        <m:mr>
                          <m:e>
                            <m:sSub>
                              <m:sSubPr>
                                <m:ctrlPr>
                                  <a:rPr lang="en-US" sz="2000" i="1">
                                    <a:latin typeface="Cambria Math" panose="02040503050406030204" pitchFamily="18" charset="0"/>
                                  </a:rPr>
                                </m:ctrlPr>
                              </m:sSubPr>
                              <m:e>
                                <m:r>
                                  <a:rPr lang="en-US" sz="2000">
                                    <a:latin typeface="Cambria Math" panose="02040503050406030204" pitchFamily="18" charset="0"/>
                                  </a:rPr>
                                  <m:t>𝛻</m:t>
                                </m:r>
                              </m:e>
                              <m:sub>
                                <m:sSup>
                                  <m:sSupPr>
                                    <m:ctrlPr>
                                      <a:rPr lang="en-US" sz="2000" i="1">
                                        <a:latin typeface="Cambria Math" panose="02040503050406030204" pitchFamily="18" charset="0"/>
                                      </a:rPr>
                                    </m:ctrlPr>
                                  </m:sSupPr>
                                  <m:e>
                                    <m:r>
                                      <a:rPr lang="en-US" sz="2000" i="1">
                                        <a:latin typeface="Cambria Math" panose="02040503050406030204" pitchFamily="18" charset="0"/>
                                      </a:rPr>
                                      <m:t>𝜃</m:t>
                                    </m:r>
                                  </m:e>
                                  <m:sup>
                                    <m:d>
                                      <m:dPr>
                                        <m:ctrlPr>
                                          <a:rPr lang="en-US" sz="2000" i="1">
                                            <a:latin typeface="Cambria Math" panose="02040503050406030204" pitchFamily="18" charset="0"/>
                                          </a:rPr>
                                        </m:ctrlPr>
                                      </m:dPr>
                                      <m:e>
                                        <m:r>
                                          <a:rPr lang="en-US" sz="2000" i="1">
                                            <a:latin typeface="Cambria Math" panose="02040503050406030204" pitchFamily="18" charset="0"/>
                                          </a:rPr>
                                          <m:t>𝑘</m:t>
                                        </m:r>
                                      </m:e>
                                    </m:d>
                                  </m:sup>
                                </m:sSup>
                              </m:sub>
                            </m:sSub>
                            <m:r>
                              <a:rPr lang="en-US" sz="2000" i="1">
                                <a:latin typeface="Cambria Math" panose="02040503050406030204" pitchFamily="18" charset="0"/>
                              </a:rPr>
                              <m:t>𝑙</m:t>
                            </m:r>
                            <m:r>
                              <a:rPr lang="en-US" sz="2000" i="1">
                                <a:latin typeface="Cambria Math" panose="02040503050406030204" pitchFamily="18" charset="0"/>
                              </a:rPr>
                              <m:t>=</m:t>
                            </m:r>
                            <m:nary>
                              <m:naryPr>
                                <m:chr m:val="∑"/>
                                <m:limLoc m:val="undOvr"/>
                                <m:supHide m:val="on"/>
                                <m:ctrlPr>
                                  <a:rPr lang="en-US" sz="2000" i="1">
                                    <a:latin typeface="Cambria Math" panose="02040503050406030204" pitchFamily="18" charset="0"/>
                                  </a:rPr>
                                </m:ctrlPr>
                              </m:naryPr>
                              <m:sub>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𝑗</m:t>
                                </m:r>
                              </m:sub>
                              <m:sup/>
                              <m:e>
                                <m:sSub>
                                  <m:sSubPr>
                                    <m:ctrlPr>
                                      <a:rPr lang="en-US" sz="2000" i="1">
                                        <a:latin typeface="Cambria Math" panose="02040503050406030204" pitchFamily="18" charset="0"/>
                                      </a:rPr>
                                    </m:ctrlPr>
                                  </m:sSubPr>
                                  <m:e>
                                    <m:r>
                                      <a:rPr lang="en-US" sz="2000">
                                        <a:latin typeface="Cambria Math" panose="02040503050406030204" pitchFamily="18" charset="0"/>
                                      </a:rPr>
                                      <m:t>𝛻</m:t>
                                    </m:r>
                                  </m:e>
                                  <m:sub>
                                    <m:sSup>
                                      <m:sSupPr>
                                        <m:ctrlPr>
                                          <a:rPr lang="en-US" sz="2000" i="1">
                                            <a:latin typeface="Cambria Math" panose="02040503050406030204" pitchFamily="18" charset="0"/>
                                          </a:rPr>
                                        </m:ctrlPr>
                                      </m:sSupPr>
                                      <m:e>
                                        <m:r>
                                          <a:rPr lang="en-US" sz="2000" i="1">
                                            <a:latin typeface="Cambria Math" panose="02040503050406030204" pitchFamily="18" charset="0"/>
                                          </a:rPr>
                                          <m:t>𝜃</m:t>
                                        </m:r>
                                      </m:e>
                                      <m:sup>
                                        <m:d>
                                          <m:dPr>
                                            <m:ctrlPr>
                                              <a:rPr lang="en-US" sz="2000" i="1">
                                                <a:latin typeface="Cambria Math" panose="02040503050406030204" pitchFamily="18" charset="0"/>
                                              </a:rPr>
                                            </m:ctrlPr>
                                          </m:dPr>
                                          <m:e>
                                            <m:r>
                                              <a:rPr lang="en-US" sz="2000" i="1">
                                                <a:latin typeface="Cambria Math" panose="02040503050406030204" pitchFamily="18" charset="0"/>
                                              </a:rPr>
                                              <m:t>𝑘</m:t>
                                            </m:r>
                                          </m:e>
                                        </m:d>
                                      </m:sup>
                                    </m:sSup>
                                  </m:sub>
                                </m:sSub>
                                <m:r>
                                  <a:rPr lang="en-US" sz="2000" i="1">
                                    <a:latin typeface="Cambria Math" panose="02040503050406030204" pitchFamily="18" charset="0"/>
                                  </a:rPr>
                                  <m:t>𝑙</m:t>
                                </m:r>
                                <m:d>
                                  <m:dPr>
                                    <m:ctrlPr>
                                      <a:rPr lang="en-US" sz="2000" i="1">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i="1">
                                            <a:latin typeface="Cambria Math" panose="02040503050406030204" pitchFamily="18" charset="0"/>
                                          </a:rPr>
                                          <m:t>𝑖𝑗</m:t>
                                        </m:r>
                                      </m:sub>
                                      <m:sup>
                                        <m:d>
                                          <m:dPr>
                                            <m:ctrlPr>
                                              <a:rPr lang="en-US" sz="2000" i="1">
                                                <a:latin typeface="Cambria Math" panose="02040503050406030204" pitchFamily="18" charset="0"/>
                                              </a:rPr>
                                            </m:ctrlPr>
                                          </m:dPr>
                                          <m:e>
                                            <m:r>
                                              <a:rPr lang="en-US" sz="2000" i="1">
                                                <a:latin typeface="Cambria Math" panose="02040503050406030204" pitchFamily="18" charset="0"/>
                                              </a:rPr>
                                              <m:t>𝑘</m:t>
                                            </m:r>
                                          </m:e>
                                        </m:d>
                                      </m:sup>
                                    </m:sSubSup>
                                  </m:e>
                                </m:d>
                              </m:e>
                            </m:nary>
                          </m:e>
                        </m:mr>
                        <m:mr>
                          <m:e>
                            <m:sSub>
                              <m:sSubPr>
                                <m:ctrlPr>
                                  <a:rPr lang="en-US" sz="2000" i="1">
                                    <a:latin typeface="Cambria Math" panose="02040503050406030204" pitchFamily="18" charset="0"/>
                                  </a:rPr>
                                </m:ctrlPr>
                              </m:sSubPr>
                              <m:e>
                                <m:r>
                                  <a:rPr lang="en-US" sz="2000">
                                    <a:latin typeface="Cambria Math" panose="02040503050406030204" pitchFamily="18" charset="0"/>
                                  </a:rPr>
                                  <m:t>𝛻</m:t>
                                </m:r>
                              </m:e>
                              <m:sub>
                                <m:sSup>
                                  <m:sSupPr>
                                    <m:ctrlPr>
                                      <a:rPr lang="en-US" sz="2000" i="1">
                                        <a:latin typeface="Cambria Math" panose="02040503050406030204" pitchFamily="18" charset="0"/>
                                      </a:rPr>
                                    </m:ctrlPr>
                                  </m:sSupPr>
                                  <m:e>
                                    <m:r>
                                      <a:rPr lang="en-US" sz="2000" i="1">
                                        <a:latin typeface="Cambria Math" panose="02040503050406030204" pitchFamily="18" charset="0"/>
                                      </a:rPr>
                                      <m:t>𝜃</m:t>
                                    </m:r>
                                  </m:e>
                                  <m:sup>
                                    <m:d>
                                      <m:dPr>
                                        <m:ctrlPr>
                                          <a:rPr lang="en-US" sz="2000" i="1">
                                            <a:latin typeface="Cambria Math" panose="02040503050406030204" pitchFamily="18" charset="0"/>
                                          </a:rPr>
                                        </m:ctrlPr>
                                      </m:dPr>
                                      <m:e>
                                        <m:r>
                                          <a:rPr lang="en-US" sz="2000" i="1">
                                            <a:latin typeface="Cambria Math" panose="02040503050406030204" pitchFamily="18" charset="0"/>
                                          </a:rPr>
                                          <m:t>𝑘</m:t>
                                        </m:r>
                                      </m:e>
                                    </m:d>
                                  </m:sup>
                                </m:sSup>
                              </m:sub>
                            </m:sSub>
                            <m:r>
                              <a:rPr lang="en-US" sz="2000" i="1">
                                <a:latin typeface="Cambria Math" panose="02040503050406030204" pitchFamily="18" charset="0"/>
                              </a:rPr>
                              <m:t>𝑙</m:t>
                            </m:r>
                            <m:d>
                              <m:dPr>
                                <m:ctrlPr>
                                  <a:rPr lang="en-US" sz="2000" i="1">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i="1">
                                        <a:latin typeface="Cambria Math" panose="02040503050406030204" pitchFamily="18" charset="0"/>
                                      </a:rPr>
                                      <m:t>𝑖𝑗</m:t>
                                    </m:r>
                                  </m:sub>
                                  <m:sup>
                                    <m:d>
                                      <m:dPr>
                                        <m:ctrlPr>
                                          <a:rPr lang="en-US" sz="2000" i="1">
                                            <a:latin typeface="Cambria Math" panose="02040503050406030204" pitchFamily="18" charset="0"/>
                                          </a:rPr>
                                        </m:ctrlPr>
                                      </m:dPr>
                                      <m:e>
                                        <m:r>
                                          <a:rPr lang="en-US" sz="2000" i="1">
                                            <a:latin typeface="Cambria Math" panose="02040503050406030204" pitchFamily="18" charset="0"/>
                                          </a:rPr>
                                          <m:t>𝑘</m:t>
                                        </m:r>
                                      </m:e>
                                    </m:d>
                                  </m:sup>
                                </m:sSubSup>
                              </m:e>
                            </m:d>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𝑓</m:t>
                                </m:r>
                              </m:e>
                              <m:sup>
                                <m:r>
                                  <a:rPr lang="en-US" sz="2000" i="1">
                                    <a:latin typeface="Cambria Math" panose="02040503050406030204" pitchFamily="18" charset="0"/>
                                  </a:rPr>
                                  <m:t>′</m:t>
                                </m:r>
                              </m:sup>
                            </m:sSup>
                            <m:d>
                              <m:dPr>
                                <m:ctrlPr>
                                  <a:rPr lang="en-US" sz="2000" i="1">
                                    <a:latin typeface="Cambria Math" panose="02040503050406030204" pitchFamily="18" charset="0"/>
                                  </a:rPr>
                                </m:ctrlPr>
                              </m:dPr>
                              <m:e>
                                <m:sSubSup>
                                  <m:sSubSupPr>
                                    <m:ctrlPr>
                                      <a:rPr lang="en-US" sz="2000" i="1">
                                        <a:latin typeface="Cambria Math" panose="02040503050406030204" pitchFamily="18" charset="0"/>
                                      </a:rPr>
                                    </m:ctrlPr>
                                  </m:sSubSup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𝑖𝑗</m:t>
                                    </m:r>
                                  </m:sub>
                                  <m:sup>
                                    <m:d>
                                      <m:dPr>
                                        <m:ctrlPr>
                                          <a:rPr lang="en-US" sz="2000" i="1">
                                            <a:latin typeface="Cambria Math" panose="02040503050406030204" pitchFamily="18" charset="0"/>
                                          </a:rPr>
                                        </m:ctrlPr>
                                      </m:dPr>
                                      <m:e>
                                        <m:r>
                                          <a:rPr lang="en-US" sz="2000" i="1">
                                            <a:latin typeface="Cambria Math" panose="02040503050406030204" pitchFamily="18" charset="0"/>
                                          </a:rPr>
                                          <m:t>𝑘</m:t>
                                        </m:r>
                                        <m:r>
                                          <a:rPr lang="en-US" sz="2000" i="1">
                                            <a:latin typeface="Cambria Math" panose="02040503050406030204" pitchFamily="18" charset="0"/>
                                          </a:rPr>
                                          <m:t>−1</m:t>
                                        </m:r>
                                      </m:e>
                                    </m:d>
                                  </m:sup>
                                </m:sSubSup>
                              </m:e>
                            </m:d>
                            <m:sSub>
                              <m:sSubPr>
                                <m:ctrlPr>
                                  <a:rPr lang="en-US" sz="2000" i="1">
                                    <a:latin typeface="Cambria Math" panose="02040503050406030204" pitchFamily="18" charset="0"/>
                                  </a:rPr>
                                </m:ctrlPr>
                              </m:sSubPr>
                              <m:e>
                                <m:r>
                                  <a:rPr lang="en-US" sz="2000">
                                    <a:latin typeface="Cambria Math" panose="02040503050406030204" pitchFamily="18" charset="0"/>
                                  </a:rPr>
                                  <m:t>𝛻</m:t>
                                </m:r>
                              </m:e>
                              <m:sub>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i="1">
                                        <a:latin typeface="Cambria Math" panose="02040503050406030204" pitchFamily="18" charset="0"/>
                                      </a:rPr>
                                      <m:t>𝑖𝑗</m:t>
                                    </m:r>
                                  </m:sub>
                                  <m:sup>
                                    <m:d>
                                      <m:dPr>
                                        <m:ctrlPr>
                                          <a:rPr lang="en-US" sz="2000" i="1">
                                            <a:latin typeface="Cambria Math" panose="02040503050406030204" pitchFamily="18" charset="0"/>
                                          </a:rPr>
                                        </m:ctrlPr>
                                      </m:dPr>
                                      <m:e>
                                        <m:r>
                                          <a:rPr lang="en-US" sz="2000" i="1">
                                            <a:latin typeface="Cambria Math" panose="02040503050406030204" pitchFamily="18" charset="0"/>
                                          </a:rPr>
                                          <m:t>𝑘</m:t>
                                        </m:r>
                                      </m:e>
                                    </m:d>
                                  </m:sup>
                                </m:sSubSup>
                              </m:sub>
                            </m:sSub>
                            <m:r>
                              <a:rPr lang="en-US" sz="2000" i="1">
                                <a:latin typeface="Cambria Math" panose="02040503050406030204" pitchFamily="18" charset="0"/>
                              </a:rPr>
                              <m:t>𝑙</m:t>
                            </m:r>
                            <m:d>
                              <m:dPr>
                                <m:ctrlPr>
                                  <a:rPr lang="en-US" sz="2000" i="1">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i="1">
                                        <a:latin typeface="Cambria Math" panose="02040503050406030204" pitchFamily="18" charset="0"/>
                                      </a:rPr>
                                      <m:t>𝑖𝑗</m:t>
                                    </m:r>
                                  </m:sub>
                                  <m:sup>
                                    <m:d>
                                      <m:dPr>
                                        <m:ctrlPr>
                                          <a:rPr lang="en-US" sz="2000" i="1">
                                            <a:latin typeface="Cambria Math" panose="02040503050406030204" pitchFamily="18" charset="0"/>
                                          </a:rPr>
                                        </m:ctrlPr>
                                      </m:dPr>
                                      <m:e>
                                        <m:r>
                                          <a:rPr lang="en-US" sz="2000" i="1">
                                            <a:latin typeface="Cambria Math" panose="02040503050406030204" pitchFamily="18" charset="0"/>
                                          </a:rPr>
                                          <m:t>𝑘</m:t>
                                        </m:r>
                                      </m:e>
                                    </m:d>
                                  </m:sup>
                                </m:sSubSup>
                              </m:e>
                            </m:d>
                          </m:e>
                        </m:mr>
                        <m:mr>
                          <m:e>
                            <m:sSub>
                              <m:sSubPr>
                                <m:ctrlPr>
                                  <a:rPr lang="en-US" sz="2000" i="1">
                                    <a:latin typeface="Cambria Math" panose="02040503050406030204" pitchFamily="18" charset="0"/>
                                  </a:rPr>
                                </m:ctrlPr>
                              </m:sSubPr>
                              <m:e>
                                <m:r>
                                  <a:rPr lang="en-US" sz="2000">
                                    <a:latin typeface="Cambria Math" panose="02040503050406030204" pitchFamily="18" charset="0"/>
                                  </a:rPr>
                                  <m:t>𝛻</m:t>
                                </m:r>
                              </m:e>
                              <m:sub>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i="1">
                                        <a:latin typeface="Cambria Math" panose="02040503050406030204" pitchFamily="18" charset="0"/>
                                      </a:rPr>
                                      <m:t>𝑖𝑗</m:t>
                                    </m:r>
                                  </m:sub>
                                  <m:sup>
                                    <m:d>
                                      <m:dPr>
                                        <m:ctrlPr>
                                          <a:rPr lang="en-US" sz="2000" i="1">
                                            <a:latin typeface="Cambria Math" panose="02040503050406030204" pitchFamily="18" charset="0"/>
                                          </a:rPr>
                                        </m:ctrlPr>
                                      </m:dPr>
                                      <m:e>
                                        <m:r>
                                          <a:rPr lang="en-US" sz="2000" i="1">
                                            <a:latin typeface="Cambria Math" panose="02040503050406030204" pitchFamily="18" charset="0"/>
                                          </a:rPr>
                                          <m:t>𝑘</m:t>
                                        </m:r>
                                      </m:e>
                                    </m:d>
                                  </m:sup>
                                </m:sSubSup>
                              </m:sub>
                            </m:sSub>
                            <m:r>
                              <a:rPr lang="en-US" sz="2000" i="1">
                                <a:latin typeface="Cambria Math" panose="02040503050406030204" pitchFamily="18" charset="0"/>
                              </a:rPr>
                              <m:t>𝑙</m:t>
                            </m:r>
                            <m:d>
                              <m:dPr>
                                <m:ctrlPr>
                                  <a:rPr lang="en-US" sz="2000" i="1">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i="1">
                                        <a:latin typeface="Cambria Math" panose="02040503050406030204" pitchFamily="18" charset="0"/>
                                      </a:rPr>
                                      <m:t>𝑖𝑗</m:t>
                                    </m:r>
                                  </m:sub>
                                  <m:sup>
                                    <m:d>
                                      <m:dPr>
                                        <m:ctrlPr>
                                          <a:rPr lang="en-US" sz="2000" i="1">
                                            <a:latin typeface="Cambria Math" panose="02040503050406030204" pitchFamily="18" charset="0"/>
                                          </a:rPr>
                                        </m:ctrlPr>
                                      </m:dPr>
                                      <m:e>
                                        <m:r>
                                          <a:rPr lang="en-US" sz="2000" i="1">
                                            <a:latin typeface="Cambria Math" panose="02040503050406030204" pitchFamily="18" charset="0"/>
                                          </a:rPr>
                                          <m:t>𝑘</m:t>
                                        </m:r>
                                      </m:e>
                                    </m:d>
                                  </m:sup>
                                </m:sSubSup>
                              </m:e>
                            </m:d>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m>
                                  <m:mPr>
                                    <m:mcs>
                                      <m:mc>
                                        <m:mcPr>
                                          <m:count m:val="1"/>
                                          <m:mcJc m:val="center"/>
                                        </m:mcPr>
                                      </m:mc>
                                    </m:mcs>
                                    <m:ctrlPr>
                                      <a:rPr lang="en-US" sz="2000" i="1">
                                        <a:latin typeface="Cambria Math" panose="02040503050406030204" pitchFamily="18" charset="0"/>
                                      </a:rPr>
                                    </m:ctrlPr>
                                  </m:mPr>
                                  <m:mr>
                                    <m:e>
                                      <m:sSup>
                                        <m:sSupPr>
                                          <m:ctrlPr>
                                            <a:rPr lang="en-US" sz="2000" i="1">
                                              <a:latin typeface="Cambria Math" panose="02040503050406030204" pitchFamily="18" charset="0"/>
                                            </a:rPr>
                                          </m:ctrlPr>
                                        </m:sSupPr>
                                        <m:e>
                                          <m:r>
                                            <a:rPr lang="en-US" sz="2000" i="1">
                                              <a:latin typeface="Cambria Math" panose="02040503050406030204" pitchFamily="18" charset="0"/>
                                            </a:rPr>
                                            <m:t>𝑙</m:t>
                                          </m:r>
                                        </m:e>
                                        <m:sup>
                                          <m:r>
                                            <a:rPr lang="en-US" sz="2000" i="1">
                                              <a:latin typeface="Cambria Math" panose="02040503050406030204" pitchFamily="18" charset="0"/>
                                            </a:rPr>
                                            <m:t>′</m:t>
                                          </m:r>
                                        </m:sup>
                                      </m:sSup>
                                      <m:d>
                                        <m:dPr>
                                          <m:ctrlPr>
                                            <a:rPr lang="en-US" sz="2000" i="1">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i="1">
                                                  <a:latin typeface="Cambria Math" panose="02040503050406030204" pitchFamily="18" charset="0"/>
                                                </a:rPr>
                                                <m:t>𝑖𝑗</m:t>
                                              </m:r>
                                            </m:sub>
                                            <m:sup>
                                              <m:d>
                                                <m:dPr>
                                                  <m:ctrlPr>
                                                    <a:rPr lang="en-US" sz="2000" i="1">
                                                      <a:latin typeface="Cambria Math" panose="02040503050406030204" pitchFamily="18" charset="0"/>
                                                    </a:rPr>
                                                  </m:ctrlPr>
                                                </m:dPr>
                                                <m:e>
                                                  <m:r>
                                                    <a:rPr lang="en-US" sz="2000" i="1">
                                                      <a:latin typeface="Cambria Math" panose="02040503050406030204" pitchFamily="18" charset="0"/>
                                                    </a:rPr>
                                                    <m:t>𝐾</m:t>
                                                  </m:r>
                                                </m:e>
                                              </m:d>
                                            </m:sup>
                                          </m:sSubSup>
                                        </m:e>
                                      </m:d>
                                      <m:r>
                                        <a:rPr lang="en-US" sz="2000" i="1">
                                          <a:latin typeface="Cambria Math" panose="02040503050406030204" pitchFamily="18" charset="0"/>
                                        </a:rPr>
                                        <m:t> </m:t>
                                      </m:r>
                                      <m:r>
                                        <m:rPr>
                                          <m:sty m:val="p"/>
                                        </m:rPr>
                                        <a:rPr lang="en-US" sz="2000">
                                          <a:latin typeface="Cambria Math" panose="02040503050406030204" pitchFamily="18" charset="0"/>
                                        </a:rPr>
                                        <m:t>if</m:t>
                                      </m:r>
                                      <m:r>
                                        <a:rPr lang="en-US" sz="2000" i="1">
                                          <a:latin typeface="Cambria Math" panose="02040503050406030204" pitchFamily="18" charset="0"/>
                                        </a:rPr>
                                        <m:t> </m:t>
                                      </m:r>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𝐾</m:t>
                                      </m:r>
                                    </m:e>
                                  </m:mr>
                                  <m:mr>
                                    <m:e>
                                      <m:nary>
                                        <m:naryPr>
                                          <m:chr m:val="∑"/>
                                          <m:limLoc m:val="undOvr"/>
                                          <m:supHide m:val="on"/>
                                          <m:ctrlPr>
                                            <a:rPr lang="en-US" sz="2000" i="1">
                                              <a:latin typeface="Cambria Math" panose="02040503050406030204" pitchFamily="18" charset="0"/>
                                            </a:rPr>
                                          </m:ctrlPr>
                                        </m:naryPr>
                                        <m:sub>
                                          <m:sSup>
                                            <m:sSupPr>
                                              <m:ctrlPr>
                                                <a:rPr lang="en-US" sz="2000" i="1">
                                                  <a:latin typeface="Cambria Math" panose="02040503050406030204" pitchFamily="18" charset="0"/>
                                                </a:rPr>
                                              </m:ctrlPr>
                                            </m:sSupPr>
                                            <m:e>
                                              <m:r>
                                                <a:rPr lang="en-US" sz="2000" i="1">
                                                  <a:latin typeface="Cambria Math" panose="02040503050406030204" pitchFamily="18" charset="0"/>
                                                </a:rPr>
                                                <m:t>𝑖</m:t>
                                              </m:r>
                                            </m:e>
                                            <m:sup>
                                              <m:r>
                                                <a:rPr lang="en-US" sz="2000" i="1">
                                                  <a:latin typeface="Cambria Math" panose="02040503050406030204" pitchFamily="18" charset="0"/>
                                                </a:rPr>
                                                <m:t>′</m:t>
                                              </m:r>
                                            </m:sup>
                                          </m:sSup>
                                          <m:r>
                                            <a:rPr lang="en-US" sz="2000" i="1">
                                              <a:latin typeface="Cambria Math" panose="02040503050406030204" pitchFamily="18" charset="0"/>
                                            </a:rPr>
                                            <m:t>:</m:t>
                                          </m:r>
                                          <m:r>
                                            <a:rPr lang="en-US" sz="2000" i="1">
                                              <a:latin typeface="Cambria Math" panose="02040503050406030204" pitchFamily="18" charset="0"/>
                                            </a:rPr>
                                            <m:t>𝑖</m:t>
                                          </m:r>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𝑗</m:t>
                                              </m:r>
                                            </m:e>
                                            <m:sup>
                                              <m:r>
                                                <a:rPr lang="en-US" sz="2000" i="1">
                                                  <a:latin typeface="Cambria Math" panose="02040503050406030204" pitchFamily="18" charset="0"/>
                                                </a:rPr>
                                                <m:t>′</m:t>
                                              </m:r>
                                            </m:sup>
                                          </m:sSup>
                                          <m:r>
                                            <a:rPr lang="en-US" sz="2000" i="1">
                                              <a:latin typeface="Cambria Math" panose="02040503050406030204" pitchFamily="18" charset="0"/>
                                            </a:rPr>
                                            <m:t>:</m:t>
                                          </m:r>
                                          <m:r>
                                            <a:rPr lang="en-US" sz="2000" i="1">
                                              <a:latin typeface="Cambria Math" panose="02040503050406030204" pitchFamily="18" charset="0"/>
                                            </a:rPr>
                                            <m:t>𝑗</m:t>
                                          </m:r>
                                        </m:sub>
                                        <m:sup/>
                                        <m:e>
                                          <m:sSubSup>
                                            <m:sSubSupPr>
                                              <m:ctrlPr>
                                                <a:rPr lang="en-US" sz="2000" i="1">
                                                  <a:latin typeface="Cambria Math" panose="02040503050406030204" pitchFamily="18" charset="0"/>
                                                </a:rPr>
                                              </m:ctrlPr>
                                            </m:sSubSupPr>
                                            <m:e>
                                              <m:r>
                                                <a:rPr lang="en-US" sz="2000" i="1">
                                                  <a:latin typeface="Cambria Math" panose="02040503050406030204" pitchFamily="18" charset="0"/>
                                                </a:rPr>
                                                <m:t>𝑤</m:t>
                                              </m:r>
                                            </m:e>
                                            <m:sub>
                                              <m:sSup>
                                                <m:sSupPr>
                                                  <m:ctrlPr>
                                                    <a:rPr lang="en-US" sz="2000" i="1">
                                                      <a:latin typeface="Cambria Math" panose="02040503050406030204" pitchFamily="18" charset="0"/>
                                                    </a:rPr>
                                                  </m:ctrlPr>
                                                </m:sSupPr>
                                                <m:e>
                                                  <m:r>
                                                    <a:rPr lang="en-US" sz="2000" i="1">
                                                      <a:latin typeface="Cambria Math" panose="02040503050406030204" pitchFamily="18" charset="0"/>
                                                    </a:rPr>
                                                    <m:t>𝑢</m:t>
                                                  </m:r>
                                                </m:e>
                                                <m:sup>
                                                  <m:r>
                                                    <a:rPr lang="en-US" sz="2000" i="1">
                                                      <a:latin typeface="Cambria Math" panose="02040503050406030204" pitchFamily="18" charset="0"/>
                                                    </a:rPr>
                                                    <m:t>′</m:t>
                                                  </m:r>
                                                </m:sup>
                                              </m:sSup>
                                              <m:sSup>
                                                <m:sSupPr>
                                                  <m:ctrlPr>
                                                    <a:rPr lang="en-US" sz="2000" i="1">
                                                      <a:latin typeface="Cambria Math" panose="02040503050406030204" pitchFamily="18" charset="0"/>
                                                    </a:rPr>
                                                  </m:ctrlPr>
                                                </m:sSupPr>
                                                <m:e>
                                                  <m:r>
                                                    <a:rPr lang="en-US" sz="2000" i="1">
                                                      <a:latin typeface="Cambria Math" panose="02040503050406030204" pitchFamily="18" charset="0"/>
                                                    </a:rPr>
                                                    <m:t>𝑣</m:t>
                                                  </m:r>
                                                </m:e>
                                                <m:sup>
                                                  <m:r>
                                                    <a:rPr lang="en-US" sz="2000" i="1">
                                                      <a:latin typeface="Cambria Math" panose="02040503050406030204" pitchFamily="18" charset="0"/>
                                                    </a:rPr>
                                                    <m:t>′</m:t>
                                                  </m:r>
                                                </m:sup>
                                              </m:sSup>
                                            </m:sub>
                                            <m:sup>
                                              <m:d>
                                                <m:dPr>
                                                  <m:ctrlPr>
                                                    <a:rPr lang="en-US" sz="2000" i="1">
                                                      <a:latin typeface="Cambria Math" panose="02040503050406030204" pitchFamily="18" charset="0"/>
                                                    </a:rPr>
                                                  </m:ctrlPr>
                                                </m:dPr>
                                                <m:e>
                                                  <m:r>
                                                    <a:rPr lang="en-US" sz="2000" i="1">
                                                      <a:latin typeface="Cambria Math" panose="02040503050406030204" pitchFamily="18" charset="0"/>
                                                    </a:rPr>
                                                    <m:t>𝑘</m:t>
                                                  </m:r>
                                                  <m:r>
                                                    <a:rPr lang="en-US" sz="2000" i="1">
                                                      <a:latin typeface="Cambria Math" panose="02040503050406030204" pitchFamily="18" charset="0"/>
                                                    </a:rPr>
                                                    <m:t>+1</m:t>
                                                  </m:r>
                                                </m:e>
                                              </m:d>
                                            </m:sup>
                                          </m:sSubSup>
                                          <m:sSub>
                                            <m:sSubPr>
                                              <m:ctrlPr>
                                                <a:rPr lang="en-US" sz="2000" i="1">
                                                  <a:latin typeface="Cambria Math" panose="02040503050406030204" pitchFamily="18" charset="0"/>
                                                </a:rPr>
                                              </m:ctrlPr>
                                            </m:sSubPr>
                                            <m:e>
                                              <m:r>
                                                <a:rPr lang="en-US" sz="2000">
                                                  <a:latin typeface="Cambria Math" panose="02040503050406030204" pitchFamily="18" charset="0"/>
                                                </a:rPr>
                                                <m:t>𝛻</m:t>
                                              </m:r>
                                            </m:e>
                                            <m:sub>
                                              <m:sSup>
                                                <m:sSupPr>
                                                  <m:ctrlPr>
                                                    <a:rPr lang="en-US" sz="2000" i="1">
                                                      <a:latin typeface="Cambria Math" panose="02040503050406030204" pitchFamily="18" charset="0"/>
                                                    </a:rPr>
                                                  </m:ctrlPr>
                                                </m:sSupPr>
                                                <m:e>
                                                  <m:r>
                                                    <a:rPr lang="en-US" sz="2000" i="1">
                                                      <a:latin typeface="Cambria Math" panose="02040503050406030204" pitchFamily="18" charset="0"/>
                                                    </a:rPr>
                                                    <m:t>𝜃</m:t>
                                                  </m:r>
                                                </m:e>
                                                <m:sup>
                                                  <m:d>
                                                    <m:dPr>
                                                      <m:ctrlPr>
                                                        <a:rPr lang="en-US" sz="2000" i="1">
                                                          <a:latin typeface="Cambria Math" panose="02040503050406030204" pitchFamily="18" charset="0"/>
                                                        </a:rPr>
                                                      </m:ctrlPr>
                                                    </m:dPr>
                                                    <m:e>
                                                      <m:r>
                                                        <a:rPr lang="en-US" sz="2000" i="1">
                                                          <a:latin typeface="Cambria Math" panose="02040503050406030204" pitchFamily="18" charset="0"/>
                                                        </a:rPr>
                                                        <m:t>𝑘</m:t>
                                                      </m:r>
                                                      <m:r>
                                                        <a:rPr lang="en-US" sz="2000" i="1">
                                                          <a:latin typeface="Cambria Math" panose="02040503050406030204" pitchFamily="18" charset="0"/>
                                                        </a:rPr>
                                                        <m:t>+1</m:t>
                                                      </m:r>
                                                    </m:e>
                                                  </m:d>
                                                </m:sup>
                                              </m:sSup>
                                            </m:sub>
                                          </m:sSub>
                                          <m:r>
                                            <a:rPr lang="en-US" sz="2000" i="1">
                                              <a:latin typeface="Cambria Math" panose="02040503050406030204" pitchFamily="18" charset="0"/>
                                            </a:rPr>
                                            <m:t>𝑙</m:t>
                                          </m:r>
                                          <m:d>
                                            <m:dPr>
                                              <m:ctrlPr>
                                                <a:rPr lang="en-US" sz="2000" i="1">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sSup>
                                                    <m:sSupPr>
                                                      <m:ctrlPr>
                                                        <a:rPr lang="en-US" sz="2000" i="1">
                                                          <a:latin typeface="Cambria Math" panose="02040503050406030204" pitchFamily="18" charset="0"/>
                                                        </a:rPr>
                                                      </m:ctrlPr>
                                                    </m:sSupPr>
                                                    <m:e>
                                                      <m:r>
                                                        <a:rPr lang="en-US" sz="2000" i="1">
                                                          <a:latin typeface="Cambria Math" panose="02040503050406030204" pitchFamily="18" charset="0"/>
                                                        </a:rPr>
                                                        <m:t>𝑖</m:t>
                                                      </m:r>
                                                    </m:e>
                                                    <m:sup>
                                                      <m:r>
                                                        <a:rPr lang="en-US" sz="2000" i="1">
                                                          <a:latin typeface="Cambria Math" panose="02040503050406030204" pitchFamily="18" charset="0"/>
                                                        </a:rPr>
                                                        <m:t>′</m:t>
                                                      </m:r>
                                                    </m:sup>
                                                  </m:sSup>
                                                  <m:sSup>
                                                    <m:sSupPr>
                                                      <m:ctrlPr>
                                                        <a:rPr lang="en-US" sz="2000" i="1">
                                                          <a:latin typeface="Cambria Math" panose="02040503050406030204" pitchFamily="18" charset="0"/>
                                                        </a:rPr>
                                                      </m:ctrlPr>
                                                    </m:sSupPr>
                                                    <m:e>
                                                      <m:r>
                                                        <a:rPr lang="en-US" sz="2000" i="1">
                                                          <a:latin typeface="Cambria Math" panose="02040503050406030204" pitchFamily="18" charset="0"/>
                                                        </a:rPr>
                                                        <m:t>𝑗</m:t>
                                                      </m:r>
                                                    </m:e>
                                                    <m:sup>
                                                      <m:r>
                                                        <a:rPr lang="en-US" sz="2000" i="1">
                                                          <a:latin typeface="Cambria Math" panose="02040503050406030204" pitchFamily="18" charset="0"/>
                                                        </a:rPr>
                                                        <m:t>′</m:t>
                                                      </m:r>
                                                    </m:sup>
                                                  </m:sSup>
                                                </m:sub>
                                                <m:sup>
                                                  <m:d>
                                                    <m:dPr>
                                                      <m:ctrlPr>
                                                        <a:rPr lang="en-US" sz="2000" i="1">
                                                          <a:latin typeface="Cambria Math" panose="02040503050406030204" pitchFamily="18" charset="0"/>
                                                        </a:rPr>
                                                      </m:ctrlPr>
                                                    </m:dPr>
                                                    <m:e>
                                                      <m:r>
                                                        <a:rPr lang="en-US" sz="2000" i="1">
                                                          <a:latin typeface="Cambria Math" panose="02040503050406030204" pitchFamily="18" charset="0"/>
                                                        </a:rPr>
                                                        <m:t>𝑘</m:t>
                                                      </m:r>
                                                      <m:r>
                                                        <a:rPr lang="en-US" sz="2000" i="1">
                                                          <a:latin typeface="Cambria Math" panose="02040503050406030204" pitchFamily="18" charset="0"/>
                                                        </a:rPr>
                                                        <m:t>+1</m:t>
                                                      </m:r>
                                                    </m:e>
                                                  </m:d>
                                                </m:sup>
                                              </m:sSubSup>
                                            </m:e>
                                          </m:d>
                                        </m:e>
                                      </m:nary>
                                      <m:r>
                                        <a:rPr lang="en-US" sz="2000" i="1">
                                          <a:latin typeface="Cambria Math" panose="02040503050406030204" pitchFamily="18" charset="0"/>
                                        </a:rPr>
                                        <m:t> </m:t>
                                      </m:r>
                                      <m:r>
                                        <m:rPr>
                                          <m:sty m:val="p"/>
                                        </m:rPr>
                                        <a:rPr lang="en-US" sz="2000">
                                          <a:latin typeface="Cambria Math" panose="02040503050406030204" pitchFamily="18" charset="0"/>
                                        </a:rPr>
                                        <m:t>if</m:t>
                                      </m:r>
                                      <m:r>
                                        <a:rPr lang="en-US" sz="2000" i="1">
                                          <a:latin typeface="Cambria Math" panose="02040503050406030204" pitchFamily="18" charset="0"/>
                                        </a:rPr>
                                        <m:t> </m:t>
                                      </m:r>
                                      <m:r>
                                        <a:rPr lang="en-US" sz="2000" i="1">
                                          <a:latin typeface="Cambria Math" panose="02040503050406030204" pitchFamily="18" charset="0"/>
                                        </a:rPr>
                                        <m:t>𝑘</m:t>
                                      </m:r>
                                      <m:r>
                                        <a:rPr lang="en-US" sz="2000" i="1">
                                          <a:latin typeface="Cambria Math" panose="02040503050406030204" pitchFamily="18" charset="0"/>
                                        </a:rPr>
                                        <m:t>&lt;</m:t>
                                      </m:r>
                                      <m:r>
                                        <a:rPr lang="en-US" sz="2000" i="1">
                                          <a:latin typeface="Cambria Math" panose="02040503050406030204" pitchFamily="18" charset="0"/>
                                        </a:rPr>
                                        <m:t>𝐾</m:t>
                                      </m:r>
                                    </m:e>
                                  </m:mr>
                                </m:m>
                              </m:e>
                            </m:d>
                          </m:e>
                        </m:mr>
                      </m:m>
                    </m:oMath>
                  </m:oMathPara>
                </a14:m>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1280" y="914399"/>
                <a:ext cx="12009120" cy="5176066"/>
              </a:xfrm>
              <a:blipFill>
                <a:blip r:embed="rId2"/>
                <a:stretch>
                  <a:fillRect l="-558" t="-707" r="-761" b="-2945"/>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7</a:t>
            </a:fld>
            <a:endParaRPr lang="en-US"/>
          </a:p>
        </p:txBody>
      </p:sp>
    </p:spTree>
    <p:extLst>
      <p:ext uri="{BB962C8B-B14F-4D97-AF65-F5344CB8AC3E}">
        <p14:creationId xmlns:p14="http://schemas.microsoft.com/office/powerpoint/2010/main" val="21666831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Introduction</a:t>
            </a:r>
          </a:p>
        </p:txBody>
      </p:sp>
      <p:sp>
        <p:nvSpPr>
          <p:cNvPr id="3" name="Content Placeholder 2"/>
          <p:cNvSpPr>
            <a:spLocks noGrp="1"/>
          </p:cNvSpPr>
          <p:nvPr>
            <p:ph idx="1"/>
          </p:nvPr>
        </p:nvSpPr>
        <p:spPr>
          <a:xfrm>
            <a:off x="91440" y="914399"/>
            <a:ext cx="11998960" cy="5176066"/>
          </a:xfrm>
        </p:spPr>
        <p:txBody>
          <a:bodyPr>
            <a:normAutofit/>
          </a:bodyPr>
          <a:lstStyle/>
          <a:p>
            <a:r>
              <a:rPr lang="en-US" sz="2600" dirty="0"/>
              <a:t>Although it is no doubt about the preeminence of </a:t>
            </a:r>
            <a:r>
              <a:rPr lang="en-US" sz="2600" dirty="0" smtClean="0"/>
              <a:t>CNN </a:t>
            </a:r>
            <a:r>
              <a:rPr lang="en-US" sz="2600" dirty="0"/>
              <a:t>in training image data, it is not meaningful enough to expend CNN into other high-dimension data different from image because CNN filter is appropriate to extract image feature. Moreover, data is changed or distorted after it goes through CNN so that original data with complete or full meaning is not kept intact within CNN methodology. Therefore, this research focuses on evaluating the hypothesis “whether matrix neural network is the alternative of </a:t>
            </a:r>
            <a:r>
              <a:rPr lang="en-US" sz="2600" dirty="0" smtClean="0"/>
              <a:t>CNN” </a:t>
            </a:r>
            <a:r>
              <a:rPr lang="en-US" sz="2600" dirty="0"/>
              <a:t>and so, image classification by CNN and matrix neural network called deep image classification is applied into testing the </a:t>
            </a:r>
            <a:r>
              <a:rPr lang="en-US" sz="2600" dirty="0" smtClean="0"/>
              <a:t>hypothesis.</a:t>
            </a:r>
          </a:p>
          <a:p>
            <a:r>
              <a:rPr lang="en-US" sz="2600" dirty="0" smtClean="0">
                <a:effectLst>
                  <a:outerShdw blurRad="38100" dist="38100" dir="2700000" algn="tl">
                    <a:srgbClr val="000000">
                      <a:alpha val="43137"/>
                    </a:srgbClr>
                  </a:outerShdw>
                </a:effectLst>
              </a:rPr>
              <a:t>The </a:t>
            </a:r>
            <a:r>
              <a:rPr lang="en-US" sz="2600" dirty="0">
                <a:effectLst>
                  <a:outerShdw blurRad="38100" dist="38100" dir="2700000" algn="tl">
                    <a:srgbClr val="000000">
                      <a:alpha val="43137"/>
                    </a:srgbClr>
                  </a:outerShdw>
                </a:effectLst>
              </a:rPr>
              <a:t>next section mentions some other works related to deep image classification and the later section describes the main methodology of this research which focuses on matrix neural network</a:t>
            </a:r>
            <a:r>
              <a:rPr lang="en-US" sz="2600" dirty="0"/>
              <a:t>.</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8</a:t>
            </a:fld>
            <a:endParaRPr lang="en-US"/>
          </a:p>
        </p:txBody>
      </p:sp>
    </p:spTree>
    <p:extLst>
      <p:ext uri="{BB962C8B-B14F-4D97-AF65-F5344CB8AC3E}">
        <p14:creationId xmlns:p14="http://schemas.microsoft.com/office/powerpoint/2010/main" val="21768053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Related works (main)</a:t>
            </a:r>
            <a:endParaRPr lang="en-US" dirty="0"/>
          </a:p>
        </p:txBody>
      </p:sp>
      <p:sp>
        <p:nvSpPr>
          <p:cNvPr id="3" name="Content Placeholder 2"/>
          <p:cNvSpPr>
            <a:spLocks noGrp="1"/>
          </p:cNvSpPr>
          <p:nvPr>
            <p:ph idx="1"/>
          </p:nvPr>
        </p:nvSpPr>
        <p:spPr>
          <a:xfrm>
            <a:off x="71120" y="914399"/>
            <a:ext cx="12039600" cy="5176066"/>
          </a:xfrm>
        </p:spPr>
        <p:txBody>
          <a:bodyPr>
            <a:noAutofit/>
          </a:bodyPr>
          <a:lstStyle/>
          <a:p>
            <a:r>
              <a:rPr lang="en-US" sz="2600" dirty="0"/>
              <a:t>As a convention, convolutional layer is called </a:t>
            </a:r>
            <a:r>
              <a:rPr lang="en-US" sz="2600" i="1" dirty="0"/>
              <a:t>c-layer</a:t>
            </a:r>
            <a:r>
              <a:rPr lang="en-US" sz="2600" dirty="0"/>
              <a:t> with filtering kernel (filter) and pooling layer with pooling kernel is called </a:t>
            </a:r>
            <a:r>
              <a:rPr lang="en-US" sz="2600" i="1" dirty="0"/>
              <a:t>p-layer</a:t>
            </a:r>
            <a:r>
              <a:rPr lang="en-US" sz="2600" dirty="0"/>
              <a:t> whereas traditional layer in dense network with parametric weights is simply called </a:t>
            </a:r>
            <a:r>
              <a:rPr lang="en-US" sz="2600" i="1" dirty="0" smtClean="0"/>
              <a:t>w</a:t>
            </a:r>
            <a:r>
              <a:rPr lang="en-US" sz="2600" dirty="0" smtClean="0"/>
              <a:t>-</a:t>
            </a:r>
            <a:r>
              <a:rPr lang="en-US" sz="2600" i="1" dirty="0" smtClean="0"/>
              <a:t>layer</a:t>
            </a:r>
            <a:r>
              <a:rPr lang="en-US" sz="2600" dirty="0" smtClean="0"/>
              <a:t>.</a:t>
            </a:r>
          </a:p>
          <a:p>
            <a:r>
              <a:rPr lang="en-US" sz="2600" dirty="0" smtClean="0">
                <a:effectLst>
                  <a:outerShdw blurRad="38100" dist="38100" dir="2700000" algn="tl">
                    <a:srgbClr val="000000">
                      <a:alpha val="43137"/>
                    </a:srgbClr>
                  </a:outerShdw>
                </a:effectLst>
              </a:rPr>
              <a:t>CNN-based </a:t>
            </a:r>
            <a:r>
              <a:rPr lang="en-US" sz="2600" dirty="0">
                <a:effectLst>
                  <a:outerShdw blurRad="38100" dist="38100" dir="2700000" algn="tl">
                    <a:srgbClr val="000000">
                      <a:alpha val="43137"/>
                    </a:srgbClr>
                  </a:outerShdw>
                </a:effectLst>
              </a:rPr>
              <a:t>classification methods are grouped in three approaches (Chen, et al., 2021): 1) traditional CNN-based approach called </a:t>
            </a:r>
            <a:r>
              <a:rPr lang="en-US" sz="2600" i="1" dirty="0">
                <a:effectLst>
                  <a:outerShdw blurRad="38100" dist="38100" dir="2700000" algn="tl">
                    <a:srgbClr val="000000">
                      <a:alpha val="43137"/>
                    </a:srgbClr>
                  </a:outerShdw>
                </a:effectLst>
              </a:rPr>
              <a:t>classic approach</a:t>
            </a:r>
            <a:r>
              <a:rPr lang="en-US" sz="2600" dirty="0">
                <a:effectLst>
                  <a:outerShdw blurRad="38100" dist="38100" dir="2700000" algn="tl">
                    <a:srgbClr val="000000">
                      <a:alpha val="43137"/>
                    </a:srgbClr>
                  </a:outerShdw>
                </a:effectLst>
              </a:rPr>
              <a:t> conforms strictly definition of CNN including two networks such as convolutional network (convolutional layers + pooling layers) and dense network, 2) </a:t>
            </a:r>
            <a:r>
              <a:rPr lang="en-US" sz="2600" i="1" dirty="0">
                <a:effectLst>
                  <a:outerShdw blurRad="38100" dist="38100" dir="2700000" algn="tl">
                    <a:srgbClr val="000000">
                      <a:alpha val="43137"/>
                    </a:srgbClr>
                  </a:outerShdw>
                </a:effectLst>
              </a:rPr>
              <a:t>Inception-based approach</a:t>
            </a:r>
            <a:r>
              <a:rPr lang="en-US" sz="2600" dirty="0">
                <a:effectLst>
                  <a:outerShdw blurRad="38100" dist="38100" dir="2700000" algn="tl">
                    <a:srgbClr val="000000">
                      <a:alpha val="43137"/>
                    </a:srgbClr>
                  </a:outerShdw>
                </a:effectLst>
              </a:rPr>
              <a:t> follows the concept of Inception, 3) </a:t>
            </a:r>
            <a:r>
              <a:rPr lang="en-US" sz="2600" i="1" dirty="0">
                <a:effectLst>
                  <a:outerShdw blurRad="38100" dist="38100" dir="2700000" algn="tl">
                    <a:srgbClr val="000000">
                      <a:alpha val="43137"/>
                    </a:srgbClr>
                  </a:outerShdw>
                </a:effectLst>
              </a:rPr>
              <a:t>residual approach</a:t>
            </a:r>
            <a:r>
              <a:rPr lang="en-US" sz="2600" dirty="0">
                <a:effectLst>
                  <a:outerShdw blurRad="38100" dist="38100" dir="2700000" algn="tl">
                    <a:srgbClr val="000000">
                      <a:alpha val="43137"/>
                    </a:srgbClr>
                  </a:outerShdw>
                </a:effectLst>
              </a:rPr>
              <a:t> follows the concept of residual network aiming to solve overfitting problem due to another problem of gradient vanishing, 4) </a:t>
            </a:r>
            <a:r>
              <a:rPr lang="en-US" sz="2600" i="1" dirty="0">
                <a:effectLst>
                  <a:outerShdw blurRad="38100" dist="38100" dir="2700000" algn="tl">
                    <a:srgbClr val="000000">
                      <a:alpha val="43137"/>
                    </a:srgbClr>
                  </a:outerShdw>
                </a:effectLst>
              </a:rPr>
              <a:t>attention-based approach</a:t>
            </a:r>
            <a:r>
              <a:rPr lang="en-US" sz="2600" dirty="0">
                <a:effectLst>
                  <a:outerShdw blurRad="38100" dist="38100" dir="2700000" algn="tl">
                    <a:srgbClr val="000000">
                      <a:alpha val="43137"/>
                    </a:srgbClr>
                  </a:outerShdw>
                </a:effectLst>
              </a:rPr>
              <a:t> applies attention mechanism into CNN classifier, 5) </a:t>
            </a:r>
            <a:r>
              <a:rPr lang="en-US" sz="2600" i="1" dirty="0">
                <a:effectLst>
                  <a:outerShdw blurRad="38100" dist="38100" dir="2700000" algn="tl">
                    <a:srgbClr val="000000">
                      <a:alpha val="43137"/>
                    </a:srgbClr>
                  </a:outerShdw>
                </a:effectLst>
              </a:rPr>
              <a:t>transformer-based approach</a:t>
            </a:r>
            <a:r>
              <a:rPr lang="en-US" sz="2600" dirty="0">
                <a:effectLst>
                  <a:outerShdw blurRad="38100" dist="38100" dir="2700000" algn="tl">
                    <a:srgbClr val="000000">
                      <a:alpha val="43137"/>
                    </a:srgbClr>
                  </a:outerShdw>
                </a:effectLst>
              </a:rPr>
              <a:t> which is the most recent approach until now (2025) applies transformer developed in large language model (LLM) into CNN-based </a:t>
            </a:r>
            <a:r>
              <a:rPr lang="en-US" sz="2600" dirty="0" smtClean="0">
                <a:effectLst>
                  <a:outerShdw blurRad="38100" dist="38100" dir="2700000" algn="tl">
                    <a:srgbClr val="000000">
                      <a:alpha val="43137"/>
                    </a:srgbClr>
                  </a:outerShdw>
                </a:effectLst>
              </a:rPr>
              <a:t>classifier</a:t>
            </a:r>
            <a:r>
              <a:rPr lang="en-US" sz="2600" dirty="0" smtClean="0"/>
              <a:t>.</a:t>
            </a:r>
            <a:endParaRPr lang="en-US" sz="2600" dirty="0"/>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9</a:t>
            </a:fld>
            <a:endParaRPr lang="en-US"/>
          </a:p>
        </p:txBody>
      </p:sp>
    </p:spTree>
    <p:extLst>
      <p:ext uri="{BB962C8B-B14F-4D97-AF65-F5344CB8AC3E}">
        <p14:creationId xmlns:p14="http://schemas.microsoft.com/office/powerpoint/2010/main" val="5311204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Related </a:t>
            </a:r>
            <a:r>
              <a:rPr lang="en-US" dirty="0" smtClean="0"/>
              <a:t>works (skip)</a:t>
            </a:r>
            <a:endParaRPr lang="en-US" dirty="0"/>
          </a:p>
        </p:txBody>
      </p:sp>
      <p:sp>
        <p:nvSpPr>
          <p:cNvPr id="3" name="Content Placeholder 2"/>
          <p:cNvSpPr>
            <a:spLocks noGrp="1"/>
          </p:cNvSpPr>
          <p:nvPr>
            <p:ph idx="1"/>
          </p:nvPr>
        </p:nvSpPr>
        <p:spPr>
          <a:xfrm>
            <a:off x="91440" y="914399"/>
            <a:ext cx="12009120" cy="5176066"/>
          </a:xfrm>
        </p:spPr>
        <p:txBody>
          <a:bodyPr>
            <a:noAutofit/>
          </a:bodyPr>
          <a:lstStyle/>
          <a:p>
            <a:r>
              <a:rPr lang="en-US" sz="2000" dirty="0"/>
              <a:t>In 1998, </a:t>
            </a:r>
            <a:r>
              <a:rPr lang="en-US" sz="2000" dirty="0" err="1"/>
              <a:t>LeCun</a:t>
            </a:r>
            <a:r>
              <a:rPr lang="en-US" sz="2000" dirty="0"/>
              <a:t> et al. (</a:t>
            </a:r>
            <a:r>
              <a:rPr lang="en-US" sz="2000" dirty="0" err="1"/>
              <a:t>LeCun</a:t>
            </a:r>
            <a:r>
              <a:rPr lang="en-US" sz="2000" dirty="0"/>
              <a:t>, </a:t>
            </a:r>
            <a:r>
              <a:rPr lang="en-US" sz="2000" dirty="0" err="1"/>
              <a:t>Bottou</a:t>
            </a:r>
            <a:r>
              <a:rPr lang="en-US" sz="2000" dirty="0"/>
              <a:t>, </a:t>
            </a:r>
            <a:r>
              <a:rPr lang="en-US" sz="2000" dirty="0" err="1"/>
              <a:t>Bengio</a:t>
            </a:r>
            <a:r>
              <a:rPr lang="en-US" sz="2000" dirty="0"/>
              <a:t>, &amp; </a:t>
            </a:r>
            <a:r>
              <a:rPr lang="en-US" sz="2000" dirty="0" err="1"/>
              <a:t>Haffner</a:t>
            </a:r>
            <a:r>
              <a:rPr lang="en-US" sz="2000" dirty="0"/>
              <a:t>, 1998) developed </a:t>
            </a:r>
            <a:r>
              <a:rPr lang="en-US" sz="2000" dirty="0" err="1">
                <a:effectLst>
                  <a:outerShdw blurRad="38100" dist="38100" dir="2700000" algn="tl">
                    <a:srgbClr val="000000">
                      <a:alpha val="43137"/>
                    </a:srgbClr>
                  </a:outerShdw>
                </a:effectLst>
              </a:rPr>
              <a:t>LeNet</a:t>
            </a:r>
            <a:r>
              <a:rPr lang="en-US" sz="2000" dirty="0">
                <a:effectLst>
                  <a:outerShdw blurRad="38100" dist="38100" dir="2700000" algn="tl">
                    <a:srgbClr val="000000">
                      <a:alpha val="43137"/>
                    </a:srgbClr>
                  </a:outerShdw>
                </a:effectLst>
              </a:rPr>
              <a:t> model well-known as pioneering research which established fundamental principles of classic approach for CNN classifier</a:t>
            </a:r>
            <a:r>
              <a:rPr lang="en-US" sz="2000" dirty="0"/>
              <a:t>. </a:t>
            </a:r>
            <a:r>
              <a:rPr lang="en-US" sz="2000" dirty="0" err="1"/>
              <a:t>LeNet</a:t>
            </a:r>
            <a:r>
              <a:rPr lang="en-US" sz="2000" dirty="0"/>
              <a:t> model also called LeNet-5 network consists of two successive network such as convolutional network and dense network where convolutional network has 4 c-layers and dense network has 3 w-layers, which means that LeNet-5 has 7 layers</a:t>
            </a:r>
            <a:r>
              <a:rPr lang="en-US" sz="2000" dirty="0" smtClean="0"/>
              <a:t>.</a:t>
            </a:r>
          </a:p>
          <a:p>
            <a:r>
              <a:rPr lang="en-US" sz="2000" dirty="0"/>
              <a:t>More than ten years later, in 2012, </a:t>
            </a:r>
            <a:r>
              <a:rPr lang="en-US" sz="2000" dirty="0" err="1"/>
              <a:t>Krizhevsky</a:t>
            </a:r>
            <a:r>
              <a:rPr lang="en-US" sz="2000" dirty="0"/>
              <a:t> et al. (</a:t>
            </a:r>
            <a:r>
              <a:rPr lang="en-US" sz="2000" dirty="0" err="1"/>
              <a:t>Krizhevsky</a:t>
            </a:r>
            <a:r>
              <a:rPr lang="en-US" sz="2000" dirty="0"/>
              <a:t>, </a:t>
            </a:r>
            <a:r>
              <a:rPr lang="en-US" sz="2000" dirty="0" err="1"/>
              <a:t>Sutskever</a:t>
            </a:r>
            <a:r>
              <a:rPr lang="en-US" sz="2000" dirty="0"/>
              <a:t>, &amp; Hinton, 2012) proposed </a:t>
            </a:r>
            <a:r>
              <a:rPr lang="en-US" sz="2000" dirty="0" err="1">
                <a:effectLst>
                  <a:outerShdw blurRad="38100" dist="38100" dir="2700000" algn="tl">
                    <a:srgbClr val="000000">
                      <a:alpha val="43137"/>
                    </a:srgbClr>
                  </a:outerShdw>
                </a:effectLst>
              </a:rPr>
              <a:t>AlexNet</a:t>
            </a:r>
            <a:r>
              <a:rPr lang="en-US" sz="2000" dirty="0">
                <a:effectLst>
                  <a:outerShdw blurRad="38100" dist="38100" dir="2700000" algn="tl">
                    <a:srgbClr val="000000">
                      <a:alpha val="43137"/>
                    </a:srgbClr>
                  </a:outerShdw>
                </a:effectLst>
              </a:rPr>
              <a:t> model which gave better result in CNN classification consists of two successive networks such as convolutional network and dense network</a:t>
            </a:r>
            <a:r>
              <a:rPr lang="en-US" sz="2000" dirty="0"/>
              <a:t> where convolutional network has 8 c-layers and dense network has 3 w-layers, which means that </a:t>
            </a:r>
            <a:r>
              <a:rPr lang="en-US" sz="2000" dirty="0" err="1"/>
              <a:t>AlexNet</a:t>
            </a:r>
            <a:r>
              <a:rPr lang="en-US" sz="2000" dirty="0"/>
              <a:t> has 11 layers</a:t>
            </a:r>
            <a:r>
              <a:rPr lang="en-US" sz="2000" dirty="0" smtClean="0"/>
              <a:t>. </a:t>
            </a:r>
            <a:r>
              <a:rPr lang="en-US" sz="2000" dirty="0" err="1"/>
              <a:t>AlexNet</a:t>
            </a:r>
            <a:r>
              <a:rPr lang="en-US" sz="2000" dirty="0" smtClean="0"/>
              <a:t> </a:t>
            </a:r>
            <a:r>
              <a:rPr lang="en-US" sz="2000" dirty="0"/>
              <a:t>still belongs to classic approach </a:t>
            </a:r>
            <a:r>
              <a:rPr lang="en-US" sz="2000" dirty="0" smtClean="0"/>
              <a:t>but </a:t>
            </a:r>
            <a:r>
              <a:rPr lang="en-US" sz="2000" dirty="0"/>
              <a:t>there are many significant improvements of </a:t>
            </a:r>
            <a:r>
              <a:rPr lang="en-US" sz="2000" dirty="0" err="1"/>
              <a:t>AlexNet</a:t>
            </a:r>
            <a:r>
              <a:rPr lang="en-US" sz="2000" dirty="0"/>
              <a:t> in comparison with LeNet-5 (Chen, et al., 2021, p. 10</a:t>
            </a:r>
            <a:r>
              <a:rPr lang="en-US" sz="2000" dirty="0" smtClean="0"/>
              <a:t>).</a:t>
            </a:r>
          </a:p>
          <a:p>
            <a:r>
              <a:rPr lang="en-US" sz="2000" dirty="0">
                <a:effectLst>
                  <a:outerShdw blurRad="38100" dist="38100" dir="2700000" algn="tl">
                    <a:srgbClr val="000000">
                      <a:alpha val="43137"/>
                    </a:srgbClr>
                  </a:outerShdw>
                </a:effectLst>
              </a:rPr>
              <a:t>The VGG model </a:t>
            </a:r>
            <a:r>
              <a:rPr lang="en-US" sz="2000" dirty="0"/>
              <a:t>developed by </a:t>
            </a:r>
            <a:r>
              <a:rPr lang="en-US" sz="2000" dirty="0" err="1"/>
              <a:t>Simonyan</a:t>
            </a:r>
            <a:r>
              <a:rPr lang="en-US" sz="2000" dirty="0"/>
              <a:t> and Zisserman (</a:t>
            </a:r>
            <a:r>
              <a:rPr lang="en-US" sz="2000" dirty="0" err="1"/>
              <a:t>Simonyan</a:t>
            </a:r>
            <a:r>
              <a:rPr lang="en-US" sz="2000" dirty="0"/>
              <a:t> &amp; Zisserman, 2015), which </a:t>
            </a:r>
            <a:r>
              <a:rPr lang="en-US" sz="2000" dirty="0">
                <a:effectLst>
                  <a:outerShdw blurRad="38100" dist="38100" dir="2700000" algn="tl">
                    <a:srgbClr val="000000">
                      <a:alpha val="43137"/>
                    </a:srgbClr>
                  </a:outerShdw>
                </a:effectLst>
              </a:rPr>
              <a:t>belongs to classic approach, aims to define a well-structured model by modular architecture</a:t>
            </a:r>
            <a:r>
              <a:rPr lang="en-US" sz="2000" dirty="0"/>
              <a:t>. Exactly, VGG architecture still includes convolutional network and dense network but its convolutional network is modularized into five blocks and each </a:t>
            </a:r>
            <a:r>
              <a:rPr lang="en-US" sz="2000" i="1" dirty="0"/>
              <a:t>bock</a:t>
            </a:r>
            <a:r>
              <a:rPr lang="en-US" sz="2000" dirty="0"/>
              <a:t> has some c-layers and one p-layer (Gemini 2025). Output dimension is decreased doubly block-after-block, which is called </a:t>
            </a:r>
            <a:r>
              <a:rPr lang="en-US" sz="2000" i="1" dirty="0"/>
              <a:t>dimensionality reduction</a:t>
            </a:r>
            <a:r>
              <a:rPr lang="en-US" sz="2000" dirty="0"/>
              <a:t>, whereas the number of filters (filtering kernels) is increased doubly block-after-block, which is called </a:t>
            </a:r>
            <a:r>
              <a:rPr lang="en-US" sz="2000" i="1" dirty="0"/>
              <a:t>filter progression</a:t>
            </a:r>
            <a:r>
              <a:rPr lang="en-US" sz="2000" dirty="0"/>
              <a:t> (Gemini 2025).</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10</a:t>
            </a:fld>
            <a:endParaRPr lang="en-US"/>
          </a:p>
        </p:txBody>
      </p:sp>
    </p:spTree>
    <p:extLst>
      <p:ext uri="{BB962C8B-B14F-4D97-AF65-F5344CB8AC3E}">
        <p14:creationId xmlns:p14="http://schemas.microsoft.com/office/powerpoint/2010/main" val="7906934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Related </a:t>
            </a:r>
            <a:r>
              <a:rPr lang="en-US" dirty="0" smtClean="0"/>
              <a:t>works (skip)</a:t>
            </a:r>
            <a:endParaRPr lang="en-US" dirty="0"/>
          </a:p>
        </p:txBody>
      </p:sp>
      <p:sp>
        <p:nvSpPr>
          <p:cNvPr id="3" name="Content Placeholder 2"/>
          <p:cNvSpPr>
            <a:spLocks noGrp="1"/>
          </p:cNvSpPr>
          <p:nvPr>
            <p:ph idx="1"/>
          </p:nvPr>
        </p:nvSpPr>
        <p:spPr>
          <a:xfrm>
            <a:off x="101600" y="914399"/>
            <a:ext cx="12009120" cy="5176066"/>
          </a:xfrm>
        </p:spPr>
        <p:txBody>
          <a:bodyPr>
            <a:noAutofit/>
          </a:bodyPr>
          <a:lstStyle/>
          <a:p>
            <a:r>
              <a:rPr lang="en-US" sz="2100" dirty="0"/>
              <a:t>Network-in-network (</a:t>
            </a:r>
            <a:r>
              <a:rPr lang="en-US" sz="2100" dirty="0" err="1"/>
              <a:t>NiN</a:t>
            </a:r>
            <a:r>
              <a:rPr lang="en-US" sz="2100" dirty="0"/>
              <a:t>) model proposed by Lin et al. (Lin, Chen, &amp; Yan, 2014) which is the last generation one belonging to classic approach is an significantly methodology in CNN based classification because </a:t>
            </a:r>
            <a:r>
              <a:rPr lang="en-US" sz="2100" dirty="0" err="1">
                <a:effectLst>
                  <a:outerShdw blurRad="38100" dist="38100" dir="2700000" algn="tl">
                    <a:srgbClr val="000000">
                      <a:alpha val="43137"/>
                    </a:srgbClr>
                  </a:outerShdw>
                </a:effectLst>
              </a:rPr>
              <a:t>NiN</a:t>
            </a:r>
            <a:r>
              <a:rPr lang="en-US" sz="2100" dirty="0">
                <a:effectLst>
                  <a:outerShdw blurRad="38100" dist="38100" dir="2700000" algn="tl">
                    <a:srgbClr val="000000">
                      <a:alpha val="43137"/>
                    </a:srgbClr>
                  </a:outerShdw>
                </a:effectLst>
              </a:rPr>
              <a:t> decreases significantly complexity of linear filter operator in multi-channels </a:t>
            </a:r>
            <a:r>
              <a:rPr lang="en-US" sz="2100" dirty="0" smtClean="0">
                <a:effectLst>
                  <a:outerShdw blurRad="38100" dist="38100" dir="2700000" algn="tl">
                    <a:srgbClr val="000000">
                      <a:alpha val="43137"/>
                    </a:srgbClr>
                  </a:outerShdw>
                </a:effectLst>
              </a:rPr>
              <a:t>by proposing a so-called </a:t>
            </a:r>
            <a:r>
              <a:rPr lang="en-US" sz="2100" i="1" dirty="0" smtClean="0">
                <a:effectLst>
                  <a:outerShdw blurRad="38100" dist="38100" dir="2700000" algn="tl">
                    <a:srgbClr val="000000">
                      <a:alpha val="43137"/>
                    </a:srgbClr>
                  </a:outerShdw>
                </a:effectLst>
              </a:rPr>
              <a:t>micro </a:t>
            </a:r>
            <a:r>
              <a:rPr lang="en-US" sz="2100" i="1" dirty="0">
                <a:effectLst>
                  <a:outerShdw blurRad="38100" dist="38100" dir="2700000" algn="tl">
                    <a:srgbClr val="000000">
                      <a:alpha val="43137"/>
                    </a:srgbClr>
                  </a:outerShdw>
                </a:effectLst>
              </a:rPr>
              <a:t>filtering kernel</a:t>
            </a:r>
            <a:r>
              <a:rPr lang="en-US" sz="2100" dirty="0">
                <a:effectLst>
                  <a:outerShdw blurRad="38100" dist="38100" dir="2700000" algn="tl">
                    <a:srgbClr val="000000">
                      <a:alpha val="43137"/>
                    </a:srgbClr>
                  </a:outerShdw>
                </a:effectLst>
              </a:rPr>
              <a:t> </a:t>
            </a:r>
            <a:r>
              <a:rPr lang="en-US" sz="2100" dirty="0" smtClean="0"/>
              <a:t>which is </a:t>
            </a:r>
            <a:r>
              <a:rPr lang="en-US" sz="2100" dirty="0"/>
              <a:t>1x1 window including only one </a:t>
            </a:r>
            <a:r>
              <a:rPr lang="en-US" sz="2100" dirty="0" smtClean="0"/>
              <a:t>weight. As a result, given </a:t>
            </a:r>
            <a:r>
              <a:rPr lang="en-US" sz="2100" dirty="0"/>
              <a:t>any two successive convolutional layers </a:t>
            </a:r>
            <a:r>
              <a:rPr lang="en-US" sz="2100" dirty="0" smtClean="0"/>
              <a:t>in </a:t>
            </a:r>
            <a:r>
              <a:rPr lang="en-US" sz="2100" dirty="0" err="1" smtClean="0"/>
              <a:t>NiN</a:t>
            </a:r>
            <a:r>
              <a:rPr lang="en-US" sz="2100" dirty="0" smtClean="0"/>
              <a:t>, </a:t>
            </a:r>
            <a:r>
              <a:rPr lang="en-US" sz="2100" dirty="0"/>
              <a:t>there is a sub-network between the two c-layers, called multilayer perceptron convolutional network (</a:t>
            </a:r>
            <a:r>
              <a:rPr lang="en-US" sz="2100" i="1" dirty="0" err="1"/>
              <a:t>mlpconv</a:t>
            </a:r>
            <a:r>
              <a:rPr lang="en-US" sz="2100" dirty="0"/>
              <a:t>) including some sub-layers called </a:t>
            </a:r>
            <a:r>
              <a:rPr lang="en-US" sz="2100" i="1" dirty="0" smtClean="0"/>
              <a:t>micro-layers</a:t>
            </a:r>
            <a:r>
              <a:rPr lang="en-US" sz="2100" dirty="0" smtClean="0"/>
              <a:t> whose filtering kernels are </a:t>
            </a:r>
            <a:r>
              <a:rPr lang="en-US" sz="2100" dirty="0"/>
              <a:t>micro filtering </a:t>
            </a:r>
            <a:r>
              <a:rPr lang="en-US" sz="2100" dirty="0" smtClean="0"/>
              <a:t>kernels, which supports </a:t>
            </a:r>
            <a:r>
              <a:rPr lang="en-US" sz="2100" i="1" dirty="0"/>
              <a:t>cross </a:t>
            </a:r>
            <a:r>
              <a:rPr lang="en-US" sz="2100" i="1" dirty="0" smtClean="0"/>
              <a:t>max-pooling </a:t>
            </a:r>
            <a:r>
              <a:rPr lang="en-US" sz="2100" dirty="0" smtClean="0"/>
              <a:t>over many image channels</a:t>
            </a:r>
            <a:r>
              <a:rPr lang="en-US" sz="2100" i="1" dirty="0" smtClean="0"/>
              <a:t>.</a:t>
            </a:r>
          </a:p>
          <a:p>
            <a:r>
              <a:rPr lang="en-US" sz="2100" dirty="0" err="1">
                <a:effectLst>
                  <a:outerShdw blurRad="38100" dist="38100" dir="2700000" algn="tl">
                    <a:srgbClr val="000000">
                      <a:alpha val="43137"/>
                    </a:srgbClr>
                  </a:outerShdw>
                </a:effectLst>
              </a:rPr>
              <a:t>GoogleLeNet</a:t>
            </a:r>
            <a:r>
              <a:rPr lang="en-US" sz="2100" dirty="0">
                <a:effectLst>
                  <a:outerShdw blurRad="38100" dist="38100" dir="2700000" algn="tl">
                    <a:srgbClr val="000000">
                      <a:alpha val="43137"/>
                    </a:srgbClr>
                  </a:outerShdw>
                </a:effectLst>
              </a:rPr>
              <a:t> also called Inception V1</a:t>
            </a:r>
            <a:r>
              <a:rPr lang="en-US" sz="2100" dirty="0"/>
              <a:t> developed by </a:t>
            </a:r>
            <a:r>
              <a:rPr lang="en-US" sz="2100" dirty="0" err="1"/>
              <a:t>Szegedy</a:t>
            </a:r>
            <a:r>
              <a:rPr lang="en-US" sz="2100" dirty="0"/>
              <a:t> et al. (</a:t>
            </a:r>
            <a:r>
              <a:rPr lang="en-US" sz="2100" dirty="0" err="1"/>
              <a:t>Szegedy</a:t>
            </a:r>
            <a:r>
              <a:rPr lang="en-US" sz="2100" dirty="0"/>
              <a:t>, et al., 2015) </a:t>
            </a:r>
            <a:r>
              <a:rPr lang="en-US" sz="2100" dirty="0">
                <a:effectLst>
                  <a:outerShdw blurRad="38100" dist="38100" dir="2700000" algn="tl">
                    <a:srgbClr val="000000">
                      <a:alpha val="43137"/>
                    </a:srgbClr>
                  </a:outerShdw>
                </a:effectLst>
              </a:rPr>
              <a:t>improved CNN based classifier through a far distance by proposing the concept of Inception model where Inception inherits from both the modular mechanism of VGG and the micro-filtering operator of </a:t>
            </a:r>
            <a:r>
              <a:rPr lang="en-US" sz="2100" dirty="0" err="1">
                <a:effectLst>
                  <a:outerShdw blurRad="38100" dist="38100" dir="2700000" algn="tl">
                    <a:srgbClr val="000000">
                      <a:alpha val="43137"/>
                    </a:srgbClr>
                  </a:outerShdw>
                </a:effectLst>
              </a:rPr>
              <a:t>NiN</a:t>
            </a:r>
            <a:r>
              <a:rPr lang="en-US" sz="2100" dirty="0"/>
              <a:t> so that every Inception module has some convolutional layers which include: 1) normal filtering kernel with matrix kernel, 2) 1x1 micro-filtering kernel with one weight, 3) max-pooling kernel, and 4) global average pool (GAP). Especially, the most important aspect of Inception is that these convolutional layers are operated in parallel so that the final layer called filter concatenation layer will concatenate outputs of such convolutional layers in depth according to predefined number of channels.</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11</a:t>
            </a:fld>
            <a:endParaRPr lang="en-US"/>
          </a:p>
        </p:txBody>
      </p:sp>
    </p:spTree>
    <p:extLst>
      <p:ext uri="{BB962C8B-B14F-4D97-AF65-F5344CB8AC3E}">
        <p14:creationId xmlns:p14="http://schemas.microsoft.com/office/powerpoint/2010/main" val="15026095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Related </a:t>
            </a:r>
            <a:r>
              <a:rPr lang="en-US" dirty="0" smtClean="0"/>
              <a:t>works (skip)</a:t>
            </a:r>
            <a:endParaRPr lang="en-US" dirty="0"/>
          </a:p>
        </p:txBody>
      </p:sp>
      <p:sp>
        <p:nvSpPr>
          <p:cNvPr id="3" name="Content Placeholder 2"/>
          <p:cNvSpPr>
            <a:spLocks noGrp="1"/>
          </p:cNvSpPr>
          <p:nvPr>
            <p:ph idx="1"/>
          </p:nvPr>
        </p:nvSpPr>
        <p:spPr>
          <a:xfrm>
            <a:off x="71120" y="914399"/>
            <a:ext cx="12049760" cy="5176066"/>
          </a:xfrm>
        </p:spPr>
        <p:txBody>
          <a:bodyPr>
            <a:noAutofit/>
          </a:bodyPr>
          <a:lstStyle/>
          <a:p>
            <a:r>
              <a:rPr lang="en-US" sz="2000" dirty="0"/>
              <a:t>The overfitting problem which occurs frequently in </a:t>
            </a:r>
            <a:r>
              <a:rPr lang="en-US" sz="2000" dirty="0" smtClean="0"/>
              <a:t>deep </a:t>
            </a:r>
            <a:r>
              <a:rPr lang="en-US" sz="2000" dirty="0"/>
              <a:t>neural network (DNN) with many hidden </a:t>
            </a:r>
            <a:r>
              <a:rPr lang="en-US" sz="2000" dirty="0" smtClean="0"/>
              <a:t>layers, </a:t>
            </a:r>
            <a:r>
              <a:rPr lang="en-US" sz="2000" dirty="0"/>
              <a:t>which decrease significantly </a:t>
            </a:r>
            <a:r>
              <a:rPr lang="en-US" sz="2000" dirty="0" smtClean="0"/>
              <a:t>accuracy. </a:t>
            </a:r>
            <a:r>
              <a:rPr lang="en-US" sz="2000" dirty="0"/>
              <a:t>The main cause of overfitting problem is the event that gradient of activation function become too small nearly zero after a chain of gradient calculations by </a:t>
            </a:r>
            <a:r>
              <a:rPr lang="en-US" sz="2000" dirty="0" smtClean="0"/>
              <a:t>SGD </a:t>
            </a:r>
            <a:r>
              <a:rPr lang="en-US" sz="2000" dirty="0"/>
              <a:t>algorithm and backpropagation algorithm, which is known as </a:t>
            </a:r>
            <a:r>
              <a:rPr lang="en-US" sz="2000" i="1" dirty="0"/>
              <a:t>vanishing gradient</a:t>
            </a:r>
            <a:r>
              <a:rPr lang="en-US" sz="2000" dirty="0"/>
              <a:t> problem. There are two popular approaches to solve vanishing gradient problem such as dropout (dilution) technique and residual connection (RC) technique. </a:t>
            </a:r>
            <a:r>
              <a:rPr lang="en-US" sz="2000" dirty="0" err="1"/>
              <a:t>Kaiming</a:t>
            </a:r>
            <a:r>
              <a:rPr lang="en-US" sz="2000" dirty="0"/>
              <a:t> He et al. (He, Zhang, Ren, &amp; Sun, 2016) proposed RC technique and applied RC into training convolutional filtering kernel (weights) so as to produce a so-called </a:t>
            </a:r>
            <a:r>
              <a:rPr lang="en-US" sz="2000" dirty="0" err="1"/>
              <a:t>ResNet</a:t>
            </a:r>
            <a:r>
              <a:rPr lang="en-US" sz="2000" dirty="0"/>
              <a:t> for CNN-based classification. </a:t>
            </a:r>
            <a:r>
              <a:rPr lang="en-US" sz="2000" dirty="0">
                <a:effectLst>
                  <a:outerShdw blurRad="38100" dist="38100" dir="2700000" algn="tl">
                    <a:srgbClr val="000000">
                      <a:alpha val="43137"/>
                    </a:srgbClr>
                  </a:outerShdw>
                </a:effectLst>
              </a:rPr>
              <a:t>The significant effectiveness of </a:t>
            </a:r>
            <a:r>
              <a:rPr lang="en-US" sz="2000" dirty="0" err="1">
                <a:effectLst>
                  <a:outerShdw blurRad="38100" dist="38100" dir="2700000" algn="tl">
                    <a:srgbClr val="000000">
                      <a:alpha val="43137"/>
                    </a:srgbClr>
                  </a:outerShdw>
                </a:effectLst>
              </a:rPr>
              <a:t>ResNet</a:t>
            </a:r>
            <a:r>
              <a:rPr lang="en-US" sz="2000" dirty="0">
                <a:effectLst>
                  <a:outerShdw blurRad="38100" dist="38100" dir="2700000" algn="tl">
                    <a:srgbClr val="000000">
                      <a:alpha val="43137"/>
                    </a:srgbClr>
                  </a:outerShdw>
                </a:effectLst>
              </a:rPr>
              <a:t> makes itself </a:t>
            </a:r>
            <a:r>
              <a:rPr lang="en-US" sz="2000">
                <a:effectLst>
                  <a:outerShdw blurRad="38100" dist="38100" dir="2700000" algn="tl">
                    <a:srgbClr val="000000">
                      <a:alpha val="43137"/>
                    </a:srgbClr>
                  </a:outerShdw>
                </a:effectLst>
              </a:rPr>
              <a:t>become </a:t>
            </a:r>
            <a:r>
              <a:rPr lang="en-US" sz="2000" smtClean="0">
                <a:effectLst>
                  <a:outerShdw blurRad="38100" dist="38100" dir="2700000" algn="tl">
                    <a:srgbClr val="000000">
                      <a:alpha val="43137"/>
                    </a:srgbClr>
                  </a:outerShdw>
                </a:effectLst>
              </a:rPr>
              <a:t>a </a:t>
            </a:r>
            <a:r>
              <a:rPr lang="en-US" sz="2000" dirty="0">
                <a:effectLst>
                  <a:outerShdw blurRad="38100" dist="38100" dir="2700000" algn="tl">
                    <a:srgbClr val="000000">
                      <a:alpha val="43137"/>
                    </a:srgbClr>
                  </a:outerShdw>
                </a:effectLst>
              </a:rPr>
              <a:t>CNN-based image approach known as residual approach</a:t>
            </a:r>
            <a:r>
              <a:rPr lang="en-US" sz="2000" dirty="0"/>
              <a:t>. In general, RC is applied into any artificial neural network (ANN) besides CNN</a:t>
            </a:r>
            <a:r>
              <a:rPr lang="en-US" sz="2000" dirty="0" smtClean="0"/>
              <a:t>.</a:t>
            </a:r>
          </a:p>
          <a:p>
            <a:r>
              <a:rPr lang="en-US" sz="2000" dirty="0"/>
              <a:t>Attention is the concept to indicate the self-structure of a data entity, which is the starting point of self-supervised learning that is the middle one between supervised learning and unsupervised </a:t>
            </a:r>
            <a:r>
              <a:rPr lang="en-US" sz="2000" dirty="0" smtClean="0"/>
              <a:t>learning. </a:t>
            </a:r>
            <a:r>
              <a:rPr lang="en-US" sz="2000" dirty="0"/>
              <a:t>The self-structure </a:t>
            </a:r>
            <a:r>
              <a:rPr lang="en-US" sz="2000" dirty="0" smtClean="0"/>
              <a:t>is </a:t>
            </a:r>
            <a:r>
              <a:rPr lang="en-US" sz="2000" dirty="0"/>
              <a:t>often internal relationship or hidden meaning, which is generalized as attention in </a:t>
            </a:r>
            <a:r>
              <a:rPr lang="en-US" sz="2000" dirty="0" smtClean="0"/>
              <a:t>AI.</a:t>
            </a:r>
            <a:r>
              <a:rPr lang="en-US" sz="2000" dirty="0"/>
              <a:t> </a:t>
            </a:r>
            <a:r>
              <a:rPr lang="en-US" sz="2000" dirty="0">
                <a:effectLst>
                  <a:outerShdw blurRad="38100" dist="38100" dir="2700000" algn="tl">
                    <a:srgbClr val="000000">
                      <a:alpha val="43137"/>
                    </a:srgbClr>
                  </a:outerShdw>
                </a:effectLst>
              </a:rPr>
              <a:t>Firstly, attention-based approach in image classification began with the Residual Attention Network (RAN) proposed by Wang et al.</a:t>
            </a:r>
            <a:r>
              <a:rPr lang="en-US" sz="2000" dirty="0"/>
              <a:t> (Wang, et al., 2017</a:t>
            </a:r>
            <a:r>
              <a:rPr lang="en-US" sz="2000" dirty="0" smtClean="0"/>
              <a:t>)</a:t>
            </a:r>
            <a:r>
              <a:rPr lang="en-US" sz="2000" dirty="0"/>
              <a:t> in which Wang et al. (Wang, et al., 2017) proposed attention as product of source entity and the mask. Given input data x, let </a:t>
            </a:r>
            <a:r>
              <a:rPr lang="en-US" sz="2000" i="1" dirty="0"/>
              <a:t>H</a:t>
            </a:r>
            <a:r>
              <a:rPr lang="en-US" sz="2000" dirty="0"/>
              <a:t>(</a:t>
            </a:r>
            <a:r>
              <a:rPr lang="en-US" sz="2000" b="1" i="1" dirty="0"/>
              <a:t>x</a:t>
            </a:r>
            <a:r>
              <a:rPr lang="en-US" sz="2000" dirty="0"/>
              <a:t>) denote the output of </a:t>
            </a:r>
            <a:r>
              <a:rPr lang="en-US" sz="2000" i="1" dirty="0"/>
              <a:t>attention module</a:t>
            </a:r>
            <a:r>
              <a:rPr lang="en-US" sz="2000" dirty="0"/>
              <a:t> which is the composition (product) of </a:t>
            </a:r>
            <a:r>
              <a:rPr lang="en-US" sz="2000" i="1" dirty="0"/>
              <a:t>trunk branch</a:t>
            </a:r>
            <a:r>
              <a:rPr lang="en-US" sz="2000" dirty="0"/>
              <a:t> </a:t>
            </a:r>
            <a:r>
              <a:rPr lang="en-US" sz="2000" i="1" dirty="0"/>
              <a:t>T</a:t>
            </a:r>
            <a:r>
              <a:rPr lang="en-US" sz="2000" dirty="0"/>
              <a:t>(</a:t>
            </a:r>
            <a:r>
              <a:rPr lang="en-US" sz="2000" b="1" i="1" dirty="0"/>
              <a:t>x</a:t>
            </a:r>
            <a:r>
              <a:rPr lang="en-US" sz="2000" dirty="0"/>
              <a:t>) and </a:t>
            </a:r>
            <a:r>
              <a:rPr lang="en-US" sz="2000" i="1" dirty="0"/>
              <a:t>mask branch</a:t>
            </a:r>
            <a:r>
              <a:rPr lang="en-US" sz="2000" dirty="0"/>
              <a:t> </a:t>
            </a:r>
            <a:r>
              <a:rPr lang="en-US" sz="2000" i="1" dirty="0"/>
              <a:t>M</a:t>
            </a:r>
            <a:r>
              <a:rPr lang="en-US" sz="2000" dirty="0"/>
              <a:t>(</a:t>
            </a:r>
            <a:r>
              <a:rPr lang="en-US" sz="2000" b="1" i="1" dirty="0"/>
              <a:t>x</a:t>
            </a:r>
            <a:r>
              <a:rPr lang="en-US" sz="2000" dirty="0" smtClean="0"/>
              <a:t>) as </a:t>
            </a:r>
            <a:r>
              <a:rPr lang="en-US" sz="2000" i="1" dirty="0" smtClean="0"/>
              <a:t>H</a:t>
            </a:r>
            <a:r>
              <a:rPr lang="en-US" sz="2000" dirty="0" smtClean="0"/>
              <a:t>(</a:t>
            </a:r>
            <a:r>
              <a:rPr lang="en-US" sz="2000" b="1" i="1" dirty="0" smtClean="0"/>
              <a:t>x</a:t>
            </a:r>
            <a:r>
              <a:rPr lang="en-US" sz="2000" dirty="0" smtClean="0"/>
              <a:t>) = </a:t>
            </a:r>
            <a:r>
              <a:rPr lang="en-US" sz="2000" i="1" dirty="0" smtClean="0"/>
              <a:t>M</a:t>
            </a:r>
            <a:r>
              <a:rPr lang="en-US" sz="2000" dirty="0" smtClean="0"/>
              <a:t>(</a:t>
            </a:r>
            <a:r>
              <a:rPr lang="en-US" sz="2000" b="1" i="1" dirty="0" smtClean="0"/>
              <a:t>x</a:t>
            </a:r>
            <a:r>
              <a:rPr lang="en-US" sz="2000" dirty="0" smtClean="0"/>
              <a:t>)*</a:t>
            </a:r>
            <a:r>
              <a:rPr lang="en-US" sz="2000" i="1" dirty="0" smtClean="0"/>
              <a:t>T</a:t>
            </a:r>
            <a:r>
              <a:rPr lang="en-US" sz="2000" dirty="0" smtClean="0"/>
              <a:t>(</a:t>
            </a:r>
            <a:r>
              <a:rPr lang="en-US" sz="2000" b="1" i="1" dirty="0" smtClean="0"/>
              <a:t>x</a:t>
            </a:r>
            <a:r>
              <a:rPr lang="en-US" sz="2000" dirty="0" smtClean="0"/>
              <a:t>).</a:t>
            </a:r>
            <a:endParaRPr lang="en-US" sz="2000" dirty="0"/>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12</a:t>
            </a:fld>
            <a:endParaRPr lang="en-US"/>
          </a:p>
        </p:txBody>
      </p:sp>
    </p:spTree>
    <p:extLst>
      <p:ext uri="{BB962C8B-B14F-4D97-AF65-F5344CB8AC3E}">
        <p14:creationId xmlns:p14="http://schemas.microsoft.com/office/powerpoint/2010/main" val="40190696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Related works</a:t>
            </a:r>
          </a:p>
        </p:txBody>
      </p:sp>
      <p:sp>
        <p:nvSpPr>
          <p:cNvPr id="3" name="Content Placeholder 2"/>
          <p:cNvSpPr>
            <a:spLocks noGrp="1"/>
          </p:cNvSpPr>
          <p:nvPr>
            <p:ph idx="1"/>
          </p:nvPr>
        </p:nvSpPr>
        <p:spPr>
          <a:xfrm>
            <a:off x="71120" y="914399"/>
            <a:ext cx="12039600" cy="5176066"/>
          </a:xfrm>
        </p:spPr>
        <p:txBody>
          <a:bodyPr>
            <a:noAutofit/>
          </a:bodyPr>
          <a:lstStyle/>
          <a:p>
            <a:pPr marL="0" indent="0">
              <a:buNone/>
            </a:pPr>
            <a:r>
              <a:rPr lang="en-US" sz="2400" dirty="0"/>
              <a:t>Transformer-based approach whose typical model is </a:t>
            </a:r>
            <a:r>
              <a:rPr lang="en-US" sz="2400" dirty="0" err="1"/>
              <a:t>ViT</a:t>
            </a:r>
            <a:r>
              <a:rPr lang="en-US" sz="2400" dirty="0"/>
              <a:t> </a:t>
            </a:r>
            <a:r>
              <a:rPr lang="en-US" sz="2400" dirty="0" smtClean="0"/>
              <a:t>(</a:t>
            </a:r>
            <a:r>
              <a:rPr lang="en-US" sz="2400" i="1" dirty="0"/>
              <a:t>vision </a:t>
            </a:r>
            <a:r>
              <a:rPr lang="en-US" sz="2400" i="1" dirty="0" smtClean="0"/>
              <a:t>transformer</a:t>
            </a:r>
            <a:r>
              <a:rPr lang="en-US" sz="2400" dirty="0" smtClean="0"/>
              <a:t>) developed </a:t>
            </a:r>
            <a:r>
              <a:rPr lang="en-US" sz="2400" dirty="0"/>
              <a:t>by </a:t>
            </a:r>
            <a:r>
              <a:rPr lang="en-US" sz="2400" dirty="0" err="1"/>
              <a:t>Dosovitskiy</a:t>
            </a:r>
            <a:r>
              <a:rPr lang="en-US" sz="2400" dirty="0"/>
              <a:t> et al. (</a:t>
            </a:r>
            <a:r>
              <a:rPr lang="en-US" sz="2400" dirty="0" err="1"/>
              <a:t>Dosovitskiy</a:t>
            </a:r>
            <a:r>
              <a:rPr lang="en-US" sz="2400" dirty="0"/>
              <a:t>, et al., 2020) is the recent approach for image </a:t>
            </a:r>
            <a:r>
              <a:rPr lang="en-US" sz="2400" dirty="0" smtClean="0"/>
              <a:t>classification with </a:t>
            </a:r>
            <a:r>
              <a:rPr lang="en-US" sz="2400" dirty="0"/>
              <a:t>note that transformer is also developed as self-supervised learning model where attention mechanism is improved more than the mechanism of product of mask branch and trunk branch </a:t>
            </a:r>
            <a:r>
              <a:rPr lang="en-US" sz="2400" dirty="0" smtClean="0"/>
              <a:t>aforementioned.</a:t>
            </a:r>
            <a:r>
              <a:rPr lang="en-US" sz="2400" dirty="0"/>
              <a:t> </a:t>
            </a:r>
            <a:r>
              <a:rPr lang="en-US" sz="2400" dirty="0">
                <a:effectLst>
                  <a:outerShdw blurRad="38100" dist="38100" dir="2700000" algn="tl">
                    <a:srgbClr val="000000">
                      <a:alpha val="43137"/>
                    </a:srgbClr>
                  </a:outerShdw>
                </a:effectLst>
              </a:rPr>
              <a:t>Transformer-based approach with </a:t>
            </a:r>
            <a:r>
              <a:rPr lang="en-US" sz="2400" dirty="0" err="1">
                <a:effectLst>
                  <a:outerShdw blurRad="38100" dist="38100" dir="2700000" algn="tl">
                    <a:srgbClr val="000000">
                      <a:alpha val="43137"/>
                    </a:srgbClr>
                  </a:outerShdw>
                </a:effectLst>
              </a:rPr>
              <a:t>ViT</a:t>
            </a:r>
            <a:r>
              <a:rPr lang="en-US" sz="2400" dirty="0">
                <a:effectLst>
                  <a:outerShdw blurRad="38100" dist="38100" dir="2700000" algn="tl">
                    <a:srgbClr val="000000">
                      <a:alpha val="43137"/>
                    </a:srgbClr>
                  </a:outerShdw>
                </a:effectLst>
              </a:rPr>
              <a:t> is most different from other CNN-based classification methods because attention of transformer can replace convolutional layers</a:t>
            </a:r>
            <a:r>
              <a:rPr lang="en-US" sz="2400" dirty="0" smtClean="0"/>
              <a:t>.</a:t>
            </a:r>
            <a:r>
              <a:rPr lang="en-US" sz="2400" dirty="0"/>
              <a:t> The only problem of transformer-based image classification is that the huge dimension of image data prevents transformer from effective computation. There are two solutions of the huge dimension problem (Gemini 2025): 1) image is divided into patches which are fed to transformer and 2) the auxiliary learnable parameter called </a:t>
            </a:r>
            <a:r>
              <a:rPr lang="en-US" sz="2400" i="1" dirty="0"/>
              <a:t>class token </a:t>
            </a:r>
            <a:r>
              <a:rPr lang="en-US" sz="2400" dirty="0"/>
              <a:t>is attached to the input of transformer (patch) and such digest which is actually weight vector becomes a digest of image after it is processed through transformer so that such </a:t>
            </a:r>
            <a:r>
              <a:rPr lang="en-US" sz="2400" i="1" dirty="0"/>
              <a:t>image digest</a:t>
            </a:r>
            <a:r>
              <a:rPr lang="en-US" sz="2400" dirty="0"/>
              <a:t> is input of classification network (dense network). That image digest is much smaller than image helps transformer to maintain effective computation.</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13</a:t>
            </a:fld>
            <a:endParaRPr lang="en-US"/>
          </a:p>
        </p:txBody>
      </p:sp>
    </p:spTree>
    <p:extLst>
      <p:ext uri="{BB962C8B-B14F-4D97-AF65-F5344CB8AC3E}">
        <p14:creationId xmlns:p14="http://schemas.microsoft.com/office/powerpoint/2010/main" val="853152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a:t>
            </a:r>
            <a:r>
              <a:rPr lang="en-US" dirty="0"/>
              <a:t>. Matrix neural </a:t>
            </a:r>
            <a:r>
              <a:rPr lang="en-US" dirty="0" smtClean="0"/>
              <a:t>network (main)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1280" y="914399"/>
                <a:ext cx="12039600" cy="5176066"/>
              </a:xfrm>
            </p:spPr>
            <p:txBody>
              <a:bodyPr>
                <a:noAutofit/>
              </a:bodyPr>
              <a:lstStyle/>
              <a:p>
                <a:pPr marL="0" indent="0">
                  <a:buNone/>
                </a:pPr>
                <a:r>
                  <a:rPr lang="en-US" sz="2100" dirty="0" smtClean="0">
                    <a:effectLst>
                      <a:outerShdw blurRad="38100" dist="38100" dir="2700000" algn="tl">
                        <a:srgbClr val="000000">
                          <a:alpha val="43137"/>
                        </a:srgbClr>
                      </a:outerShdw>
                    </a:effectLst>
                  </a:rPr>
                  <a:t>If ANN has many hidden layers between input layer and output layer, it will be called deep neural network (DNN). As usual, every DNN layer is coded as a vector, which raises the so-called </a:t>
                </a:r>
                <a:r>
                  <a:rPr lang="en-US" sz="2100" i="1" dirty="0">
                    <a:effectLst>
                      <a:outerShdw blurRad="38100" dist="38100" dir="2700000" algn="tl">
                        <a:srgbClr val="000000">
                          <a:alpha val="43137"/>
                        </a:srgbClr>
                      </a:outerShdw>
                    </a:effectLst>
                  </a:rPr>
                  <a:t>boom problem</a:t>
                </a:r>
                <a:r>
                  <a:rPr lang="en-US" sz="2100" dirty="0">
                    <a:effectLst>
                      <a:outerShdw blurRad="38100" dist="38100" dir="2700000" algn="tl">
                        <a:srgbClr val="000000">
                          <a:alpha val="43137"/>
                        </a:srgbClr>
                      </a:outerShdw>
                    </a:effectLst>
                  </a:rPr>
                  <a:t> of a huge number of </a:t>
                </a:r>
                <a:r>
                  <a:rPr lang="en-US" sz="2100" dirty="0" smtClean="0">
                    <a:effectLst>
                      <a:outerShdw blurRad="38100" dist="38100" dir="2700000" algn="tl">
                        <a:srgbClr val="000000">
                          <a:alpha val="43137"/>
                        </a:srgbClr>
                      </a:outerShdw>
                    </a:effectLst>
                  </a:rPr>
                  <a:t>parameters.</a:t>
                </a:r>
                <a:r>
                  <a:rPr lang="en-US" sz="2100" i="1" dirty="0" smtClean="0">
                    <a:effectLst>
                      <a:outerShdw blurRad="38100" dist="38100" dir="2700000" algn="tl">
                        <a:srgbClr val="000000">
                          <a:alpha val="43137"/>
                        </a:srgbClr>
                      </a:outerShdw>
                    </a:effectLst>
                  </a:rPr>
                  <a:t> </a:t>
                </a:r>
                <a:r>
                  <a:rPr lang="en-US" sz="2100" b="1" dirty="0">
                    <a:effectLst>
                      <a:outerShdw blurRad="38100" dist="38100" dir="2700000" algn="tl">
                        <a:srgbClr val="000000">
                          <a:alpha val="43137"/>
                        </a:srgbClr>
                      </a:outerShdw>
                    </a:effectLst>
                  </a:rPr>
                  <a:t>Matrix neural network </a:t>
                </a:r>
                <a:r>
                  <a:rPr lang="en-US" sz="2100" dirty="0">
                    <a:effectLst>
                      <a:outerShdw blurRad="38100" dist="38100" dir="2700000" algn="tl">
                        <a:srgbClr val="000000">
                          <a:alpha val="43137"/>
                        </a:srgbClr>
                      </a:outerShdw>
                    </a:effectLst>
                  </a:rPr>
                  <a:t>(</a:t>
                </a:r>
                <a:r>
                  <a:rPr lang="en-US" sz="2100" b="1" dirty="0">
                    <a:effectLst>
                      <a:outerShdw blurRad="38100" dist="38100" dir="2700000" algn="tl">
                        <a:srgbClr val="000000">
                          <a:alpha val="43137"/>
                        </a:srgbClr>
                      </a:outerShdw>
                    </a:effectLst>
                  </a:rPr>
                  <a:t>MNN</a:t>
                </a:r>
                <a:r>
                  <a:rPr lang="en-US" sz="2100" dirty="0">
                    <a:effectLst>
                      <a:outerShdw blurRad="38100" dist="38100" dir="2700000" algn="tl">
                        <a:srgbClr val="000000">
                          <a:alpha val="43137"/>
                        </a:srgbClr>
                      </a:outerShdw>
                    </a:effectLst>
                  </a:rPr>
                  <a:t>) aims to solve the boom problem by coding layers as matrix and coding parameters as matrix too</a:t>
                </a:r>
                <a:r>
                  <a:rPr lang="en-US" sz="2100" dirty="0"/>
                  <a:t>. </a:t>
                </a:r>
                <a:r>
                  <a:rPr lang="en-US" sz="2100" dirty="0" smtClean="0"/>
                  <a:t>The MNN </a:t>
                </a:r>
                <a:r>
                  <a:rPr lang="en-US" sz="2100" dirty="0"/>
                  <a:t>mentioned </a:t>
                </a:r>
                <a:r>
                  <a:rPr lang="en-US" sz="2100" dirty="0" smtClean="0"/>
                  <a:t>is </a:t>
                </a:r>
                <a:r>
                  <a:rPr lang="en-US" sz="2100" dirty="0"/>
                  <a:t>represented by a series of matrix layers </a:t>
                </a:r>
                <a:r>
                  <a:rPr lang="en-US" sz="2100" b="1" i="1" dirty="0"/>
                  <a:t>X</a:t>
                </a:r>
                <a:r>
                  <a:rPr lang="en-US" sz="2100" baseline="-25000" dirty="0"/>
                  <a:t>0</a:t>
                </a:r>
                <a:r>
                  <a:rPr lang="en-US" sz="2100" dirty="0"/>
                  <a:t>, </a:t>
                </a:r>
                <a:r>
                  <a:rPr lang="en-US" sz="2100" b="1" i="1" dirty="0"/>
                  <a:t>X</a:t>
                </a:r>
                <a:r>
                  <a:rPr lang="en-US" sz="2100" baseline="-25000" dirty="0"/>
                  <a:t>1</a:t>
                </a:r>
                <a:r>
                  <a:rPr lang="en-US" sz="2100" dirty="0"/>
                  <a:t>, </a:t>
                </a:r>
                <a:r>
                  <a:rPr lang="en-US" sz="2100" b="1" i="1" dirty="0"/>
                  <a:t>X</a:t>
                </a:r>
                <a:r>
                  <a:rPr lang="en-US" sz="2100" baseline="-25000" dirty="0"/>
                  <a:t>2</a:t>
                </a:r>
                <a:r>
                  <a:rPr lang="en-US" sz="2100" dirty="0"/>
                  <a:t>,…, </a:t>
                </a:r>
                <a:r>
                  <a:rPr lang="en-US" sz="2100" b="1" i="1" dirty="0"/>
                  <a:t>X</a:t>
                </a:r>
                <a:r>
                  <a:rPr lang="en-US" sz="2100" i="1" baseline="-25000" dirty="0"/>
                  <a:t>K</a:t>
                </a:r>
                <a:r>
                  <a:rPr lang="en-US" sz="2100" dirty="0"/>
                  <a:t> is called </a:t>
                </a:r>
                <a:r>
                  <a:rPr lang="en-US" sz="2100" i="1" dirty="0"/>
                  <a:t>K</a:t>
                </a:r>
                <a:r>
                  <a:rPr lang="en-US" sz="2100" dirty="0"/>
                  <a:t>-layer </a:t>
                </a:r>
                <a:r>
                  <a:rPr lang="en-US" sz="2100" dirty="0" smtClean="0"/>
                  <a:t>FFN.</a:t>
                </a:r>
                <a:r>
                  <a:rPr lang="en-US" sz="2100" dirty="0"/>
                  <a:t> Each matrix layer </a:t>
                </a:r>
                <a:r>
                  <a:rPr lang="en-US" sz="2100" b="1" i="1" dirty="0" err="1"/>
                  <a:t>X</a:t>
                </a:r>
                <a:r>
                  <a:rPr lang="en-US" sz="2100" i="1" baseline="-25000" dirty="0" err="1"/>
                  <a:t>k</a:t>
                </a:r>
                <a:r>
                  <a:rPr lang="en-US" sz="2100" dirty="0"/>
                  <a:t> represented by a matrix </a:t>
                </a:r>
                <a:r>
                  <a:rPr lang="en-US" sz="2100" b="1" i="1" dirty="0" err="1"/>
                  <a:t>X</a:t>
                </a:r>
                <a:r>
                  <a:rPr lang="en-US" sz="2100" i="1" baseline="-25000" dirty="0" err="1"/>
                  <a:t>k</a:t>
                </a:r>
                <a:r>
                  <a:rPr lang="en-US" sz="2100" dirty="0"/>
                  <a:t> has three parameters such as parametric weight matrix </a:t>
                </a:r>
                <a:r>
                  <a:rPr lang="en-US" sz="2100" i="1" dirty="0" err="1"/>
                  <a:t>U</a:t>
                </a:r>
                <a:r>
                  <a:rPr lang="en-US" sz="2100" i="1" baseline="-25000" dirty="0" err="1"/>
                  <a:t>k</a:t>
                </a:r>
                <a:r>
                  <a:rPr lang="en-US" sz="2100" dirty="0"/>
                  <a:t>, parametric weight matrix </a:t>
                </a:r>
                <a:r>
                  <a:rPr lang="en-US" sz="2100" i="1" dirty="0" err="1"/>
                  <a:t>V</a:t>
                </a:r>
                <a:r>
                  <a:rPr lang="en-US" sz="2100" i="1" baseline="-25000" dirty="0" err="1"/>
                  <a:t>k</a:t>
                </a:r>
                <a:r>
                  <a:rPr lang="en-US" sz="2100" dirty="0"/>
                  <a:t>, and parametric bias matrix </a:t>
                </a:r>
                <a:r>
                  <a:rPr lang="en-US" sz="2100" dirty="0" err="1"/>
                  <a:t>Θ</a:t>
                </a:r>
                <a:r>
                  <a:rPr lang="en-US" sz="2100" i="1" baseline="-25000" dirty="0" err="1"/>
                  <a:t>k</a:t>
                </a:r>
                <a:r>
                  <a:rPr lang="en-US" sz="2100" dirty="0"/>
                  <a:t>, which aims to solve the boom problem </a:t>
                </a:r>
                <a:r>
                  <a:rPr lang="en-US" sz="2100" dirty="0" smtClean="0"/>
                  <a:t>because </a:t>
                </a:r>
                <a:r>
                  <a:rPr lang="en-US" sz="2100" dirty="0"/>
                  <a:t>weigh matrices are always keep intact their size in squared </a:t>
                </a:r>
                <a:r>
                  <a:rPr lang="en-US" sz="2100" dirty="0" smtClean="0"/>
                  <a:t>number. Following is the MNN propagation rule.</a:t>
                </a:r>
              </a:p>
              <a:p>
                <a:pPr marL="0" indent="0">
                  <a:buNone/>
                </a:pPr>
                <a14:m>
                  <m:oMathPara xmlns:m="http://schemas.openxmlformats.org/officeDocument/2006/math">
                    <m:oMathParaPr>
                      <m:jc m:val="centerGroup"/>
                    </m:oMathParaPr>
                    <m:oMath xmlns:m="http://schemas.openxmlformats.org/officeDocument/2006/math">
                      <m:sSub>
                        <m:sSubPr>
                          <m:ctrlPr>
                            <a:rPr lang="en-US" sz="2100" i="1">
                              <a:latin typeface="Cambria Math" panose="02040503050406030204" pitchFamily="18" charset="0"/>
                            </a:rPr>
                          </m:ctrlPr>
                        </m:sSubPr>
                        <m:e>
                          <m:r>
                            <a:rPr lang="en-US" sz="2100" b="1" i="1">
                              <a:latin typeface="Cambria Math" panose="02040503050406030204" pitchFamily="18" charset="0"/>
                            </a:rPr>
                            <m:t>𝑿</m:t>
                          </m:r>
                        </m:e>
                        <m:sub>
                          <m:r>
                            <a:rPr lang="en-US" sz="2100" i="1">
                              <a:latin typeface="Cambria Math" panose="02040503050406030204" pitchFamily="18" charset="0"/>
                            </a:rPr>
                            <m:t>𝑘</m:t>
                          </m:r>
                        </m:sub>
                      </m:sSub>
                      <m:r>
                        <a:rPr lang="en-US" sz="2100" i="1">
                          <a:latin typeface="Cambria Math" panose="02040503050406030204" pitchFamily="18" charset="0"/>
                        </a:rPr>
                        <m:t>=</m:t>
                      </m:r>
                      <m:r>
                        <a:rPr lang="en-US" sz="2100" i="1">
                          <a:latin typeface="Cambria Math" panose="02040503050406030204" pitchFamily="18" charset="0"/>
                        </a:rPr>
                        <m:t>𝑓</m:t>
                      </m:r>
                      <m:d>
                        <m:dPr>
                          <m:ctrlPr>
                            <a:rPr lang="en-US" sz="2100" i="1">
                              <a:latin typeface="Cambria Math" panose="02040503050406030204" pitchFamily="18" charset="0"/>
                            </a:rPr>
                          </m:ctrlPr>
                        </m:dPr>
                        <m:e>
                          <m:sSub>
                            <m:sSubPr>
                              <m:ctrlPr>
                                <a:rPr lang="en-US" sz="2100" i="1">
                                  <a:latin typeface="Cambria Math" panose="02040503050406030204" pitchFamily="18" charset="0"/>
                                </a:rPr>
                              </m:ctrlPr>
                            </m:sSubPr>
                            <m:e>
                              <m:acc>
                                <m:accPr>
                                  <m:chr m:val="̂"/>
                                  <m:ctrlPr>
                                    <a:rPr lang="en-US" sz="2100" i="1">
                                      <a:latin typeface="Cambria Math" panose="02040503050406030204" pitchFamily="18" charset="0"/>
                                    </a:rPr>
                                  </m:ctrlPr>
                                </m:accPr>
                                <m:e>
                                  <m:r>
                                    <a:rPr lang="en-US" sz="2100" b="1" i="1">
                                      <a:latin typeface="Cambria Math" panose="02040503050406030204" pitchFamily="18" charset="0"/>
                                    </a:rPr>
                                    <m:t>𝑿</m:t>
                                  </m:r>
                                </m:e>
                              </m:acc>
                            </m:e>
                            <m:sub>
                              <m:r>
                                <a:rPr lang="en-US" sz="2100" i="1">
                                  <a:latin typeface="Cambria Math" panose="02040503050406030204" pitchFamily="18" charset="0"/>
                                </a:rPr>
                                <m:t>𝑘</m:t>
                              </m:r>
                              <m:r>
                                <a:rPr lang="en-US" sz="2100" i="1">
                                  <a:latin typeface="Cambria Math" panose="02040503050406030204" pitchFamily="18" charset="0"/>
                                </a:rPr>
                                <m:t>−1</m:t>
                              </m:r>
                            </m:sub>
                          </m:sSub>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𝑈</m:t>
                              </m:r>
                            </m:e>
                            <m:sub>
                              <m:r>
                                <a:rPr lang="en-US" sz="2100" i="1">
                                  <a:latin typeface="Cambria Math" panose="02040503050406030204" pitchFamily="18" charset="0"/>
                                </a:rPr>
                                <m:t>𝑘</m:t>
                              </m:r>
                            </m:sub>
                          </m:sSub>
                          <m:sSub>
                            <m:sSubPr>
                              <m:ctrlPr>
                                <a:rPr lang="en-US" sz="2100" i="1">
                                  <a:latin typeface="Cambria Math" panose="02040503050406030204" pitchFamily="18" charset="0"/>
                                </a:rPr>
                              </m:ctrlPr>
                            </m:sSubPr>
                            <m:e>
                              <m:r>
                                <a:rPr lang="en-US" sz="2100" b="1" i="1">
                                  <a:latin typeface="Cambria Math" panose="02040503050406030204" pitchFamily="18" charset="0"/>
                                </a:rPr>
                                <m:t>𝑿</m:t>
                              </m:r>
                            </m:e>
                            <m:sub>
                              <m:r>
                                <a:rPr lang="en-US" sz="2100" i="1">
                                  <a:latin typeface="Cambria Math" panose="02040503050406030204" pitchFamily="18" charset="0"/>
                                </a:rPr>
                                <m:t>𝑘</m:t>
                              </m:r>
                              <m:r>
                                <a:rPr lang="en-US" sz="2100" i="1">
                                  <a:latin typeface="Cambria Math" panose="02040503050406030204" pitchFamily="18" charset="0"/>
                                </a:rPr>
                                <m:t>−1</m:t>
                              </m:r>
                            </m:sub>
                          </m:sSub>
                          <m:sSub>
                            <m:sSubPr>
                              <m:ctrlPr>
                                <a:rPr lang="en-US" sz="2100" i="1">
                                  <a:latin typeface="Cambria Math" panose="02040503050406030204" pitchFamily="18" charset="0"/>
                                </a:rPr>
                              </m:ctrlPr>
                            </m:sSubPr>
                            <m:e>
                              <m:r>
                                <a:rPr lang="en-US" sz="2100" i="1">
                                  <a:latin typeface="Cambria Math" panose="02040503050406030204" pitchFamily="18" charset="0"/>
                                </a:rPr>
                                <m:t>𝑉</m:t>
                              </m:r>
                            </m:e>
                            <m:sub>
                              <m:r>
                                <a:rPr lang="en-US" sz="2100" i="1">
                                  <a:latin typeface="Cambria Math" panose="02040503050406030204" pitchFamily="18" charset="0"/>
                                </a:rPr>
                                <m:t>𝑘</m:t>
                              </m:r>
                            </m:sub>
                          </m:sSub>
                          <m:r>
                            <a:rPr lang="en-US" sz="2100" i="1">
                              <a:latin typeface="Cambria Math" panose="02040503050406030204" pitchFamily="18" charset="0"/>
                            </a:rPr>
                            <m:t>+</m:t>
                          </m:r>
                          <m:sSub>
                            <m:sSubPr>
                              <m:ctrlPr>
                                <a:rPr lang="en-US" sz="2100" i="1">
                                  <a:latin typeface="Cambria Math" panose="02040503050406030204" pitchFamily="18" charset="0"/>
                                </a:rPr>
                              </m:ctrlPr>
                            </m:sSubPr>
                            <m:e>
                              <m:r>
                                <m:rPr>
                                  <m:sty m:val="p"/>
                                </m:rPr>
                                <a:rPr lang="en-US" sz="2100">
                                  <a:latin typeface="Cambria Math" panose="02040503050406030204" pitchFamily="18" charset="0"/>
                                </a:rPr>
                                <m:t>Θ</m:t>
                              </m:r>
                            </m:e>
                            <m:sub>
                              <m:r>
                                <a:rPr lang="en-US" sz="2100" i="1">
                                  <a:latin typeface="Cambria Math" panose="02040503050406030204" pitchFamily="18" charset="0"/>
                                </a:rPr>
                                <m:t>𝑘</m:t>
                              </m:r>
                            </m:sub>
                          </m:sSub>
                        </m:e>
                      </m:d>
                      <m:r>
                        <a:rPr lang="en-US" sz="2100" i="1">
                          <a:latin typeface="Cambria Math" panose="02040503050406030204" pitchFamily="18" charset="0"/>
                        </a:rPr>
                        <m:t>,∀</m:t>
                      </m:r>
                      <m:r>
                        <a:rPr lang="en-US" sz="2100" i="1">
                          <a:latin typeface="Cambria Math" panose="02040503050406030204" pitchFamily="18" charset="0"/>
                        </a:rPr>
                        <m:t>𝑘</m:t>
                      </m:r>
                      <m:r>
                        <a:rPr lang="en-US" sz="2100" i="1">
                          <a:latin typeface="Cambria Math" panose="02040503050406030204" pitchFamily="18" charset="0"/>
                        </a:rPr>
                        <m:t>=</m:t>
                      </m:r>
                      <m:acc>
                        <m:accPr>
                          <m:chr m:val="̅"/>
                          <m:ctrlPr>
                            <a:rPr lang="en-US" sz="2100" i="1">
                              <a:latin typeface="Cambria Math" panose="02040503050406030204" pitchFamily="18" charset="0"/>
                            </a:rPr>
                          </m:ctrlPr>
                        </m:accPr>
                        <m:e>
                          <m:r>
                            <a:rPr lang="en-US" sz="2100" i="1">
                              <a:latin typeface="Cambria Math" panose="02040503050406030204" pitchFamily="18" charset="0"/>
                            </a:rPr>
                            <m:t>1,</m:t>
                          </m:r>
                          <m:r>
                            <a:rPr lang="en-US" sz="2100" i="1">
                              <a:latin typeface="Cambria Math" panose="02040503050406030204" pitchFamily="18" charset="0"/>
                            </a:rPr>
                            <m:t>𝐾</m:t>
                          </m:r>
                        </m:e>
                      </m:acc>
                    </m:oMath>
                  </m:oMathPara>
                </a14:m>
                <a:endParaRPr lang="en-US" sz="2100" dirty="0" smtClean="0"/>
              </a:p>
              <a:p>
                <a:pPr marL="0" indent="0">
                  <a:buNone/>
                </a:pPr>
                <a:r>
                  <a:rPr lang="en-US" sz="2100" dirty="0"/>
                  <a:t>Training MNN is to estimate parameters </a:t>
                </a:r>
                <a:r>
                  <a:rPr lang="en-US" sz="2100" i="1" dirty="0" err="1"/>
                  <a:t>U</a:t>
                </a:r>
                <a:r>
                  <a:rPr lang="en-US" sz="2100" i="1" baseline="-25000" dirty="0" err="1"/>
                  <a:t>k</a:t>
                </a:r>
                <a:r>
                  <a:rPr lang="en-US" sz="2100" dirty="0"/>
                  <a:t>, </a:t>
                </a:r>
                <a:r>
                  <a:rPr lang="en-US" sz="2100" i="1" dirty="0" err="1"/>
                  <a:t>V</a:t>
                </a:r>
                <a:r>
                  <a:rPr lang="en-US" sz="2100" i="1" baseline="-25000" dirty="0" err="1"/>
                  <a:t>k</a:t>
                </a:r>
                <a:r>
                  <a:rPr lang="en-US" sz="2100" dirty="0"/>
                  <a:t>, and </a:t>
                </a:r>
                <a:r>
                  <a:rPr lang="en-US" sz="2100" dirty="0" err="1"/>
                  <a:t>Θ</a:t>
                </a:r>
                <a:r>
                  <a:rPr lang="en-US" sz="2100" i="1" baseline="-25000" dirty="0" err="1"/>
                  <a:t>k</a:t>
                </a:r>
                <a:r>
                  <a:rPr lang="en-US" sz="2100" dirty="0"/>
                  <a:t> by maximizing the likelihood function </a:t>
                </a:r>
                <a:r>
                  <a:rPr lang="en-US" sz="2100" i="1" dirty="0"/>
                  <a:t>l</a:t>
                </a:r>
                <a:r>
                  <a:rPr lang="en-US" sz="2100" dirty="0"/>
                  <a:t>(</a:t>
                </a:r>
                <a:r>
                  <a:rPr lang="en-US" sz="2100" b="1" i="1" dirty="0"/>
                  <a:t>X</a:t>
                </a:r>
                <a:r>
                  <a:rPr lang="en-US" sz="2100" i="1" baseline="-25000" dirty="0"/>
                  <a:t>K</a:t>
                </a:r>
                <a:r>
                  <a:rPr lang="en-US" sz="2100" dirty="0"/>
                  <a:t>) at the last output layer </a:t>
                </a:r>
                <a:r>
                  <a:rPr lang="en-US" sz="2100" b="1" i="1" dirty="0"/>
                  <a:t>X</a:t>
                </a:r>
                <a:r>
                  <a:rPr lang="en-US" sz="2100" i="1" baseline="-25000" dirty="0"/>
                  <a:t>K</a:t>
                </a:r>
                <a:r>
                  <a:rPr lang="en-US" sz="2100" dirty="0"/>
                  <a:t> which is defined as the negative of squared </a:t>
                </a:r>
                <a:r>
                  <a:rPr lang="en-US" sz="2100" dirty="0" err="1"/>
                  <a:t>Frobenius</a:t>
                </a:r>
                <a:r>
                  <a:rPr lang="en-US" sz="2100" dirty="0"/>
                  <a:t> norm given the real output </a:t>
                </a:r>
                <a:r>
                  <a:rPr lang="en-US" sz="2100" b="1" i="1" dirty="0"/>
                  <a:t>X</a:t>
                </a:r>
                <a:r>
                  <a:rPr lang="en-US" sz="2100" b="1" i="1" baseline="-25000" dirty="0"/>
                  <a:t>K</a:t>
                </a:r>
                <a:r>
                  <a:rPr lang="en-US" sz="2100" dirty="0" smtClean="0"/>
                  <a:t>’.</a:t>
                </a:r>
              </a:p>
              <a:p>
                <a:pPr marL="0" indent="0">
                  <a:buNone/>
                </a:pPr>
                <a14:m>
                  <m:oMathPara xmlns:m="http://schemas.openxmlformats.org/officeDocument/2006/math">
                    <m:oMathParaPr>
                      <m:jc m:val="centerGroup"/>
                    </m:oMathParaPr>
                    <m:oMath xmlns:m="http://schemas.openxmlformats.org/officeDocument/2006/math">
                      <m:r>
                        <a:rPr lang="en-US" sz="2100" i="1">
                          <a:latin typeface="Cambria Math" panose="02040503050406030204" pitchFamily="18" charset="0"/>
                        </a:rPr>
                        <m:t>𝑙</m:t>
                      </m:r>
                      <m:d>
                        <m:dPr>
                          <m:ctrlPr>
                            <a:rPr lang="en-US" sz="2100" i="1">
                              <a:latin typeface="Cambria Math" panose="02040503050406030204" pitchFamily="18" charset="0"/>
                            </a:rPr>
                          </m:ctrlPr>
                        </m:dPr>
                        <m:e>
                          <m:sSub>
                            <m:sSubPr>
                              <m:ctrlPr>
                                <a:rPr lang="en-US" sz="2100" i="1">
                                  <a:latin typeface="Cambria Math" panose="02040503050406030204" pitchFamily="18" charset="0"/>
                                </a:rPr>
                              </m:ctrlPr>
                            </m:sSubPr>
                            <m:e>
                              <m:r>
                                <a:rPr lang="en-US" sz="2100" b="1" i="1">
                                  <a:latin typeface="Cambria Math" panose="02040503050406030204" pitchFamily="18" charset="0"/>
                                </a:rPr>
                                <m:t>𝑿</m:t>
                              </m:r>
                            </m:e>
                            <m:sub>
                              <m:r>
                                <a:rPr lang="en-US" sz="2100" i="1">
                                  <a:latin typeface="Cambria Math" panose="02040503050406030204" pitchFamily="18" charset="0"/>
                                </a:rPr>
                                <m:t>𝐾</m:t>
                              </m:r>
                            </m:sub>
                          </m:sSub>
                        </m:e>
                      </m:d>
                      <m:r>
                        <a:rPr lang="en-US" sz="2100" i="1">
                          <a:latin typeface="Cambria Math" panose="02040503050406030204" pitchFamily="18" charset="0"/>
                        </a:rPr>
                        <m:t>=−</m:t>
                      </m:r>
                      <m:f>
                        <m:fPr>
                          <m:ctrlPr>
                            <a:rPr lang="en-US" sz="2100" i="1">
                              <a:latin typeface="Cambria Math" panose="02040503050406030204" pitchFamily="18" charset="0"/>
                            </a:rPr>
                          </m:ctrlPr>
                        </m:fPr>
                        <m:num>
                          <m:r>
                            <a:rPr lang="en-US" sz="2100" i="1">
                              <a:latin typeface="Cambria Math" panose="02040503050406030204" pitchFamily="18" charset="0"/>
                            </a:rPr>
                            <m:t>1</m:t>
                          </m:r>
                        </m:num>
                        <m:den>
                          <m:r>
                            <a:rPr lang="en-US" sz="2100" i="1">
                              <a:latin typeface="Cambria Math" panose="02040503050406030204" pitchFamily="18" charset="0"/>
                            </a:rPr>
                            <m:t>2</m:t>
                          </m:r>
                        </m:den>
                      </m:f>
                      <m:sSup>
                        <m:sSupPr>
                          <m:ctrlPr>
                            <a:rPr lang="en-US" sz="2100" i="1">
                              <a:latin typeface="Cambria Math" panose="02040503050406030204" pitchFamily="18" charset="0"/>
                            </a:rPr>
                          </m:ctrlPr>
                        </m:sSupPr>
                        <m:e>
                          <m:d>
                            <m:dPr>
                              <m:begChr m:val="‖"/>
                              <m:endChr m:val="‖"/>
                              <m:ctrlPr>
                                <a:rPr lang="en-US" sz="2100" i="1">
                                  <a:latin typeface="Cambria Math" panose="02040503050406030204" pitchFamily="18" charset="0"/>
                                </a:rPr>
                              </m:ctrlPr>
                            </m:dPr>
                            <m:e>
                              <m:sSubSup>
                                <m:sSubSupPr>
                                  <m:ctrlPr>
                                    <a:rPr lang="en-US" sz="2100" i="1">
                                      <a:latin typeface="Cambria Math" panose="02040503050406030204" pitchFamily="18" charset="0"/>
                                    </a:rPr>
                                  </m:ctrlPr>
                                </m:sSubSupPr>
                                <m:e>
                                  <m:r>
                                    <a:rPr lang="en-US" sz="2100" b="1" i="1">
                                      <a:latin typeface="Cambria Math" panose="02040503050406030204" pitchFamily="18" charset="0"/>
                                    </a:rPr>
                                    <m:t>𝑿</m:t>
                                  </m:r>
                                </m:e>
                                <m:sub>
                                  <m:r>
                                    <a:rPr lang="en-US" sz="2100" i="1">
                                      <a:latin typeface="Cambria Math" panose="02040503050406030204" pitchFamily="18" charset="0"/>
                                    </a:rPr>
                                    <m:t>𝐾</m:t>
                                  </m:r>
                                </m:sub>
                                <m:sup>
                                  <m:r>
                                    <a:rPr lang="en-US" sz="2100" i="1">
                                      <a:latin typeface="Cambria Math" panose="02040503050406030204" pitchFamily="18" charset="0"/>
                                    </a:rPr>
                                    <m:t>′</m:t>
                                  </m:r>
                                </m:sup>
                              </m:sSubSup>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b="1" i="1">
                                      <a:latin typeface="Cambria Math" panose="02040503050406030204" pitchFamily="18" charset="0"/>
                                    </a:rPr>
                                    <m:t>𝑿</m:t>
                                  </m:r>
                                </m:e>
                                <m:sub>
                                  <m:r>
                                    <a:rPr lang="en-US" sz="2100" i="1">
                                      <a:latin typeface="Cambria Math" panose="02040503050406030204" pitchFamily="18" charset="0"/>
                                    </a:rPr>
                                    <m:t>𝐾</m:t>
                                  </m:r>
                                </m:sub>
                              </m:sSub>
                            </m:e>
                          </m:d>
                        </m:e>
                        <m:sup>
                          <m:r>
                            <a:rPr lang="en-US" sz="2100" i="1">
                              <a:latin typeface="Cambria Math" panose="02040503050406030204" pitchFamily="18" charset="0"/>
                            </a:rPr>
                            <m:t>2</m:t>
                          </m:r>
                        </m:sup>
                      </m:sSup>
                    </m:oMath>
                  </m:oMathPara>
                </a14:m>
                <a:endParaRPr lang="en-US" sz="2100" dirty="0" smtClean="0"/>
              </a:p>
              <a:p>
                <a:pPr marL="0" indent="0">
                  <a:buNone/>
                </a:pPr>
                <a:r>
                  <a:rPr lang="en-US" sz="2100" dirty="0" smtClean="0"/>
                  <a:t>So that,</a:t>
                </a:r>
              </a:p>
              <a:p>
                <a:pPr marL="0" indent="0">
                  <a:buNone/>
                </a:pPr>
                <a14:m>
                  <m:oMathPara xmlns:m="http://schemas.openxmlformats.org/officeDocument/2006/math">
                    <m:oMathParaPr>
                      <m:jc m:val="centerGroup"/>
                    </m:oMathParaPr>
                    <m:oMath xmlns:m="http://schemas.openxmlformats.org/officeDocument/2006/math">
                      <m:sSubSup>
                        <m:sSubSupPr>
                          <m:ctrlPr>
                            <a:rPr lang="en-US" sz="2100" i="1">
                              <a:latin typeface="Cambria Math" panose="02040503050406030204" pitchFamily="18" charset="0"/>
                            </a:rPr>
                          </m:ctrlPr>
                        </m:sSubSupPr>
                        <m:e>
                          <m:r>
                            <a:rPr lang="en-US" sz="2100" i="1">
                              <a:latin typeface="Cambria Math" panose="02040503050406030204" pitchFamily="18" charset="0"/>
                            </a:rPr>
                            <m:t>𝑈</m:t>
                          </m:r>
                        </m:e>
                        <m:sub>
                          <m:r>
                            <a:rPr lang="en-US" sz="2100" i="1">
                              <a:latin typeface="Cambria Math" panose="02040503050406030204" pitchFamily="18" charset="0"/>
                            </a:rPr>
                            <m:t>𝑘</m:t>
                          </m:r>
                        </m:sub>
                        <m:sup>
                          <m:r>
                            <a:rPr lang="en-US" sz="2100" i="1">
                              <a:latin typeface="Cambria Math" panose="02040503050406030204" pitchFamily="18" charset="0"/>
                            </a:rPr>
                            <m:t>∗</m:t>
                          </m:r>
                        </m:sup>
                      </m:sSubSup>
                      <m:r>
                        <a:rPr lang="en-US" sz="2100" i="1">
                          <a:latin typeface="Cambria Math" panose="02040503050406030204" pitchFamily="18" charset="0"/>
                        </a:rPr>
                        <m:t>=</m:t>
                      </m:r>
                      <m:func>
                        <m:funcPr>
                          <m:ctrlPr>
                            <a:rPr lang="en-US" sz="2100" i="1">
                              <a:latin typeface="Cambria Math" panose="02040503050406030204" pitchFamily="18" charset="0"/>
                            </a:rPr>
                          </m:ctrlPr>
                        </m:funcPr>
                        <m:fName>
                          <m:limLow>
                            <m:limLowPr>
                              <m:ctrlPr>
                                <a:rPr lang="en-US" sz="2100" i="1">
                                  <a:latin typeface="Cambria Math" panose="02040503050406030204" pitchFamily="18" charset="0"/>
                                </a:rPr>
                              </m:ctrlPr>
                            </m:limLowPr>
                            <m:e>
                              <m:r>
                                <m:rPr>
                                  <m:sty m:val="p"/>
                                </m:rPr>
                                <a:rPr lang="en-US" sz="2100">
                                  <a:latin typeface="Cambria Math" panose="02040503050406030204" pitchFamily="18" charset="0"/>
                                </a:rPr>
                                <m:t>argmax</m:t>
                              </m:r>
                            </m:e>
                            <m:lim>
                              <m:sSub>
                                <m:sSubPr>
                                  <m:ctrlPr>
                                    <a:rPr lang="en-US" sz="2100" i="1">
                                      <a:latin typeface="Cambria Math" panose="02040503050406030204" pitchFamily="18" charset="0"/>
                                    </a:rPr>
                                  </m:ctrlPr>
                                </m:sSubPr>
                                <m:e>
                                  <m:r>
                                    <a:rPr lang="en-US" sz="2100" i="1">
                                      <a:latin typeface="Cambria Math" panose="02040503050406030204" pitchFamily="18" charset="0"/>
                                    </a:rPr>
                                    <m:t>𝑈</m:t>
                                  </m:r>
                                </m:e>
                                <m:sub>
                                  <m:r>
                                    <a:rPr lang="en-US" sz="2100" i="1">
                                      <a:latin typeface="Cambria Math" panose="02040503050406030204" pitchFamily="18" charset="0"/>
                                    </a:rPr>
                                    <m:t>𝑘</m:t>
                                  </m:r>
                                </m:sub>
                              </m:sSub>
                            </m:lim>
                          </m:limLow>
                        </m:fName>
                        <m:e>
                          <m:r>
                            <a:rPr lang="en-US" sz="2100" i="1">
                              <a:latin typeface="Cambria Math" panose="02040503050406030204" pitchFamily="18" charset="0"/>
                            </a:rPr>
                            <m:t>𝑙</m:t>
                          </m:r>
                          <m:d>
                            <m:dPr>
                              <m:ctrlPr>
                                <a:rPr lang="en-US" sz="2100" i="1">
                                  <a:latin typeface="Cambria Math" panose="02040503050406030204" pitchFamily="18" charset="0"/>
                                </a:rPr>
                              </m:ctrlPr>
                            </m:dPr>
                            <m:e>
                              <m:sSub>
                                <m:sSubPr>
                                  <m:ctrlPr>
                                    <a:rPr lang="en-US" sz="2100" i="1">
                                      <a:latin typeface="Cambria Math" panose="02040503050406030204" pitchFamily="18" charset="0"/>
                                    </a:rPr>
                                  </m:ctrlPr>
                                </m:sSubPr>
                                <m:e>
                                  <m:r>
                                    <a:rPr lang="en-US" sz="2100" b="1" i="1">
                                      <a:latin typeface="Cambria Math" panose="02040503050406030204" pitchFamily="18" charset="0"/>
                                    </a:rPr>
                                    <m:t>𝑿</m:t>
                                  </m:r>
                                </m:e>
                                <m:sub>
                                  <m:r>
                                    <a:rPr lang="en-US" sz="2100" i="1">
                                      <a:latin typeface="Cambria Math" panose="02040503050406030204" pitchFamily="18" charset="0"/>
                                    </a:rPr>
                                    <m:t>𝐾</m:t>
                                  </m:r>
                                </m:sub>
                              </m:sSub>
                            </m:e>
                          </m:d>
                        </m:e>
                      </m:func>
                      <m:r>
                        <a:rPr lang="en-US" sz="2100" b="0" i="1" smtClean="0">
                          <a:latin typeface="Cambria Math" panose="02040503050406030204" pitchFamily="18" charset="0"/>
                        </a:rPr>
                        <m:t>,</m:t>
                      </m:r>
                      <m:sSubSup>
                        <m:sSubSupPr>
                          <m:ctrlPr>
                            <a:rPr lang="en-US" sz="2100" i="1">
                              <a:latin typeface="Cambria Math" panose="02040503050406030204" pitchFamily="18" charset="0"/>
                            </a:rPr>
                          </m:ctrlPr>
                        </m:sSubSupPr>
                        <m:e>
                          <m:r>
                            <a:rPr lang="en-US" sz="2100" i="1">
                              <a:latin typeface="Cambria Math" panose="02040503050406030204" pitchFamily="18" charset="0"/>
                            </a:rPr>
                            <m:t>𝑉</m:t>
                          </m:r>
                        </m:e>
                        <m:sub>
                          <m:r>
                            <a:rPr lang="en-US" sz="2100" i="1">
                              <a:latin typeface="Cambria Math" panose="02040503050406030204" pitchFamily="18" charset="0"/>
                            </a:rPr>
                            <m:t>𝑘</m:t>
                          </m:r>
                        </m:sub>
                        <m:sup>
                          <m:r>
                            <a:rPr lang="en-US" sz="2100" i="1">
                              <a:latin typeface="Cambria Math" panose="02040503050406030204" pitchFamily="18" charset="0"/>
                            </a:rPr>
                            <m:t>∗</m:t>
                          </m:r>
                        </m:sup>
                      </m:sSubSup>
                      <m:r>
                        <a:rPr lang="en-US" sz="2100" i="1">
                          <a:latin typeface="Cambria Math" panose="02040503050406030204" pitchFamily="18" charset="0"/>
                        </a:rPr>
                        <m:t>=</m:t>
                      </m:r>
                      <m:func>
                        <m:funcPr>
                          <m:ctrlPr>
                            <a:rPr lang="en-US" sz="2100" i="1">
                              <a:latin typeface="Cambria Math" panose="02040503050406030204" pitchFamily="18" charset="0"/>
                            </a:rPr>
                          </m:ctrlPr>
                        </m:funcPr>
                        <m:fName>
                          <m:limLow>
                            <m:limLowPr>
                              <m:ctrlPr>
                                <a:rPr lang="en-US" sz="2100" i="1">
                                  <a:latin typeface="Cambria Math" panose="02040503050406030204" pitchFamily="18" charset="0"/>
                                </a:rPr>
                              </m:ctrlPr>
                            </m:limLowPr>
                            <m:e>
                              <m:r>
                                <m:rPr>
                                  <m:sty m:val="p"/>
                                </m:rPr>
                                <a:rPr lang="en-US" sz="2100">
                                  <a:latin typeface="Cambria Math" panose="02040503050406030204" pitchFamily="18" charset="0"/>
                                </a:rPr>
                                <m:t>argmax</m:t>
                              </m:r>
                            </m:e>
                            <m:lim>
                              <m:sSub>
                                <m:sSubPr>
                                  <m:ctrlPr>
                                    <a:rPr lang="en-US" sz="2100" i="1">
                                      <a:latin typeface="Cambria Math" panose="02040503050406030204" pitchFamily="18" charset="0"/>
                                    </a:rPr>
                                  </m:ctrlPr>
                                </m:sSubPr>
                                <m:e>
                                  <m:r>
                                    <a:rPr lang="en-US" sz="2100" i="1">
                                      <a:latin typeface="Cambria Math" panose="02040503050406030204" pitchFamily="18" charset="0"/>
                                    </a:rPr>
                                    <m:t>𝑉</m:t>
                                  </m:r>
                                </m:e>
                                <m:sub>
                                  <m:r>
                                    <a:rPr lang="en-US" sz="2100" i="1">
                                      <a:latin typeface="Cambria Math" panose="02040503050406030204" pitchFamily="18" charset="0"/>
                                    </a:rPr>
                                    <m:t>𝑘</m:t>
                                  </m:r>
                                </m:sub>
                              </m:sSub>
                            </m:lim>
                          </m:limLow>
                        </m:fName>
                        <m:e>
                          <m:r>
                            <a:rPr lang="en-US" sz="2100" i="1">
                              <a:latin typeface="Cambria Math" panose="02040503050406030204" pitchFamily="18" charset="0"/>
                            </a:rPr>
                            <m:t>𝑙</m:t>
                          </m:r>
                          <m:d>
                            <m:dPr>
                              <m:ctrlPr>
                                <a:rPr lang="en-US" sz="2100" i="1">
                                  <a:latin typeface="Cambria Math" panose="02040503050406030204" pitchFamily="18" charset="0"/>
                                </a:rPr>
                              </m:ctrlPr>
                            </m:dPr>
                            <m:e>
                              <m:sSub>
                                <m:sSubPr>
                                  <m:ctrlPr>
                                    <a:rPr lang="en-US" sz="2100" i="1">
                                      <a:latin typeface="Cambria Math" panose="02040503050406030204" pitchFamily="18" charset="0"/>
                                    </a:rPr>
                                  </m:ctrlPr>
                                </m:sSubPr>
                                <m:e>
                                  <m:r>
                                    <a:rPr lang="en-US" sz="2100" b="1" i="1">
                                      <a:latin typeface="Cambria Math" panose="02040503050406030204" pitchFamily="18" charset="0"/>
                                    </a:rPr>
                                    <m:t>𝑿</m:t>
                                  </m:r>
                                </m:e>
                                <m:sub>
                                  <m:r>
                                    <a:rPr lang="en-US" sz="2100" i="1">
                                      <a:latin typeface="Cambria Math" panose="02040503050406030204" pitchFamily="18" charset="0"/>
                                    </a:rPr>
                                    <m:t>𝐾</m:t>
                                  </m:r>
                                </m:sub>
                              </m:sSub>
                            </m:e>
                          </m:d>
                          <m:r>
                            <a:rPr lang="en-US" sz="2100" b="0" i="1" smtClean="0">
                              <a:latin typeface="Cambria Math" panose="02040503050406030204" pitchFamily="18" charset="0"/>
                            </a:rPr>
                            <m:t>,</m:t>
                          </m:r>
                          <m:sSubSup>
                            <m:sSubSupPr>
                              <m:ctrlPr>
                                <a:rPr lang="en-US" sz="2100" i="1">
                                  <a:latin typeface="Cambria Math" panose="02040503050406030204" pitchFamily="18" charset="0"/>
                                </a:rPr>
                              </m:ctrlPr>
                            </m:sSubSupPr>
                            <m:e>
                              <m:r>
                                <m:rPr>
                                  <m:sty m:val="p"/>
                                </m:rPr>
                                <a:rPr lang="en-US" sz="2100">
                                  <a:latin typeface="Cambria Math" panose="02040503050406030204" pitchFamily="18" charset="0"/>
                                </a:rPr>
                                <m:t>Θ</m:t>
                              </m:r>
                            </m:e>
                            <m:sub>
                              <m:r>
                                <a:rPr lang="en-US" sz="2100" i="1">
                                  <a:latin typeface="Cambria Math" panose="02040503050406030204" pitchFamily="18" charset="0"/>
                                </a:rPr>
                                <m:t>𝑘</m:t>
                              </m:r>
                            </m:sub>
                            <m:sup>
                              <m:r>
                                <a:rPr lang="en-US" sz="2100" i="1">
                                  <a:latin typeface="Cambria Math" panose="02040503050406030204" pitchFamily="18" charset="0"/>
                                </a:rPr>
                                <m:t>∗</m:t>
                              </m:r>
                            </m:sup>
                          </m:sSubSup>
                          <m:r>
                            <a:rPr lang="en-US" sz="2100" i="1">
                              <a:latin typeface="Cambria Math" panose="02040503050406030204" pitchFamily="18" charset="0"/>
                            </a:rPr>
                            <m:t>=</m:t>
                          </m:r>
                          <m:func>
                            <m:funcPr>
                              <m:ctrlPr>
                                <a:rPr lang="en-US" sz="2100" i="1">
                                  <a:latin typeface="Cambria Math" panose="02040503050406030204" pitchFamily="18" charset="0"/>
                                </a:rPr>
                              </m:ctrlPr>
                            </m:funcPr>
                            <m:fName>
                              <m:limLow>
                                <m:limLowPr>
                                  <m:ctrlPr>
                                    <a:rPr lang="en-US" sz="2100" i="1">
                                      <a:latin typeface="Cambria Math" panose="02040503050406030204" pitchFamily="18" charset="0"/>
                                    </a:rPr>
                                  </m:ctrlPr>
                                </m:limLowPr>
                                <m:e>
                                  <m:r>
                                    <m:rPr>
                                      <m:sty m:val="p"/>
                                    </m:rPr>
                                    <a:rPr lang="en-US" sz="2100">
                                      <a:latin typeface="Cambria Math" panose="02040503050406030204" pitchFamily="18" charset="0"/>
                                    </a:rPr>
                                    <m:t>argmax</m:t>
                                  </m:r>
                                </m:e>
                                <m:lim>
                                  <m:sSub>
                                    <m:sSubPr>
                                      <m:ctrlPr>
                                        <a:rPr lang="en-US" sz="2100" i="1">
                                          <a:latin typeface="Cambria Math" panose="02040503050406030204" pitchFamily="18" charset="0"/>
                                        </a:rPr>
                                      </m:ctrlPr>
                                    </m:sSubPr>
                                    <m:e>
                                      <m:r>
                                        <m:rPr>
                                          <m:sty m:val="p"/>
                                        </m:rPr>
                                        <a:rPr lang="en-US" sz="2100">
                                          <a:latin typeface="Cambria Math" panose="02040503050406030204" pitchFamily="18" charset="0"/>
                                        </a:rPr>
                                        <m:t>Θ</m:t>
                                      </m:r>
                                    </m:e>
                                    <m:sub>
                                      <m:r>
                                        <a:rPr lang="en-US" sz="2100" i="1">
                                          <a:latin typeface="Cambria Math" panose="02040503050406030204" pitchFamily="18" charset="0"/>
                                        </a:rPr>
                                        <m:t>𝑘</m:t>
                                      </m:r>
                                    </m:sub>
                                  </m:sSub>
                                </m:lim>
                              </m:limLow>
                            </m:fName>
                            <m:e>
                              <m:r>
                                <a:rPr lang="en-US" sz="2100" i="1">
                                  <a:latin typeface="Cambria Math" panose="02040503050406030204" pitchFamily="18" charset="0"/>
                                </a:rPr>
                                <m:t>𝑙</m:t>
                              </m:r>
                              <m:d>
                                <m:dPr>
                                  <m:ctrlPr>
                                    <a:rPr lang="en-US" sz="2100" i="1">
                                      <a:latin typeface="Cambria Math" panose="02040503050406030204" pitchFamily="18" charset="0"/>
                                    </a:rPr>
                                  </m:ctrlPr>
                                </m:dPr>
                                <m:e>
                                  <m:sSub>
                                    <m:sSubPr>
                                      <m:ctrlPr>
                                        <a:rPr lang="en-US" sz="2100" i="1">
                                          <a:latin typeface="Cambria Math" panose="02040503050406030204" pitchFamily="18" charset="0"/>
                                        </a:rPr>
                                      </m:ctrlPr>
                                    </m:sSubPr>
                                    <m:e>
                                      <m:r>
                                        <a:rPr lang="en-US" sz="2100" b="1" i="1">
                                          <a:latin typeface="Cambria Math" panose="02040503050406030204" pitchFamily="18" charset="0"/>
                                        </a:rPr>
                                        <m:t>𝑿</m:t>
                                      </m:r>
                                    </m:e>
                                    <m:sub>
                                      <m:r>
                                        <a:rPr lang="en-US" sz="2100" i="1">
                                          <a:latin typeface="Cambria Math" panose="02040503050406030204" pitchFamily="18" charset="0"/>
                                        </a:rPr>
                                        <m:t>𝐾</m:t>
                                      </m:r>
                                    </m:sub>
                                  </m:sSub>
                                </m:e>
                              </m:d>
                            </m:e>
                          </m:func>
                        </m:e>
                      </m:func>
                    </m:oMath>
                  </m:oMathPara>
                </a14:m>
                <a:endParaRPr lang="en-US" sz="2100" dirty="0" smtClean="0"/>
              </a:p>
              <a:p>
                <a:pPr marL="0" indent="0">
                  <a:buNone/>
                </a:pPr>
                <a:endParaRPr lang="en-US" sz="21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1280" y="914399"/>
                <a:ext cx="12039600" cy="5176066"/>
              </a:xfrm>
              <a:blipFill>
                <a:blip r:embed="rId3"/>
                <a:stretch>
                  <a:fillRect l="-608" t="-824" r="-86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14</a:t>
            </a:fld>
            <a:endParaRPr lang="en-US"/>
          </a:p>
        </p:txBody>
      </p:sp>
    </p:spTree>
    <p:extLst>
      <p:ext uri="{BB962C8B-B14F-4D97-AF65-F5344CB8AC3E}">
        <p14:creationId xmlns:p14="http://schemas.microsoft.com/office/powerpoint/2010/main" val="10479718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network</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1120" y="914399"/>
                <a:ext cx="12029440" cy="5176066"/>
              </a:xfrm>
            </p:spPr>
            <p:txBody>
              <a:bodyPr>
                <a:noAutofit/>
              </a:bodyPr>
              <a:lstStyle/>
              <a:p>
                <a:pPr marL="0" indent="0">
                  <a:buNone/>
                </a:pPr>
                <a:r>
                  <a:rPr lang="en-US" sz="2300" dirty="0" smtClean="0">
                    <a:effectLst>
                      <a:outerShdw blurRad="38100" dist="38100" dir="2700000" algn="tl">
                        <a:srgbClr val="000000">
                          <a:alpha val="43137"/>
                        </a:srgbClr>
                      </a:outerShdw>
                    </a:effectLst>
                  </a:rPr>
                  <a:t>The </a:t>
                </a:r>
                <a:r>
                  <a:rPr lang="en-US" sz="2300" dirty="0">
                    <a:effectLst>
                      <a:outerShdw blurRad="38100" dist="38100" dir="2700000" algn="tl">
                        <a:srgbClr val="000000">
                          <a:alpha val="43137"/>
                        </a:srgbClr>
                      </a:outerShdw>
                    </a:effectLst>
                  </a:rPr>
                  <a:t>optimization problem is solved iteratively by association of </a:t>
                </a:r>
                <a:r>
                  <a:rPr lang="en-US" sz="2300" dirty="0" smtClean="0">
                    <a:effectLst>
                      <a:outerShdw blurRad="38100" dist="38100" dir="2700000" algn="tl">
                        <a:srgbClr val="000000">
                          <a:alpha val="43137"/>
                        </a:srgbClr>
                      </a:outerShdw>
                    </a:effectLst>
                  </a:rPr>
                  <a:t>stochastic gradient descent (SGD) </a:t>
                </a:r>
                <a:r>
                  <a:rPr lang="en-US" sz="2300" dirty="0">
                    <a:effectLst>
                      <a:outerShdw blurRad="38100" dist="38100" dir="2700000" algn="tl">
                        <a:srgbClr val="000000">
                          <a:alpha val="43137"/>
                        </a:srgbClr>
                      </a:outerShdw>
                    </a:effectLst>
                  </a:rPr>
                  <a:t>algorithm and backpropagation algorithm</a:t>
                </a:r>
                <a:r>
                  <a:rPr lang="en-US" sz="2300" dirty="0"/>
                  <a:t>. </a:t>
                </a:r>
                <a:r>
                  <a:rPr lang="en-US" sz="2300" dirty="0" smtClean="0"/>
                  <a:t>Particularly, parametric weight matrices </a:t>
                </a:r>
                <a:r>
                  <a:rPr lang="en-US" sz="2300" i="1" dirty="0" err="1"/>
                  <a:t>U</a:t>
                </a:r>
                <a:r>
                  <a:rPr lang="en-US" sz="2300" i="1" baseline="-25000" dirty="0" err="1"/>
                  <a:t>k</a:t>
                </a:r>
                <a:r>
                  <a:rPr lang="en-US" sz="2300" dirty="0"/>
                  <a:t>, </a:t>
                </a:r>
                <a:r>
                  <a:rPr lang="en-US" sz="2300" i="1" dirty="0" err="1"/>
                  <a:t>V</a:t>
                </a:r>
                <a:r>
                  <a:rPr lang="en-US" sz="2300" i="1" baseline="-25000" dirty="0" err="1"/>
                  <a:t>k</a:t>
                </a:r>
                <a:r>
                  <a:rPr lang="en-US" sz="2300" dirty="0"/>
                  <a:t> and parametric bias matrix </a:t>
                </a:r>
                <a:r>
                  <a:rPr lang="en-US" sz="2300" dirty="0" err="1"/>
                  <a:t>Θ</a:t>
                </a:r>
                <a:r>
                  <a:rPr lang="en-US" sz="2300" i="1" baseline="-25000" dirty="0" err="1"/>
                  <a:t>k</a:t>
                </a:r>
                <a:r>
                  <a:rPr lang="en-US" sz="2300" dirty="0"/>
                  <a:t> at </a:t>
                </a:r>
                <a:r>
                  <a:rPr lang="en-US" sz="2300" i="1" dirty="0"/>
                  <a:t>k</a:t>
                </a:r>
                <a:r>
                  <a:rPr lang="en-US" sz="2300" baseline="30000" dirty="0"/>
                  <a:t>th</a:t>
                </a:r>
                <a:r>
                  <a:rPr lang="en-US" sz="2300" dirty="0"/>
                  <a:t> layer are estimated iterative by SGD as follows</a:t>
                </a:r>
                <a:r>
                  <a:rPr lang="en-US" sz="2300" dirty="0" smtClean="0"/>
                  <a:t>:</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300" i="1">
                              <a:latin typeface="Cambria Math" panose="02040503050406030204" pitchFamily="18" charset="0"/>
                            </a:rPr>
                          </m:ctrlPr>
                        </m:mPr>
                        <m:mr>
                          <m:e>
                            <m:sSub>
                              <m:sSubPr>
                                <m:ctrlPr>
                                  <a:rPr lang="en-US" sz="2300" i="1">
                                    <a:latin typeface="Cambria Math" panose="02040503050406030204" pitchFamily="18" charset="0"/>
                                  </a:rPr>
                                </m:ctrlPr>
                              </m:sSubPr>
                              <m:e>
                                <m:r>
                                  <a:rPr lang="en-US" sz="2300" i="1">
                                    <a:latin typeface="Cambria Math" panose="02040503050406030204" pitchFamily="18" charset="0"/>
                                  </a:rPr>
                                  <m:t>𝑈</m:t>
                                </m:r>
                              </m:e>
                              <m:sub>
                                <m:r>
                                  <a:rPr lang="en-US" sz="2300" i="1">
                                    <a:latin typeface="Cambria Math" panose="02040503050406030204" pitchFamily="18" charset="0"/>
                                  </a:rPr>
                                  <m:t>𝑘</m:t>
                                </m:r>
                              </m:sub>
                            </m:sSub>
                            <m:r>
                              <a:rPr lang="en-US" sz="2300" i="1">
                                <a:latin typeface="Cambria Math" panose="02040503050406030204" pitchFamily="18" charset="0"/>
                              </a:rPr>
                              <m:t>=</m:t>
                            </m:r>
                            <m:sSub>
                              <m:sSubPr>
                                <m:ctrlPr>
                                  <a:rPr lang="en-US" sz="2300" i="1">
                                    <a:latin typeface="Cambria Math" panose="02040503050406030204" pitchFamily="18" charset="0"/>
                                  </a:rPr>
                                </m:ctrlPr>
                              </m:sSubPr>
                              <m:e>
                                <m:r>
                                  <a:rPr lang="en-US" sz="2300" i="1">
                                    <a:latin typeface="Cambria Math" panose="02040503050406030204" pitchFamily="18" charset="0"/>
                                  </a:rPr>
                                  <m:t>𝑈</m:t>
                                </m:r>
                              </m:e>
                              <m:sub>
                                <m:r>
                                  <a:rPr lang="en-US" sz="2300" i="1">
                                    <a:latin typeface="Cambria Math" panose="02040503050406030204" pitchFamily="18" charset="0"/>
                                  </a:rPr>
                                  <m:t>𝑘</m:t>
                                </m:r>
                              </m:sub>
                            </m:sSub>
                            <m:r>
                              <a:rPr lang="en-US" sz="2300" i="1">
                                <a:latin typeface="Cambria Math" panose="02040503050406030204" pitchFamily="18" charset="0"/>
                              </a:rPr>
                              <m:t>+</m:t>
                            </m:r>
                            <m:r>
                              <a:rPr lang="en-US" sz="2300" i="1">
                                <a:latin typeface="Cambria Math" panose="02040503050406030204" pitchFamily="18" charset="0"/>
                              </a:rPr>
                              <m:t>𝛾</m:t>
                            </m:r>
                            <m:sSub>
                              <m:sSubPr>
                                <m:ctrlPr>
                                  <a:rPr lang="en-US" sz="2300" i="1">
                                    <a:latin typeface="Cambria Math" panose="02040503050406030204" pitchFamily="18" charset="0"/>
                                  </a:rPr>
                                </m:ctrlPr>
                              </m:sSubPr>
                              <m:e>
                                <m:r>
                                  <a:rPr lang="en-US" sz="2300">
                                    <a:latin typeface="Cambria Math" panose="02040503050406030204" pitchFamily="18" charset="0"/>
                                  </a:rPr>
                                  <m:t>𝛻</m:t>
                                </m:r>
                              </m:e>
                              <m:sub>
                                <m:sSub>
                                  <m:sSubPr>
                                    <m:ctrlPr>
                                      <a:rPr lang="en-US" sz="2300" i="1">
                                        <a:latin typeface="Cambria Math" panose="02040503050406030204" pitchFamily="18" charset="0"/>
                                      </a:rPr>
                                    </m:ctrlPr>
                                  </m:sSubPr>
                                  <m:e>
                                    <m:r>
                                      <a:rPr lang="en-US" sz="2300" i="1">
                                        <a:latin typeface="Cambria Math" panose="02040503050406030204" pitchFamily="18" charset="0"/>
                                      </a:rPr>
                                      <m:t>𝑈</m:t>
                                    </m:r>
                                  </m:e>
                                  <m:sub>
                                    <m:r>
                                      <a:rPr lang="en-US" sz="2300" i="1">
                                        <a:latin typeface="Cambria Math" panose="02040503050406030204" pitchFamily="18" charset="0"/>
                                      </a:rPr>
                                      <m:t>𝑘</m:t>
                                    </m:r>
                                  </m:sub>
                                </m:sSub>
                              </m:sub>
                            </m:sSub>
                            <m:r>
                              <a:rPr lang="en-US" sz="2300" i="1">
                                <a:latin typeface="Cambria Math" panose="02040503050406030204" pitchFamily="18" charset="0"/>
                              </a:rPr>
                              <m:t>𝑙</m:t>
                            </m:r>
                          </m:e>
                        </m:mr>
                        <m:mr>
                          <m:e>
                            <m:sSub>
                              <m:sSubPr>
                                <m:ctrlPr>
                                  <a:rPr lang="en-US" sz="2300" i="1">
                                    <a:latin typeface="Cambria Math" panose="02040503050406030204" pitchFamily="18" charset="0"/>
                                  </a:rPr>
                                </m:ctrlPr>
                              </m:sSubPr>
                              <m:e>
                                <m:r>
                                  <a:rPr lang="en-US" sz="2300" i="1">
                                    <a:latin typeface="Cambria Math" panose="02040503050406030204" pitchFamily="18" charset="0"/>
                                  </a:rPr>
                                  <m:t>𝑉</m:t>
                                </m:r>
                              </m:e>
                              <m:sub>
                                <m:r>
                                  <a:rPr lang="en-US" sz="2300" i="1">
                                    <a:latin typeface="Cambria Math" panose="02040503050406030204" pitchFamily="18" charset="0"/>
                                  </a:rPr>
                                  <m:t>𝑘</m:t>
                                </m:r>
                              </m:sub>
                            </m:sSub>
                            <m:r>
                              <a:rPr lang="en-US" sz="2300" i="1">
                                <a:latin typeface="Cambria Math" panose="02040503050406030204" pitchFamily="18" charset="0"/>
                              </a:rPr>
                              <m:t>=</m:t>
                            </m:r>
                            <m:sSub>
                              <m:sSubPr>
                                <m:ctrlPr>
                                  <a:rPr lang="en-US" sz="2300" i="1">
                                    <a:latin typeface="Cambria Math" panose="02040503050406030204" pitchFamily="18" charset="0"/>
                                  </a:rPr>
                                </m:ctrlPr>
                              </m:sSubPr>
                              <m:e>
                                <m:r>
                                  <a:rPr lang="en-US" sz="2300" i="1">
                                    <a:latin typeface="Cambria Math" panose="02040503050406030204" pitchFamily="18" charset="0"/>
                                  </a:rPr>
                                  <m:t>𝑉</m:t>
                                </m:r>
                              </m:e>
                              <m:sub>
                                <m:r>
                                  <a:rPr lang="en-US" sz="2300" i="1">
                                    <a:latin typeface="Cambria Math" panose="02040503050406030204" pitchFamily="18" charset="0"/>
                                  </a:rPr>
                                  <m:t>𝑘</m:t>
                                </m:r>
                              </m:sub>
                            </m:sSub>
                            <m:r>
                              <a:rPr lang="en-US" sz="2300" i="1">
                                <a:latin typeface="Cambria Math" panose="02040503050406030204" pitchFamily="18" charset="0"/>
                              </a:rPr>
                              <m:t>+</m:t>
                            </m:r>
                            <m:r>
                              <a:rPr lang="en-US" sz="2300" i="1">
                                <a:latin typeface="Cambria Math" panose="02040503050406030204" pitchFamily="18" charset="0"/>
                              </a:rPr>
                              <m:t>𝛾</m:t>
                            </m:r>
                            <m:sSub>
                              <m:sSubPr>
                                <m:ctrlPr>
                                  <a:rPr lang="en-US" sz="2300" i="1">
                                    <a:latin typeface="Cambria Math" panose="02040503050406030204" pitchFamily="18" charset="0"/>
                                  </a:rPr>
                                </m:ctrlPr>
                              </m:sSubPr>
                              <m:e>
                                <m:r>
                                  <a:rPr lang="en-US" sz="2300">
                                    <a:latin typeface="Cambria Math" panose="02040503050406030204" pitchFamily="18" charset="0"/>
                                  </a:rPr>
                                  <m:t>𝛻</m:t>
                                </m:r>
                              </m:e>
                              <m:sub>
                                <m:sSub>
                                  <m:sSubPr>
                                    <m:ctrlPr>
                                      <a:rPr lang="en-US" sz="2300" i="1">
                                        <a:latin typeface="Cambria Math" panose="02040503050406030204" pitchFamily="18" charset="0"/>
                                      </a:rPr>
                                    </m:ctrlPr>
                                  </m:sSubPr>
                                  <m:e>
                                    <m:r>
                                      <a:rPr lang="en-US" sz="2300" i="1">
                                        <a:latin typeface="Cambria Math" panose="02040503050406030204" pitchFamily="18" charset="0"/>
                                      </a:rPr>
                                      <m:t>𝑉</m:t>
                                    </m:r>
                                  </m:e>
                                  <m:sub>
                                    <m:r>
                                      <a:rPr lang="en-US" sz="2300" i="1">
                                        <a:latin typeface="Cambria Math" panose="02040503050406030204" pitchFamily="18" charset="0"/>
                                      </a:rPr>
                                      <m:t>𝑘</m:t>
                                    </m:r>
                                  </m:sub>
                                </m:sSub>
                              </m:sub>
                            </m:sSub>
                            <m:r>
                              <a:rPr lang="en-US" sz="2300" i="1">
                                <a:latin typeface="Cambria Math" panose="02040503050406030204" pitchFamily="18" charset="0"/>
                              </a:rPr>
                              <m:t>𝑙</m:t>
                            </m:r>
                          </m:e>
                        </m:mr>
                        <m:mr>
                          <m:e>
                            <m:sSub>
                              <m:sSubPr>
                                <m:ctrlPr>
                                  <a:rPr lang="en-US" sz="2300" i="1">
                                    <a:latin typeface="Cambria Math" panose="02040503050406030204" pitchFamily="18" charset="0"/>
                                  </a:rPr>
                                </m:ctrlPr>
                              </m:sSubPr>
                              <m:e>
                                <m:r>
                                  <m:rPr>
                                    <m:sty m:val="p"/>
                                  </m:rPr>
                                  <a:rPr lang="en-US" sz="2300">
                                    <a:latin typeface="Cambria Math" panose="02040503050406030204" pitchFamily="18" charset="0"/>
                                  </a:rPr>
                                  <m:t>Θ</m:t>
                                </m:r>
                              </m:e>
                              <m:sub>
                                <m:r>
                                  <a:rPr lang="en-US" sz="2300" i="1">
                                    <a:latin typeface="Cambria Math" panose="02040503050406030204" pitchFamily="18" charset="0"/>
                                  </a:rPr>
                                  <m:t>𝑘</m:t>
                                </m:r>
                              </m:sub>
                            </m:sSub>
                            <m:r>
                              <a:rPr lang="en-US" sz="2300" i="1">
                                <a:latin typeface="Cambria Math" panose="02040503050406030204" pitchFamily="18" charset="0"/>
                              </a:rPr>
                              <m:t>=</m:t>
                            </m:r>
                            <m:sSub>
                              <m:sSubPr>
                                <m:ctrlPr>
                                  <a:rPr lang="en-US" sz="2300" i="1">
                                    <a:latin typeface="Cambria Math" panose="02040503050406030204" pitchFamily="18" charset="0"/>
                                  </a:rPr>
                                </m:ctrlPr>
                              </m:sSubPr>
                              <m:e>
                                <m:r>
                                  <m:rPr>
                                    <m:sty m:val="p"/>
                                  </m:rPr>
                                  <a:rPr lang="en-US" sz="2300">
                                    <a:latin typeface="Cambria Math" panose="02040503050406030204" pitchFamily="18" charset="0"/>
                                  </a:rPr>
                                  <m:t>Θ</m:t>
                                </m:r>
                              </m:e>
                              <m:sub>
                                <m:r>
                                  <a:rPr lang="en-US" sz="2300" i="1">
                                    <a:latin typeface="Cambria Math" panose="02040503050406030204" pitchFamily="18" charset="0"/>
                                  </a:rPr>
                                  <m:t>𝑘</m:t>
                                </m:r>
                              </m:sub>
                            </m:sSub>
                            <m:r>
                              <a:rPr lang="en-US" sz="2300" i="1">
                                <a:latin typeface="Cambria Math" panose="02040503050406030204" pitchFamily="18" charset="0"/>
                              </a:rPr>
                              <m:t>+</m:t>
                            </m:r>
                            <m:r>
                              <a:rPr lang="en-US" sz="2300" i="1">
                                <a:latin typeface="Cambria Math" panose="02040503050406030204" pitchFamily="18" charset="0"/>
                              </a:rPr>
                              <m:t>𝛾</m:t>
                            </m:r>
                            <m:sSub>
                              <m:sSubPr>
                                <m:ctrlPr>
                                  <a:rPr lang="en-US" sz="2300" i="1">
                                    <a:latin typeface="Cambria Math" panose="02040503050406030204" pitchFamily="18" charset="0"/>
                                  </a:rPr>
                                </m:ctrlPr>
                              </m:sSubPr>
                              <m:e>
                                <m:r>
                                  <a:rPr lang="en-US" sz="2300">
                                    <a:latin typeface="Cambria Math" panose="02040503050406030204" pitchFamily="18" charset="0"/>
                                  </a:rPr>
                                  <m:t>𝛻</m:t>
                                </m:r>
                              </m:e>
                              <m:sub>
                                <m:sSub>
                                  <m:sSubPr>
                                    <m:ctrlPr>
                                      <a:rPr lang="en-US" sz="2300" i="1">
                                        <a:latin typeface="Cambria Math" panose="02040503050406030204" pitchFamily="18" charset="0"/>
                                      </a:rPr>
                                    </m:ctrlPr>
                                  </m:sSubPr>
                                  <m:e>
                                    <m:r>
                                      <m:rPr>
                                        <m:sty m:val="p"/>
                                      </m:rPr>
                                      <a:rPr lang="en-US" sz="2300">
                                        <a:latin typeface="Cambria Math" panose="02040503050406030204" pitchFamily="18" charset="0"/>
                                      </a:rPr>
                                      <m:t>Θ</m:t>
                                    </m:r>
                                  </m:e>
                                  <m:sub>
                                    <m:r>
                                      <a:rPr lang="en-US" sz="2300" i="1">
                                        <a:latin typeface="Cambria Math" panose="02040503050406030204" pitchFamily="18" charset="0"/>
                                      </a:rPr>
                                      <m:t>𝑘</m:t>
                                    </m:r>
                                  </m:sub>
                                </m:sSub>
                              </m:sub>
                            </m:sSub>
                            <m:r>
                              <a:rPr lang="en-US" sz="2300" i="1">
                                <a:latin typeface="Cambria Math" panose="02040503050406030204" pitchFamily="18" charset="0"/>
                              </a:rPr>
                              <m:t>𝑙</m:t>
                            </m:r>
                          </m:e>
                        </m:mr>
                      </m:m>
                      <m:r>
                        <a:rPr lang="en-US" sz="2300" i="1">
                          <a:latin typeface="Cambria Math" panose="02040503050406030204" pitchFamily="18" charset="0"/>
                        </a:rPr>
                        <m:t>,∀</m:t>
                      </m:r>
                      <m:r>
                        <a:rPr lang="en-US" sz="2300" i="1">
                          <a:latin typeface="Cambria Math" panose="02040503050406030204" pitchFamily="18" charset="0"/>
                        </a:rPr>
                        <m:t>𝑘</m:t>
                      </m:r>
                      <m:r>
                        <a:rPr lang="en-US" sz="2300" i="1">
                          <a:latin typeface="Cambria Math" panose="02040503050406030204" pitchFamily="18" charset="0"/>
                        </a:rPr>
                        <m:t>=</m:t>
                      </m:r>
                      <m:acc>
                        <m:accPr>
                          <m:chr m:val="̅"/>
                          <m:ctrlPr>
                            <a:rPr lang="en-US" sz="2300" i="1">
                              <a:latin typeface="Cambria Math" panose="02040503050406030204" pitchFamily="18" charset="0"/>
                            </a:rPr>
                          </m:ctrlPr>
                        </m:accPr>
                        <m:e>
                          <m:r>
                            <a:rPr lang="en-US" sz="2300" i="1">
                              <a:latin typeface="Cambria Math" panose="02040503050406030204" pitchFamily="18" charset="0"/>
                            </a:rPr>
                            <m:t>1,</m:t>
                          </m:r>
                          <m:r>
                            <a:rPr lang="en-US" sz="2300" i="1">
                              <a:latin typeface="Cambria Math" panose="02040503050406030204" pitchFamily="18" charset="0"/>
                            </a:rPr>
                            <m:t>𝐾</m:t>
                          </m:r>
                        </m:e>
                      </m:acc>
                    </m:oMath>
                  </m:oMathPara>
                </a14:m>
                <a:endParaRPr lang="en-US" sz="2300" dirty="0" smtClean="0"/>
              </a:p>
              <a:p>
                <a:pPr marL="0" indent="0">
                  <a:buNone/>
                </a:pPr>
                <a:r>
                  <a:rPr lang="en-US" sz="2300" dirty="0" smtClean="0"/>
                  <a:t>Note, </a:t>
                </a:r>
                <a14:m>
                  <m:oMath xmlns:m="http://schemas.openxmlformats.org/officeDocument/2006/math">
                    <m:sSub>
                      <m:sSubPr>
                        <m:ctrlPr>
                          <a:rPr lang="en-US" sz="2300" i="1">
                            <a:latin typeface="Cambria Math" panose="02040503050406030204" pitchFamily="18" charset="0"/>
                          </a:rPr>
                        </m:ctrlPr>
                      </m:sSubPr>
                      <m:e>
                        <m:r>
                          <a:rPr lang="en-US" sz="2300">
                            <a:latin typeface="Cambria Math" panose="02040503050406030204" pitchFamily="18" charset="0"/>
                          </a:rPr>
                          <m:t>𝛻</m:t>
                        </m:r>
                      </m:e>
                      <m:sub>
                        <m:sSub>
                          <m:sSubPr>
                            <m:ctrlPr>
                              <a:rPr lang="en-US" sz="2300" i="1">
                                <a:latin typeface="Cambria Math" panose="02040503050406030204" pitchFamily="18" charset="0"/>
                              </a:rPr>
                            </m:ctrlPr>
                          </m:sSubPr>
                          <m:e>
                            <m:r>
                              <a:rPr lang="en-US" sz="2300" i="1">
                                <a:latin typeface="Cambria Math" panose="02040503050406030204" pitchFamily="18" charset="0"/>
                              </a:rPr>
                              <m:t>𝑈</m:t>
                            </m:r>
                          </m:e>
                          <m:sub>
                            <m:r>
                              <a:rPr lang="en-US" sz="2300" i="1">
                                <a:latin typeface="Cambria Math" panose="02040503050406030204" pitchFamily="18" charset="0"/>
                              </a:rPr>
                              <m:t>𝑘</m:t>
                            </m:r>
                          </m:sub>
                        </m:sSub>
                      </m:sub>
                    </m:sSub>
                    <m:r>
                      <a:rPr lang="en-US" sz="2300" i="1">
                        <a:latin typeface="Cambria Math" panose="02040503050406030204" pitchFamily="18" charset="0"/>
                      </a:rPr>
                      <m:t>𝑙</m:t>
                    </m:r>
                  </m:oMath>
                </a14:m>
                <a:r>
                  <a:rPr lang="en-US" sz="2300" dirty="0"/>
                  <a:t>, </a:t>
                </a:r>
                <a14:m>
                  <m:oMath xmlns:m="http://schemas.openxmlformats.org/officeDocument/2006/math">
                    <m:sSub>
                      <m:sSubPr>
                        <m:ctrlPr>
                          <a:rPr lang="en-US" sz="2300" i="1">
                            <a:latin typeface="Cambria Math" panose="02040503050406030204" pitchFamily="18" charset="0"/>
                          </a:rPr>
                        </m:ctrlPr>
                      </m:sSubPr>
                      <m:e>
                        <m:r>
                          <a:rPr lang="en-US" sz="2300">
                            <a:latin typeface="Cambria Math" panose="02040503050406030204" pitchFamily="18" charset="0"/>
                          </a:rPr>
                          <m:t>𝛻</m:t>
                        </m:r>
                      </m:e>
                      <m:sub>
                        <m:sSub>
                          <m:sSubPr>
                            <m:ctrlPr>
                              <a:rPr lang="en-US" sz="2300" i="1">
                                <a:latin typeface="Cambria Math" panose="02040503050406030204" pitchFamily="18" charset="0"/>
                              </a:rPr>
                            </m:ctrlPr>
                          </m:sSubPr>
                          <m:e>
                            <m:r>
                              <a:rPr lang="en-US" sz="2300" i="1">
                                <a:latin typeface="Cambria Math" panose="02040503050406030204" pitchFamily="18" charset="0"/>
                              </a:rPr>
                              <m:t>𝑉</m:t>
                            </m:r>
                          </m:e>
                          <m:sub>
                            <m:r>
                              <a:rPr lang="en-US" sz="2300" i="1">
                                <a:latin typeface="Cambria Math" panose="02040503050406030204" pitchFamily="18" charset="0"/>
                              </a:rPr>
                              <m:t>𝑘</m:t>
                            </m:r>
                          </m:sub>
                        </m:sSub>
                      </m:sub>
                    </m:sSub>
                    <m:r>
                      <a:rPr lang="en-US" sz="2300" i="1">
                        <a:latin typeface="Cambria Math" panose="02040503050406030204" pitchFamily="18" charset="0"/>
                      </a:rPr>
                      <m:t>𝑙</m:t>
                    </m:r>
                  </m:oMath>
                </a14:m>
                <a:r>
                  <a:rPr lang="en-US" sz="2300" dirty="0"/>
                  <a:t>, and </a:t>
                </a:r>
                <a14:m>
                  <m:oMath xmlns:m="http://schemas.openxmlformats.org/officeDocument/2006/math">
                    <m:sSub>
                      <m:sSubPr>
                        <m:ctrlPr>
                          <a:rPr lang="en-US" sz="2300" i="1">
                            <a:latin typeface="Cambria Math" panose="02040503050406030204" pitchFamily="18" charset="0"/>
                          </a:rPr>
                        </m:ctrlPr>
                      </m:sSubPr>
                      <m:e>
                        <m:r>
                          <a:rPr lang="en-US" sz="2300">
                            <a:latin typeface="Cambria Math" panose="02040503050406030204" pitchFamily="18" charset="0"/>
                          </a:rPr>
                          <m:t>𝛻</m:t>
                        </m:r>
                      </m:e>
                      <m:sub>
                        <m:sSub>
                          <m:sSubPr>
                            <m:ctrlPr>
                              <a:rPr lang="en-US" sz="2300" i="1">
                                <a:latin typeface="Cambria Math" panose="02040503050406030204" pitchFamily="18" charset="0"/>
                              </a:rPr>
                            </m:ctrlPr>
                          </m:sSubPr>
                          <m:e>
                            <m:r>
                              <m:rPr>
                                <m:sty m:val="p"/>
                              </m:rPr>
                              <a:rPr lang="en-US" sz="2300">
                                <a:latin typeface="Cambria Math" panose="02040503050406030204" pitchFamily="18" charset="0"/>
                              </a:rPr>
                              <m:t>Θ</m:t>
                            </m:r>
                          </m:e>
                          <m:sub>
                            <m:r>
                              <a:rPr lang="en-US" sz="2300" i="1">
                                <a:latin typeface="Cambria Math" panose="02040503050406030204" pitchFamily="18" charset="0"/>
                              </a:rPr>
                              <m:t>𝑘</m:t>
                            </m:r>
                          </m:sub>
                        </m:sSub>
                      </m:sub>
                    </m:sSub>
                    <m:r>
                      <a:rPr lang="en-US" sz="2300" i="1">
                        <a:latin typeface="Cambria Math" panose="02040503050406030204" pitchFamily="18" charset="0"/>
                      </a:rPr>
                      <m:t>𝑙</m:t>
                    </m:r>
                  </m:oMath>
                </a14:m>
                <a:r>
                  <a:rPr lang="en-US" sz="2300" dirty="0"/>
                  <a:t> are gradients </a:t>
                </a:r>
                <a:r>
                  <a:rPr lang="en-US" sz="2300" dirty="0" smtClean="0"/>
                  <a:t>(first-order derivatives) of </a:t>
                </a:r>
                <a:r>
                  <a:rPr lang="en-US" sz="2300" dirty="0"/>
                  <a:t>likelihood </a:t>
                </a:r>
                <a:r>
                  <a:rPr lang="en-US" sz="2300" i="1" dirty="0"/>
                  <a:t>l</a:t>
                </a:r>
                <a:r>
                  <a:rPr lang="en-US" sz="2300" dirty="0"/>
                  <a:t>(</a:t>
                </a:r>
                <a:r>
                  <a:rPr lang="en-US" sz="2300" b="1" i="1" dirty="0"/>
                  <a:t>X</a:t>
                </a:r>
                <a:r>
                  <a:rPr lang="en-US" sz="2300" i="1" baseline="-25000" dirty="0"/>
                  <a:t>K</a:t>
                </a:r>
                <a:r>
                  <a:rPr lang="en-US" sz="2300" dirty="0"/>
                  <a:t>) with respect to </a:t>
                </a:r>
                <a:r>
                  <a:rPr lang="en-US" sz="2300" dirty="0" smtClean="0"/>
                  <a:t>parametric weights </a:t>
                </a:r>
                <a:r>
                  <a:rPr lang="en-US" sz="2300" i="1" dirty="0" err="1" smtClean="0"/>
                  <a:t>U</a:t>
                </a:r>
                <a:r>
                  <a:rPr lang="en-US" sz="2300" i="1" baseline="-25000" dirty="0" err="1" smtClean="0"/>
                  <a:t>k</a:t>
                </a:r>
                <a:r>
                  <a:rPr lang="en-US" sz="2300" dirty="0"/>
                  <a:t>, </a:t>
                </a:r>
                <a:r>
                  <a:rPr lang="en-US" sz="2300" i="1" dirty="0" err="1"/>
                  <a:t>V</a:t>
                </a:r>
                <a:r>
                  <a:rPr lang="en-US" sz="2300" i="1" baseline="-25000" dirty="0" err="1"/>
                  <a:t>k</a:t>
                </a:r>
                <a:r>
                  <a:rPr lang="en-US" sz="2300" dirty="0"/>
                  <a:t>, and </a:t>
                </a:r>
                <a:r>
                  <a:rPr lang="en-US" sz="2300" dirty="0" smtClean="0"/>
                  <a:t>parametric bias </a:t>
                </a:r>
                <a:r>
                  <a:rPr lang="en-US" sz="2300" dirty="0" err="1" smtClean="0"/>
                  <a:t>Θ</a:t>
                </a:r>
                <a:r>
                  <a:rPr lang="en-US" sz="2300" i="1" baseline="-25000" dirty="0" err="1" smtClean="0"/>
                  <a:t>k</a:t>
                </a:r>
                <a:r>
                  <a:rPr lang="en-US" sz="2300" dirty="0"/>
                  <a:t>, </a:t>
                </a:r>
                <a:r>
                  <a:rPr lang="en-US" sz="2300" dirty="0" smtClean="0"/>
                  <a:t>respectively.</a:t>
                </a:r>
                <a:r>
                  <a:rPr lang="en-US" sz="2300" dirty="0"/>
                  <a:t> Therefore, how to train MNN is essentially to calculate </a:t>
                </a:r>
                <a:r>
                  <a:rPr lang="en-US" sz="2300" dirty="0" smtClean="0"/>
                  <a:t>these gradients.</a:t>
                </a:r>
                <a:r>
                  <a:rPr lang="en-US" sz="2300" dirty="0"/>
                  <a:t> Because high dimensions of gradients related to tensors, </a:t>
                </a:r>
                <a:r>
                  <a:rPr lang="en-US" sz="2300" i="1" dirty="0"/>
                  <a:t>vectorization</a:t>
                </a:r>
                <a:r>
                  <a:rPr lang="en-US" sz="2300" dirty="0"/>
                  <a:t> technique </a:t>
                </a:r>
                <a:r>
                  <a:rPr lang="en-US" sz="2300" dirty="0" err="1" smtClean="0"/>
                  <a:t>vec</a:t>
                </a:r>
                <a:r>
                  <a:rPr lang="en-US" sz="2300" dirty="0" smtClean="0"/>
                  <a:t>(.) is </a:t>
                </a:r>
                <a:r>
                  <a:rPr lang="en-US" sz="2300" dirty="0"/>
                  <a:t>applied into calculating these gradients so that matrix gradients are equivalent to vector </a:t>
                </a:r>
                <a:r>
                  <a:rPr lang="en-US" sz="2300" dirty="0" smtClean="0"/>
                  <a:t>gradients.</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300" i="1">
                              <a:latin typeface="Cambria Math" panose="02040503050406030204" pitchFamily="18" charset="0"/>
                            </a:rPr>
                          </m:ctrlPr>
                        </m:mPr>
                        <m:mr>
                          <m:e>
                            <m:sSub>
                              <m:sSubPr>
                                <m:ctrlPr>
                                  <a:rPr lang="en-US" sz="2300" i="1">
                                    <a:latin typeface="Cambria Math" panose="02040503050406030204" pitchFamily="18" charset="0"/>
                                  </a:rPr>
                                </m:ctrlPr>
                              </m:sSubPr>
                              <m:e>
                                <m:r>
                                  <a:rPr lang="en-US" sz="2300">
                                    <a:latin typeface="Cambria Math" panose="02040503050406030204" pitchFamily="18" charset="0"/>
                                  </a:rPr>
                                  <m:t>𝛻</m:t>
                                </m:r>
                              </m:e>
                              <m:sub>
                                <m:sSub>
                                  <m:sSubPr>
                                    <m:ctrlPr>
                                      <a:rPr lang="en-US" sz="2300" i="1">
                                        <a:latin typeface="Cambria Math" panose="02040503050406030204" pitchFamily="18" charset="0"/>
                                      </a:rPr>
                                    </m:ctrlPr>
                                  </m:sSubPr>
                                  <m:e>
                                    <m:r>
                                      <a:rPr lang="en-US" sz="2300" i="1">
                                        <a:latin typeface="Cambria Math" panose="02040503050406030204" pitchFamily="18" charset="0"/>
                                      </a:rPr>
                                      <m:t>𝑈</m:t>
                                    </m:r>
                                  </m:e>
                                  <m:sub>
                                    <m:r>
                                      <a:rPr lang="en-US" sz="2300" i="1">
                                        <a:latin typeface="Cambria Math" panose="02040503050406030204" pitchFamily="18" charset="0"/>
                                      </a:rPr>
                                      <m:t>𝑘</m:t>
                                    </m:r>
                                  </m:sub>
                                </m:sSub>
                              </m:sub>
                            </m:sSub>
                            <m:r>
                              <a:rPr lang="en-US" sz="2300" i="1">
                                <a:latin typeface="Cambria Math" panose="02040503050406030204" pitchFamily="18" charset="0"/>
                              </a:rPr>
                              <m:t>𝑙</m:t>
                            </m:r>
                            <m:r>
                              <a:rPr lang="en-US" sz="2300" i="1">
                                <a:latin typeface="Cambria Math" panose="02040503050406030204" pitchFamily="18" charset="0"/>
                              </a:rPr>
                              <m:t>≡</m:t>
                            </m:r>
                            <m:sSub>
                              <m:sSubPr>
                                <m:ctrlPr>
                                  <a:rPr lang="en-US" sz="2300" i="1">
                                    <a:latin typeface="Cambria Math" panose="02040503050406030204" pitchFamily="18" charset="0"/>
                                  </a:rPr>
                                </m:ctrlPr>
                              </m:sSubPr>
                              <m:e>
                                <m:r>
                                  <a:rPr lang="en-US" sz="2300">
                                    <a:latin typeface="Cambria Math" panose="02040503050406030204" pitchFamily="18" charset="0"/>
                                  </a:rPr>
                                  <m:t>𝛻</m:t>
                                </m:r>
                              </m:e>
                              <m:sub>
                                <m:sSub>
                                  <m:sSubPr>
                                    <m:ctrlPr>
                                      <a:rPr lang="en-US" sz="2300" i="1">
                                        <a:latin typeface="Cambria Math" panose="02040503050406030204" pitchFamily="18" charset="0"/>
                                      </a:rPr>
                                    </m:ctrlPr>
                                  </m:sSubPr>
                                  <m:e>
                                    <m:r>
                                      <a:rPr lang="en-US" sz="2300" i="1">
                                        <a:latin typeface="Cambria Math" panose="02040503050406030204" pitchFamily="18" charset="0"/>
                                      </a:rPr>
                                      <m:t>𝑈</m:t>
                                    </m:r>
                                  </m:e>
                                  <m:sub>
                                    <m:r>
                                      <a:rPr lang="en-US" sz="2300" i="1">
                                        <a:latin typeface="Cambria Math" panose="02040503050406030204" pitchFamily="18" charset="0"/>
                                      </a:rPr>
                                      <m:t>𝑘</m:t>
                                    </m:r>
                                  </m:sub>
                                </m:sSub>
                              </m:sub>
                            </m:sSub>
                            <m:r>
                              <m:rPr>
                                <m:sty m:val="p"/>
                              </m:rPr>
                              <a:rPr lang="en-US" sz="2300">
                                <a:latin typeface="Cambria Math" panose="02040503050406030204" pitchFamily="18" charset="0"/>
                              </a:rPr>
                              <m:t>vec</m:t>
                            </m:r>
                            <m:d>
                              <m:dPr>
                                <m:ctrlPr>
                                  <a:rPr lang="en-US" sz="2300" i="1">
                                    <a:latin typeface="Cambria Math" panose="02040503050406030204" pitchFamily="18" charset="0"/>
                                  </a:rPr>
                                </m:ctrlPr>
                              </m:dPr>
                              <m:e>
                                <m:r>
                                  <a:rPr lang="en-US" sz="2300" i="1">
                                    <a:latin typeface="Cambria Math" panose="02040503050406030204" pitchFamily="18" charset="0"/>
                                  </a:rPr>
                                  <m:t>𝑙</m:t>
                                </m:r>
                              </m:e>
                            </m:d>
                          </m:e>
                        </m:mr>
                        <m:mr>
                          <m:e>
                            <m:sSub>
                              <m:sSubPr>
                                <m:ctrlPr>
                                  <a:rPr lang="en-US" sz="2300" i="1">
                                    <a:latin typeface="Cambria Math" panose="02040503050406030204" pitchFamily="18" charset="0"/>
                                  </a:rPr>
                                </m:ctrlPr>
                              </m:sSubPr>
                              <m:e>
                                <m:r>
                                  <a:rPr lang="en-US" sz="2300">
                                    <a:latin typeface="Cambria Math" panose="02040503050406030204" pitchFamily="18" charset="0"/>
                                  </a:rPr>
                                  <m:t>𝛻</m:t>
                                </m:r>
                              </m:e>
                              <m:sub>
                                <m:sSub>
                                  <m:sSubPr>
                                    <m:ctrlPr>
                                      <a:rPr lang="en-US" sz="2300" i="1">
                                        <a:latin typeface="Cambria Math" panose="02040503050406030204" pitchFamily="18" charset="0"/>
                                      </a:rPr>
                                    </m:ctrlPr>
                                  </m:sSubPr>
                                  <m:e>
                                    <m:r>
                                      <a:rPr lang="en-US" sz="2300" i="1">
                                        <a:latin typeface="Cambria Math" panose="02040503050406030204" pitchFamily="18" charset="0"/>
                                      </a:rPr>
                                      <m:t>𝑉</m:t>
                                    </m:r>
                                  </m:e>
                                  <m:sub>
                                    <m:r>
                                      <a:rPr lang="en-US" sz="2300" i="1">
                                        <a:latin typeface="Cambria Math" panose="02040503050406030204" pitchFamily="18" charset="0"/>
                                      </a:rPr>
                                      <m:t>𝑘</m:t>
                                    </m:r>
                                  </m:sub>
                                </m:sSub>
                              </m:sub>
                            </m:sSub>
                            <m:r>
                              <a:rPr lang="en-US" sz="2300" i="1">
                                <a:latin typeface="Cambria Math" panose="02040503050406030204" pitchFamily="18" charset="0"/>
                              </a:rPr>
                              <m:t>𝑙</m:t>
                            </m:r>
                            <m:r>
                              <a:rPr lang="en-US" sz="2300" i="1">
                                <a:latin typeface="Cambria Math" panose="02040503050406030204" pitchFamily="18" charset="0"/>
                              </a:rPr>
                              <m:t>≡</m:t>
                            </m:r>
                            <m:sSub>
                              <m:sSubPr>
                                <m:ctrlPr>
                                  <a:rPr lang="en-US" sz="2300" i="1">
                                    <a:latin typeface="Cambria Math" panose="02040503050406030204" pitchFamily="18" charset="0"/>
                                  </a:rPr>
                                </m:ctrlPr>
                              </m:sSubPr>
                              <m:e>
                                <m:r>
                                  <a:rPr lang="en-US" sz="2300">
                                    <a:latin typeface="Cambria Math" panose="02040503050406030204" pitchFamily="18" charset="0"/>
                                  </a:rPr>
                                  <m:t>𝛻</m:t>
                                </m:r>
                              </m:e>
                              <m:sub>
                                <m:sSub>
                                  <m:sSubPr>
                                    <m:ctrlPr>
                                      <a:rPr lang="en-US" sz="2300" i="1">
                                        <a:latin typeface="Cambria Math" panose="02040503050406030204" pitchFamily="18" charset="0"/>
                                      </a:rPr>
                                    </m:ctrlPr>
                                  </m:sSubPr>
                                  <m:e>
                                    <m:r>
                                      <a:rPr lang="en-US" sz="2300" i="1">
                                        <a:latin typeface="Cambria Math" panose="02040503050406030204" pitchFamily="18" charset="0"/>
                                      </a:rPr>
                                      <m:t>𝑉</m:t>
                                    </m:r>
                                  </m:e>
                                  <m:sub>
                                    <m:r>
                                      <a:rPr lang="en-US" sz="2300" i="1">
                                        <a:latin typeface="Cambria Math" panose="02040503050406030204" pitchFamily="18" charset="0"/>
                                      </a:rPr>
                                      <m:t>𝑘</m:t>
                                    </m:r>
                                  </m:sub>
                                </m:sSub>
                              </m:sub>
                            </m:sSub>
                            <m:r>
                              <m:rPr>
                                <m:sty m:val="p"/>
                              </m:rPr>
                              <a:rPr lang="en-US" sz="2300">
                                <a:latin typeface="Cambria Math" panose="02040503050406030204" pitchFamily="18" charset="0"/>
                              </a:rPr>
                              <m:t>vec</m:t>
                            </m:r>
                            <m:d>
                              <m:dPr>
                                <m:ctrlPr>
                                  <a:rPr lang="en-US" sz="2300" i="1">
                                    <a:latin typeface="Cambria Math" panose="02040503050406030204" pitchFamily="18" charset="0"/>
                                  </a:rPr>
                                </m:ctrlPr>
                              </m:dPr>
                              <m:e>
                                <m:r>
                                  <a:rPr lang="en-US" sz="2300" i="1">
                                    <a:latin typeface="Cambria Math" panose="02040503050406030204" pitchFamily="18" charset="0"/>
                                  </a:rPr>
                                  <m:t>𝑙</m:t>
                                </m:r>
                              </m:e>
                            </m:d>
                          </m:e>
                        </m:mr>
                        <m:mr>
                          <m:e>
                            <m:sSub>
                              <m:sSubPr>
                                <m:ctrlPr>
                                  <a:rPr lang="en-US" sz="2300" i="1">
                                    <a:latin typeface="Cambria Math" panose="02040503050406030204" pitchFamily="18" charset="0"/>
                                  </a:rPr>
                                </m:ctrlPr>
                              </m:sSubPr>
                              <m:e>
                                <m:r>
                                  <a:rPr lang="en-US" sz="2300">
                                    <a:latin typeface="Cambria Math" panose="02040503050406030204" pitchFamily="18" charset="0"/>
                                  </a:rPr>
                                  <m:t>𝛻</m:t>
                                </m:r>
                              </m:e>
                              <m:sub>
                                <m:sSub>
                                  <m:sSubPr>
                                    <m:ctrlPr>
                                      <a:rPr lang="en-US" sz="2300" i="1">
                                        <a:latin typeface="Cambria Math" panose="02040503050406030204" pitchFamily="18" charset="0"/>
                                      </a:rPr>
                                    </m:ctrlPr>
                                  </m:sSubPr>
                                  <m:e>
                                    <m:r>
                                      <m:rPr>
                                        <m:sty m:val="p"/>
                                      </m:rPr>
                                      <a:rPr lang="en-US" sz="2300">
                                        <a:latin typeface="Cambria Math" panose="02040503050406030204" pitchFamily="18" charset="0"/>
                                      </a:rPr>
                                      <m:t>Θ</m:t>
                                    </m:r>
                                  </m:e>
                                  <m:sub>
                                    <m:r>
                                      <a:rPr lang="en-US" sz="2300" i="1">
                                        <a:latin typeface="Cambria Math" panose="02040503050406030204" pitchFamily="18" charset="0"/>
                                      </a:rPr>
                                      <m:t>𝑘</m:t>
                                    </m:r>
                                  </m:sub>
                                </m:sSub>
                              </m:sub>
                            </m:sSub>
                            <m:r>
                              <a:rPr lang="en-US" sz="2300" i="1">
                                <a:latin typeface="Cambria Math" panose="02040503050406030204" pitchFamily="18" charset="0"/>
                              </a:rPr>
                              <m:t>𝑙</m:t>
                            </m:r>
                            <m:r>
                              <a:rPr lang="en-US" sz="2300" i="1">
                                <a:latin typeface="Cambria Math" panose="02040503050406030204" pitchFamily="18" charset="0"/>
                              </a:rPr>
                              <m:t>≡</m:t>
                            </m:r>
                            <m:sSub>
                              <m:sSubPr>
                                <m:ctrlPr>
                                  <a:rPr lang="en-US" sz="2300" i="1">
                                    <a:latin typeface="Cambria Math" panose="02040503050406030204" pitchFamily="18" charset="0"/>
                                  </a:rPr>
                                </m:ctrlPr>
                              </m:sSubPr>
                              <m:e>
                                <m:r>
                                  <a:rPr lang="en-US" sz="2300">
                                    <a:latin typeface="Cambria Math" panose="02040503050406030204" pitchFamily="18" charset="0"/>
                                  </a:rPr>
                                  <m:t>𝛻</m:t>
                                </m:r>
                              </m:e>
                              <m:sub>
                                <m:sSub>
                                  <m:sSubPr>
                                    <m:ctrlPr>
                                      <a:rPr lang="en-US" sz="2300" i="1">
                                        <a:latin typeface="Cambria Math" panose="02040503050406030204" pitchFamily="18" charset="0"/>
                                      </a:rPr>
                                    </m:ctrlPr>
                                  </m:sSubPr>
                                  <m:e>
                                    <m:r>
                                      <m:rPr>
                                        <m:sty m:val="p"/>
                                      </m:rPr>
                                      <a:rPr lang="en-US" sz="2300">
                                        <a:latin typeface="Cambria Math" panose="02040503050406030204" pitchFamily="18" charset="0"/>
                                      </a:rPr>
                                      <m:t>Θ</m:t>
                                    </m:r>
                                  </m:e>
                                  <m:sub>
                                    <m:r>
                                      <a:rPr lang="en-US" sz="2300" i="1">
                                        <a:latin typeface="Cambria Math" panose="02040503050406030204" pitchFamily="18" charset="0"/>
                                      </a:rPr>
                                      <m:t>𝑘</m:t>
                                    </m:r>
                                  </m:sub>
                                </m:sSub>
                              </m:sub>
                            </m:sSub>
                            <m:r>
                              <m:rPr>
                                <m:sty m:val="p"/>
                              </m:rPr>
                              <a:rPr lang="en-US" sz="2300">
                                <a:latin typeface="Cambria Math" panose="02040503050406030204" pitchFamily="18" charset="0"/>
                              </a:rPr>
                              <m:t>vec</m:t>
                            </m:r>
                            <m:d>
                              <m:dPr>
                                <m:ctrlPr>
                                  <a:rPr lang="en-US" sz="2300" i="1">
                                    <a:latin typeface="Cambria Math" panose="02040503050406030204" pitchFamily="18" charset="0"/>
                                  </a:rPr>
                                </m:ctrlPr>
                              </m:dPr>
                              <m:e>
                                <m:r>
                                  <a:rPr lang="en-US" sz="2300" i="1">
                                    <a:latin typeface="Cambria Math" panose="02040503050406030204" pitchFamily="18" charset="0"/>
                                  </a:rPr>
                                  <m:t>𝑙</m:t>
                                </m:r>
                              </m:e>
                            </m:d>
                          </m:e>
                        </m:mr>
                      </m:m>
                      <m:r>
                        <a:rPr lang="en-US" sz="2300" i="1">
                          <a:latin typeface="Cambria Math" panose="02040503050406030204" pitchFamily="18" charset="0"/>
                        </a:rPr>
                        <m:t>,∀</m:t>
                      </m:r>
                      <m:r>
                        <a:rPr lang="en-US" sz="2300" i="1">
                          <a:latin typeface="Cambria Math" panose="02040503050406030204" pitchFamily="18" charset="0"/>
                        </a:rPr>
                        <m:t>𝑘</m:t>
                      </m:r>
                      <m:r>
                        <a:rPr lang="en-US" sz="2300" i="1">
                          <a:latin typeface="Cambria Math" panose="02040503050406030204" pitchFamily="18" charset="0"/>
                        </a:rPr>
                        <m:t>=</m:t>
                      </m:r>
                      <m:acc>
                        <m:accPr>
                          <m:chr m:val="̅"/>
                          <m:ctrlPr>
                            <a:rPr lang="en-US" sz="2300" i="1">
                              <a:latin typeface="Cambria Math" panose="02040503050406030204" pitchFamily="18" charset="0"/>
                            </a:rPr>
                          </m:ctrlPr>
                        </m:accPr>
                        <m:e>
                          <m:r>
                            <a:rPr lang="en-US" sz="2300" i="1">
                              <a:latin typeface="Cambria Math" panose="02040503050406030204" pitchFamily="18" charset="0"/>
                            </a:rPr>
                            <m:t>1,</m:t>
                          </m:r>
                          <m:r>
                            <a:rPr lang="en-US" sz="2300" i="1">
                              <a:latin typeface="Cambria Math" panose="02040503050406030204" pitchFamily="18" charset="0"/>
                            </a:rPr>
                            <m:t>𝐾</m:t>
                          </m:r>
                        </m:e>
                      </m:acc>
                    </m:oMath>
                  </m:oMathPara>
                </a14:m>
                <a:endParaRPr lang="en-US" sz="2300" dirty="0"/>
              </a:p>
              <a:p>
                <a:endParaRPr lang="en-US" sz="23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1120" y="914399"/>
                <a:ext cx="12029440" cy="5176066"/>
              </a:xfrm>
              <a:blipFill>
                <a:blip r:embed="rId2"/>
                <a:stretch>
                  <a:fillRect l="-811" t="-1060" r="-963" b="-1296"/>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15</a:t>
            </a:fld>
            <a:endParaRPr lang="en-US"/>
          </a:p>
        </p:txBody>
      </p:sp>
    </p:spTree>
    <p:extLst>
      <p:ext uri="{BB962C8B-B14F-4D97-AF65-F5344CB8AC3E}">
        <p14:creationId xmlns:p14="http://schemas.microsoft.com/office/powerpoint/2010/main" val="12350319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a:t>
            </a:r>
            <a:r>
              <a:rPr lang="en-US" dirty="0" smtClean="0"/>
              <a:t>network (</a:t>
            </a:r>
            <a:r>
              <a:rPr lang="en-US" b="1" dirty="0" smtClean="0"/>
              <a:t>skip</a:t>
            </a:r>
            <a:r>
              <a:rPr lang="en-US" dirty="0" smtClean="0"/>
              <a: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1280" y="914399"/>
                <a:ext cx="12009120" cy="5176066"/>
              </a:xfrm>
            </p:spPr>
            <p:txBody>
              <a:bodyPr>
                <a:noAutofit/>
              </a:bodyPr>
              <a:lstStyle/>
              <a:p>
                <a:pPr marL="0" indent="0">
                  <a:buNone/>
                </a:pPr>
                <a:r>
                  <a:rPr lang="en-US" sz="1850" dirty="0" smtClean="0"/>
                  <a:t>Differential </a:t>
                </a:r>
                <a:r>
                  <a:rPr lang="en-US" sz="1850" i="1" dirty="0"/>
                  <a:t>dl</a:t>
                </a:r>
                <a:r>
                  <a:rPr lang="en-US" sz="1850" dirty="0"/>
                  <a:t> of likelihood with respect to </a:t>
                </a:r>
                <a:r>
                  <a:rPr lang="en-US" sz="1850" b="1" i="1" dirty="0"/>
                  <a:t>X</a:t>
                </a:r>
                <a:r>
                  <a:rPr lang="en-US" sz="1850" i="1" baseline="-25000" dirty="0"/>
                  <a:t>K</a:t>
                </a:r>
                <a:r>
                  <a:rPr lang="en-US" sz="1850" baseline="-25000" dirty="0"/>
                  <a:t>–1</a:t>
                </a:r>
                <a:r>
                  <a:rPr lang="en-US" sz="1850" dirty="0"/>
                  <a:t> within vectorization is</a:t>
                </a:r>
                <a:r>
                  <a:rPr lang="en-US" sz="1850" dirty="0" smtClean="0"/>
                  <a:t>:</a:t>
                </a:r>
              </a:p>
              <a:p>
                <a:pPr marL="0" indent="0">
                  <a:buNone/>
                </a:pPr>
                <a14:m>
                  <m:oMathPara xmlns:m="http://schemas.openxmlformats.org/officeDocument/2006/math">
                    <m:oMathParaPr>
                      <m:jc m:val="centerGroup"/>
                    </m:oMathParaPr>
                    <m:oMath xmlns:m="http://schemas.openxmlformats.org/officeDocument/2006/math">
                      <m:r>
                        <a:rPr lang="en-US" sz="1850" i="1">
                          <a:latin typeface="Cambria Math" panose="02040503050406030204" pitchFamily="18" charset="0"/>
                        </a:rPr>
                        <m:t>𝑑</m:t>
                      </m:r>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r>
                            <a:rPr lang="en-US" sz="1850" i="1">
                              <a:latin typeface="Cambria Math" panose="02040503050406030204" pitchFamily="18" charset="0"/>
                            </a:rPr>
                            <m:t>𝑙</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e>
                          </m:d>
                        </m:e>
                      </m:d>
                      <m:r>
                        <a:rPr lang="en-US" sz="1850" i="1">
                          <a:latin typeface="Cambria Math" panose="02040503050406030204" pitchFamily="18" charset="0"/>
                        </a:rPr>
                        <m:t>=</m:t>
                      </m:r>
                      <m:r>
                        <a:rPr lang="en-US" sz="1850" i="1">
                          <a:latin typeface="Cambria Math" panose="02040503050406030204" pitchFamily="18" charset="0"/>
                        </a:rPr>
                        <m:t>𝑑𝑙</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e>
                      </m:d>
                      <m:r>
                        <a:rPr lang="en-US" sz="1850" i="1">
                          <a:latin typeface="Cambria Math" panose="02040503050406030204" pitchFamily="18" charset="0"/>
                        </a:rPr>
                        <m:t>=</m:t>
                      </m:r>
                      <m:r>
                        <a:rPr lang="en-US" sz="1850" i="1">
                          <a:latin typeface="Cambria Math" panose="02040503050406030204" pitchFamily="18" charset="0"/>
                        </a:rPr>
                        <m:t>𝑑𝑙</m:t>
                      </m:r>
                      <m:d>
                        <m:dPr>
                          <m:ctrlPr>
                            <a:rPr lang="en-US" sz="1850" i="1">
                              <a:latin typeface="Cambria Math" panose="02040503050406030204" pitchFamily="18" charset="0"/>
                            </a:rPr>
                          </m:ctrlPr>
                        </m:dPr>
                        <m:e>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e>
                          </m:d>
                        </m:e>
                      </m:d>
                      <m:r>
                        <a:rPr lang="en-US" sz="1850" b="0" i="1" smtClean="0">
                          <a:latin typeface="Cambria Math" panose="02040503050406030204" pitchFamily="18" charset="0"/>
                        </a:rPr>
                        <m:t>=</m:t>
                      </m:r>
                      <m:r>
                        <m:rPr>
                          <m:sty m:val="p"/>
                        </m:rPr>
                        <a:rPr lang="en-US" sz="1850">
                          <a:latin typeface="Cambria Math" panose="02040503050406030204" pitchFamily="18" charset="0"/>
                        </a:rPr>
                        <m:t>tr</m:t>
                      </m:r>
                      <m:d>
                        <m:dPr>
                          <m:ctrlPr>
                            <a:rPr lang="en-US" sz="1850" i="1">
                              <a:latin typeface="Cambria Math" panose="02040503050406030204" pitchFamily="18" charset="0"/>
                            </a:rPr>
                          </m:ctrlPr>
                        </m:dPr>
                        <m:e>
                          <m:sSup>
                            <m:sSupPr>
                              <m:ctrlPr>
                                <a:rPr lang="en-US" sz="1850" i="1">
                                  <a:latin typeface="Cambria Math" panose="02040503050406030204" pitchFamily="18" charset="0"/>
                                </a:rPr>
                              </m:ctrlPr>
                            </m:sSupPr>
                            <m:e>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b="1" i="1">
                                          <a:latin typeface="Cambria Math" panose="02040503050406030204" pitchFamily="18" charset="0"/>
                                        </a:rPr>
                                        <m:t>𝑿</m:t>
                                      </m:r>
                                    </m:e>
                                    <m:sub>
                                      <m:r>
                                        <a:rPr lang="en-US" sz="1850" i="1">
                                          <a:latin typeface="Cambria Math" panose="02040503050406030204" pitchFamily="18" charset="0"/>
                                        </a:rPr>
                                        <m:t>𝐾</m:t>
                                      </m:r>
                                    </m:sub>
                                    <m:sup>
                                      <m:r>
                                        <a:rPr lang="en-US" sz="1850" i="1">
                                          <a:latin typeface="Cambria Math" panose="02040503050406030204" pitchFamily="18" charset="0"/>
                                        </a:rPr>
                                        <m:t>′</m:t>
                                      </m:r>
                                    </m:sup>
                                  </m:sSubSup>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e>
                              </m:d>
                            </m:e>
                            <m:sup>
                              <m:r>
                                <a:rPr lang="en-US" sz="1850" i="1">
                                  <a:latin typeface="Cambria Math" panose="02040503050406030204" pitchFamily="18" charset="0"/>
                                </a:rPr>
                                <m:t>𝑇</m:t>
                              </m:r>
                            </m:sup>
                          </m:sSup>
                          <m:sSubSup>
                            <m:sSubSupPr>
                              <m:ctrlPr>
                                <a:rPr lang="en-US" sz="1850" i="1">
                                  <a:latin typeface="Cambria Math" panose="02040503050406030204" pitchFamily="18" charset="0"/>
                                </a:rPr>
                              </m:ctrlPr>
                            </m:sSubSupPr>
                            <m:e>
                              <m:r>
                                <a:rPr lang="en-US" sz="1850" i="1">
                                  <a:latin typeface="Cambria Math" panose="02040503050406030204" pitchFamily="18" charset="0"/>
                                </a:rPr>
                                <m:t>𝑓</m:t>
                              </m:r>
                            </m:e>
                            <m:sub>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sub>
                            <m:sup>
                              <m:r>
                                <a:rPr lang="en-US" sz="1850" i="1">
                                  <a:latin typeface="Cambria Math" panose="02040503050406030204" pitchFamily="18" charset="0"/>
                                </a:rPr>
                                <m:t>′</m:t>
                              </m:r>
                            </m:sup>
                          </m:sSubSup>
                          <m:d>
                            <m:dPr>
                              <m:ctrlPr>
                                <a:rPr lang="en-US" sz="1850" i="1">
                                  <a:latin typeface="Cambria Math" panose="02040503050406030204" pitchFamily="18" charset="0"/>
                                </a:rPr>
                              </m:ctrlPr>
                            </m:dPr>
                            <m:e>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acc>
                                        <m:accPr>
                                          <m:chr m:val="̂"/>
                                          <m:ctrlPr>
                                            <a:rPr lang="en-US" sz="1850" i="1">
                                              <a:latin typeface="Cambria Math" panose="02040503050406030204" pitchFamily="18" charset="0"/>
                                            </a:rPr>
                                          </m:ctrlPr>
                                        </m:accPr>
                                        <m:e>
                                          <m:r>
                                            <a:rPr lang="en-US" sz="1850" b="1" i="1">
                                              <a:latin typeface="Cambria Math" panose="02040503050406030204" pitchFamily="18" charset="0"/>
                                            </a:rPr>
                                            <m:t>𝑿</m:t>
                                          </m:r>
                                        </m:e>
                                      </m:acc>
                                    </m:e>
                                    <m:sub>
                                      <m:r>
                                        <a:rPr lang="en-US" sz="1850" i="1">
                                          <a:latin typeface="Cambria Math" panose="02040503050406030204" pitchFamily="18" charset="0"/>
                                        </a:rPr>
                                        <m:t>𝐾</m:t>
                                      </m:r>
                                      <m:r>
                                        <a:rPr lang="en-US" sz="1850" i="1">
                                          <a:latin typeface="Cambria Math" panose="02040503050406030204" pitchFamily="18" charset="0"/>
                                        </a:rPr>
                                        <m:t>−1</m:t>
                                      </m:r>
                                    </m:sub>
                                  </m:sSub>
                                </m:e>
                              </m:d>
                            </m:e>
                          </m:d>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i="1">
                                      <a:latin typeface="Cambria Math" panose="02040503050406030204" pitchFamily="18" charset="0"/>
                                    </a:rPr>
                                    <m:t>𝑉</m:t>
                                  </m:r>
                                </m:e>
                                <m:sub>
                                  <m:r>
                                    <a:rPr lang="en-US" sz="1850" i="1">
                                      <a:latin typeface="Cambria Math" panose="02040503050406030204" pitchFamily="18" charset="0"/>
                                    </a:rPr>
                                    <m:t>𝐾</m:t>
                                  </m:r>
                                </m:sub>
                                <m:sup>
                                  <m:r>
                                    <a:rPr lang="en-US" sz="1850" i="1">
                                      <a:latin typeface="Cambria Math" panose="02040503050406030204" pitchFamily="18" charset="0"/>
                                    </a:rPr>
                                    <m:t>𝑇</m:t>
                                  </m:r>
                                </m:sup>
                              </m:sSubSup>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i="1">
                                      <a:latin typeface="Cambria Math" panose="02040503050406030204" pitchFamily="18" charset="0"/>
                                    </a:rPr>
                                    <m:t>𝑈</m:t>
                                  </m:r>
                                </m:e>
                                <m:sub>
                                  <m:r>
                                    <a:rPr lang="en-US" sz="1850" i="1">
                                      <a:latin typeface="Cambria Math" panose="02040503050406030204" pitchFamily="18" charset="0"/>
                                    </a:rPr>
                                    <m:t>𝐾</m:t>
                                  </m:r>
                                </m:sub>
                              </m:sSub>
                            </m:e>
                          </m:d>
                          <m:r>
                            <a:rPr lang="en-US" sz="1850" i="1">
                              <a:latin typeface="Cambria Math" panose="02040503050406030204" pitchFamily="18" charset="0"/>
                            </a:rPr>
                            <m:t>𝑑</m:t>
                          </m:r>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r>
                                    <a:rPr lang="en-US" sz="1850" i="1">
                                      <a:latin typeface="Cambria Math" panose="02040503050406030204" pitchFamily="18" charset="0"/>
                                    </a:rPr>
                                    <m:t>−1</m:t>
                                  </m:r>
                                </m:sub>
                              </m:sSub>
                            </m:e>
                          </m:d>
                        </m:e>
                      </m:d>
                    </m:oMath>
                  </m:oMathPara>
                </a14:m>
                <a:endParaRPr lang="en-US" sz="1850" dirty="0" smtClean="0"/>
              </a:p>
              <a:p>
                <a:pPr marL="0" indent="0">
                  <a:buNone/>
                </a:pPr>
                <a:r>
                  <a:rPr lang="en-US" sz="1850" dirty="0" smtClean="0"/>
                  <a:t>Where </a:t>
                </a:r>
                <a:r>
                  <a:rPr lang="en-US" sz="1850" dirty="0"/>
                  <a:t>the notation </a:t>
                </a:r>
                <a14:m>
                  <m:oMath xmlns:m="http://schemas.openxmlformats.org/officeDocument/2006/math">
                    <m:r>
                      <a:rPr lang="en-US" sz="1850" i="1">
                        <a:latin typeface="Cambria Math" panose="02040503050406030204" pitchFamily="18" charset="0"/>
                      </a:rPr>
                      <m:t>⨂</m:t>
                    </m:r>
                  </m:oMath>
                </a14:m>
                <a:r>
                  <a:rPr lang="en-US" sz="1850" dirty="0"/>
                  <a:t> denotes </a:t>
                </a:r>
                <a:r>
                  <a:rPr lang="en-US" sz="1850" dirty="0" err="1"/>
                  <a:t>Kronecker</a:t>
                </a:r>
                <a:r>
                  <a:rPr lang="en-US" sz="1850" dirty="0"/>
                  <a:t> </a:t>
                </a:r>
                <a:r>
                  <a:rPr lang="en-US" sz="1850" dirty="0" smtClean="0"/>
                  <a:t>product and the notation </a:t>
                </a:r>
                <a:r>
                  <a:rPr lang="en-US" sz="1850" dirty="0" err="1" smtClean="0"/>
                  <a:t>tr</a:t>
                </a:r>
                <a:r>
                  <a:rPr lang="en-US" sz="1850" dirty="0" smtClean="0"/>
                  <a:t>(.) denotes trace operator of square matrix. Due to </a:t>
                </a:r>
                <a14:m>
                  <m:oMath xmlns:m="http://schemas.openxmlformats.org/officeDocument/2006/math">
                    <m:r>
                      <a:rPr lang="en-US" sz="1850" i="1">
                        <a:latin typeface="Cambria Math" panose="02040503050406030204" pitchFamily="18" charset="0"/>
                      </a:rPr>
                      <m:t>𝑑</m:t>
                    </m:r>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r>
                          <a:rPr lang="en-US" sz="1850" i="1">
                            <a:latin typeface="Cambria Math" panose="02040503050406030204" pitchFamily="18" charset="0"/>
                          </a:rPr>
                          <m:t>𝑓</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acc>
                                  <m:accPr>
                                    <m:chr m:val="̂"/>
                                    <m:ctrlPr>
                                      <a:rPr lang="en-US" sz="1850" i="1">
                                        <a:latin typeface="Cambria Math" panose="02040503050406030204" pitchFamily="18" charset="0"/>
                                      </a:rPr>
                                    </m:ctrlPr>
                                  </m:accPr>
                                  <m:e>
                                    <m:r>
                                      <a:rPr lang="en-US" sz="1850" b="1" i="1">
                                        <a:latin typeface="Cambria Math" panose="02040503050406030204" pitchFamily="18" charset="0"/>
                                      </a:rPr>
                                      <m:t>𝑿</m:t>
                                    </m:r>
                                  </m:e>
                                </m:acc>
                              </m:e>
                              <m:sub>
                                <m:r>
                                  <a:rPr lang="en-US" sz="1850" i="1">
                                    <a:latin typeface="Cambria Math" panose="02040503050406030204" pitchFamily="18" charset="0"/>
                                  </a:rPr>
                                  <m:t>𝐾</m:t>
                                </m:r>
                                <m:r>
                                  <a:rPr lang="en-US" sz="1850" i="1">
                                    <a:latin typeface="Cambria Math" panose="02040503050406030204" pitchFamily="18" charset="0"/>
                                  </a:rPr>
                                  <m:t>−1</m:t>
                                </m:r>
                              </m:sub>
                            </m:sSub>
                          </m:e>
                        </m:d>
                      </m:e>
                    </m:d>
                    <m:r>
                      <a:rPr lang="en-US" sz="1850" i="1">
                        <a:latin typeface="Cambria Math" panose="02040503050406030204" pitchFamily="18" charset="0"/>
                      </a:rPr>
                      <m:t>=</m:t>
                    </m:r>
                    <m:sSubSup>
                      <m:sSubSupPr>
                        <m:ctrlPr>
                          <a:rPr lang="en-US" sz="1850" i="1">
                            <a:latin typeface="Cambria Math" panose="02040503050406030204" pitchFamily="18" charset="0"/>
                          </a:rPr>
                        </m:ctrlPr>
                      </m:sSubSupPr>
                      <m:e>
                        <m:r>
                          <a:rPr lang="en-US" sz="1850" i="1">
                            <a:latin typeface="Cambria Math" panose="02040503050406030204" pitchFamily="18" charset="0"/>
                          </a:rPr>
                          <m:t>𝑓</m:t>
                        </m:r>
                      </m:e>
                      <m:sub>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sub>
                      <m:sup>
                        <m:r>
                          <a:rPr lang="en-US" sz="1850" i="1">
                            <a:latin typeface="Cambria Math" panose="02040503050406030204" pitchFamily="18" charset="0"/>
                          </a:rPr>
                          <m:t>′</m:t>
                        </m:r>
                      </m:sup>
                    </m:sSubSup>
                    <m:d>
                      <m:dPr>
                        <m:ctrlPr>
                          <a:rPr lang="en-US" sz="1850" i="1">
                            <a:latin typeface="Cambria Math" panose="02040503050406030204" pitchFamily="18" charset="0"/>
                          </a:rPr>
                        </m:ctrlPr>
                      </m:dPr>
                      <m:e>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acc>
                                  <m:accPr>
                                    <m:chr m:val="̂"/>
                                    <m:ctrlPr>
                                      <a:rPr lang="en-US" sz="1850" i="1">
                                        <a:latin typeface="Cambria Math" panose="02040503050406030204" pitchFamily="18" charset="0"/>
                                      </a:rPr>
                                    </m:ctrlPr>
                                  </m:accPr>
                                  <m:e>
                                    <m:r>
                                      <a:rPr lang="en-US" sz="1850" b="1" i="1">
                                        <a:latin typeface="Cambria Math" panose="02040503050406030204" pitchFamily="18" charset="0"/>
                                      </a:rPr>
                                      <m:t>𝑿</m:t>
                                    </m:r>
                                  </m:e>
                                </m:acc>
                              </m:e>
                              <m:sub>
                                <m:r>
                                  <a:rPr lang="en-US" sz="1850" i="1">
                                    <a:latin typeface="Cambria Math" panose="02040503050406030204" pitchFamily="18" charset="0"/>
                                  </a:rPr>
                                  <m:t>𝐾</m:t>
                                </m:r>
                                <m:r>
                                  <a:rPr lang="en-US" sz="1850" i="1">
                                    <a:latin typeface="Cambria Math" panose="02040503050406030204" pitchFamily="18" charset="0"/>
                                  </a:rPr>
                                  <m:t>−1</m:t>
                                </m:r>
                              </m:sub>
                            </m:sSub>
                          </m:e>
                        </m:d>
                      </m:e>
                    </m:d>
                    <m:r>
                      <a:rPr lang="en-US" sz="1850" i="1">
                        <a:latin typeface="Cambria Math" panose="02040503050406030204" pitchFamily="18" charset="0"/>
                      </a:rPr>
                      <m:t>𝑑</m:t>
                    </m:r>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m:rPr>
                                <m:sty m:val="p"/>
                              </m:rPr>
                              <a:rPr lang="en-US" sz="1850">
                                <a:latin typeface="Cambria Math" panose="02040503050406030204" pitchFamily="18" charset="0"/>
                              </a:rPr>
                              <m:t>Θ</m:t>
                            </m:r>
                          </m:e>
                          <m:sub>
                            <m:r>
                              <a:rPr lang="en-US" sz="1850" i="1">
                                <a:latin typeface="Cambria Math" panose="02040503050406030204" pitchFamily="18" charset="0"/>
                              </a:rPr>
                              <m:t>𝐾</m:t>
                            </m:r>
                          </m:sub>
                        </m:sSub>
                      </m:e>
                    </m:d>
                  </m:oMath>
                </a14:m>
                <a:r>
                  <a:rPr lang="en-US" sz="1850" dirty="0" smtClean="0"/>
                  <a:t>, likelihood </a:t>
                </a:r>
                <a:r>
                  <a:rPr lang="en-US" sz="1850" dirty="0"/>
                  <a:t>differential </a:t>
                </a:r>
                <a:r>
                  <a:rPr lang="en-US" sz="1850" i="1" dirty="0"/>
                  <a:t>dl</a:t>
                </a:r>
                <a:r>
                  <a:rPr lang="en-US" sz="1850" dirty="0"/>
                  <a:t> with respect to last bias parameter Θ</a:t>
                </a:r>
                <a:r>
                  <a:rPr lang="en-US" sz="1850" i="1" baseline="-25000" dirty="0"/>
                  <a:t>K</a:t>
                </a:r>
                <a:r>
                  <a:rPr lang="en-US" sz="1850" dirty="0"/>
                  <a:t> </a:t>
                </a:r>
                <a:r>
                  <a:rPr lang="en-US" sz="1850" dirty="0" smtClean="0"/>
                  <a:t>is </a:t>
                </a:r>
                <a14:m>
                  <m:oMath xmlns:m="http://schemas.openxmlformats.org/officeDocument/2006/math">
                    <m:r>
                      <a:rPr lang="en-US" sz="1850" i="1">
                        <a:latin typeface="Cambria Math" panose="02040503050406030204" pitchFamily="18" charset="0"/>
                      </a:rPr>
                      <m:t>𝑑</m:t>
                    </m:r>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r>
                          <a:rPr lang="en-US" sz="1850" i="1">
                            <a:latin typeface="Cambria Math" panose="02040503050406030204" pitchFamily="18" charset="0"/>
                          </a:rPr>
                          <m:t>𝑙</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e>
                        </m:d>
                      </m:e>
                    </m:d>
                    <m:r>
                      <a:rPr lang="en-US" sz="1850" i="1">
                        <a:latin typeface="Cambria Math" panose="02040503050406030204" pitchFamily="18" charset="0"/>
                      </a:rPr>
                      <m:t>=</m:t>
                    </m:r>
                    <m:r>
                      <m:rPr>
                        <m:sty m:val="p"/>
                      </m:rPr>
                      <a:rPr lang="en-US" sz="1850">
                        <a:latin typeface="Cambria Math" panose="02040503050406030204" pitchFamily="18" charset="0"/>
                      </a:rPr>
                      <m:t>tr</m:t>
                    </m:r>
                    <m:d>
                      <m:dPr>
                        <m:ctrlPr>
                          <a:rPr lang="en-US" sz="1850" i="1">
                            <a:latin typeface="Cambria Math" panose="02040503050406030204" pitchFamily="18" charset="0"/>
                          </a:rPr>
                        </m:ctrlPr>
                      </m:dPr>
                      <m:e>
                        <m:sSup>
                          <m:sSupPr>
                            <m:ctrlPr>
                              <a:rPr lang="en-US" sz="1850" i="1">
                                <a:latin typeface="Cambria Math" panose="02040503050406030204" pitchFamily="18" charset="0"/>
                              </a:rPr>
                            </m:ctrlPr>
                          </m:sSupPr>
                          <m:e>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b="1" i="1">
                                        <a:latin typeface="Cambria Math" panose="02040503050406030204" pitchFamily="18" charset="0"/>
                                      </a:rPr>
                                      <m:t>𝑿</m:t>
                                    </m:r>
                                  </m:e>
                                  <m:sub>
                                    <m:r>
                                      <a:rPr lang="en-US" sz="1850" i="1">
                                        <a:latin typeface="Cambria Math" panose="02040503050406030204" pitchFamily="18" charset="0"/>
                                      </a:rPr>
                                      <m:t>𝐾</m:t>
                                    </m:r>
                                  </m:sub>
                                  <m:sup>
                                    <m:r>
                                      <a:rPr lang="en-US" sz="1850" i="1">
                                        <a:latin typeface="Cambria Math" panose="02040503050406030204" pitchFamily="18" charset="0"/>
                                      </a:rPr>
                                      <m:t>′</m:t>
                                    </m:r>
                                  </m:sup>
                                </m:sSubSup>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e>
                            </m:d>
                          </m:e>
                          <m:sup>
                            <m:r>
                              <a:rPr lang="en-US" sz="1850" i="1">
                                <a:latin typeface="Cambria Math" panose="02040503050406030204" pitchFamily="18" charset="0"/>
                              </a:rPr>
                              <m:t>𝑇</m:t>
                            </m:r>
                          </m:sup>
                        </m:sSup>
                        <m:sSubSup>
                          <m:sSubSupPr>
                            <m:ctrlPr>
                              <a:rPr lang="en-US" sz="1850" i="1">
                                <a:latin typeface="Cambria Math" panose="02040503050406030204" pitchFamily="18" charset="0"/>
                              </a:rPr>
                            </m:ctrlPr>
                          </m:sSubSupPr>
                          <m:e>
                            <m:r>
                              <a:rPr lang="en-US" sz="1850" i="1">
                                <a:latin typeface="Cambria Math" panose="02040503050406030204" pitchFamily="18" charset="0"/>
                              </a:rPr>
                              <m:t>𝑓</m:t>
                            </m:r>
                          </m:e>
                          <m:sub>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sub>
                          <m:sup>
                            <m:r>
                              <a:rPr lang="en-US" sz="1850" i="1">
                                <a:latin typeface="Cambria Math" panose="02040503050406030204" pitchFamily="18" charset="0"/>
                              </a:rPr>
                              <m:t>′</m:t>
                            </m:r>
                          </m:sup>
                        </m:sSubSup>
                        <m:d>
                          <m:dPr>
                            <m:ctrlPr>
                              <a:rPr lang="en-US" sz="1850" i="1">
                                <a:latin typeface="Cambria Math" panose="02040503050406030204" pitchFamily="18" charset="0"/>
                              </a:rPr>
                            </m:ctrlPr>
                          </m:dPr>
                          <m:e>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acc>
                                      <m:accPr>
                                        <m:chr m:val="̂"/>
                                        <m:ctrlPr>
                                          <a:rPr lang="en-US" sz="1850" i="1">
                                            <a:latin typeface="Cambria Math" panose="02040503050406030204" pitchFamily="18" charset="0"/>
                                          </a:rPr>
                                        </m:ctrlPr>
                                      </m:accPr>
                                      <m:e>
                                        <m:r>
                                          <a:rPr lang="en-US" sz="1850" b="1" i="1">
                                            <a:latin typeface="Cambria Math" panose="02040503050406030204" pitchFamily="18" charset="0"/>
                                          </a:rPr>
                                          <m:t>𝑿</m:t>
                                        </m:r>
                                      </m:e>
                                    </m:acc>
                                  </m:e>
                                  <m:sub>
                                    <m:r>
                                      <a:rPr lang="en-US" sz="1850" i="1">
                                        <a:latin typeface="Cambria Math" panose="02040503050406030204" pitchFamily="18" charset="0"/>
                                      </a:rPr>
                                      <m:t>𝐾</m:t>
                                    </m:r>
                                    <m:r>
                                      <a:rPr lang="en-US" sz="1850" i="1">
                                        <a:latin typeface="Cambria Math" panose="02040503050406030204" pitchFamily="18" charset="0"/>
                                      </a:rPr>
                                      <m:t>−1</m:t>
                                    </m:r>
                                  </m:sub>
                                </m:sSub>
                              </m:e>
                            </m:d>
                          </m:e>
                        </m:d>
                        <m:r>
                          <a:rPr lang="en-US" sz="1850" i="1">
                            <a:latin typeface="Cambria Math" panose="02040503050406030204" pitchFamily="18" charset="0"/>
                          </a:rPr>
                          <m:t>𝑑</m:t>
                        </m:r>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m:rPr>
                                    <m:sty m:val="p"/>
                                  </m:rPr>
                                  <a:rPr lang="en-US" sz="1850">
                                    <a:latin typeface="Cambria Math" panose="02040503050406030204" pitchFamily="18" charset="0"/>
                                  </a:rPr>
                                  <m:t>Θ</m:t>
                                </m:r>
                              </m:e>
                              <m:sub>
                                <m:r>
                                  <a:rPr lang="en-US" sz="1850" i="1">
                                    <a:latin typeface="Cambria Math" panose="02040503050406030204" pitchFamily="18" charset="0"/>
                                  </a:rPr>
                                  <m:t>𝐾</m:t>
                                </m:r>
                              </m:sub>
                            </m:sSub>
                          </m:e>
                        </m:d>
                      </m:e>
                    </m:d>
                  </m:oMath>
                </a14:m>
                <a:r>
                  <a:rPr lang="en-US" sz="1850" dirty="0" smtClean="0"/>
                  <a:t> so that </a:t>
                </a:r>
                <a:r>
                  <a:rPr lang="en-US" sz="1850" dirty="0"/>
                  <a:t>the gradient of last bias parameter Θ</a:t>
                </a:r>
                <a:r>
                  <a:rPr lang="en-US" sz="1850" i="1" baseline="-25000" dirty="0"/>
                  <a:t>K</a:t>
                </a:r>
                <a:r>
                  <a:rPr lang="en-US" sz="1850" dirty="0"/>
                  <a:t> is</a:t>
                </a:r>
                <a:r>
                  <a:rPr lang="en-US" sz="1850" dirty="0" smtClean="0"/>
                  <a:t>:</a:t>
                </a:r>
              </a:p>
              <a:p>
                <a:pPr marL="0" indent="0">
                  <a:buNone/>
                </a:pPr>
                <a14:m>
                  <m:oMathPara xmlns:m="http://schemas.openxmlformats.org/officeDocument/2006/math">
                    <m:oMathParaPr>
                      <m:jc m:val="centerGroup"/>
                    </m:oMathParaPr>
                    <m:oMath xmlns:m="http://schemas.openxmlformats.org/officeDocument/2006/math">
                      <m:sSub>
                        <m:sSubPr>
                          <m:ctrlPr>
                            <a:rPr lang="en-US" sz="1850" i="1">
                              <a:latin typeface="Cambria Math" panose="02040503050406030204" pitchFamily="18" charset="0"/>
                            </a:rPr>
                          </m:ctrlPr>
                        </m:sSubPr>
                        <m:e>
                          <m:r>
                            <a:rPr lang="en-US" sz="1850">
                              <a:latin typeface="Cambria Math" panose="02040503050406030204" pitchFamily="18" charset="0"/>
                            </a:rPr>
                            <m:t>𝛻</m:t>
                          </m:r>
                        </m:e>
                        <m:sub>
                          <m:sSub>
                            <m:sSubPr>
                              <m:ctrlPr>
                                <a:rPr lang="en-US" sz="1850" i="1">
                                  <a:latin typeface="Cambria Math" panose="02040503050406030204" pitchFamily="18" charset="0"/>
                                </a:rPr>
                              </m:ctrlPr>
                            </m:sSubPr>
                            <m:e>
                              <m:r>
                                <m:rPr>
                                  <m:sty m:val="p"/>
                                </m:rPr>
                                <a:rPr lang="en-US" sz="1850">
                                  <a:latin typeface="Cambria Math" panose="02040503050406030204" pitchFamily="18" charset="0"/>
                                </a:rPr>
                                <m:t>Θ</m:t>
                              </m:r>
                            </m:e>
                            <m:sub>
                              <m:r>
                                <a:rPr lang="en-US" sz="1850" i="1">
                                  <a:latin typeface="Cambria Math" panose="02040503050406030204" pitchFamily="18" charset="0"/>
                                </a:rPr>
                                <m:t>𝐾</m:t>
                              </m:r>
                            </m:sub>
                          </m:sSub>
                        </m:sub>
                      </m:sSub>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r>
                            <a:rPr lang="en-US" sz="1850" i="1">
                              <a:latin typeface="Cambria Math" panose="02040503050406030204" pitchFamily="18" charset="0"/>
                            </a:rPr>
                            <m:t>𝑙</m:t>
                          </m:r>
                        </m:e>
                      </m:d>
                      <m:r>
                        <a:rPr lang="en-US" sz="1850" i="1">
                          <a:latin typeface="Cambria Math" panose="02040503050406030204" pitchFamily="18" charset="0"/>
                        </a:rPr>
                        <m:t>=</m:t>
                      </m:r>
                      <m:f>
                        <m:fPr>
                          <m:ctrlPr>
                            <a:rPr lang="en-US" sz="1850" i="1">
                              <a:latin typeface="Cambria Math" panose="02040503050406030204" pitchFamily="18" charset="0"/>
                            </a:rPr>
                          </m:ctrlPr>
                        </m:fPr>
                        <m:num>
                          <m:r>
                            <a:rPr lang="en-US" sz="1850" i="1">
                              <a:latin typeface="Cambria Math" panose="02040503050406030204" pitchFamily="18" charset="0"/>
                            </a:rPr>
                            <m:t>𝑑</m:t>
                          </m:r>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r>
                                <a:rPr lang="en-US" sz="1850" i="1">
                                  <a:latin typeface="Cambria Math" panose="02040503050406030204" pitchFamily="18" charset="0"/>
                                </a:rPr>
                                <m:t>𝑙</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e>
                              </m:d>
                            </m:e>
                          </m:d>
                        </m:num>
                        <m:den>
                          <m:r>
                            <a:rPr lang="en-US" sz="1850" i="1">
                              <a:latin typeface="Cambria Math" panose="02040503050406030204" pitchFamily="18" charset="0"/>
                            </a:rPr>
                            <m:t>𝑑</m:t>
                          </m:r>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m:rPr>
                                      <m:sty m:val="p"/>
                                    </m:rPr>
                                    <a:rPr lang="en-US" sz="1850">
                                      <a:latin typeface="Cambria Math" panose="02040503050406030204" pitchFamily="18" charset="0"/>
                                    </a:rPr>
                                    <m:t>Θ</m:t>
                                  </m:r>
                                </m:e>
                                <m:sub>
                                  <m:r>
                                    <a:rPr lang="en-US" sz="1850" i="1">
                                      <a:latin typeface="Cambria Math" panose="02040503050406030204" pitchFamily="18" charset="0"/>
                                    </a:rPr>
                                    <m:t>𝐾</m:t>
                                  </m:r>
                                </m:sub>
                              </m:sSub>
                            </m:e>
                          </m:d>
                        </m:den>
                      </m:f>
                      <m:r>
                        <a:rPr lang="en-US" sz="1850" i="1">
                          <a:latin typeface="Cambria Math" panose="02040503050406030204" pitchFamily="18" charset="0"/>
                        </a:rPr>
                        <m:t>=</m:t>
                      </m:r>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i="1">
                                      <a:latin typeface="Cambria Math" panose="02040503050406030204" pitchFamily="18" charset="0"/>
                                    </a:rPr>
                                    <m:t>𝑓</m:t>
                                  </m:r>
                                </m:e>
                                <m:sub>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sub>
                                <m:sup>
                                  <m:r>
                                    <a:rPr lang="en-US" sz="1850" i="1">
                                      <a:latin typeface="Cambria Math" panose="02040503050406030204" pitchFamily="18" charset="0"/>
                                    </a:rPr>
                                    <m:t>′</m:t>
                                  </m:r>
                                </m:sup>
                              </m:sSubSup>
                              <m:d>
                                <m:dPr>
                                  <m:ctrlPr>
                                    <a:rPr lang="en-US" sz="1850" i="1">
                                      <a:latin typeface="Cambria Math" panose="02040503050406030204" pitchFamily="18" charset="0"/>
                                    </a:rPr>
                                  </m:ctrlPr>
                                </m:dPr>
                                <m:e>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acc>
                                            <m:accPr>
                                              <m:chr m:val="̂"/>
                                              <m:ctrlPr>
                                                <a:rPr lang="en-US" sz="1850" i="1">
                                                  <a:latin typeface="Cambria Math" panose="02040503050406030204" pitchFamily="18" charset="0"/>
                                                </a:rPr>
                                              </m:ctrlPr>
                                            </m:accPr>
                                            <m:e>
                                              <m:r>
                                                <a:rPr lang="en-US" sz="1850" b="1" i="1">
                                                  <a:latin typeface="Cambria Math" panose="02040503050406030204" pitchFamily="18" charset="0"/>
                                                </a:rPr>
                                                <m:t>𝑿</m:t>
                                              </m:r>
                                            </m:e>
                                          </m:acc>
                                        </m:e>
                                        <m:sub>
                                          <m:r>
                                            <a:rPr lang="en-US" sz="1850" i="1">
                                              <a:latin typeface="Cambria Math" panose="02040503050406030204" pitchFamily="18" charset="0"/>
                                            </a:rPr>
                                            <m:t>𝐾</m:t>
                                          </m:r>
                                          <m:r>
                                            <a:rPr lang="en-US" sz="1850" i="1">
                                              <a:latin typeface="Cambria Math" panose="02040503050406030204" pitchFamily="18" charset="0"/>
                                            </a:rPr>
                                            <m:t>−1</m:t>
                                          </m:r>
                                        </m:sub>
                                      </m:sSub>
                                    </m:e>
                                  </m:d>
                                </m:e>
                              </m:d>
                            </m:e>
                          </m:d>
                        </m:e>
                        <m:sup>
                          <m:r>
                            <a:rPr lang="en-US" sz="1850" i="1">
                              <a:latin typeface="Cambria Math" panose="02040503050406030204" pitchFamily="18" charset="0"/>
                            </a:rPr>
                            <m:t>𝑇</m:t>
                          </m:r>
                        </m:sup>
                      </m:sSup>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b="1" i="1">
                                  <a:latin typeface="Cambria Math" panose="02040503050406030204" pitchFamily="18" charset="0"/>
                                </a:rPr>
                                <m:t>𝑿</m:t>
                              </m:r>
                            </m:e>
                            <m:sub>
                              <m:r>
                                <a:rPr lang="en-US" sz="1850" i="1">
                                  <a:latin typeface="Cambria Math" panose="02040503050406030204" pitchFamily="18" charset="0"/>
                                </a:rPr>
                                <m:t>𝐾</m:t>
                              </m:r>
                            </m:sub>
                            <m:sup>
                              <m:r>
                                <a:rPr lang="en-US" sz="1850" i="1">
                                  <a:latin typeface="Cambria Math" panose="02040503050406030204" pitchFamily="18" charset="0"/>
                                </a:rPr>
                                <m:t>′</m:t>
                              </m:r>
                            </m:sup>
                          </m:sSubSup>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e>
                      </m:d>
                    </m:oMath>
                  </m:oMathPara>
                </a14:m>
                <a:endParaRPr lang="en-US" sz="1850" dirty="0"/>
              </a:p>
              <a:p>
                <a:pPr marL="0" indent="0">
                  <a:buNone/>
                </a:pPr>
                <a:r>
                  <a:rPr lang="en-US" sz="1850" dirty="0" smtClean="0"/>
                  <a:t>Let </a:t>
                </a:r>
                <a14:m>
                  <m:oMath xmlns:m="http://schemas.openxmlformats.org/officeDocument/2006/math">
                    <m:sSub>
                      <m:sSubPr>
                        <m:ctrlPr>
                          <a:rPr lang="en-US" sz="1850" i="1">
                            <a:latin typeface="Cambria Math" panose="02040503050406030204" pitchFamily="18" charset="0"/>
                          </a:rPr>
                        </m:ctrlPr>
                      </m:sSubPr>
                      <m:e>
                        <m:r>
                          <a:rPr lang="en-US" sz="1850" i="1">
                            <a:latin typeface="Cambria Math" panose="02040503050406030204" pitchFamily="18" charset="0"/>
                          </a:rPr>
                          <m:t>𝐼</m:t>
                        </m:r>
                      </m:e>
                      <m:sub>
                        <m:r>
                          <a:rPr lang="en-US" sz="1850" i="1">
                            <a:latin typeface="Cambria Math" panose="02040503050406030204" pitchFamily="18" charset="0"/>
                          </a:rPr>
                          <m:t>𝑟</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i="1">
                                    <a:latin typeface="Cambria Math" panose="02040503050406030204" pitchFamily="18" charset="0"/>
                                  </a:rPr>
                                  <m:t>𝑈</m:t>
                                </m:r>
                              </m:e>
                              <m:sub>
                                <m:r>
                                  <a:rPr lang="en-US" sz="1850" i="1">
                                    <a:latin typeface="Cambria Math" panose="02040503050406030204" pitchFamily="18" charset="0"/>
                                  </a:rPr>
                                  <m:t>𝐾</m:t>
                                </m:r>
                              </m:sub>
                            </m:sSub>
                          </m:e>
                        </m:d>
                      </m:sub>
                    </m:sSub>
                  </m:oMath>
                </a14:m>
                <a:r>
                  <a:rPr lang="en-US" sz="1850" dirty="0"/>
                  <a:t> be the identity matrix whose dimension is </a:t>
                </a:r>
                <a:r>
                  <a:rPr lang="en-US" sz="1850" i="1" dirty="0"/>
                  <a:t>r</a:t>
                </a:r>
                <a:r>
                  <a:rPr lang="en-US" sz="1850" dirty="0"/>
                  <a:t>(</a:t>
                </a:r>
                <a:r>
                  <a:rPr lang="en-US" sz="1850" i="1" dirty="0"/>
                  <a:t>U</a:t>
                </a:r>
                <a:r>
                  <a:rPr lang="en-US" sz="1850" i="1" baseline="-25000" dirty="0"/>
                  <a:t>K</a:t>
                </a:r>
                <a:r>
                  <a:rPr lang="en-US" sz="1850" dirty="0"/>
                  <a:t>) x </a:t>
                </a:r>
                <a:r>
                  <a:rPr lang="en-US" sz="1850" i="1" dirty="0"/>
                  <a:t>r</a:t>
                </a:r>
                <a:r>
                  <a:rPr lang="en-US" sz="1850" dirty="0"/>
                  <a:t>(</a:t>
                </a:r>
                <a:r>
                  <a:rPr lang="en-US" sz="1850" i="1" dirty="0"/>
                  <a:t>U</a:t>
                </a:r>
                <a:r>
                  <a:rPr lang="en-US" sz="1850" i="1" baseline="-25000" dirty="0"/>
                  <a:t>K</a:t>
                </a:r>
                <a:r>
                  <a:rPr lang="en-US" sz="1850" dirty="0"/>
                  <a:t>) where </a:t>
                </a:r>
                <a:r>
                  <a:rPr lang="en-US" sz="1850" i="1" dirty="0"/>
                  <a:t>r</a:t>
                </a:r>
                <a:r>
                  <a:rPr lang="en-US" sz="1850" dirty="0"/>
                  <a:t>(</a:t>
                </a:r>
                <a:r>
                  <a:rPr lang="en-US" sz="1850" i="1" dirty="0"/>
                  <a:t>U</a:t>
                </a:r>
                <a:r>
                  <a:rPr lang="en-US" sz="1850" i="1" baseline="-25000" dirty="0"/>
                  <a:t>K</a:t>
                </a:r>
                <a:r>
                  <a:rPr lang="en-US" sz="1850" dirty="0"/>
                  <a:t>) is the number of rows of </a:t>
                </a:r>
                <a:r>
                  <a:rPr lang="en-US" sz="1850" i="1" dirty="0" smtClean="0"/>
                  <a:t>U</a:t>
                </a:r>
                <a:r>
                  <a:rPr lang="en-US" sz="1850" i="1" baseline="-25000" dirty="0" smtClean="0"/>
                  <a:t>K</a:t>
                </a:r>
                <a:r>
                  <a:rPr lang="en-US" sz="1850" dirty="0" smtClean="0"/>
                  <a:t>, d</a:t>
                </a:r>
                <a14:m>
                  <m:oMath xmlns:m="http://schemas.openxmlformats.org/officeDocument/2006/math">
                    <m:r>
                      <m:rPr>
                        <m:sty m:val="p"/>
                      </m:rPr>
                      <a:rPr lang="en-US" sz="1850" b="0" i="0" smtClean="0">
                        <a:latin typeface="Cambria Math" panose="02040503050406030204" pitchFamily="18" charset="0"/>
                      </a:rPr>
                      <m:t>ue</m:t>
                    </m:r>
                    <m:r>
                      <a:rPr lang="en-US" sz="1850" b="0" i="0" smtClean="0">
                        <a:latin typeface="Cambria Math" panose="02040503050406030204" pitchFamily="18" charset="0"/>
                      </a:rPr>
                      <m:t> </m:t>
                    </m:r>
                    <m:r>
                      <m:rPr>
                        <m:sty m:val="p"/>
                      </m:rPr>
                      <a:rPr lang="en-US" sz="1850" b="0" i="0" smtClean="0">
                        <a:latin typeface="Cambria Math" panose="02040503050406030204" pitchFamily="18" charset="0"/>
                      </a:rPr>
                      <m:t>to</m:t>
                    </m:r>
                    <m:r>
                      <a:rPr lang="en-US" sz="1850" b="0" i="0" smtClean="0">
                        <a:latin typeface="Cambria Math" panose="02040503050406030204" pitchFamily="18" charset="0"/>
                      </a:rPr>
                      <m:t> </m:t>
                    </m:r>
                    <m:r>
                      <a:rPr lang="en-US" sz="1850" i="1">
                        <a:latin typeface="Cambria Math" panose="02040503050406030204" pitchFamily="18" charset="0"/>
                      </a:rPr>
                      <m:t>𝑑</m:t>
                    </m:r>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r>
                          <a:rPr lang="en-US" sz="1850" i="1">
                            <a:latin typeface="Cambria Math" panose="02040503050406030204" pitchFamily="18" charset="0"/>
                          </a:rPr>
                          <m:t>𝑓</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acc>
                                  <m:accPr>
                                    <m:chr m:val="̂"/>
                                    <m:ctrlPr>
                                      <a:rPr lang="en-US" sz="1850" i="1">
                                        <a:latin typeface="Cambria Math" panose="02040503050406030204" pitchFamily="18" charset="0"/>
                                      </a:rPr>
                                    </m:ctrlPr>
                                  </m:accPr>
                                  <m:e>
                                    <m:r>
                                      <a:rPr lang="en-US" sz="1850" b="1" i="1">
                                        <a:latin typeface="Cambria Math" panose="02040503050406030204" pitchFamily="18" charset="0"/>
                                      </a:rPr>
                                      <m:t>𝑿</m:t>
                                    </m:r>
                                  </m:e>
                                </m:acc>
                              </m:e>
                              <m:sub>
                                <m:r>
                                  <a:rPr lang="en-US" sz="1850" i="1">
                                    <a:latin typeface="Cambria Math" panose="02040503050406030204" pitchFamily="18" charset="0"/>
                                  </a:rPr>
                                  <m:t>𝐾</m:t>
                                </m:r>
                                <m:r>
                                  <a:rPr lang="en-US" sz="1850" i="1">
                                    <a:latin typeface="Cambria Math" panose="02040503050406030204" pitchFamily="18" charset="0"/>
                                  </a:rPr>
                                  <m:t>−1</m:t>
                                </m:r>
                              </m:sub>
                            </m:sSub>
                          </m:e>
                        </m:d>
                      </m:e>
                    </m:d>
                    <m:r>
                      <a:rPr lang="en-US" sz="1850" i="1">
                        <a:latin typeface="Cambria Math" panose="02040503050406030204" pitchFamily="18" charset="0"/>
                      </a:rPr>
                      <m:t>=</m:t>
                    </m:r>
                    <m:sSubSup>
                      <m:sSubSupPr>
                        <m:ctrlPr>
                          <a:rPr lang="en-US" sz="1850" i="1">
                            <a:latin typeface="Cambria Math" panose="02040503050406030204" pitchFamily="18" charset="0"/>
                          </a:rPr>
                        </m:ctrlPr>
                      </m:sSubSupPr>
                      <m:e>
                        <m:r>
                          <a:rPr lang="en-US" sz="1850" i="1">
                            <a:latin typeface="Cambria Math" panose="02040503050406030204" pitchFamily="18" charset="0"/>
                          </a:rPr>
                          <m:t>𝑓</m:t>
                        </m:r>
                      </m:e>
                      <m:sub>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sub>
                      <m:sup>
                        <m:r>
                          <a:rPr lang="en-US" sz="1850" i="1">
                            <a:latin typeface="Cambria Math" panose="02040503050406030204" pitchFamily="18" charset="0"/>
                          </a:rPr>
                          <m:t>′</m:t>
                        </m:r>
                      </m:sup>
                    </m:sSubSup>
                    <m:d>
                      <m:dPr>
                        <m:ctrlPr>
                          <a:rPr lang="en-US" sz="1850" i="1">
                            <a:latin typeface="Cambria Math" panose="02040503050406030204" pitchFamily="18" charset="0"/>
                          </a:rPr>
                        </m:ctrlPr>
                      </m:dPr>
                      <m:e>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acc>
                                  <m:accPr>
                                    <m:chr m:val="̂"/>
                                    <m:ctrlPr>
                                      <a:rPr lang="en-US" sz="1850" i="1">
                                        <a:latin typeface="Cambria Math" panose="02040503050406030204" pitchFamily="18" charset="0"/>
                                      </a:rPr>
                                    </m:ctrlPr>
                                  </m:accPr>
                                  <m:e>
                                    <m:r>
                                      <a:rPr lang="en-US" sz="1850" b="1" i="1">
                                        <a:latin typeface="Cambria Math" panose="02040503050406030204" pitchFamily="18" charset="0"/>
                                      </a:rPr>
                                      <m:t>𝑿</m:t>
                                    </m:r>
                                  </m:e>
                                </m:acc>
                              </m:e>
                              <m:sub>
                                <m:r>
                                  <a:rPr lang="en-US" sz="1850" i="1">
                                    <a:latin typeface="Cambria Math" panose="02040503050406030204" pitchFamily="18" charset="0"/>
                                  </a:rPr>
                                  <m:t>𝐾</m:t>
                                </m:r>
                                <m:r>
                                  <a:rPr lang="en-US" sz="1850" i="1">
                                    <a:latin typeface="Cambria Math" panose="02040503050406030204" pitchFamily="18" charset="0"/>
                                  </a:rPr>
                                  <m:t>−1</m:t>
                                </m:r>
                              </m:sub>
                            </m:sSub>
                          </m:e>
                        </m:d>
                      </m:e>
                    </m:d>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r>
                                  <a:rPr lang="en-US" sz="1850" i="1">
                                    <a:latin typeface="Cambria Math" panose="02040503050406030204" pitchFamily="18" charset="0"/>
                                  </a:rPr>
                                  <m:t>−1</m:t>
                                </m:r>
                              </m:sub>
                            </m:sSub>
                            <m:sSub>
                              <m:sSubPr>
                                <m:ctrlPr>
                                  <a:rPr lang="en-US" sz="1850" i="1">
                                    <a:latin typeface="Cambria Math" panose="02040503050406030204" pitchFamily="18" charset="0"/>
                                  </a:rPr>
                                </m:ctrlPr>
                              </m:sSubPr>
                              <m:e>
                                <m:r>
                                  <a:rPr lang="en-US" sz="1850" i="1">
                                    <a:latin typeface="Cambria Math" panose="02040503050406030204" pitchFamily="18" charset="0"/>
                                  </a:rPr>
                                  <m:t>𝑉</m:t>
                                </m:r>
                              </m:e>
                              <m:sub>
                                <m:r>
                                  <a:rPr lang="en-US" sz="1850" i="1">
                                    <a:latin typeface="Cambria Math" panose="02040503050406030204" pitchFamily="18" charset="0"/>
                                  </a:rPr>
                                  <m:t>𝐾</m:t>
                                </m:r>
                              </m:sub>
                            </m:sSub>
                          </m:e>
                        </m:d>
                      </m:e>
                      <m:sup>
                        <m:r>
                          <a:rPr lang="en-US" sz="1850" i="1">
                            <a:latin typeface="Cambria Math" panose="02040503050406030204" pitchFamily="18" charset="0"/>
                          </a:rPr>
                          <m:t>𝑇</m:t>
                        </m:r>
                      </m:sup>
                    </m:sSup>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i="1">
                            <a:latin typeface="Cambria Math" panose="02040503050406030204" pitchFamily="18" charset="0"/>
                          </a:rPr>
                          <m:t>𝐼</m:t>
                        </m:r>
                      </m:e>
                      <m:sub>
                        <m:r>
                          <a:rPr lang="en-US" sz="1850" i="1">
                            <a:latin typeface="Cambria Math" panose="02040503050406030204" pitchFamily="18" charset="0"/>
                          </a:rPr>
                          <m:t>𝑟</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i="1">
                                    <a:latin typeface="Cambria Math" panose="02040503050406030204" pitchFamily="18" charset="0"/>
                                  </a:rPr>
                                  <m:t>𝑈</m:t>
                                </m:r>
                              </m:e>
                              <m:sub>
                                <m:r>
                                  <a:rPr lang="en-US" sz="1850" i="1">
                                    <a:latin typeface="Cambria Math" panose="02040503050406030204" pitchFamily="18" charset="0"/>
                                  </a:rPr>
                                  <m:t>𝑘</m:t>
                                </m:r>
                              </m:sub>
                            </m:sSub>
                          </m:e>
                        </m:d>
                      </m:sub>
                    </m:sSub>
                    <m:r>
                      <a:rPr lang="en-US" sz="1850" i="1">
                        <a:latin typeface="Cambria Math" panose="02040503050406030204" pitchFamily="18" charset="0"/>
                      </a:rPr>
                      <m:t>𝑑</m:t>
                    </m:r>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i="1">
                                <a:latin typeface="Cambria Math" panose="02040503050406030204" pitchFamily="18" charset="0"/>
                              </a:rPr>
                              <m:t>𝑈</m:t>
                            </m:r>
                          </m:e>
                          <m:sub>
                            <m:r>
                              <a:rPr lang="en-US" sz="1850" i="1">
                                <a:latin typeface="Cambria Math" panose="02040503050406030204" pitchFamily="18" charset="0"/>
                              </a:rPr>
                              <m:t>𝐾</m:t>
                            </m:r>
                          </m:sub>
                        </m:sSub>
                      </m:e>
                    </m:d>
                  </m:oMath>
                </a14:m>
                <a:r>
                  <a:rPr lang="en-US" sz="1850" dirty="0" smtClean="0"/>
                  <a:t>, </a:t>
                </a:r>
                <a:r>
                  <a:rPr lang="en-US" sz="1850" dirty="0"/>
                  <a:t>likelihood differential </a:t>
                </a:r>
                <a:r>
                  <a:rPr lang="en-US" sz="1850" i="1" dirty="0"/>
                  <a:t>dl</a:t>
                </a:r>
                <a:r>
                  <a:rPr lang="en-US" sz="1850" dirty="0"/>
                  <a:t> with respect to last weight parameter </a:t>
                </a:r>
                <a:r>
                  <a:rPr lang="en-US" sz="1850" i="1" dirty="0"/>
                  <a:t>U</a:t>
                </a:r>
                <a:r>
                  <a:rPr lang="en-US" sz="1850" i="1" baseline="-25000" dirty="0"/>
                  <a:t>K</a:t>
                </a:r>
                <a:r>
                  <a:rPr lang="en-US" sz="1850" dirty="0"/>
                  <a:t> </a:t>
                </a:r>
                <a:r>
                  <a:rPr lang="en-US" sz="1850" dirty="0" smtClean="0"/>
                  <a:t>is </a:t>
                </a:r>
                <a14:m>
                  <m:oMath xmlns:m="http://schemas.openxmlformats.org/officeDocument/2006/math">
                    <m:r>
                      <a:rPr lang="en-US" sz="1850" i="1">
                        <a:latin typeface="Cambria Math" panose="02040503050406030204" pitchFamily="18" charset="0"/>
                      </a:rPr>
                      <m:t>𝑑</m:t>
                    </m:r>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r>
                          <a:rPr lang="en-US" sz="1850" i="1">
                            <a:latin typeface="Cambria Math" panose="02040503050406030204" pitchFamily="18" charset="0"/>
                          </a:rPr>
                          <m:t>𝑙</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e>
                        </m:d>
                      </m:e>
                    </m:d>
                    <m:r>
                      <a:rPr lang="en-US" sz="1850" i="1">
                        <a:latin typeface="Cambria Math" panose="02040503050406030204" pitchFamily="18" charset="0"/>
                      </a:rPr>
                      <m:t>=</m:t>
                    </m:r>
                    <m:r>
                      <m:rPr>
                        <m:sty m:val="p"/>
                      </m:rPr>
                      <a:rPr lang="en-US" sz="1850">
                        <a:latin typeface="Cambria Math" panose="02040503050406030204" pitchFamily="18" charset="0"/>
                      </a:rPr>
                      <m:t>tr</m:t>
                    </m:r>
                    <m:d>
                      <m:dPr>
                        <m:ctrlPr>
                          <a:rPr lang="en-US" sz="1850" i="1">
                            <a:latin typeface="Cambria Math" panose="02040503050406030204" pitchFamily="18" charset="0"/>
                          </a:rPr>
                        </m:ctrlPr>
                      </m:dPr>
                      <m:e>
                        <m:sSup>
                          <m:sSupPr>
                            <m:ctrlPr>
                              <a:rPr lang="en-US" sz="1850" i="1">
                                <a:latin typeface="Cambria Math" panose="02040503050406030204" pitchFamily="18" charset="0"/>
                              </a:rPr>
                            </m:ctrlPr>
                          </m:sSupPr>
                          <m:e>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b="1" i="1">
                                        <a:latin typeface="Cambria Math" panose="02040503050406030204" pitchFamily="18" charset="0"/>
                                      </a:rPr>
                                      <m:t>𝑿</m:t>
                                    </m:r>
                                  </m:e>
                                  <m:sub>
                                    <m:r>
                                      <a:rPr lang="en-US" sz="1850" i="1">
                                        <a:latin typeface="Cambria Math" panose="02040503050406030204" pitchFamily="18" charset="0"/>
                                      </a:rPr>
                                      <m:t>𝐾</m:t>
                                    </m:r>
                                  </m:sub>
                                  <m:sup>
                                    <m:r>
                                      <a:rPr lang="en-US" sz="1850" i="1">
                                        <a:latin typeface="Cambria Math" panose="02040503050406030204" pitchFamily="18" charset="0"/>
                                      </a:rPr>
                                      <m:t>′</m:t>
                                    </m:r>
                                  </m:sup>
                                </m:sSubSup>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e>
                            </m:d>
                          </m:e>
                          <m:sup>
                            <m:r>
                              <a:rPr lang="en-US" sz="1850" i="1">
                                <a:latin typeface="Cambria Math" panose="02040503050406030204" pitchFamily="18" charset="0"/>
                              </a:rPr>
                              <m:t>𝑇</m:t>
                            </m:r>
                          </m:sup>
                        </m:sSup>
                        <m:sSubSup>
                          <m:sSubSupPr>
                            <m:ctrlPr>
                              <a:rPr lang="en-US" sz="1850" i="1">
                                <a:latin typeface="Cambria Math" panose="02040503050406030204" pitchFamily="18" charset="0"/>
                              </a:rPr>
                            </m:ctrlPr>
                          </m:sSubSupPr>
                          <m:e>
                            <m:r>
                              <a:rPr lang="en-US" sz="1850" i="1">
                                <a:latin typeface="Cambria Math" panose="02040503050406030204" pitchFamily="18" charset="0"/>
                              </a:rPr>
                              <m:t>𝑓</m:t>
                            </m:r>
                          </m:e>
                          <m:sub>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sub>
                          <m:sup>
                            <m:r>
                              <a:rPr lang="en-US" sz="1850" i="1">
                                <a:latin typeface="Cambria Math" panose="02040503050406030204" pitchFamily="18" charset="0"/>
                              </a:rPr>
                              <m:t>′</m:t>
                            </m:r>
                          </m:sup>
                        </m:sSubSup>
                        <m:d>
                          <m:dPr>
                            <m:ctrlPr>
                              <a:rPr lang="en-US" sz="1850" i="1">
                                <a:latin typeface="Cambria Math" panose="02040503050406030204" pitchFamily="18" charset="0"/>
                              </a:rPr>
                            </m:ctrlPr>
                          </m:dPr>
                          <m:e>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acc>
                                      <m:accPr>
                                        <m:chr m:val="̂"/>
                                        <m:ctrlPr>
                                          <a:rPr lang="en-US" sz="1850" i="1">
                                            <a:latin typeface="Cambria Math" panose="02040503050406030204" pitchFamily="18" charset="0"/>
                                          </a:rPr>
                                        </m:ctrlPr>
                                      </m:accPr>
                                      <m:e>
                                        <m:r>
                                          <a:rPr lang="en-US" sz="1850" b="1" i="1">
                                            <a:latin typeface="Cambria Math" panose="02040503050406030204" pitchFamily="18" charset="0"/>
                                          </a:rPr>
                                          <m:t>𝑿</m:t>
                                        </m:r>
                                      </m:e>
                                    </m:acc>
                                  </m:e>
                                  <m:sub>
                                    <m:r>
                                      <a:rPr lang="en-US" sz="1850" i="1">
                                        <a:latin typeface="Cambria Math" panose="02040503050406030204" pitchFamily="18" charset="0"/>
                                      </a:rPr>
                                      <m:t>𝐾</m:t>
                                    </m:r>
                                    <m:r>
                                      <a:rPr lang="en-US" sz="1850" i="1">
                                        <a:latin typeface="Cambria Math" panose="02040503050406030204" pitchFamily="18" charset="0"/>
                                      </a:rPr>
                                      <m:t>−1</m:t>
                                    </m:r>
                                  </m:sub>
                                </m:sSub>
                              </m:e>
                            </m:d>
                          </m:e>
                        </m:d>
                        <m:d>
                          <m:dPr>
                            <m:ctrlPr>
                              <a:rPr lang="en-US" sz="1850" i="1">
                                <a:latin typeface="Cambria Math" panose="02040503050406030204" pitchFamily="18" charset="0"/>
                              </a:rPr>
                            </m:ctrlPr>
                          </m:dPr>
                          <m:e>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r>
                                          <a:rPr lang="en-US" sz="1850" i="1">
                                            <a:latin typeface="Cambria Math" panose="02040503050406030204" pitchFamily="18" charset="0"/>
                                          </a:rPr>
                                          <m:t>−1</m:t>
                                        </m:r>
                                      </m:sub>
                                    </m:sSub>
                                    <m:sSub>
                                      <m:sSubPr>
                                        <m:ctrlPr>
                                          <a:rPr lang="en-US" sz="1850" i="1">
                                            <a:latin typeface="Cambria Math" panose="02040503050406030204" pitchFamily="18" charset="0"/>
                                          </a:rPr>
                                        </m:ctrlPr>
                                      </m:sSubPr>
                                      <m:e>
                                        <m:r>
                                          <a:rPr lang="en-US" sz="1850" i="1">
                                            <a:latin typeface="Cambria Math" panose="02040503050406030204" pitchFamily="18" charset="0"/>
                                          </a:rPr>
                                          <m:t>𝑉</m:t>
                                        </m:r>
                                      </m:e>
                                      <m:sub>
                                        <m:r>
                                          <a:rPr lang="en-US" sz="1850" i="1">
                                            <a:latin typeface="Cambria Math" panose="02040503050406030204" pitchFamily="18" charset="0"/>
                                          </a:rPr>
                                          <m:t>𝐾</m:t>
                                        </m:r>
                                      </m:sub>
                                    </m:sSub>
                                  </m:e>
                                </m:d>
                              </m:e>
                              <m:sup>
                                <m:r>
                                  <a:rPr lang="en-US" sz="1850" i="1">
                                    <a:latin typeface="Cambria Math" panose="02040503050406030204" pitchFamily="18" charset="0"/>
                                  </a:rPr>
                                  <m:t>𝑇</m:t>
                                </m:r>
                              </m:sup>
                            </m:sSup>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i="1">
                                    <a:latin typeface="Cambria Math" panose="02040503050406030204" pitchFamily="18" charset="0"/>
                                  </a:rPr>
                                  <m:t>𝐼</m:t>
                                </m:r>
                              </m:e>
                              <m:sub>
                                <m:r>
                                  <a:rPr lang="en-US" sz="1850" i="1">
                                    <a:latin typeface="Cambria Math" panose="02040503050406030204" pitchFamily="18" charset="0"/>
                                  </a:rPr>
                                  <m:t>𝑟</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i="1">
                                            <a:latin typeface="Cambria Math" panose="02040503050406030204" pitchFamily="18" charset="0"/>
                                          </a:rPr>
                                          <m:t>𝑈</m:t>
                                        </m:r>
                                      </m:e>
                                      <m:sub>
                                        <m:r>
                                          <a:rPr lang="en-US" sz="1850" i="1">
                                            <a:latin typeface="Cambria Math" panose="02040503050406030204" pitchFamily="18" charset="0"/>
                                          </a:rPr>
                                          <m:t>𝐾</m:t>
                                        </m:r>
                                      </m:sub>
                                    </m:sSub>
                                  </m:e>
                                </m:d>
                              </m:sub>
                            </m:sSub>
                          </m:e>
                        </m:d>
                        <m:r>
                          <a:rPr lang="en-US" sz="1850" i="1">
                            <a:latin typeface="Cambria Math" panose="02040503050406030204" pitchFamily="18" charset="0"/>
                          </a:rPr>
                          <m:t>𝑑</m:t>
                        </m:r>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i="1">
                                    <a:latin typeface="Cambria Math" panose="02040503050406030204" pitchFamily="18" charset="0"/>
                                  </a:rPr>
                                  <m:t>𝑈</m:t>
                                </m:r>
                              </m:e>
                              <m:sub>
                                <m:r>
                                  <a:rPr lang="en-US" sz="1850" i="1">
                                    <a:latin typeface="Cambria Math" panose="02040503050406030204" pitchFamily="18" charset="0"/>
                                  </a:rPr>
                                  <m:t>𝐾</m:t>
                                </m:r>
                              </m:sub>
                            </m:sSub>
                          </m:e>
                        </m:d>
                      </m:e>
                    </m:d>
                  </m:oMath>
                </a14:m>
                <a:r>
                  <a:rPr lang="en-US" sz="1850" dirty="0" smtClean="0"/>
                  <a:t> so that the </a:t>
                </a:r>
                <a:r>
                  <a:rPr lang="en-US" sz="1850" dirty="0"/>
                  <a:t>gradient of last weight parameter </a:t>
                </a:r>
                <a:r>
                  <a:rPr lang="en-US" sz="1850" i="1" dirty="0"/>
                  <a:t>U</a:t>
                </a:r>
                <a:r>
                  <a:rPr lang="en-US" sz="1850" i="1" baseline="-25000" dirty="0"/>
                  <a:t>K</a:t>
                </a:r>
                <a:r>
                  <a:rPr lang="en-US" sz="1850" dirty="0"/>
                  <a:t> is</a:t>
                </a:r>
                <a:r>
                  <a:rPr lang="en-US" sz="1850" dirty="0" smtClean="0"/>
                  <a:t>:</a:t>
                </a:r>
              </a:p>
              <a:p>
                <a:pPr marL="0" indent="0">
                  <a:buNone/>
                </a:pPr>
                <a14:m>
                  <m:oMathPara xmlns:m="http://schemas.openxmlformats.org/officeDocument/2006/math">
                    <m:oMathParaPr>
                      <m:jc m:val="centerGroup"/>
                    </m:oMathParaPr>
                    <m:oMath xmlns:m="http://schemas.openxmlformats.org/officeDocument/2006/math">
                      <m:sSub>
                        <m:sSubPr>
                          <m:ctrlPr>
                            <a:rPr lang="en-US" sz="1850" i="1">
                              <a:latin typeface="Cambria Math" panose="02040503050406030204" pitchFamily="18" charset="0"/>
                            </a:rPr>
                          </m:ctrlPr>
                        </m:sSubPr>
                        <m:e>
                          <m:r>
                            <a:rPr lang="en-US" sz="1850">
                              <a:latin typeface="Cambria Math" panose="02040503050406030204" pitchFamily="18" charset="0"/>
                            </a:rPr>
                            <m:t>𝛻</m:t>
                          </m:r>
                        </m:e>
                        <m:sub>
                          <m:sSub>
                            <m:sSubPr>
                              <m:ctrlPr>
                                <a:rPr lang="en-US" sz="1850" i="1">
                                  <a:latin typeface="Cambria Math" panose="02040503050406030204" pitchFamily="18" charset="0"/>
                                </a:rPr>
                              </m:ctrlPr>
                            </m:sSubPr>
                            <m:e>
                              <m:r>
                                <a:rPr lang="en-US" sz="1850" i="1">
                                  <a:latin typeface="Cambria Math" panose="02040503050406030204" pitchFamily="18" charset="0"/>
                                </a:rPr>
                                <m:t>𝑈</m:t>
                              </m:r>
                            </m:e>
                            <m:sub>
                              <m:r>
                                <a:rPr lang="en-US" sz="1850" i="1">
                                  <a:latin typeface="Cambria Math" panose="02040503050406030204" pitchFamily="18" charset="0"/>
                                </a:rPr>
                                <m:t>𝐾</m:t>
                              </m:r>
                            </m:sub>
                          </m:sSub>
                        </m:sub>
                      </m:sSub>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r>
                            <a:rPr lang="en-US" sz="1850" i="1">
                              <a:latin typeface="Cambria Math" panose="02040503050406030204" pitchFamily="18" charset="0"/>
                            </a:rPr>
                            <m:t>𝑙</m:t>
                          </m:r>
                        </m:e>
                      </m:d>
                      <m:r>
                        <a:rPr lang="en-US" sz="1850" i="1">
                          <a:latin typeface="Cambria Math" panose="02040503050406030204" pitchFamily="18" charset="0"/>
                        </a:rPr>
                        <m:t>=</m:t>
                      </m:r>
                      <m:f>
                        <m:fPr>
                          <m:ctrlPr>
                            <a:rPr lang="en-US" sz="1850" i="1">
                              <a:latin typeface="Cambria Math" panose="02040503050406030204" pitchFamily="18" charset="0"/>
                            </a:rPr>
                          </m:ctrlPr>
                        </m:fPr>
                        <m:num>
                          <m:r>
                            <a:rPr lang="en-US" sz="1850" i="1">
                              <a:latin typeface="Cambria Math" panose="02040503050406030204" pitchFamily="18" charset="0"/>
                            </a:rPr>
                            <m:t>𝑑</m:t>
                          </m:r>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r>
                                <a:rPr lang="en-US" sz="1850" i="1">
                                  <a:latin typeface="Cambria Math" panose="02040503050406030204" pitchFamily="18" charset="0"/>
                                </a:rPr>
                                <m:t>𝑙</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e>
                              </m:d>
                            </m:e>
                          </m:d>
                        </m:num>
                        <m:den>
                          <m:r>
                            <a:rPr lang="en-US" sz="1850" i="1">
                              <a:latin typeface="Cambria Math" panose="02040503050406030204" pitchFamily="18" charset="0"/>
                            </a:rPr>
                            <m:t>𝑑</m:t>
                          </m:r>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i="1">
                                      <a:latin typeface="Cambria Math" panose="02040503050406030204" pitchFamily="18" charset="0"/>
                                    </a:rPr>
                                    <m:t>𝑈</m:t>
                                  </m:r>
                                </m:e>
                                <m:sub>
                                  <m:r>
                                    <a:rPr lang="en-US" sz="1850" i="1">
                                      <a:latin typeface="Cambria Math" panose="02040503050406030204" pitchFamily="18" charset="0"/>
                                    </a:rPr>
                                    <m:t>𝐾</m:t>
                                  </m:r>
                                </m:sub>
                              </m:sSub>
                            </m:e>
                          </m:d>
                        </m:den>
                      </m:f>
                      <m:r>
                        <a:rPr lang="en-US" sz="1850" i="1">
                          <a:latin typeface="Cambria Math" panose="02040503050406030204" pitchFamily="18" charset="0"/>
                        </a:rPr>
                        <m:t>=</m:t>
                      </m:r>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r>
                                            <a:rPr lang="en-US" sz="1850" i="1">
                                              <a:latin typeface="Cambria Math" panose="02040503050406030204" pitchFamily="18" charset="0"/>
                                            </a:rPr>
                                            <m:t>−1</m:t>
                                          </m:r>
                                        </m:sub>
                                      </m:sSub>
                                      <m:sSub>
                                        <m:sSubPr>
                                          <m:ctrlPr>
                                            <a:rPr lang="en-US" sz="1850" i="1">
                                              <a:latin typeface="Cambria Math" panose="02040503050406030204" pitchFamily="18" charset="0"/>
                                            </a:rPr>
                                          </m:ctrlPr>
                                        </m:sSubPr>
                                        <m:e>
                                          <m:r>
                                            <a:rPr lang="en-US" sz="1850" i="1">
                                              <a:latin typeface="Cambria Math" panose="02040503050406030204" pitchFamily="18" charset="0"/>
                                            </a:rPr>
                                            <m:t>𝑉</m:t>
                                          </m:r>
                                        </m:e>
                                        <m:sub>
                                          <m:r>
                                            <a:rPr lang="en-US" sz="1850" i="1">
                                              <a:latin typeface="Cambria Math" panose="02040503050406030204" pitchFamily="18" charset="0"/>
                                            </a:rPr>
                                            <m:t>𝐾</m:t>
                                          </m:r>
                                        </m:sub>
                                      </m:sSub>
                                    </m:e>
                                  </m:d>
                                </m:e>
                                <m:sup>
                                  <m:r>
                                    <a:rPr lang="en-US" sz="1850" i="1">
                                      <a:latin typeface="Cambria Math" panose="02040503050406030204" pitchFamily="18" charset="0"/>
                                    </a:rPr>
                                    <m:t>𝑇</m:t>
                                  </m:r>
                                </m:sup>
                              </m:sSup>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i="1">
                                      <a:latin typeface="Cambria Math" panose="02040503050406030204" pitchFamily="18" charset="0"/>
                                    </a:rPr>
                                    <m:t>𝐼</m:t>
                                  </m:r>
                                </m:e>
                                <m:sub>
                                  <m:r>
                                    <a:rPr lang="en-US" sz="1850" i="1">
                                      <a:latin typeface="Cambria Math" panose="02040503050406030204" pitchFamily="18" charset="0"/>
                                    </a:rPr>
                                    <m:t>𝑟</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i="1">
                                              <a:latin typeface="Cambria Math" panose="02040503050406030204" pitchFamily="18" charset="0"/>
                                            </a:rPr>
                                            <m:t>𝑈</m:t>
                                          </m:r>
                                        </m:e>
                                        <m:sub>
                                          <m:r>
                                            <a:rPr lang="en-US" sz="1850" i="1">
                                              <a:latin typeface="Cambria Math" panose="02040503050406030204" pitchFamily="18" charset="0"/>
                                            </a:rPr>
                                            <m:t>𝐾</m:t>
                                          </m:r>
                                        </m:sub>
                                      </m:sSub>
                                    </m:e>
                                  </m:d>
                                </m:sub>
                              </m:sSub>
                            </m:e>
                          </m:d>
                        </m:e>
                        <m:sup>
                          <m:r>
                            <a:rPr lang="en-US" sz="1850" i="1">
                              <a:latin typeface="Cambria Math" panose="02040503050406030204" pitchFamily="18" charset="0"/>
                            </a:rPr>
                            <m:t>𝑇</m:t>
                          </m:r>
                        </m:sup>
                      </m:sSup>
                      <m:sSub>
                        <m:sSubPr>
                          <m:ctrlPr>
                            <a:rPr lang="en-US" sz="1850" i="1">
                              <a:latin typeface="Cambria Math" panose="02040503050406030204" pitchFamily="18" charset="0"/>
                            </a:rPr>
                          </m:ctrlPr>
                        </m:sSubPr>
                        <m:e>
                          <m:r>
                            <a:rPr lang="en-US" sz="1850">
                              <a:latin typeface="Cambria Math" panose="02040503050406030204" pitchFamily="18" charset="0"/>
                            </a:rPr>
                            <m:t>𝛻</m:t>
                          </m:r>
                        </m:e>
                        <m:sub>
                          <m:sSub>
                            <m:sSubPr>
                              <m:ctrlPr>
                                <a:rPr lang="en-US" sz="1850" i="1">
                                  <a:latin typeface="Cambria Math" panose="02040503050406030204" pitchFamily="18" charset="0"/>
                                </a:rPr>
                              </m:ctrlPr>
                            </m:sSubPr>
                            <m:e>
                              <m:r>
                                <m:rPr>
                                  <m:sty m:val="p"/>
                                </m:rPr>
                                <a:rPr lang="en-US" sz="1850">
                                  <a:latin typeface="Cambria Math" panose="02040503050406030204" pitchFamily="18" charset="0"/>
                                </a:rPr>
                                <m:t>Θ</m:t>
                              </m:r>
                            </m:e>
                            <m:sub>
                              <m:r>
                                <a:rPr lang="en-US" sz="1850" i="1">
                                  <a:latin typeface="Cambria Math" panose="02040503050406030204" pitchFamily="18" charset="0"/>
                                </a:rPr>
                                <m:t>𝐾</m:t>
                              </m:r>
                            </m:sub>
                          </m:sSub>
                        </m:sub>
                      </m:sSub>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r>
                            <a:rPr lang="en-US" sz="1850" i="1">
                              <a:latin typeface="Cambria Math" panose="02040503050406030204" pitchFamily="18" charset="0"/>
                            </a:rPr>
                            <m:t>𝑙</m:t>
                          </m:r>
                        </m:e>
                      </m:d>
                    </m:oMath>
                  </m:oMathPara>
                </a14:m>
                <a:endParaRPr lang="en-US" sz="1850" dirty="0"/>
              </a:p>
              <a:p>
                <a:pPr marL="0" indent="0">
                  <a:buNone/>
                </a:pPr>
                <a:r>
                  <a:rPr lang="en-US" sz="1850" dirty="0" smtClean="0"/>
                  <a:t>  </a:t>
                </a:r>
              </a:p>
              <a:p>
                <a:pPr marL="0" indent="0">
                  <a:buNone/>
                </a:pPr>
                <a:endParaRPr lang="en-US" sz="1850" dirty="0"/>
              </a:p>
              <a:p>
                <a:pPr marL="0" indent="0">
                  <a:buNone/>
                </a:pPr>
                <a:endParaRPr lang="en-US" sz="185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1280" y="914399"/>
                <a:ext cx="12009120" cy="5176066"/>
              </a:xfrm>
              <a:blipFill>
                <a:blip r:embed="rId3"/>
                <a:stretch>
                  <a:fillRect l="-457" t="-707" r="-457" b="-589"/>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16</a:t>
            </a:fld>
            <a:endParaRPr lang="en-US"/>
          </a:p>
        </p:txBody>
      </p:sp>
    </p:spTree>
    <p:extLst>
      <p:ext uri="{BB962C8B-B14F-4D97-AF65-F5344CB8AC3E}">
        <p14:creationId xmlns:p14="http://schemas.microsoft.com/office/powerpoint/2010/main" val="24989219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network (</a:t>
            </a:r>
            <a:r>
              <a:rPr lang="en-US" b="1" dirty="0"/>
              <a:t>skip</a:t>
            </a:r>
            <a:r>
              <a:rPr lang="en-US" dirty="0"/>
              <a: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1280" y="914399"/>
                <a:ext cx="12019280" cy="5176066"/>
              </a:xfrm>
            </p:spPr>
            <p:txBody>
              <a:bodyPr>
                <a:noAutofit/>
              </a:bodyPr>
              <a:lstStyle/>
              <a:p>
                <a:pPr marL="0" indent="0">
                  <a:buNone/>
                </a:pPr>
                <a:r>
                  <a:rPr lang="en-US" sz="1950" dirty="0"/>
                  <a:t>Let </a:t>
                </a:r>
                <a14:m>
                  <m:oMath xmlns:m="http://schemas.openxmlformats.org/officeDocument/2006/math">
                    <m:sSub>
                      <m:sSubPr>
                        <m:ctrlPr>
                          <a:rPr lang="en-US" sz="1950" i="1">
                            <a:latin typeface="Cambria Math" panose="02040503050406030204" pitchFamily="18" charset="0"/>
                          </a:rPr>
                        </m:ctrlPr>
                      </m:sSubPr>
                      <m:e>
                        <m:r>
                          <a:rPr lang="en-US" sz="1950" i="1">
                            <a:latin typeface="Cambria Math" panose="02040503050406030204" pitchFamily="18" charset="0"/>
                          </a:rPr>
                          <m:t>𝐼</m:t>
                        </m:r>
                      </m:e>
                      <m:sub>
                        <m:r>
                          <a:rPr lang="en-US" sz="1950" i="1">
                            <a:latin typeface="Cambria Math" panose="02040503050406030204" pitchFamily="18" charset="0"/>
                          </a:rPr>
                          <m:t>𝑐</m:t>
                        </m:r>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i="1">
                                    <a:latin typeface="Cambria Math" panose="02040503050406030204" pitchFamily="18" charset="0"/>
                                  </a:rPr>
                                  <m:t>𝑉</m:t>
                                </m:r>
                              </m:e>
                              <m:sub>
                                <m:r>
                                  <a:rPr lang="en-US" sz="1950" i="1">
                                    <a:latin typeface="Cambria Math" panose="02040503050406030204" pitchFamily="18" charset="0"/>
                                  </a:rPr>
                                  <m:t>𝐾</m:t>
                                </m:r>
                              </m:sub>
                            </m:sSub>
                          </m:e>
                        </m:d>
                      </m:sub>
                    </m:sSub>
                  </m:oMath>
                </a14:m>
                <a:r>
                  <a:rPr lang="en-US" sz="1950" dirty="0"/>
                  <a:t> be the identity matrix whose dimension is </a:t>
                </a:r>
                <a:r>
                  <a:rPr lang="en-US" sz="1950" i="1" dirty="0"/>
                  <a:t>c</a:t>
                </a:r>
                <a:r>
                  <a:rPr lang="en-US" sz="1950" dirty="0"/>
                  <a:t>(</a:t>
                </a:r>
                <a:r>
                  <a:rPr lang="en-US" sz="1950" i="1" dirty="0"/>
                  <a:t>V</a:t>
                </a:r>
                <a:r>
                  <a:rPr lang="en-US" sz="1950" i="1" baseline="-25000" dirty="0"/>
                  <a:t>K</a:t>
                </a:r>
                <a:r>
                  <a:rPr lang="en-US" sz="1950" dirty="0"/>
                  <a:t>) x </a:t>
                </a:r>
                <a:r>
                  <a:rPr lang="en-US" sz="1950" i="1" dirty="0"/>
                  <a:t>c</a:t>
                </a:r>
                <a:r>
                  <a:rPr lang="en-US" sz="1950" dirty="0"/>
                  <a:t>(</a:t>
                </a:r>
                <a:r>
                  <a:rPr lang="en-US" sz="1950" i="1" dirty="0"/>
                  <a:t>V</a:t>
                </a:r>
                <a:r>
                  <a:rPr lang="en-US" sz="1950" i="1" baseline="-25000" dirty="0"/>
                  <a:t>K</a:t>
                </a:r>
                <a:r>
                  <a:rPr lang="en-US" sz="1950" dirty="0"/>
                  <a:t>) where </a:t>
                </a:r>
                <a:r>
                  <a:rPr lang="en-US" sz="1950" i="1" dirty="0"/>
                  <a:t>c</a:t>
                </a:r>
                <a:r>
                  <a:rPr lang="en-US" sz="1950" dirty="0"/>
                  <a:t>(</a:t>
                </a:r>
                <a:r>
                  <a:rPr lang="en-US" sz="1950" i="1" dirty="0"/>
                  <a:t>V</a:t>
                </a:r>
                <a:r>
                  <a:rPr lang="en-US" sz="1950" i="1" baseline="-25000" dirty="0"/>
                  <a:t>K</a:t>
                </a:r>
                <a:r>
                  <a:rPr lang="en-US" sz="1950" dirty="0"/>
                  <a:t>) is the number of columns of </a:t>
                </a:r>
                <a:r>
                  <a:rPr lang="en-US" sz="1950" i="1" dirty="0" smtClean="0"/>
                  <a:t>U</a:t>
                </a:r>
                <a:r>
                  <a:rPr lang="en-US" sz="1950" i="1" baseline="-25000" dirty="0" smtClean="0"/>
                  <a:t>K</a:t>
                </a:r>
                <a:r>
                  <a:rPr lang="en-US" sz="1950" dirty="0" smtClean="0"/>
                  <a:t>. Similarly, likelihood </a:t>
                </a:r>
                <a:r>
                  <a:rPr lang="en-US" sz="1950" dirty="0"/>
                  <a:t>differential </a:t>
                </a:r>
                <a:r>
                  <a:rPr lang="en-US" sz="1950" i="1" dirty="0"/>
                  <a:t>dl</a:t>
                </a:r>
                <a:r>
                  <a:rPr lang="en-US" sz="1950" dirty="0"/>
                  <a:t> with respect to last weight parameter </a:t>
                </a:r>
                <a:r>
                  <a:rPr lang="en-US" sz="1950" i="1" dirty="0"/>
                  <a:t>V</a:t>
                </a:r>
                <a:r>
                  <a:rPr lang="en-US" sz="1950" i="1" baseline="-25000" dirty="0"/>
                  <a:t>K</a:t>
                </a:r>
                <a:r>
                  <a:rPr lang="en-US" sz="1950" dirty="0"/>
                  <a:t> </a:t>
                </a:r>
                <a:r>
                  <a:rPr lang="en-US" sz="1950" dirty="0" smtClean="0"/>
                  <a:t>is </a:t>
                </a:r>
                <a14:m>
                  <m:oMath xmlns:m="http://schemas.openxmlformats.org/officeDocument/2006/math">
                    <m:r>
                      <a:rPr lang="en-US" sz="1950" i="1">
                        <a:latin typeface="Cambria Math" panose="02040503050406030204" pitchFamily="18" charset="0"/>
                      </a:rPr>
                      <m:t>𝑑</m:t>
                    </m:r>
                    <m:r>
                      <m:rPr>
                        <m:sty m:val="p"/>
                      </m:rPr>
                      <a:rPr lang="en-US" sz="1950">
                        <a:latin typeface="Cambria Math" panose="02040503050406030204" pitchFamily="18" charset="0"/>
                      </a:rPr>
                      <m:t>vec</m:t>
                    </m:r>
                    <m:d>
                      <m:dPr>
                        <m:ctrlPr>
                          <a:rPr lang="en-US" sz="1950" i="1">
                            <a:latin typeface="Cambria Math" panose="02040503050406030204" pitchFamily="18" charset="0"/>
                          </a:rPr>
                        </m:ctrlPr>
                      </m:dPr>
                      <m:e>
                        <m:r>
                          <a:rPr lang="en-US" sz="1950" i="1">
                            <a:latin typeface="Cambria Math" panose="02040503050406030204" pitchFamily="18" charset="0"/>
                          </a:rPr>
                          <m:t>𝑙</m:t>
                        </m:r>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b="1" i="1">
                                    <a:latin typeface="Cambria Math" panose="02040503050406030204" pitchFamily="18" charset="0"/>
                                  </a:rPr>
                                  <m:t>𝑿</m:t>
                                </m:r>
                              </m:e>
                              <m:sub>
                                <m:r>
                                  <a:rPr lang="en-US" sz="1950" i="1">
                                    <a:latin typeface="Cambria Math" panose="02040503050406030204" pitchFamily="18" charset="0"/>
                                  </a:rPr>
                                  <m:t>𝐾</m:t>
                                </m:r>
                              </m:sub>
                            </m:sSub>
                          </m:e>
                        </m:d>
                      </m:e>
                    </m:d>
                    <m:r>
                      <a:rPr lang="en-US" sz="1950" i="1">
                        <a:latin typeface="Cambria Math" panose="02040503050406030204" pitchFamily="18" charset="0"/>
                      </a:rPr>
                      <m:t>=</m:t>
                    </m:r>
                    <m:r>
                      <m:rPr>
                        <m:sty m:val="p"/>
                      </m:rPr>
                      <a:rPr lang="en-US" sz="1950">
                        <a:latin typeface="Cambria Math" panose="02040503050406030204" pitchFamily="18" charset="0"/>
                      </a:rPr>
                      <m:t>tr</m:t>
                    </m:r>
                    <m:d>
                      <m:dPr>
                        <m:ctrlPr>
                          <a:rPr lang="en-US" sz="1950" i="1">
                            <a:latin typeface="Cambria Math" panose="02040503050406030204" pitchFamily="18" charset="0"/>
                          </a:rPr>
                        </m:ctrlPr>
                      </m:dPr>
                      <m:e>
                        <m:sSup>
                          <m:sSupPr>
                            <m:ctrlPr>
                              <a:rPr lang="en-US" sz="1950" i="1">
                                <a:latin typeface="Cambria Math" panose="02040503050406030204" pitchFamily="18" charset="0"/>
                              </a:rPr>
                            </m:ctrlPr>
                          </m:sSupPr>
                          <m:e>
                            <m:r>
                              <m:rPr>
                                <m:sty m:val="p"/>
                              </m:rPr>
                              <a:rPr lang="en-US" sz="1950">
                                <a:latin typeface="Cambria Math" panose="02040503050406030204" pitchFamily="18" charset="0"/>
                              </a:rPr>
                              <m:t>vec</m:t>
                            </m:r>
                            <m:d>
                              <m:dPr>
                                <m:ctrlPr>
                                  <a:rPr lang="en-US" sz="1950" i="1">
                                    <a:latin typeface="Cambria Math" panose="02040503050406030204" pitchFamily="18" charset="0"/>
                                  </a:rPr>
                                </m:ctrlPr>
                              </m:dPr>
                              <m:e>
                                <m:sSubSup>
                                  <m:sSubSupPr>
                                    <m:ctrlPr>
                                      <a:rPr lang="en-US" sz="1950" i="1">
                                        <a:latin typeface="Cambria Math" panose="02040503050406030204" pitchFamily="18" charset="0"/>
                                      </a:rPr>
                                    </m:ctrlPr>
                                  </m:sSubSupPr>
                                  <m:e>
                                    <m:r>
                                      <a:rPr lang="en-US" sz="1950" b="1" i="1">
                                        <a:latin typeface="Cambria Math" panose="02040503050406030204" pitchFamily="18" charset="0"/>
                                      </a:rPr>
                                      <m:t>𝑿</m:t>
                                    </m:r>
                                  </m:e>
                                  <m:sub>
                                    <m:r>
                                      <a:rPr lang="en-US" sz="1950" i="1">
                                        <a:latin typeface="Cambria Math" panose="02040503050406030204" pitchFamily="18" charset="0"/>
                                      </a:rPr>
                                      <m:t>𝐾</m:t>
                                    </m:r>
                                  </m:sub>
                                  <m:sup>
                                    <m:r>
                                      <a:rPr lang="en-US" sz="1950" i="1">
                                        <a:latin typeface="Cambria Math" panose="02040503050406030204" pitchFamily="18" charset="0"/>
                                      </a:rPr>
                                      <m:t>′</m:t>
                                    </m:r>
                                  </m:sup>
                                </m:sSubSup>
                                <m:r>
                                  <a:rPr lang="en-US" sz="1950" i="1">
                                    <a:latin typeface="Cambria Math" panose="02040503050406030204" pitchFamily="18" charset="0"/>
                                  </a:rPr>
                                  <m:t>−</m:t>
                                </m:r>
                                <m:sSub>
                                  <m:sSubPr>
                                    <m:ctrlPr>
                                      <a:rPr lang="en-US" sz="1950" i="1">
                                        <a:latin typeface="Cambria Math" panose="02040503050406030204" pitchFamily="18" charset="0"/>
                                      </a:rPr>
                                    </m:ctrlPr>
                                  </m:sSubPr>
                                  <m:e>
                                    <m:r>
                                      <a:rPr lang="en-US" sz="1950" b="1" i="1">
                                        <a:latin typeface="Cambria Math" panose="02040503050406030204" pitchFamily="18" charset="0"/>
                                      </a:rPr>
                                      <m:t>𝑿</m:t>
                                    </m:r>
                                  </m:e>
                                  <m:sub>
                                    <m:r>
                                      <a:rPr lang="en-US" sz="1950" i="1">
                                        <a:latin typeface="Cambria Math" panose="02040503050406030204" pitchFamily="18" charset="0"/>
                                      </a:rPr>
                                      <m:t>𝐾</m:t>
                                    </m:r>
                                  </m:sub>
                                </m:sSub>
                              </m:e>
                            </m:d>
                          </m:e>
                          <m:sup>
                            <m:r>
                              <a:rPr lang="en-US" sz="1950" i="1">
                                <a:latin typeface="Cambria Math" panose="02040503050406030204" pitchFamily="18" charset="0"/>
                              </a:rPr>
                              <m:t>𝑇</m:t>
                            </m:r>
                          </m:sup>
                        </m:sSup>
                        <m:sSubSup>
                          <m:sSubSupPr>
                            <m:ctrlPr>
                              <a:rPr lang="en-US" sz="1950" i="1">
                                <a:latin typeface="Cambria Math" panose="02040503050406030204" pitchFamily="18" charset="0"/>
                              </a:rPr>
                            </m:ctrlPr>
                          </m:sSubSupPr>
                          <m:e>
                            <m:r>
                              <a:rPr lang="en-US" sz="1950" i="1">
                                <a:latin typeface="Cambria Math" panose="02040503050406030204" pitchFamily="18" charset="0"/>
                              </a:rPr>
                              <m:t>𝑓</m:t>
                            </m:r>
                          </m:e>
                          <m:sub>
                            <m:sSub>
                              <m:sSubPr>
                                <m:ctrlPr>
                                  <a:rPr lang="en-US" sz="1950" i="1">
                                    <a:latin typeface="Cambria Math" panose="02040503050406030204" pitchFamily="18" charset="0"/>
                                  </a:rPr>
                                </m:ctrlPr>
                              </m:sSubPr>
                              <m:e>
                                <m:r>
                                  <a:rPr lang="en-US" sz="1950" b="1" i="1">
                                    <a:latin typeface="Cambria Math" panose="02040503050406030204" pitchFamily="18" charset="0"/>
                                  </a:rPr>
                                  <m:t>𝑿</m:t>
                                </m:r>
                              </m:e>
                              <m:sub>
                                <m:r>
                                  <a:rPr lang="en-US" sz="1950" i="1">
                                    <a:latin typeface="Cambria Math" panose="02040503050406030204" pitchFamily="18" charset="0"/>
                                  </a:rPr>
                                  <m:t>𝐾</m:t>
                                </m:r>
                              </m:sub>
                            </m:sSub>
                          </m:sub>
                          <m:sup>
                            <m:r>
                              <a:rPr lang="en-US" sz="1950" i="1">
                                <a:latin typeface="Cambria Math" panose="02040503050406030204" pitchFamily="18" charset="0"/>
                              </a:rPr>
                              <m:t>′</m:t>
                            </m:r>
                          </m:sup>
                        </m:sSubSup>
                        <m:d>
                          <m:dPr>
                            <m:ctrlPr>
                              <a:rPr lang="en-US" sz="1950" i="1">
                                <a:latin typeface="Cambria Math" panose="02040503050406030204" pitchFamily="18" charset="0"/>
                              </a:rPr>
                            </m:ctrlPr>
                          </m:dPr>
                          <m:e>
                            <m:r>
                              <m:rPr>
                                <m:sty m:val="p"/>
                              </m:rPr>
                              <a:rPr lang="en-US" sz="1950">
                                <a:latin typeface="Cambria Math" panose="02040503050406030204" pitchFamily="18" charset="0"/>
                              </a:rPr>
                              <m:t>vec</m:t>
                            </m:r>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acc>
                                      <m:accPr>
                                        <m:chr m:val="̂"/>
                                        <m:ctrlPr>
                                          <a:rPr lang="en-US" sz="1950" i="1">
                                            <a:latin typeface="Cambria Math" panose="02040503050406030204" pitchFamily="18" charset="0"/>
                                          </a:rPr>
                                        </m:ctrlPr>
                                      </m:accPr>
                                      <m:e>
                                        <m:r>
                                          <a:rPr lang="en-US" sz="1950" b="1" i="1">
                                            <a:latin typeface="Cambria Math" panose="02040503050406030204" pitchFamily="18" charset="0"/>
                                          </a:rPr>
                                          <m:t>𝑿</m:t>
                                        </m:r>
                                      </m:e>
                                    </m:acc>
                                  </m:e>
                                  <m:sub>
                                    <m:r>
                                      <a:rPr lang="en-US" sz="1950" i="1">
                                        <a:latin typeface="Cambria Math" panose="02040503050406030204" pitchFamily="18" charset="0"/>
                                      </a:rPr>
                                      <m:t>𝐾</m:t>
                                    </m:r>
                                    <m:r>
                                      <a:rPr lang="en-US" sz="1950" i="1">
                                        <a:latin typeface="Cambria Math" panose="02040503050406030204" pitchFamily="18" charset="0"/>
                                      </a:rPr>
                                      <m:t>−1</m:t>
                                    </m:r>
                                  </m:sub>
                                </m:sSub>
                              </m:e>
                            </m:d>
                          </m:e>
                        </m:d>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i="1">
                                    <a:latin typeface="Cambria Math" panose="02040503050406030204" pitchFamily="18" charset="0"/>
                                  </a:rPr>
                                  <m:t>𝐼</m:t>
                                </m:r>
                              </m:e>
                              <m:sub>
                                <m:r>
                                  <a:rPr lang="en-US" sz="1950" i="1">
                                    <a:latin typeface="Cambria Math" panose="02040503050406030204" pitchFamily="18" charset="0"/>
                                  </a:rPr>
                                  <m:t>𝑐</m:t>
                                </m:r>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i="1">
                                            <a:latin typeface="Cambria Math" panose="02040503050406030204" pitchFamily="18" charset="0"/>
                                          </a:rPr>
                                          <m:t>𝑉</m:t>
                                        </m:r>
                                      </m:e>
                                      <m:sub>
                                        <m:r>
                                          <a:rPr lang="en-US" sz="1950" i="1">
                                            <a:latin typeface="Cambria Math" panose="02040503050406030204" pitchFamily="18" charset="0"/>
                                          </a:rPr>
                                          <m:t>𝐾</m:t>
                                        </m:r>
                                      </m:sub>
                                    </m:sSub>
                                  </m:e>
                                </m:d>
                              </m:sub>
                            </m:sSub>
                            <m:r>
                              <a:rPr lang="en-US" sz="1950" i="1">
                                <a:latin typeface="Cambria Math" panose="02040503050406030204" pitchFamily="18" charset="0"/>
                              </a:rPr>
                              <m:t>⨂</m:t>
                            </m:r>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i="1">
                                        <a:latin typeface="Cambria Math" panose="02040503050406030204" pitchFamily="18" charset="0"/>
                                      </a:rPr>
                                      <m:t>𝑈</m:t>
                                    </m:r>
                                  </m:e>
                                  <m:sub>
                                    <m:r>
                                      <a:rPr lang="en-US" sz="1950" i="1">
                                        <a:latin typeface="Cambria Math" panose="02040503050406030204" pitchFamily="18" charset="0"/>
                                      </a:rPr>
                                      <m:t>𝐾</m:t>
                                    </m:r>
                                  </m:sub>
                                </m:sSub>
                                <m:sSub>
                                  <m:sSubPr>
                                    <m:ctrlPr>
                                      <a:rPr lang="en-US" sz="1950" i="1">
                                        <a:latin typeface="Cambria Math" panose="02040503050406030204" pitchFamily="18" charset="0"/>
                                      </a:rPr>
                                    </m:ctrlPr>
                                  </m:sSubPr>
                                  <m:e>
                                    <m:r>
                                      <a:rPr lang="en-US" sz="1950" b="1" i="1">
                                        <a:latin typeface="Cambria Math" panose="02040503050406030204" pitchFamily="18" charset="0"/>
                                      </a:rPr>
                                      <m:t>𝑿</m:t>
                                    </m:r>
                                  </m:e>
                                  <m:sub>
                                    <m:r>
                                      <a:rPr lang="en-US" sz="1950" i="1">
                                        <a:latin typeface="Cambria Math" panose="02040503050406030204" pitchFamily="18" charset="0"/>
                                      </a:rPr>
                                      <m:t>𝐾</m:t>
                                    </m:r>
                                    <m:r>
                                      <a:rPr lang="en-US" sz="1950" i="1">
                                        <a:latin typeface="Cambria Math" panose="02040503050406030204" pitchFamily="18" charset="0"/>
                                      </a:rPr>
                                      <m:t>−1</m:t>
                                    </m:r>
                                  </m:sub>
                                </m:sSub>
                              </m:e>
                            </m:d>
                          </m:e>
                        </m:d>
                        <m:r>
                          <a:rPr lang="en-US" sz="1950" i="1">
                            <a:latin typeface="Cambria Math" panose="02040503050406030204" pitchFamily="18" charset="0"/>
                          </a:rPr>
                          <m:t>𝑑</m:t>
                        </m:r>
                        <m:r>
                          <m:rPr>
                            <m:sty m:val="p"/>
                          </m:rPr>
                          <a:rPr lang="en-US" sz="1950">
                            <a:latin typeface="Cambria Math" panose="02040503050406030204" pitchFamily="18" charset="0"/>
                          </a:rPr>
                          <m:t>vec</m:t>
                        </m:r>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i="1">
                                    <a:latin typeface="Cambria Math" panose="02040503050406030204" pitchFamily="18" charset="0"/>
                                  </a:rPr>
                                  <m:t>𝑉</m:t>
                                </m:r>
                              </m:e>
                              <m:sub>
                                <m:r>
                                  <a:rPr lang="en-US" sz="1950" i="1">
                                    <a:latin typeface="Cambria Math" panose="02040503050406030204" pitchFamily="18" charset="0"/>
                                  </a:rPr>
                                  <m:t>𝐾</m:t>
                                </m:r>
                              </m:sub>
                            </m:sSub>
                          </m:e>
                        </m:d>
                      </m:e>
                    </m:d>
                  </m:oMath>
                </a14:m>
                <a:r>
                  <a:rPr lang="en-US" sz="1950" dirty="0" smtClean="0"/>
                  <a:t> so that </a:t>
                </a:r>
                <a:r>
                  <a:rPr lang="en-US" sz="1950" dirty="0"/>
                  <a:t>the gradient of last weight parameter </a:t>
                </a:r>
                <a:r>
                  <a:rPr lang="en-US" sz="1950" i="1" dirty="0"/>
                  <a:t>V</a:t>
                </a:r>
                <a:r>
                  <a:rPr lang="en-US" sz="1950" i="1" baseline="-25000" dirty="0"/>
                  <a:t>K</a:t>
                </a:r>
                <a:r>
                  <a:rPr lang="en-US" sz="1950" dirty="0"/>
                  <a:t> is</a:t>
                </a:r>
                <a:r>
                  <a:rPr lang="en-US" sz="1950" dirty="0" smtClean="0"/>
                  <a:t>:</a:t>
                </a:r>
              </a:p>
              <a:p>
                <a:pPr marL="0" indent="0">
                  <a:buNone/>
                </a:pPr>
                <a14:m>
                  <m:oMathPara xmlns:m="http://schemas.openxmlformats.org/officeDocument/2006/math">
                    <m:oMathParaPr>
                      <m:jc m:val="centerGroup"/>
                    </m:oMathParaPr>
                    <m:oMath xmlns:m="http://schemas.openxmlformats.org/officeDocument/2006/math">
                      <m:sSub>
                        <m:sSubPr>
                          <m:ctrlPr>
                            <a:rPr lang="en-US" sz="1950" i="1">
                              <a:latin typeface="Cambria Math" panose="02040503050406030204" pitchFamily="18" charset="0"/>
                            </a:rPr>
                          </m:ctrlPr>
                        </m:sSubPr>
                        <m:e>
                          <m:r>
                            <a:rPr lang="en-US" sz="1950">
                              <a:latin typeface="Cambria Math" panose="02040503050406030204" pitchFamily="18" charset="0"/>
                            </a:rPr>
                            <m:t>𝛻</m:t>
                          </m:r>
                        </m:e>
                        <m:sub>
                          <m:sSub>
                            <m:sSubPr>
                              <m:ctrlPr>
                                <a:rPr lang="en-US" sz="1950" i="1">
                                  <a:latin typeface="Cambria Math" panose="02040503050406030204" pitchFamily="18" charset="0"/>
                                </a:rPr>
                              </m:ctrlPr>
                            </m:sSubPr>
                            <m:e>
                              <m:r>
                                <a:rPr lang="en-US" sz="1950" i="1">
                                  <a:latin typeface="Cambria Math" panose="02040503050406030204" pitchFamily="18" charset="0"/>
                                </a:rPr>
                                <m:t>𝑉</m:t>
                              </m:r>
                            </m:e>
                            <m:sub>
                              <m:r>
                                <a:rPr lang="en-US" sz="1950" i="1">
                                  <a:latin typeface="Cambria Math" panose="02040503050406030204" pitchFamily="18" charset="0"/>
                                </a:rPr>
                                <m:t>𝐾</m:t>
                              </m:r>
                            </m:sub>
                          </m:sSub>
                        </m:sub>
                      </m:sSub>
                      <m:r>
                        <m:rPr>
                          <m:sty m:val="p"/>
                        </m:rPr>
                        <a:rPr lang="en-US" sz="1950">
                          <a:latin typeface="Cambria Math" panose="02040503050406030204" pitchFamily="18" charset="0"/>
                        </a:rPr>
                        <m:t>vec</m:t>
                      </m:r>
                      <m:d>
                        <m:dPr>
                          <m:ctrlPr>
                            <a:rPr lang="en-US" sz="1950" i="1">
                              <a:latin typeface="Cambria Math" panose="02040503050406030204" pitchFamily="18" charset="0"/>
                            </a:rPr>
                          </m:ctrlPr>
                        </m:dPr>
                        <m:e>
                          <m:r>
                            <a:rPr lang="en-US" sz="1950" i="1">
                              <a:latin typeface="Cambria Math" panose="02040503050406030204" pitchFamily="18" charset="0"/>
                            </a:rPr>
                            <m:t>𝑙</m:t>
                          </m:r>
                        </m:e>
                      </m:d>
                      <m:r>
                        <a:rPr lang="en-US" sz="1950" i="1">
                          <a:latin typeface="Cambria Math" panose="02040503050406030204" pitchFamily="18" charset="0"/>
                        </a:rPr>
                        <m:t>=</m:t>
                      </m:r>
                      <m:f>
                        <m:fPr>
                          <m:ctrlPr>
                            <a:rPr lang="en-US" sz="1950" i="1">
                              <a:latin typeface="Cambria Math" panose="02040503050406030204" pitchFamily="18" charset="0"/>
                            </a:rPr>
                          </m:ctrlPr>
                        </m:fPr>
                        <m:num>
                          <m:r>
                            <a:rPr lang="en-US" sz="1950" i="1">
                              <a:latin typeface="Cambria Math" panose="02040503050406030204" pitchFamily="18" charset="0"/>
                            </a:rPr>
                            <m:t>𝑑</m:t>
                          </m:r>
                          <m:r>
                            <m:rPr>
                              <m:sty m:val="p"/>
                            </m:rPr>
                            <a:rPr lang="en-US" sz="1950">
                              <a:latin typeface="Cambria Math" panose="02040503050406030204" pitchFamily="18" charset="0"/>
                            </a:rPr>
                            <m:t>vec</m:t>
                          </m:r>
                          <m:d>
                            <m:dPr>
                              <m:ctrlPr>
                                <a:rPr lang="en-US" sz="1950" i="1">
                                  <a:latin typeface="Cambria Math" panose="02040503050406030204" pitchFamily="18" charset="0"/>
                                </a:rPr>
                              </m:ctrlPr>
                            </m:dPr>
                            <m:e>
                              <m:r>
                                <a:rPr lang="en-US" sz="1950" i="1">
                                  <a:latin typeface="Cambria Math" panose="02040503050406030204" pitchFamily="18" charset="0"/>
                                </a:rPr>
                                <m:t>𝑙</m:t>
                              </m:r>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b="1" i="1">
                                          <a:latin typeface="Cambria Math" panose="02040503050406030204" pitchFamily="18" charset="0"/>
                                        </a:rPr>
                                        <m:t>𝑿</m:t>
                                      </m:r>
                                    </m:e>
                                    <m:sub>
                                      <m:r>
                                        <a:rPr lang="en-US" sz="1950" i="1">
                                          <a:latin typeface="Cambria Math" panose="02040503050406030204" pitchFamily="18" charset="0"/>
                                        </a:rPr>
                                        <m:t>𝐾</m:t>
                                      </m:r>
                                    </m:sub>
                                  </m:sSub>
                                </m:e>
                              </m:d>
                            </m:e>
                          </m:d>
                        </m:num>
                        <m:den>
                          <m:r>
                            <a:rPr lang="en-US" sz="1950" i="1">
                              <a:latin typeface="Cambria Math" panose="02040503050406030204" pitchFamily="18" charset="0"/>
                            </a:rPr>
                            <m:t>𝑑</m:t>
                          </m:r>
                          <m:r>
                            <m:rPr>
                              <m:sty m:val="p"/>
                            </m:rPr>
                            <a:rPr lang="en-US" sz="1950">
                              <a:latin typeface="Cambria Math" panose="02040503050406030204" pitchFamily="18" charset="0"/>
                            </a:rPr>
                            <m:t>vec</m:t>
                          </m:r>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i="1">
                                      <a:latin typeface="Cambria Math" panose="02040503050406030204" pitchFamily="18" charset="0"/>
                                    </a:rPr>
                                    <m:t>𝑉</m:t>
                                  </m:r>
                                </m:e>
                                <m:sub>
                                  <m:r>
                                    <a:rPr lang="en-US" sz="1950" i="1">
                                      <a:latin typeface="Cambria Math" panose="02040503050406030204" pitchFamily="18" charset="0"/>
                                    </a:rPr>
                                    <m:t>𝐾</m:t>
                                  </m:r>
                                </m:sub>
                              </m:sSub>
                            </m:e>
                          </m:d>
                        </m:den>
                      </m:f>
                      <m:r>
                        <a:rPr lang="en-US" sz="1950" i="1">
                          <a:latin typeface="Cambria Math" panose="02040503050406030204" pitchFamily="18" charset="0"/>
                        </a:rPr>
                        <m:t>=</m:t>
                      </m:r>
                      <m:sSup>
                        <m:sSupPr>
                          <m:ctrlPr>
                            <a:rPr lang="en-US" sz="1950" i="1">
                              <a:latin typeface="Cambria Math" panose="02040503050406030204" pitchFamily="18" charset="0"/>
                            </a:rPr>
                          </m:ctrlPr>
                        </m:sSupPr>
                        <m:e>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i="1">
                                      <a:latin typeface="Cambria Math" panose="02040503050406030204" pitchFamily="18" charset="0"/>
                                    </a:rPr>
                                    <m:t>𝐼</m:t>
                                  </m:r>
                                </m:e>
                                <m:sub>
                                  <m:r>
                                    <a:rPr lang="en-US" sz="1950" i="1">
                                      <a:latin typeface="Cambria Math" panose="02040503050406030204" pitchFamily="18" charset="0"/>
                                    </a:rPr>
                                    <m:t>𝑐</m:t>
                                  </m:r>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i="1">
                                              <a:latin typeface="Cambria Math" panose="02040503050406030204" pitchFamily="18" charset="0"/>
                                            </a:rPr>
                                            <m:t>𝑉</m:t>
                                          </m:r>
                                        </m:e>
                                        <m:sub>
                                          <m:r>
                                            <a:rPr lang="en-US" sz="1950" i="1">
                                              <a:latin typeface="Cambria Math" panose="02040503050406030204" pitchFamily="18" charset="0"/>
                                            </a:rPr>
                                            <m:t>𝐾</m:t>
                                          </m:r>
                                        </m:sub>
                                      </m:sSub>
                                    </m:e>
                                  </m:d>
                                </m:sub>
                              </m:sSub>
                              <m:r>
                                <a:rPr lang="en-US" sz="1950" i="1">
                                  <a:latin typeface="Cambria Math" panose="02040503050406030204" pitchFamily="18" charset="0"/>
                                </a:rPr>
                                <m:t>⨂</m:t>
                              </m:r>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i="1">
                                          <a:latin typeface="Cambria Math" panose="02040503050406030204" pitchFamily="18" charset="0"/>
                                        </a:rPr>
                                        <m:t>𝑈</m:t>
                                      </m:r>
                                    </m:e>
                                    <m:sub>
                                      <m:r>
                                        <a:rPr lang="en-US" sz="1950" i="1">
                                          <a:latin typeface="Cambria Math" panose="02040503050406030204" pitchFamily="18" charset="0"/>
                                        </a:rPr>
                                        <m:t>𝐾</m:t>
                                      </m:r>
                                    </m:sub>
                                  </m:sSub>
                                  <m:sSub>
                                    <m:sSubPr>
                                      <m:ctrlPr>
                                        <a:rPr lang="en-US" sz="1950" i="1">
                                          <a:latin typeface="Cambria Math" panose="02040503050406030204" pitchFamily="18" charset="0"/>
                                        </a:rPr>
                                      </m:ctrlPr>
                                    </m:sSubPr>
                                    <m:e>
                                      <m:r>
                                        <a:rPr lang="en-US" sz="1950" b="1" i="1">
                                          <a:latin typeface="Cambria Math" panose="02040503050406030204" pitchFamily="18" charset="0"/>
                                        </a:rPr>
                                        <m:t>𝑿</m:t>
                                      </m:r>
                                    </m:e>
                                    <m:sub>
                                      <m:r>
                                        <a:rPr lang="en-US" sz="1950" i="1">
                                          <a:latin typeface="Cambria Math" panose="02040503050406030204" pitchFamily="18" charset="0"/>
                                        </a:rPr>
                                        <m:t>𝐾</m:t>
                                      </m:r>
                                      <m:r>
                                        <a:rPr lang="en-US" sz="1950" i="1">
                                          <a:latin typeface="Cambria Math" panose="02040503050406030204" pitchFamily="18" charset="0"/>
                                        </a:rPr>
                                        <m:t>−1</m:t>
                                      </m:r>
                                    </m:sub>
                                  </m:sSub>
                                </m:e>
                              </m:d>
                            </m:e>
                          </m:d>
                        </m:e>
                        <m:sup>
                          <m:r>
                            <a:rPr lang="en-US" sz="1950" i="1">
                              <a:latin typeface="Cambria Math" panose="02040503050406030204" pitchFamily="18" charset="0"/>
                            </a:rPr>
                            <m:t>𝑇</m:t>
                          </m:r>
                        </m:sup>
                      </m:sSup>
                      <m:sSub>
                        <m:sSubPr>
                          <m:ctrlPr>
                            <a:rPr lang="en-US" sz="1950" i="1">
                              <a:latin typeface="Cambria Math" panose="02040503050406030204" pitchFamily="18" charset="0"/>
                            </a:rPr>
                          </m:ctrlPr>
                        </m:sSubPr>
                        <m:e>
                          <m:r>
                            <a:rPr lang="en-US" sz="1950">
                              <a:latin typeface="Cambria Math" panose="02040503050406030204" pitchFamily="18" charset="0"/>
                            </a:rPr>
                            <m:t>𝛻</m:t>
                          </m:r>
                        </m:e>
                        <m:sub>
                          <m:sSub>
                            <m:sSubPr>
                              <m:ctrlPr>
                                <a:rPr lang="en-US" sz="1950" i="1">
                                  <a:latin typeface="Cambria Math" panose="02040503050406030204" pitchFamily="18" charset="0"/>
                                </a:rPr>
                              </m:ctrlPr>
                            </m:sSubPr>
                            <m:e>
                              <m:r>
                                <m:rPr>
                                  <m:sty m:val="p"/>
                                </m:rPr>
                                <a:rPr lang="en-US" sz="1950">
                                  <a:latin typeface="Cambria Math" panose="02040503050406030204" pitchFamily="18" charset="0"/>
                                </a:rPr>
                                <m:t>Θ</m:t>
                              </m:r>
                            </m:e>
                            <m:sub>
                              <m:r>
                                <a:rPr lang="en-US" sz="1950" i="1">
                                  <a:latin typeface="Cambria Math" panose="02040503050406030204" pitchFamily="18" charset="0"/>
                                </a:rPr>
                                <m:t>𝐾</m:t>
                              </m:r>
                            </m:sub>
                          </m:sSub>
                        </m:sub>
                      </m:sSub>
                      <m:r>
                        <m:rPr>
                          <m:sty m:val="p"/>
                        </m:rPr>
                        <a:rPr lang="en-US" sz="1950">
                          <a:latin typeface="Cambria Math" panose="02040503050406030204" pitchFamily="18" charset="0"/>
                        </a:rPr>
                        <m:t>vec</m:t>
                      </m:r>
                      <m:d>
                        <m:dPr>
                          <m:ctrlPr>
                            <a:rPr lang="en-US" sz="1950" i="1">
                              <a:latin typeface="Cambria Math" panose="02040503050406030204" pitchFamily="18" charset="0"/>
                            </a:rPr>
                          </m:ctrlPr>
                        </m:dPr>
                        <m:e>
                          <m:r>
                            <a:rPr lang="en-US" sz="1950" i="1">
                              <a:latin typeface="Cambria Math" panose="02040503050406030204" pitchFamily="18" charset="0"/>
                            </a:rPr>
                            <m:t>𝑙</m:t>
                          </m:r>
                        </m:e>
                      </m:d>
                    </m:oMath>
                  </m:oMathPara>
                </a14:m>
                <a:endParaRPr lang="en-US" sz="1950" dirty="0"/>
              </a:p>
              <a:p>
                <a:pPr marL="0" indent="0">
                  <a:buNone/>
                </a:pPr>
                <a:r>
                  <a:rPr lang="en-US" sz="1950" dirty="0"/>
                  <a:t>Moreover, likelihood differential </a:t>
                </a:r>
                <a:r>
                  <a:rPr lang="en-US" sz="1950" i="1" dirty="0"/>
                  <a:t>dl</a:t>
                </a:r>
                <a:r>
                  <a:rPr lang="en-US" sz="1950" dirty="0"/>
                  <a:t> is rewritten according to bias gradient as follows:</a:t>
                </a:r>
              </a:p>
              <a:p>
                <a:pPr marL="0" indent="0">
                  <a:buNone/>
                </a:pPr>
                <a14:m>
                  <m:oMathPara xmlns:m="http://schemas.openxmlformats.org/officeDocument/2006/math">
                    <m:oMathParaPr>
                      <m:jc m:val="centerGroup"/>
                    </m:oMathParaPr>
                    <m:oMath xmlns:m="http://schemas.openxmlformats.org/officeDocument/2006/math">
                      <m:r>
                        <a:rPr lang="en-US" sz="1950" i="1">
                          <a:latin typeface="Cambria Math" panose="02040503050406030204" pitchFamily="18" charset="0"/>
                        </a:rPr>
                        <m:t>𝑑</m:t>
                      </m:r>
                      <m:r>
                        <m:rPr>
                          <m:sty m:val="p"/>
                        </m:rPr>
                        <a:rPr lang="en-US" sz="1950">
                          <a:latin typeface="Cambria Math" panose="02040503050406030204" pitchFamily="18" charset="0"/>
                        </a:rPr>
                        <m:t>vec</m:t>
                      </m:r>
                      <m:d>
                        <m:dPr>
                          <m:ctrlPr>
                            <a:rPr lang="en-US" sz="1950" i="1">
                              <a:latin typeface="Cambria Math" panose="02040503050406030204" pitchFamily="18" charset="0"/>
                            </a:rPr>
                          </m:ctrlPr>
                        </m:dPr>
                        <m:e>
                          <m:r>
                            <a:rPr lang="en-US" sz="1950" i="1">
                              <a:latin typeface="Cambria Math" panose="02040503050406030204" pitchFamily="18" charset="0"/>
                            </a:rPr>
                            <m:t>𝑙</m:t>
                          </m:r>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b="1" i="1">
                                      <a:latin typeface="Cambria Math" panose="02040503050406030204" pitchFamily="18" charset="0"/>
                                    </a:rPr>
                                    <m:t>𝑿</m:t>
                                  </m:r>
                                </m:e>
                                <m:sub>
                                  <m:r>
                                    <a:rPr lang="en-US" sz="1950" i="1">
                                      <a:latin typeface="Cambria Math" panose="02040503050406030204" pitchFamily="18" charset="0"/>
                                    </a:rPr>
                                    <m:t>𝐾</m:t>
                                  </m:r>
                                </m:sub>
                              </m:sSub>
                            </m:e>
                          </m:d>
                        </m:e>
                      </m:d>
                      <m:r>
                        <a:rPr lang="en-US" sz="1950" i="1">
                          <a:latin typeface="Cambria Math" panose="02040503050406030204" pitchFamily="18" charset="0"/>
                        </a:rPr>
                        <m:t>=</m:t>
                      </m:r>
                      <m:r>
                        <m:rPr>
                          <m:sty m:val="p"/>
                        </m:rPr>
                        <a:rPr lang="en-US" sz="1950">
                          <a:latin typeface="Cambria Math" panose="02040503050406030204" pitchFamily="18" charset="0"/>
                        </a:rPr>
                        <m:t>tr</m:t>
                      </m:r>
                      <m:d>
                        <m:dPr>
                          <m:ctrlPr>
                            <a:rPr lang="en-US" sz="1950" i="1">
                              <a:latin typeface="Cambria Math" panose="02040503050406030204" pitchFamily="18" charset="0"/>
                            </a:rPr>
                          </m:ctrlPr>
                        </m:dPr>
                        <m:e>
                          <m:sSup>
                            <m:sSupPr>
                              <m:ctrlPr>
                                <a:rPr lang="en-US" sz="1950" i="1">
                                  <a:latin typeface="Cambria Math" panose="02040503050406030204" pitchFamily="18" charset="0"/>
                                </a:rPr>
                              </m:ctrlPr>
                            </m:sSupPr>
                            <m:e>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a:latin typeface="Cambria Math" panose="02040503050406030204" pitchFamily="18" charset="0"/>
                                        </a:rPr>
                                        <m:t>𝛻</m:t>
                                      </m:r>
                                    </m:e>
                                    <m:sub>
                                      <m:sSub>
                                        <m:sSubPr>
                                          <m:ctrlPr>
                                            <a:rPr lang="en-US" sz="1950" i="1">
                                              <a:latin typeface="Cambria Math" panose="02040503050406030204" pitchFamily="18" charset="0"/>
                                            </a:rPr>
                                          </m:ctrlPr>
                                        </m:sSubPr>
                                        <m:e>
                                          <m:r>
                                            <m:rPr>
                                              <m:sty m:val="p"/>
                                            </m:rPr>
                                            <a:rPr lang="en-US" sz="1950">
                                              <a:latin typeface="Cambria Math" panose="02040503050406030204" pitchFamily="18" charset="0"/>
                                            </a:rPr>
                                            <m:t>Θ</m:t>
                                          </m:r>
                                        </m:e>
                                        <m:sub>
                                          <m:r>
                                            <a:rPr lang="en-US" sz="1950" i="1">
                                              <a:latin typeface="Cambria Math" panose="02040503050406030204" pitchFamily="18" charset="0"/>
                                            </a:rPr>
                                            <m:t>𝐾</m:t>
                                          </m:r>
                                        </m:sub>
                                      </m:sSub>
                                    </m:sub>
                                  </m:sSub>
                                  <m:r>
                                    <m:rPr>
                                      <m:sty m:val="p"/>
                                    </m:rPr>
                                    <a:rPr lang="en-US" sz="1950">
                                      <a:latin typeface="Cambria Math" panose="02040503050406030204" pitchFamily="18" charset="0"/>
                                    </a:rPr>
                                    <m:t>vec</m:t>
                                  </m:r>
                                  <m:d>
                                    <m:dPr>
                                      <m:ctrlPr>
                                        <a:rPr lang="en-US" sz="1950" i="1">
                                          <a:latin typeface="Cambria Math" panose="02040503050406030204" pitchFamily="18" charset="0"/>
                                        </a:rPr>
                                      </m:ctrlPr>
                                    </m:dPr>
                                    <m:e>
                                      <m:r>
                                        <a:rPr lang="en-US" sz="1950" i="1">
                                          <a:latin typeface="Cambria Math" panose="02040503050406030204" pitchFamily="18" charset="0"/>
                                        </a:rPr>
                                        <m:t>𝑙</m:t>
                                      </m:r>
                                    </m:e>
                                  </m:d>
                                </m:e>
                              </m:d>
                            </m:e>
                            <m:sup>
                              <m:r>
                                <a:rPr lang="en-US" sz="1950" i="1">
                                  <a:latin typeface="Cambria Math" panose="02040503050406030204" pitchFamily="18" charset="0"/>
                                </a:rPr>
                                <m:t>𝑇</m:t>
                              </m:r>
                            </m:sup>
                          </m:sSup>
                          <m:d>
                            <m:dPr>
                              <m:ctrlPr>
                                <a:rPr lang="en-US" sz="1950" i="1">
                                  <a:latin typeface="Cambria Math" panose="02040503050406030204" pitchFamily="18" charset="0"/>
                                </a:rPr>
                              </m:ctrlPr>
                            </m:dPr>
                            <m:e>
                              <m:sSubSup>
                                <m:sSubSupPr>
                                  <m:ctrlPr>
                                    <a:rPr lang="en-US" sz="1950" i="1">
                                      <a:latin typeface="Cambria Math" panose="02040503050406030204" pitchFamily="18" charset="0"/>
                                    </a:rPr>
                                  </m:ctrlPr>
                                </m:sSubSupPr>
                                <m:e>
                                  <m:r>
                                    <a:rPr lang="en-US" sz="1950" i="1">
                                      <a:latin typeface="Cambria Math" panose="02040503050406030204" pitchFamily="18" charset="0"/>
                                    </a:rPr>
                                    <m:t>𝑉</m:t>
                                  </m:r>
                                </m:e>
                                <m:sub>
                                  <m:r>
                                    <a:rPr lang="en-US" sz="1950" i="1">
                                      <a:latin typeface="Cambria Math" panose="02040503050406030204" pitchFamily="18" charset="0"/>
                                    </a:rPr>
                                    <m:t>𝐾</m:t>
                                  </m:r>
                                </m:sub>
                                <m:sup>
                                  <m:r>
                                    <a:rPr lang="en-US" sz="1950" i="1">
                                      <a:latin typeface="Cambria Math" panose="02040503050406030204" pitchFamily="18" charset="0"/>
                                    </a:rPr>
                                    <m:t>𝑇</m:t>
                                  </m:r>
                                </m:sup>
                              </m:sSubSup>
                              <m:r>
                                <a:rPr lang="en-US" sz="1950" i="1">
                                  <a:latin typeface="Cambria Math" panose="02040503050406030204" pitchFamily="18" charset="0"/>
                                </a:rPr>
                                <m:t>⨂</m:t>
                              </m:r>
                              <m:sSub>
                                <m:sSubPr>
                                  <m:ctrlPr>
                                    <a:rPr lang="en-US" sz="1950" i="1">
                                      <a:latin typeface="Cambria Math" panose="02040503050406030204" pitchFamily="18" charset="0"/>
                                    </a:rPr>
                                  </m:ctrlPr>
                                </m:sSubPr>
                                <m:e>
                                  <m:r>
                                    <a:rPr lang="en-US" sz="1950" i="1">
                                      <a:latin typeface="Cambria Math" panose="02040503050406030204" pitchFamily="18" charset="0"/>
                                    </a:rPr>
                                    <m:t>𝑈</m:t>
                                  </m:r>
                                </m:e>
                                <m:sub>
                                  <m:r>
                                    <a:rPr lang="en-US" sz="1950" i="1">
                                      <a:latin typeface="Cambria Math" panose="02040503050406030204" pitchFamily="18" charset="0"/>
                                    </a:rPr>
                                    <m:t>𝐾</m:t>
                                  </m:r>
                                </m:sub>
                              </m:sSub>
                            </m:e>
                          </m:d>
                          <m:r>
                            <a:rPr lang="en-US" sz="1950" i="1">
                              <a:latin typeface="Cambria Math" panose="02040503050406030204" pitchFamily="18" charset="0"/>
                            </a:rPr>
                            <m:t>𝑑</m:t>
                          </m:r>
                          <m:r>
                            <m:rPr>
                              <m:sty m:val="p"/>
                            </m:rPr>
                            <a:rPr lang="en-US" sz="1950">
                              <a:latin typeface="Cambria Math" panose="02040503050406030204" pitchFamily="18" charset="0"/>
                            </a:rPr>
                            <m:t>vec</m:t>
                          </m:r>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b="1" i="1">
                                      <a:latin typeface="Cambria Math" panose="02040503050406030204" pitchFamily="18" charset="0"/>
                                    </a:rPr>
                                    <m:t>𝑿</m:t>
                                  </m:r>
                                </m:e>
                                <m:sub>
                                  <m:r>
                                    <a:rPr lang="en-US" sz="1950" i="1">
                                      <a:latin typeface="Cambria Math" panose="02040503050406030204" pitchFamily="18" charset="0"/>
                                    </a:rPr>
                                    <m:t>𝐾</m:t>
                                  </m:r>
                                  <m:r>
                                    <a:rPr lang="en-US" sz="1950" i="1">
                                      <a:latin typeface="Cambria Math" panose="02040503050406030204" pitchFamily="18" charset="0"/>
                                    </a:rPr>
                                    <m:t>−1</m:t>
                                  </m:r>
                                </m:sub>
                              </m:sSub>
                            </m:e>
                          </m:d>
                        </m:e>
                      </m:d>
                    </m:oMath>
                  </m:oMathPara>
                </a14:m>
                <a:endParaRPr lang="en-US" sz="1950" dirty="0" smtClean="0"/>
              </a:p>
              <a:p>
                <a:pPr marL="0" indent="0">
                  <a:buNone/>
                </a:pPr>
                <a:r>
                  <a:rPr lang="en-US" sz="1950" dirty="0"/>
                  <a:t>By generalizing differential likelihood </a:t>
                </a:r>
                <a:r>
                  <a:rPr lang="en-US" sz="1950" i="1" dirty="0"/>
                  <a:t>dl</a:t>
                </a:r>
                <a:r>
                  <a:rPr lang="en-US" sz="1950" dirty="0"/>
                  <a:t> with respect to any</a:t>
                </a:r>
                <a:r>
                  <a:rPr lang="en-US" sz="1950" b="1" i="1" dirty="0"/>
                  <a:t> </a:t>
                </a:r>
                <a:r>
                  <a:rPr lang="en-US" sz="1950" i="1" dirty="0"/>
                  <a:t>k</a:t>
                </a:r>
                <a:r>
                  <a:rPr lang="en-US" sz="1950" baseline="30000" dirty="0"/>
                  <a:t>th</a:t>
                </a:r>
                <a:r>
                  <a:rPr lang="en-US" sz="1950" dirty="0"/>
                  <a:t> layer for all 1 ≤ </a:t>
                </a:r>
                <a:r>
                  <a:rPr lang="en-US" sz="1950" i="1" dirty="0"/>
                  <a:t>k </a:t>
                </a:r>
                <a:r>
                  <a:rPr lang="en-US" sz="1950" dirty="0"/>
                  <a:t>&lt; </a:t>
                </a:r>
                <a:r>
                  <a:rPr lang="en-US" sz="1950" i="1" dirty="0"/>
                  <a:t>K</a:t>
                </a:r>
                <a:r>
                  <a:rPr lang="en-US" sz="1950" dirty="0"/>
                  <a:t> within vectorization, we obtain:</a:t>
                </a:r>
              </a:p>
              <a:p>
                <a:pPr marL="0" indent="0">
                  <a:buNone/>
                </a:pPr>
                <a14:m>
                  <m:oMathPara xmlns:m="http://schemas.openxmlformats.org/officeDocument/2006/math">
                    <m:oMathParaPr>
                      <m:jc m:val="centerGroup"/>
                    </m:oMathParaPr>
                    <m:oMath xmlns:m="http://schemas.openxmlformats.org/officeDocument/2006/math">
                      <m:sSub>
                        <m:sSubPr>
                          <m:ctrlPr>
                            <a:rPr lang="en-US" sz="1950" i="1">
                              <a:latin typeface="Cambria Math" panose="02040503050406030204" pitchFamily="18" charset="0"/>
                            </a:rPr>
                          </m:ctrlPr>
                        </m:sSubPr>
                        <m:e>
                          <m:r>
                            <a:rPr lang="en-US" sz="1950">
                              <a:latin typeface="Cambria Math" panose="02040503050406030204" pitchFamily="18" charset="0"/>
                            </a:rPr>
                            <m:t>𝛻</m:t>
                          </m:r>
                        </m:e>
                        <m:sub>
                          <m:sSub>
                            <m:sSubPr>
                              <m:ctrlPr>
                                <a:rPr lang="en-US" sz="1950" i="1">
                                  <a:latin typeface="Cambria Math" panose="02040503050406030204" pitchFamily="18" charset="0"/>
                                </a:rPr>
                              </m:ctrlPr>
                            </m:sSubPr>
                            <m:e>
                              <m:r>
                                <a:rPr lang="en-US" sz="1950" i="1">
                                  <a:latin typeface="Cambria Math" panose="02040503050406030204" pitchFamily="18" charset="0"/>
                                </a:rPr>
                                <m:t>𝑈</m:t>
                              </m:r>
                            </m:e>
                            <m:sub>
                              <m:r>
                                <a:rPr lang="en-US" sz="1950" i="1">
                                  <a:latin typeface="Cambria Math" panose="02040503050406030204" pitchFamily="18" charset="0"/>
                                </a:rPr>
                                <m:t>𝑘</m:t>
                              </m:r>
                            </m:sub>
                          </m:sSub>
                        </m:sub>
                      </m:sSub>
                      <m:r>
                        <m:rPr>
                          <m:sty m:val="p"/>
                        </m:rPr>
                        <a:rPr lang="en-US" sz="1950">
                          <a:latin typeface="Cambria Math" panose="02040503050406030204" pitchFamily="18" charset="0"/>
                        </a:rPr>
                        <m:t>vec</m:t>
                      </m:r>
                      <m:d>
                        <m:dPr>
                          <m:ctrlPr>
                            <a:rPr lang="en-US" sz="1950" i="1">
                              <a:latin typeface="Cambria Math" panose="02040503050406030204" pitchFamily="18" charset="0"/>
                            </a:rPr>
                          </m:ctrlPr>
                        </m:dPr>
                        <m:e>
                          <m:r>
                            <a:rPr lang="en-US" sz="1950" i="1">
                              <a:latin typeface="Cambria Math" panose="02040503050406030204" pitchFamily="18" charset="0"/>
                            </a:rPr>
                            <m:t>𝑙</m:t>
                          </m:r>
                        </m:e>
                      </m:d>
                      <m:r>
                        <m:rPr>
                          <m:aln/>
                        </m:rPr>
                        <a:rPr lang="en-US" sz="1950" i="1">
                          <a:latin typeface="Cambria Math" panose="02040503050406030204" pitchFamily="18" charset="0"/>
                        </a:rPr>
                        <m:t>=</m:t>
                      </m:r>
                      <m:sSup>
                        <m:sSupPr>
                          <m:ctrlPr>
                            <a:rPr lang="en-US" sz="1950" i="1">
                              <a:latin typeface="Cambria Math" panose="02040503050406030204" pitchFamily="18" charset="0"/>
                            </a:rPr>
                          </m:ctrlPr>
                        </m:sSupPr>
                        <m:e>
                          <m:d>
                            <m:dPr>
                              <m:ctrlPr>
                                <a:rPr lang="en-US" sz="1950" i="1">
                                  <a:latin typeface="Cambria Math" panose="02040503050406030204" pitchFamily="18" charset="0"/>
                                </a:rPr>
                              </m:ctrlPr>
                            </m:dPr>
                            <m:e>
                              <m:sSup>
                                <m:sSupPr>
                                  <m:ctrlPr>
                                    <a:rPr lang="en-US" sz="1950" i="1">
                                      <a:latin typeface="Cambria Math" panose="02040503050406030204" pitchFamily="18" charset="0"/>
                                    </a:rPr>
                                  </m:ctrlPr>
                                </m:sSupPr>
                                <m:e>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b="1" i="1">
                                              <a:latin typeface="Cambria Math" panose="02040503050406030204" pitchFamily="18" charset="0"/>
                                            </a:rPr>
                                            <m:t>𝑿</m:t>
                                          </m:r>
                                        </m:e>
                                        <m:sub>
                                          <m:r>
                                            <a:rPr lang="en-US" sz="1950" i="1">
                                              <a:latin typeface="Cambria Math" panose="02040503050406030204" pitchFamily="18" charset="0"/>
                                            </a:rPr>
                                            <m:t>𝑘</m:t>
                                          </m:r>
                                          <m:r>
                                            <a:rPr lang="en-US" sz="1950" i="1">
                                              <a:latin typeface="Cambria Math" panose="02040503050406030204" pitchFamily="18" charset="0"/>
                                            </a:rPr>
                                            <m:t>−1</m:t>
                                          </m:r>
                                        </m:sub>
                                      </m:sSub>
                                      <m:sSub>
                                        <m:sSubPr>
                                          <m:ctrlPr>
                                            <a:rPr lang="en-US" sz="1950" i="1">
                                              <a:latin typeface="Cambria Math" panose="02040503050406030204" pitchFamily="18" charset="0"/>
                                            </a:rPr>
                                          </m:ctrlPr>
                                        </m:sSubPr>
                                        <m:e>
                                          <m:r>
                                            <a:rPr lang="en-US" sz="1950" i="1">
                                              <a:latin typeface="Cambria Math" panose="02040503050406030204" pitchFamily="18" charset="0"/>
                                            </a:rPr>
                                            <m:t>𝑉</m:t>
                                          </m:r>
                                        </m:e>
                                        <m:sub>
                                          <m:r>
                                            <a:rPr lang="en-US" sz="1950" i="1">
                                              <a:latin typeface="Cambria Math" panose="02040503050406030204" pitchFamily="18" charset="0"/>
                                            </a:rPr>
                                            <m:t>𝐾</m:t>
                                          </m:r>
                                        </m:sub>
                                      </m:sSub>
                                    </m:e>
                                  </m:d>
                                </m:e>
                                <m:sup>
                                  <m:r>
                                    <a:rPr lang="en-US" sz="1950" i="1">
                                      <a:latin typeface="Cambria Math" panose="02040503050406030204" pitchFamily="18" charset="0"/>
                                    </a:rPr>
                                    <m:t>𝑇</m:t>
                                  </m:r>
                                </m:sup>
                              </m:sSup>
                              <m:r>
                                <a:rPr lang="en-US" sz="1950" i="1">
                                  <a:latin typeface="Cambria Math" panose="02040503050406030204" pitchFamily="18" charset="0"/>
                                </a:rPr>
                                <m:t>⨂</m:t>
                              </m:r>
                              <m:sSub>
                                <m:sSubPr>
                                  <m:ctrlPr>
                                    <a:rPr lang="en-US" sz="1950" i="1">
                                      <a:latin typeface="Cambria Math" panose="02040503050406030204" pitchFamily="18" charset="0"/>
                                    </a:rPr>
                                  </m:ctrlPr>
                                </m:sSubPr>
                                <m:e>
                                  <m:r>
                                    <a:rPr lang="en-US" sz="1950" i="1">
                                      <a:latin typeface="Cambria Math" panose="02040503050406030204" pitchFamily="18" charset="0"/>
                                    </a:rPr>
                                    <m:t>𝐼</m:t>
                                  </m:r>
                                </m:e>
                                <m:sub>
                                  <m:r>
                                    <a:rPr lang="en-US" sz="1950" i="1">
                                      <a:latin typeface="Cambria Math" panose="02040503050406030204" pitchFamily="18" charset="0"/>
                                    </a:rPr>
                                    <m:t>𝑟</m:t>
                                  </m:r>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i="1">
                                              <a:latin typeface="Cambria Math" panose="02040503050406030204" pitchFamily="18" charset="0"/>
                                            </a:rPr>
                                            <m:t>𝑈</m:t>
                                          </m:r>
                                        </m:e>
                                        <m:sub>
                                          <m:r>
                                            <a:rPr lang="en-US" sz="1950" i="1">
                                              <a:latin typeface="Cambria Math" panose="02040503050406030204" pitchFamily="18" charset="0"/>
                                            </a:rPr>
                                            <m:t>𝑘</m:t>
                                          </m:r>
                                        </m:sub>
                                      </m:sSub>
                                    </m:e>
                                  </m:d>
                                </m:sub>
                              </m:sSub>
                            </m:e>
                          </m:d>
                        </m:e>
                        <m:sup>
                          <m:r>
                            <a:rPr lang="en-US" sz="1950" i="1">
                              <a:latin typeface="Cambria Math" panose="02040503050406030204" pitchFamily="18" charset="0"/>
                            </a:rPr>
                            <m:t>𝑇</m:t>
                          </m:r>
                        </m:sup>
                      </m:sSup>
                      <m:sSub>
                        <m:sSubPr>
                          <m:ctrlPr>
                            <a:rPr lang="en-US" sz="1950" i="1">
                              <a:latin typeface="Cambria Math" panose="02040503050406030204" pitchFamily="18" charset="0"/>
                            </a:rPr>
                          </m:ctrlPr>
                        </m:sSubPr>
                        <m:e>
                          <m:r>
                            <a:rPr lang="en-US" sz="1950">
                              <a:latin typeface="Cambria Math" panose="02040503050406030204" pitchFamily="18" charset="0"/>
                            </a:rPr>
                            <m:t>𝛻</m:t>
                          </m:r>
                        </m:e>
                        <m:sub>
                          <m:sSub>
                            <m:sSubPr>
                              <m:ctrlPr>
                                <a:rPr lang="en-US" sz="1950" i="1">
                                  <a:latin typeface="Cambria Math" panose="02040503050406030204" pitchFamily="18" charset="0"/>
                                </a:rPr>
                              </m:ctrlPr>
                            </m:sSubPr>
                            <m:e>
                              <m:r>
                                <m:rPr>
                                  <m:sty m:val="p"/>
                                </m:rPr>
                                <a:rPr lang="en-US" sz="1950">
                                  <a:latin typeface="Cambria Math" panose="02040503050406030204" pitchFamily="18" charset="0"/>
                                </a:rPr>
                                <m:t>Θ</m:t>
                              </m:r>
                            </m:e>
                            <m:sub>
                              <m:r>
                                <a:rPr lang="en-US" sz="1950" i="1">
                                  <a:latin typeface="Cambria Math" panose="02040503050406030204" pitchFamily="18" charset="0"/>
                                </a:rPr>
                                <m:t>𝑘</m:t>
                              </m:r>
                            </m:sub>
                          </m:sSub>
                        </m:sub>
                      </m:sSub>
                      <m:r>
                        <m:rPr>
                          <m:sty m:val="p"/>
                        </m:rPr>
                        <a:rPr lang="en-US" sz="1950">
                          <a:latin typeface="Cambria Math" panose="02040503050406030204" pitchFamily="18" charset="0"/>
                        </a:rPr>
                        <m:t>vec</m:t>
                      </m:r>
                      <m:d>
                        <m:dPr>
                          <m:ctrlPr>
                            <a:rPr lang="en-US" sz="1950" i="1">
                              <a:latin typeface="Cambria Math" panose="02040503050406030204" pitchFamily="18" charset="0"/>
                            </a:rPr>
                          </m:ctrlPr>
                        </m:dPr>
                        <m:e>
                          <m:r>
                            <a:rPr lang="en-US" sz="1950" i="1">
                              <a:latin typeface="Cambria Math" panose="02040503050406030204" pitchFamily="18" charset="0"/>
                            </a:rPr>
                            <m:t>𝑙</m:t>
                          </m:r>
                        </m:e>
                      </m:d>
                    </m:oMath>
                    <m:oMath xmlns:m="http://schemas.openxmlformats.org/officeDocument/2006/math">
                      <m:sSub>
                        <m:sSubPr>
                          <m:ctrlPr>
                            <a:rPr lang="en-US" sz="1950" i="1">
                              <a:latin typeface="Cambria Math" panose="02040503050406030204" pitchFamily="18" charset="0"/>
                            </a:rPr>
                          </m:ctrlPr>
                        </m:sSubPr>
                        <m:e>
                          <m:r>
                            <a:rPr lang="en-US" sz="1950">
                              <a:latin typeface="Cambria Math" panose="02040503050406030204" pitchFamily="18" charset="0"/>
                            </a:rPr>
                            <m:t>𝛻</m:t>
                          </m:r>
                        </m:e>
                        <m:sub>
                          <m:sSub>
                            <m:sSubPr>
                              <m:ctrlPr>
                                <a:rPr lang="en-US" sz="1950" i="1">
                                  <a:latin typeface="Cambria Math" panose="02040503050406030204" pitchFamily="18" charset="0"/>
                                </a:rPr>
                              </m:ctrlPr>
                            </m:sSubPr>
                            <m:e>
                              <m:r>
                                <a:rPr lang="en-US" sz="1950" i="1">
                                  <a:latin typeface="Cambria Math" panose="02040503050406030204" pitchFamily="18" charset="0"/>
                                </a:rPr>
                                <m:t>𝑉</m:t>
                              </m:r>
                            </m:e>
                            <m:sub>
                              <m:r>
                                <a:rPr lang="en-US" sz="1950" i="1">
                                  <a:latin typeface="Cambria Math" panose="02040503050406030204" pitchFamily="18" charset="0"/>
                                </a:rPr>
                                <m:t>𝑘</m:t>
                              </m:r>
                            </m:sub>
                          </m:sSub>
                        </m:sub>
                      </m:sSub>
                      <m:r>
                        <m:rPr>
                          <m:sty m:val="p"/>
                        </m:rPr>
                        <a:rPr lang="en-US" sz="1950">
                          <a:latin typeface="Cambria Math" panose="02040503050406030204" pitchFamily="18" charset="0"/>
                        </a:rPr>
                        <m:t>vec</m:t>
                      </m:r>
                      <m:d>
                        <m:dPr>
                          <m:ctrlPr>
                            <a:rPr lang="en-US" sz="1950" i="1">
                              <a:latin typeface="Cambria Math" panose="02040503050406030204" pitchFamily="18" charset="0"/>
                            </a:rPr>
                          </m:ctrlPr>
                        </m:dPr>
                        <m:e>
                          <m:r>
                            <a:rPr lang="en-US" sz="1950" i="1">
                              <a:latin typeface="Cambria Math" panose="02040503050406030204" pitchFamily="18" charset="0"/>
                            </a:rPr>
                            <m:t>𝑙</m:t>
                          </m:r>
                        </m:e>
                      </m:d>
                      <m:r>
                        <m:rPr>
                          <m:aln/>
                        </m:rPr>
                        <a:rPr lang="en-US" sz="1950" i="1">
                          <a:latin typeface="Cambria Math" panose="02040503050406030204" pitchFamily="18" charset="0"/>
                        </a:rPr>
                        <m:t>=</m:t>
                      </m:r>
                      <m:sSup>
                        <m:sSupPr>
                          <m:ctrlPr>
                            <a:rPr lang="en-US" sz="1950" i="1">
                              <a:latin typeface="Cambria Math" panose="02040503050406030204" pitchFamily="18" charset="0"/>
                            </a:rPr>
                          </m:ctrlPr>
                        </m:sSupPr>
                        <m:e>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i="1">
                                      <a:latin typeface="Cambria Math" panose="02040503050406030204" pitchFamily="18" charset="0"/>
                                    </a:rPr>
                                    <m:t>𝐼</m:t>
                                  </m:r>
                                </m:e>
                                <m:sub>
                                  <m:r>
                                    <a:rPr lang="en-US" sz="1950" i="1">
                                      <a:latin typeface="Cambria Math" panose="02040503050406030204" pitchFamily="18" charset="0"/>
                                    </a:rPr>
                                    <m:t>𝑐</m:t>
                                  </m:r>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i="1">
                                              <a:latin typeface="Cambria Math" panose="02040503050406030204" pitchFamily="18" charset="0"/>
                                            </a:rPr>
                                            <m:t>𝑉</m:t>
                                          </m:r>
                                        </m:e>
                                        <m:sub>
                                          <m:r>
                                            <a:rPr lang="en-US" sz="1950" i="1">
                                              <a:latin typeface="Cambria Math" panose="02040503050406030204" pitchFamily="18" charset="0"/>
                                            </a:rPr>
                                            <m:t>𝑘</m:t>
                                          </m:r>
                                        </m:sub>
                                      </m:sSub>
                                    </m:e>
                                  </m:d>
                                </m:sub>
                              </m:sSub>
                              <m:r>
                                <a:rPr lang="en-US" sz="1950" i="1">
                                  <a:latin typeface="Cambria Math" panose="02040503050406030204" pitchFamily="18" charset="0"/>
                                </a:rPr>
                                <m:t>⨂</m:t>
                              </m:r>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i="1">
                                          <a:latin typeface="Cambria Math" panose="02040503050406030204" pitchFamily="18" charset="0"/>
                                        </a:rPr>
                                        <m:t>𝑈</m:t>
                                      </m:r>
                                    </m:e>
                                    <m:sub>
                                      <m:r>
                                        <a:rPr lang="en-US" sz="1950" i="1">
                                          <a:latin typeface="Cambria Math" panose="02040503050406030204" pitchFamily="18" charset="0"/>
                                        </a:rPr>
                                        <m:t>𝑘</m:t>
                                      </m:r>
                                    </m:sub>
                                  </m:sSub>
                                  <m:sSub>
                                    <m:sSubPr>
                                      <m:ctrlPr>
                                        <a:rPr lang="en-US" sz="1950" i="1">
                                          <a:latin typeface="Cambria Math" panose="02040503050406030204" pitchFamily="18" charset="0"/>
                                        </a:rPr>
                                      </m:ctrlPr>
                                    </m:sSubPr>
                                    <m:e>
                                      <m:r>
                                        <a:rPr lang="en-US" sz="1950" b="1" i="1">
                                          <a:latin typeface="Cambria Math" panose="02040503050406030204" pitchFamily="18" charset="0"/>
                                        </a:rPr>
                                        <m:t>𝑿</m:t>
                                      </m:r>
                                    </m:e>
                                    <m:sub>
                                      <m:r>
                                        <a:rPr lang="en-US" sz="1950" i="1">
                                          <a:latin typeface="Cambria Math" panose="02040503050406030204" pitchFamily="18" charset="0"/>
                                        </a:rPr>
                                        <m:t>𝑘</m:t>
                                      </m:r>
                                      <m:r>
                                        <a:rPr lang="en-US" sz="1950" i="1">
                                          <a:latin typeface="Cambria Math" panose="02040503050406030204" pitchFamily="18" charset="0"/>
                                        </a:rPr>
                                        <m:t>−1</m:t>
                                      </m:r>
                                    </m:sub>
                                  </m:sSub>
                                </m:e>
                              </m:d>
                            </m:e>
                          </m:d>
                        </m:e>
                        <m:sup>
                          <m:r>
                            <a:rPr lang="en-US" sz="1950" i="1">
                              <a:latin typeface="Cambria Math" panose="02040503050406030204" pitchFamily="18" charset="0"/>
                            </a:rPr>
                            <m:t>𝑇</m:t>
                          </m:r>
                        </m:sup>
                      </m:sSup>
                      <m:sSub>
                        <m:sSubPr>
                          <m:ctrlPr>
                            <a:rPr lang="en-US" sz="1950" i="1">
                              <a:latin typeface="Cambria Math" panose="02040503050406030204" pitchFamily="18" charset="0"/>
                            </a:rPr>
                          </m:ctrlPr>
                        </m:sSubPr>
                        <m:e>
                          <m:r>
                            <a:rPr lang="en-US" sz="1950">
                              <a:latin typeface="Cambria Math" panose="02040503050406030204" pitchFamily="18" charset="0"/>
                            </a:rPr>
                            <m:t>𝛻</m:t>
                          </m:r>
                        </m:e>
                        <m:sub>
                          <m:sSub>
                            <m:sSubPr>
                              <m:ctrlPr>
                                <a:rPr lang="en-US" sz="1950" i="1">
                                  <a:latin typeface="Cambria Math" panose="02040503050406030204" pitchFamily="18" charset="0"/>
                                </a:rPr>
                              </m:ctrlPr>
                            </m:sSubPr>
                            <m:e>
                              <m:r>
                                <m:rPr>
                                  <m:sty m:val="p"/>
                                </m:rPr>
                                <a:rPr lang="en-US" sz="1950">
                                  <a:latin typeface="Cambria Math" panose="02040503050406030204" pitchFamily="18" charset="0"/>
                                </a:rPr>
                                <m:t>Θ</m:t>
                              </m:r>
                            </m:e>
                            <m:sub>
                              <m:r>
                                <a:rPr lang="en-US" sz="1950" i="1">
                                  <a:latin typeface="Cambria Math" panose="02040503050406030204" pitchFamily="18" charset="0"/>
                                </a:rPr>
                                <m:t>𝑘</m:t>
                              </m:r>
                            </m:sub>
                          </m:sSub>
                        </m:sub>
                      </m:sSub>
                      <m:r>
                        <m:rPr>
                          <m:sty m:val="p"/>
                        </m:rPr>
                        <a:rPr lang="en-US" sz="1950">
                          <a:latin typeface="Cambria Math" panose="02040503050406030204" pitchFamily="18" charset="0"/>
                        </a:rPr>
                        <m:t>vec</m:t>
                      </m:r>
                      <m:d>
                        <m:dPr>
                          <m:ctrlPr>
                            <a:rPr lang="en-US" sz="1950" i="1">
                              <a:latin typeface="Cambria Math" panose="02040503050406030204" pitchFamily="18" charset="0"/>
                            </a:rPr>
                          </m:ctrlPr>
                        </m:dPr>
                        <m:e>
                          <m:r>
                            <a:rPr lang="en-US" sz="1950" i="1">
                              <a:latin typeface="Cambria Math" panose="02040503050406030204" pitchFamily="18" charset="0"/>
                            </a:rPr>
                            <m:t>𝑙</m:t>
                          </m:r>
                        </m:e>
                      </m:d>
                    </m:oMath>
                    <m:oMath xmlns:m="http://schemas.openxmlformats.org/officeDocument/2006/math">
                      <m:r>
                        <a:rPr lang="en-US" sz="1950" i="1">
                          <a:latin typeface="Cambria Math" panose="02040503050406030204" pitchFamily="18" charset="0"/>
                        </a:rPr>
                        <m:t>𝑑</m:t>
                      </m:r>
                      <m:r>
                        <m:rPr>
                          <m:sty m:val="p"/>
                        </m:rPr>
                        <a:rPr lang="en-US" sz="1950">
                          <a:latin typeface="Cambria Math" panose="02040503050406030204" pitchFamily="18" charset="0"/>
                        </a:rPr>
                        <m:t>vec</m:t>
                      </m:r>
                      <m:d>
                        <m:dPr>
                          <m:ctrlPr>
                            <a:rPr lang="en-US" sz="1950" i="1">
                              <a:latin typeface="Cambria Math" panose="02040503050406030204" pitchFamily="18" charset="0"/>
                            </a:rPr>
                          </m:ctrlPr>
                        </m:dPr>
                        <m:e>
                          <m:r>
                            <a:rPr lang="en-US" sz="1950" i="1">
                              <a:latin typeface="Cambria Math" panose="02040503050406030204" pitchFamily="18" charset="0"/>
                            </a:rPr>
                            <m:t>𝑙</m:t>
                          </m:r>
                        </m:e>
                      </m:d>
                      <m:r>
                        <m:rPr>
                          <m:aln/>
                        </m:rPr>
                        <a:rPr lang="en-US" sz="1950" i="1">
                          <a:latin typeface="Cambria Math" panose="02040503050406030204" pitchFamily="18" charset="0"/>
                        </a:rPr>
                        <m:t>=</m:t>
                      </m:r>
                      <m:r>
                        <m:rPr>
                          <m:sty m:val="p"/>
                        </m:rPr>
                        <a:rPr lang="en-US" sz="1950">
                          <a:latin typeface="Cambria Math" panose="02040503050406030204" pitchFamily="18" charset="0"/>
                        </a:rPr>
                        <m:t>tr</m:t>
                      </m:r>
                      <m:d>
                        <m:dPr>
                          <m:ctrlPr>
                            <a:rPr lang="en-US" sz="1950" i="1">
                              <a:latin typeface="Cambria Math" panose="02040503050406030204" pitchFamily="18" charset="0"/>
                            </a:rPr>
                          </m:ctrlPr>
                        </m:dPr>
                        <m:e>
                          <m:sSup>
                            <m:sSupPr>
                              <m:ctrlPr>
                                <a:rPr lang="en-US" sz="1950" i="1">
                                  <a:latin typeface="Cambria Math" panose="02040503050406030204" pitchFamily="18" charset="0"/>
                                </a:rPr>
                              </m:ctrlPr>
                            </m:sSupPr>
                            <m:e>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a:latin typeface="Cambria Math" panose="02040503050406030204" pitchFamily="18" charset="0"/>
                                        </a:rPr>
                                        <m:t>𝛻</m:t>
                                      </m:r>
                                    </m:e>
                                    <m:sub>
                                      <m:sSub>
                                        <m:sSubPr>
                                          <m:ctrlPr>
                                            <a:rPr lang="en-US" sz="1950" i="1">
                                              <a:latin typeface="Cambria Math" panose="02040503050406030204" pitchFamily="18" charset="0"/>
                                            </a:rPr>
                                          </m:ctrlPr>
                                        </m:sSubPr>
                                        <m:e>
                                          <m:r>
                                            <m:rPr>
                                              <m:sty m:val="p"/>
                                            </m:rPr>
                                            <a:rPr lang="en-US" sz="1950">
                                              <a:latin typeface="Cambria Math" panose="02040503050406030204" pitchFamily="18" charset="0"/>
                                            </a:rPr>
                                            <m:t>Θ</m:t>
                                          </m:r>
                                        </m:e>
                                        <m:sub>
                                          <m:r>
                                            <a:rPr lang="en-US" sz="1950" i="1">
                                              <a:latin typeface="Cambria Math" panose="02040503050406030204" pitchFamily="18" charset="0"/>
                                            </a:rPr>
                                            <m:t>𝑘</m:t>
                                          </m:r>
                                          <m:r>
                                            <a:rPr lang="en-US" sz="1950" i="1">
                                              <a:latin typeface="Cambria Math" panose="02040503050406030204" pitchFamily="18" charset="0"/>
                                            </a:rPr>
                                            <m:t>+1</m:t>
                                          </m:r>
                                        </m:sub>
                                      </m:sSub>
                                    </m:sub>
                                  </m:sSub>
                                  <m:r>
                                    <m:rPr>
                                      <m:sty m:val="p"/>
                                    </m:rPr>
                                    <a:rPr lang="en-US" sz="1950">
                                      <a:latin typeface="Cambria Math" panose="02040503050406030204" pitchFamily="18" charset="0"/>
                                    </a:rPr>
                                    <m:t>vec</m:t>
                                  </m:r>
                                  <m:d>
                                    <m:dPr>
                                      <m:ctrlPr>
                                        <a:rPr lang="en-US" sz="1950" i="1">
                                          <a:latin typeface="Cambria Math" panose="02040503050406030204" pitchFamily="18" charset="0"/>
                                        </a:rPr>
                                      </m:ctrlPr>
                                    </m:dPr>
                                    <m:e>
                                      <m:r>
                                        <a:rPr lang="en-US" sz="1950" i="1">
                                          <a:latin typeface="Cambria Math" panose="02040503050406030204" pitchFamily="18" charset="0"/>
                                        </a:rPr>
                                        <m:t>𝑙</m:t>
                                      </m:r>
                                    </m:e>
                                  </m:d>
                                </m:e>
                              </m:d>
                            </m:e>
                            <m:sup>
                              <m:r>
                                <a:rPr lang="en-US" sz="1950" i="1">
                                  <a:latin typeface="Cambria Math" panose="02040503050406030204" pitchFamily="18" charset="0"/>
                                </a:rPr>
                                <m:t>𝑇</m:t>
                              </m:r>
                            </m:sup>
                          </m:sSup>
                          <m:d>
                            <m:dPr>
                              <m:ctrlPr>
                                <a:rPr lang="en-US" sz="1950" i="1">
                                  <a:latin typeface="Cambria Math" panose="02040503050406030204" pitchFamily="18" charset="0"/>
                                </a:rPr>
                              </m:ctrlPr>
                            </m:dPr>
                            <m:e>
                              <m:sSubSup>
                                <m:sSubSupPr>
                                  <m:ctrlPr>
                                    <a:rPr lang="en-US" sz="1950" i="1">
                                      <a:latin typeface="Cambria Math" panose="02040503050406030204" pitchFamily="18" charset="0"/>
                                    </a:rPr>
                                  </m:ctrlPr>
                                </m:sSubSupPr>
                                <m:e>
                                  <m:r>
                                    <a:rPr lang="en-US" sz="1950" i="1">
                                      <a:latin typeface="Cambria Math" panose="02040503050406030204" pitchFamily="18" charset="0"/>
                                    </a:rPr>
                                    <m:t>𝑉</m:t>
                                  </m:r>
                                </m:e>
                                <m:sub>
                                  <m:r>
                                    <a:rPr lang="en-US" sz="1950" i="1">
                                      <a:latin typeface="Cambria Math" panose="02040503050406030204" pitchFamily="18" charset="0"/>
                                    </a:rPr>
                                    <m:t>𝑘</m:t>
                                  </m:r>
                                  <m:r>
                                    <a:rPr lang="en-US" sz="1950" i="1">
                                      <a:latin typeface="Cambria Math" panose="02040503050406030204" pitchFamily="18" charset="0"/>
                                    </a:rPr>
                                    <m:t>+1</m:t>
                                  </m:r>
                                </m:sub>
                                <m:sup>
                                  <m:r>
                                    <a:rPr lang="en-US" sz="1950" i="1">
                                      <a:latin typeface="Cambria Math" panose="02040503050406030204" pitchFamily="18" charset="0"/>
                                    </a:rPr>
                                    <m:t>𝑇</m:t>
                                  </m:r>
                                </m:sup>
                              </m:sSubSup>
                              <m:r>
                                <a:rPr lang="en-US" sz="1950" i="1">
                                  <a:latin typeface="Cambria Math" panose="02040503050406030204" pitchFamily="18" charset="0"/>
                                </a:rPr>
                                <m:t>⨂</m:t>
                              </m:r>
                              <m:sSub>
                                <m:sSubPr>
                                  <m:ctrlPr>
                                    <a:rPr lang="en-US" sz="1950" i="1">
                                      <a:latin typeface="Cambria Math" panose="02040503050406030204" pitchFamily="18" charset="0"/>
                                    </a:rPr>
                                  </m:ctrlPr>
                                </m:sSubPr>
                                <m:e>
                                  <m:r>
                                    <a:rPr lang="en-US" sz="1950" i="1">
                                      <a:latin typeface="Cambria Math" panose="02040503050406030204" pitchFamily="18" charset="0"/>
                                    </a:rPr>
                                    <m:t>𝑈</m:t>
                                  </m:r>
                                </m:e>
                                <m:sub>
                                  <m:r>
                                    <a:rPr lang="en-US" sz="1950" i="1">
                                      <a:latin typeface="Cambria Math" panose="02040503050406030204" pitchFamily="18" charset="0"/>
                                    </a:rPr>
                                    <m:t>𝑘</m:t>
                                  </m:r>
                                  <m:r>
                                    <a:rPr lang="en-US" sz="1950" i="1">
                                      <a:latin typeface="Cambria Math" panose="02040503050406030204" pitchFamily="18" charset="0"/>
                                    </a:rPr>
                                    <m:t>+1</m:t>
                                  </m:r>
                                </m:sub>
                              </m:sSub>
                            </m:e>
                          </m:d>
                          <m:r>
                            <a:rPr lang="en-US" sz="1950" i="1">
                              <a:latin typeface="Cambria Math" panose="02040503050406030204" pitchFamily="18" charset="0"/>
                            </a:rPr>
                            <m:t>𝑑</m:t>
                          </m:r>
                          <m:r>
                            <m:rPr>
                              <m:sty m:val="p"/>
                            </m:rPr>
                            <a:rPr lang="en-US" sz="1950">
                              <a:latin typeface="Cambria Math" panose="02040503050406030204" pitchFamily="18" charset="0"/>
                            </a:rPr>
                            <m:t>vec</m:t>
                          </m:r>
                          <m:d>
                            <m:dPr>
                              <m:ctrlPr>
                                <a:rPr lang="en-US" sz="1950" i="1">
                                  <a:latin typeface="Cambria Math" panose="02040503050406030204" pitchFamily="18" charset="0"/>
                                </a:rPr>
                              </m:ctrlPr>
                            </m:dPr>
                            <m:e>
                              <m:sSub>
                                <m:sSubPr>
                                  <m:ctrlPr>
                                    <a:rPr lang="en-US" sz="1950" i="1">
                                      <a:latin typeface="Cambria Math" panose="02040503050406030204" pitchFamily="18" charset="0"/>
                                    </a:rPr>
                                  </m:ctrlPr>
                                </m:sSubPr>
                                <m:e>
                                  <m:r>
                                    <a:rPr lang="en-US" sz="1950" b="1" i="1">
                                      <a:latin typeface="Cambria Math" panose="02040503050406030204" pitchFamily="18" charset="0"/>
                                    </a:rPr>
                                    <m:t>𝑿</m:t>
                                  </m:r>
                                </m:e>
                                <m:sub>
                                  <m:r>
                                    <a:rPr lang="en-US" sz="1950" i="1">
                                      <a:latin typeface="Cambria Math" panose="02040503050406030204" pitchFamily="18" charset="0"/>
                                    </a:rPr>
                                    <m:t>𝑘</m:t>
                                  </m:r>
                                </m:sub>
                              </m:sSub>
                            </m:e>
                          </m:d>
                        </m:e>
                      </m:d>
                    </m:oMath>
                  </m:oMathPara>
                </a14:m>
                <a:endParaRPr lang="en-US" sz="1950" dirty="0"/>
              </a:p>
              <a:p>
                <a:pPr marL="0" indent="0">
                  <a:buNone/>
                </a:pPr>
                <a:endParaRPr lang="en-US" sz="1950" dirty="0"/>
              </a:p>
              <a:p>
                <a:pPr marL="0" indent="0">
                  <a:buNone/>
                </a:pPr>
                <a:endParaRPr lang="en-US" sz="195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1280" y="914399"/>
                <a:ext cx="12019280" cy="5176066"/>
              </a:xfrm>
              <a:blipFill>
                <a:blip r:embed="rId2"/>
                <a:stretch>
                  <a:fillRect l="-507" t="-589" r="-507" b="-2827"/>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17</a:t>
            </a:fld>
            <a:endParaRPr lang="en-US"/>
          </a:p>
        </p:txBody>
      </p:sp>
    </p:spTree>
    <p:extLst>
      <p:ext uri="{BB962C8B-B14F-4D97-AF65-F5344CB8AC3E}">
        <p14:creationId xmlns:p14="http://schemas.microsoft.com/office/powerpoint/2010/main" val="26948644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network (</a:t>
            </a:r>
            <a:r>
              <a:rPr lang="en-US" b="1" dirty="0"/>
              <a:t>skip</a:t>
            </a:r>
            <a:r>
              <a:rPr lang="en-US" dirty="0"/>
              <a: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1280" y="914399"/>
                <a:ext cx="12029440" cy="5176066"/>
              </a:xfrm>
            </p:spPr>
            <p:txBody>
              <a:bodyPr>
                <a:normAutofit/>
              </a:bodyPr>
              <a:lstStyle/>
              <a:p>
                <a:pPr marL="0" indent="0">
                  <a:buNone/>
                </a:pPr>
                <a:r>
                  <a:rPr lang="en-US" sz="2600" dirty="0"/>
                  <a:t>Because the differential of </a:t>
                </a:r>
                <a:r>
                  <a:rPr lang="en-US" sz="2600" dirty="0" err="1"/>
                  <a:t>vec</a:t>
                </a:r>
                <a:r>
                  <a:rPr lang="en-US" sz="2600" dirty="0"/>
                  <a:t>(</a:t>
                </a:r>
                <a:r>
                  <a:rPr lang="en-US" sz="2600" b="1" i="1" dirty="0" err="1"/>
                  <a:t>X</a:t>
                </a:r>
                <a:r>
                  <a:rPr lang="en-US" sz="2600" i="1" baseline="-25000" dirty="0" err="1"/>
                  <a:t>k</a:t>
                </a:r>
                <a:r>
                  <a:rPr lang="en-US" sz="2600" dirty="0"/>
                  <a:t>) is always determined with respect to any bias parameter </a:t>
                </a:r>
                <a:r>
                  <a:rPr lang="en-US" sz="2600" dirty="0" err="1"/>
                  <a:t>Θ</a:t>
                </a:r>
                <a:r>
                  <a:rPr lang="en-US" sz="2600" i="1" baseline="-25000" dirty="0" err="1"/>
                  <a:t>k</a:t>
                </a:r>
                <a:r>
                  <a:rPr lang="en-US" sz="2600" dirty="0"/>
                  <a:t> for all 1 ≤ </a:t>
                </a:r>
                <a:r>
                  <a:rPr lang="en-US" sz="2600" i="1" dirty="0"/>
                  <a:t>k </a:t>
                </a:r>
                <a:r>
                  <a:rPr lang="en-US" sz="2600" dirty="0"/>
                  <a:t>&lt; </a:t>
                </a:r>
                <a:r>
                  <a:rPr lang="en-US" sz="2600" i="1" dirty="0"/>
                  <a:t>K</a:t>
                </a:r>
                <a:r>
                  <a:rPr lang="en-US" sz="2600" dirty="0"/>
                  <a:t>.</a:t>
                </a:r>
              </a:p>
              <a:p>
                <a:pPr marL="0" indent="0">
                  <a:buNone/>
                </a:pPr>
                <a14:m>
                  <m:oMathPara xmlns:m="http://schemas.openxmlformats.org/officeDocument/2006/math">
                    <m:oMathParaPr>
                      <m:jc m:val="centerGroup"/>
                    </m:oMathParaPr>
                    <m:oMath xmlns:m="http://schemas.openxmlformats.org/officeDocument/2006/math">
                      <m:r>
                        <a:rPr lang="en-US" sz="2600" i="1">
                          <a:latin typeface="Cambria Math" panose="02040503050406030204" pitchFamily="18" charset="0"/>
                        </a:rPr>
                        <m:t>𝑑</m:t>
                      </m:r>
                      <m:r>
                        <m:rPr>
                          <m:sty m:val="p"/>
                        </m:rPr>
                        <a:rPr lang="en-US" sz="2600">
                          <a:latin typeface="Cambria Math" panose="02040503050406030204" pitchFamily="18" charset="0"/>
                        </a:rPr>
                        <m:t>vec</m:t>
                      </m:r>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r>
                                <a:rPr lang="en-US" sz="2600" b="1" i="1">
                                  <a:latin typeface="Cambria Math" panose="02040503050406030204" pitchFamily="18" charset="0"/>
                                </a:rPr>
                                <m:t>𝑿</m:t>
                              </m:r>
                            </m:e>
                            <m:sub>
                              <m:r>
                                <a:rPr lang="en-US" sz="2600" i="1">
                                  <a:latin typeface="Cambria Math" panose="02040503050406030204" pitchFamily="18" charset="0"/>
                                </a:rPr>
                                <m:t>𝑘</m:t>
                              </m:r>
                            </m:sub>
                          </m:sSub>
                        </m:e>
                      </m:d>
                      <m:r>
                        <a:rPr lang="en-US" sz="2600" i="1">
                          <a:latin typeface="Cambria Math" panose="02040503050406030204" pitchFamily="18" charset="0"/>
                        </a:rPr>
                        <m:t>=</m:t>
                      </m:r>
                      <m:r>
                        <a:rPr lang="en-US" sz="2600" i="1">
                          <a:latin typeface="Cambria Math" panose="02040503050406030204" pitchFamily="18" charset="0"/>
                        </a:rPr>
                        <m:t>𝑑</m:t>
                      </m:r>
                      <m:r>
                        <m:rPr>
                          <m:sty m:val="p"/>
                        </m:rPr>
                        <a:rPr lang="en-US" sz="2600">
                          <a:latin typeface="Cambria Math" panose="02040503050406030204" pitchFamily="18" charset="0"/>
                        </a:rPr>
                        <m:t>vec</m:t>
                      </m:r>
                      <m:d>
                        <m:dPr>
                          <m:ctrlPr>
                            <a:rPr lang="en-US" sz="2600" i="1">
                              <a:latin typeface="Cambria Math" panose="02040503050406030204" pitchFamily="18" charset="0"/>
                            </a:rPr>
                          </m:ctrlPr>
                        </m:dPr>
                        <m:e>
                          <m:r>
                            <a:rPr lang="en-US" sz="2600" i="1">
                              <a:latin typeface="Cambria Math" panose="02040503050406030204" pitchFamily="18" charset="0"/>
                            </a:rPr>
                            <m:t>𝑓</m:t>
                          </m:r>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b="1" i="1">
                                          <a:latin typeface="Cambria Math" panose="02040503050406030204" pitchFamily="18" charset="0"/>
                                        </a:rPr>
                                        <m:t>𝑿</m:t>
                                      </m:r>
                                    </m:e>
                                  </m:acc>
                                </m:e>
                                <m:sub>
                                  <m:r>
                                    <a:rPr lang="en-US" sz="2600" i="1">
                                      <a:latin typeface="Cambria Math" panose="02040503050406030204" pitchFamily="18" charset="0"/>
                                    </a:rPr>
                                    <m:t>𝑘</m:t>
                                  </m:r>
                                  <m:r>
                                    <a:rPr lang="en-US" sz="2600" i="1">
                                      <a:latin typeface="Cambria Math" panose="02040503050406030204" pitchFamily="18" charset="0"/>
                                    </a:rPr>
                                    <m:t>−1</m:t>
                                  </m:r>
                                </m:sub>
                              </m:sSub>
                            </m:e>
                          </m:d>
                        </m:e>
                      </m:d>
                      <m:r>
                        <a:rPr lang="en-US" sz="2600" i="1">
                          <a:latin typeface="Cambria Math" panose="02040503050406030204" pitchFamily="18" charset="0"/>
                        </a:rPr>
                        <m:t>=</m:t>
                      </m:r>
                      <m:sSubSup>
                        <m:sSubSupPr>
                          <m:ctrlPr>
                            <a:rPr lang="en-US" sz="2600" i="1">
                              <a:latin typeface="Cambria Math" panose="02040503050406030204" pitchFamily="18" charset="0"/>
                            </a:rPr>
                          </m:ctrlPr>
                        </m:sSubSupPr>
                        <m:e>
                          <m:r>
                            <a:rPr lang="en-US" sz="2600" i="1">
                              <a:latin typeface="Cambria Math" panose="02040503050406030204" pitchFamily="18" charset="0"/>
                            </a:rPr>
                            <m:t>𝑓</m:t>
                          </m:r>
                        </m:e>
                        <m:sub>
                          <m:sSub>
                            <m:sSubPr>
                              <m:ctrlPr>
                                <a:rPr lang="en-US" sz="2600" i="1">
                                  <a:latin typeface="Cambria Math" panose="02040503050406030204" pitchFamily="18" charset="0"/>
                                </a:rPr>
                              </m:ctrlPr>
                            </m:sSubPr>
                            <m:e>
                              <m:r>
                                <a:rPr lang="en-US" sz="2600" b="1" i="1">
                                  <a:latin typeface="Cambria Math" panose="02040503050406030204" pitchFamily="18" charset="0"/>
                                </a:rPr>
                                <m:t>𝑿</m:t>
                              </m:r>
                            </m:e>
                            <m:sub>
                              <m:r>
                                <a:rPr lang="en-US" sz="2600" i="1">
                                  <a:latin typeface="Cambria Math" panose="02040503050406030204" pitchFamily="18" charset="0"/>
                                </a:rPr>
                                <m:t>𝑘</m:t>
                              </m:r>
                            </m:sub>
                          </m:sSub>
                        </m:sub>
                        <m:sup>
                          <m:r>
                            <a:rPr lang="en-US" sz="2600" i="1">
                              <a:latin typeface="Cambria Math" panose="02040503050406030204" pitchFamily="18" charset="0"/>
                            </a:rPr>
                            <m:t>′</m:t>
                          </m:r>
                        </m:sup>
                      </m:sSubSup>
                      <m:d>
                        <m:dPr>
                          <m:ctrlPr>
                            <a:rPr lang="en-US" sz="2600" i="1">
                              <a:latin typeface="Cambria Math" panose="02040503050406030204" pitchFamily="18" charset="0"/>
                            </a:rPr>
                          </m:ctrlPr>
                        </m:dPr>
                        <m:e>
                          <m:r>
                            <m:rPr>
                              <m:sty m:val="p"/>
                            </m:rPr>
                            <a:rPr lang="en-US" sz="2600">
                              <a:latin typeface="Cambria Math" panose="02040503050406030204" pitchFamily="18" charset="0"/>
                            </a:rPr>
                            <m:t>vec</m:t>
                          </m:r>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b="1" i="1">
                                          <a:latin typeface="Cambria Math" panose="02040503050406030204" pitchFamily="18" charset="0"/>
                                        </a:rPr>
                                        <m:t>𝑿</m:t>
                                      </m:r>
                                    </m:e>
                                  </m:acc>
                                </m:e>
                                <m:sub>
                                  <m:r>
                                    <a:rPr lang="en-US" sz="2600" i="1">
                                      <a:latin typeface="Cambria Math" panose="02040503050406030204" pitchFamily="18" charset="0"/>
                                    </a:rPr>
                                    <m:t>𝑘</m:t>
                                  </m:r>
                                  <m:r>
                                    <a:rPr lang="en-US" sz="2600" i="1">
                                      <a:latin typeface="Cambria Math" panose="02040503050406030204" pitchFamily="18" charset="0"/>
                                    </a:rPr>
                                    <m:t>−1</m:t>
                                  </m:r>
                                </m:sub>
                              </m:sSub>
                            </m:e>
                          </m:d>
                        </m:e>
                      </m:d>
                      <m:r>
                        <a:rPr lang="en-US" sz="2600" i="1">
                          <a:latin typeface="Cambria Math" panose="02040503050406030204" pitchFamily="18" charset="0"/>
                        </a:rPr>
                        <m:t>𝑑</m:t>
                      </m:r>
                      <m:r>
                        <m:rPr>
                          <m:sty m:val="p"/>
                        </m:rPr>
                        <a:rPr lang="en-US" sz="2600">
                          <a:latin typeface="Cambria Math" panose="02040503050406030204" pitchFamily="18" charset="0"/>
                        </a:rPr>
                        <m:t>vec</m:t>
                      </m:r>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r>
                                <m:rPr>
                                  <m:sty m:val="p"/>
                                </m:rPr>
                                <a:rPr lang="en-US" sz="2600">
                                  <a:latin typeface="Cambria Math" panose="02040503050406030204" pitchFamily="18" charset="0"/>
                                </a:rPr>
                                <m:t>Θ</m:t>
                              </m:r>
                            </m:e>
                            <m:sub>
                              <m:r>
                                <a:rPr lang="en-US" sz="2600" i="1">
                                  <a:latin typeface="Cambria Math" panose="02040503050406030204" pitchFamily="18" charset="0"/>
                                </a:rPr>
                                <m:t>𝑘</m:t>
                              </m:r>
                            </m:sub>
                          </m:sSub>
                        </m:e>
                      </m:d>
                    </m:oMath>
                  </m:oMathPara>
                </a14:m>
                <a:endParaRPr lang="en-US" sz="2600" dirty="0"/>
              </a:p>
              <a:p>
                <a:pPr marL="0" indent="0">
                  <a:buNone/>
                </a:pPr>
                <a:r>
                  <a:rPr lang="en-US" sz="2600" dirty="0"/>
                  <a:t>Such that the likelihood differential </a:t>
                </a:r>
                <a:r>
                  <a:rPr lang="en-US" sz="2600" i="1" dirty="0"/>
                  <a:t>dl</a:t>
                </a:r>
                <a:r>
                  <a:rPr lang="en-US" sz="2600" dirty="0"/>
                  <a:t> is rewritten with respect to any bias parameter </a:t>
                </a:r>
                <a:r>
                  <a:rPr lang="en-US" sz="2600" dirty="0" err="1"/>
                  <a:t>Θ</a:t>
                </a:r>
                <a:r>
                  <a:rPr lang="en-US" sz="2600" i="1" baseline="-25000" dirty="0" err="1"/>
                  <a:t>k</a:t>
                </a:r>
                <a:r>
                  <a:rPr lang="en-US" sz="2600" dirty="0"/>
                  <a:t> for all 1 ≤ </a:t>
                </a:r>
                <a:r>
                  <a:rPr lang="en-US" sz="2600" i="1" dirty="0"/>
                  <a:t>k </a:t>
                </a:r>
                <a:r>
                  <a:rPr lang="en-US" sz="2600" dirty="0"/>
                  <a:t>&lt; </a:t>
                </a:r>
                <a:r>
                  <a:rPr lang="en-US" sz="2600" i="1" dirty="0"/>
                  <a:t>K</a:t>
                </a:r>
                <a:r>
                  <a:rPr lang="en-US" sz="2600" dirty="0"/>
                  <a:t>.</a:t>
                </a:r>
              </a:p>
              <a:p>
                <a:pPr marL="0" indent="0">
                  <a:buNone/>
                </a:pPr>
                <a14:m>
                  <m:oMathPara xmlns:m="http://schemas.openxmlformats.org/officeDocument/2006/math">
                    <m:oMathParaPr>
                      <m:jc m:val="centerGroup"/>
                    </m:oMathParaPr>
                    <m:oMath xmlns:m="http://schemas.openxmlformats.org/officeDocument/2006/math">
                      <m:r>
                        <a:rPr lang="en-US" sz="2600" i="1">
                          <a:latin typeface="Cambria Math" panose="02040503050406030204" pitchFamily="18" charset="0"/>
                        </a:rPr>
                        <m:t>𝑑</m:t>
                      </m:r>
                      <m:r>
                        <m:rPr>
                          <m:sty m:val="p"/>
                        </m:rPr>
                        <a:rPr lang="en-US" sz="2600">
                          <a:latin typeface="Cambria Math" panose="02040503050406030204" pitchFamily="18" charset="0"/>
                        </a:rPr>
                        <m:t>vec</m:t>
                      </m:r>
                      <m:d>
                        <m:dPr>
                          <m:ctrlPr>
                            <a:rPr lang="en-US" sz="2600" i="1">
                              <a:latin typeface="Cambria Math" panose="02040503050406030204" pitchFamily="18" charset="0"/>
                            </a:rPr>
                          </m:ctrlPr>
                        </m:dPr>
                        <m:e>
                          <m:r>
                            <a:rPr lang="en-US" sz="2600" i="1">
                              <a:latin typeface="Cambria Math" panose="02040503050406030204" pitchFamily="18" charset="0"/>
                            </a:rPr>
                            <m:t>𝑙</m:t>
                          </m:r>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r>
                                    <a:rPr lang="en-US" sz="2600" b="1" i="1">
                                      <a:latin typeface="Cambria Math" panose="02040503050406030204" pitchFamily="18" charset="0"/>
                                    </a:rPr>
                                    <m:t>𝑿</m:t>
                                  </m:r>
                                </m:e>
                                <m:sub>
                                  <m:r>
                                    <a:rPr lang="en-US" sz="2600" i="1">
                                      <a:latin typeface="Cambria Math" panose="02040503050406030204" pitchFamily="18" charset="0"/>
                                    </a:rPr>
                                    <m:t>𝐾</m:t>
                                  </m:r>
                                </m:sub>
                              </m:sSub>
                            </m:e>
                          </m:d>
                        </m:e>
                      </m:d>
                      <m:r>
                        <a:rPr lang="en-US" sz="2600" i="1">
                          <a:latin typeface="Cambria Math" panose="02040503050406030204" pitchFamily="18" charset="0"/>
                        </a:rPr>
                        <m:t>=</m:t>
                      </m:r>
                      <m:r>
                        <m:rPr>
                          <m:sty m:val="p"/>
                        </m:rPr>
                        <a:rPr lang="en-US" sz="2600">
                          <a:latin typeface="Cambria Math" panose="02040503050406030204" pitchFamily="18" charset="0"/>
                        </a:rPr>
                        <m:t>tr</m:t>
                      </m:r>
                      <m:d>
                        <m:dPr>
                          <m:ctrlPr>
                            <a:rPr lang="en-US" sz="2600" i="1">
                              <a:latin typeface="Cambria Math" panose="02040503050406030204" pitchFamily="18" charset="0"/>
                            </a:rPr>
                          </m:ctrlPr>
                        </m:dPr>
                        <m:e>
                          <m:sSup>
                            <m:sSupPr>
                              <m:ctrlPr>
                                <a:rPr lang="en-US" sz="2600" i="1">
                                  <a:latin typeface="Cambria Math" panose="02040503050406030204" pitchFamily="18" charset="0"/>
                                </a:rPr>
                              </m:ctrlPr>
                            </m:sSupPr>
                            <m:e>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r>
                                        <a:rPr lang="en-US" sz="2600">
                                          <a:latin typeface="Cambria Math" panose="02040503050406030204" pitchFamily="18" charset="0"/>
                                        </a:rPr>
                                        <m:t>𝛻</m:t>
                                      </m:r>
                                    </m:e>
                                    <m:sub>
                                      <m:sSub>
                                        <m:sSubPr>
                                          <m:ctrlPr>
                                            <a:rPr lang="en-US" sz="2600" i="1">
                                              <a:latin typeface="Cambria Math" panose="02040503050406030204" pitchFamily="18" charset="0"/>
                                            </a:rPr>
                                          </m:ctrlPr>
                                        </m:sSubPr>
                                        <m:e>
                                          <m:r>
                                            <m:rPr>
                                              <m:sty m:val="p"/>
                                            </m:rPr>
                                            <a:rPr lang="en-US" sz="2600">
                                              <a:latin typeface="Cambria Math" panose="02040503050406030204" pitchFamily="18" charset="0"/>
                                            </a:rPr>
                                            <m:t>Θ</m:t>
                                          </m:r>
                                        </m:e>
                                        <m:sub>
                                          <m:r>
                                            <a:rPr lang="en-US" sz="2600" i="1">
                                              <a:latin typeface="Cambria Math" panose="02040503050406030204" pitchFamily="18" charset="0"/>
                                            </a:rPr>
                                            <m:t>𝑘</m:t>
                                          </m:r>
                                          <m:r>
                                            <a:rPr lang="en-US" sz="2600" i="1">
                                              <a:latin typeface="Cambria Math" panose="02040503050406030204" pitchFamily="18" charset="0"/>
                                            </a:rPr>
                                            <m:t>+1</m:t>
                                          </m:r>
                                        </m:sub>
                                      </m:sSub>
                                    </m:sub>
                                  </m:sSub>
                                  <m:r>
                                    <m:rPr>
                                      <m:sty m:val="p"/>
                                    </m:rPr>
                                    <a:rPr lang="en-US" sz="2600">
                                      <a:latin typeface="Cambria Math" panose="02040503050406030204" pitchFamily="18" charset="0"/>
                                    </a:rPr>
                                    <m:t>vec</m:t>
                                  </m:r>
                                  <m:d>
                                    <m:dPr>
                                      <m:ctrlPr>
                                        <a:rPr lang="en-US" sz="2600" i="1">
                                          <a:latin typeface="Cambria Math" panose="02040503050406030204" pitchFamily="18" charset="0"/>
                                        </a:rPr>
                                      </m:ctrlPr>
                                    </m:dPr>
                                    <m:e>
                                      <m:r>
                                        <a:rPr lang="en-US" sz="2600" i="1">
                                          <a:latin typeface="Cambria Math" panose="02040503050406030204" pitchFamily="18" charset="0"/>
                                        </a:rPr>
                                        <m:t>𝑙</m:t>
                                      </m:r>
                                    </m:e>
                                  </m:d>
                                </m:e>
                              </m:d>
                            </m:e>
                            <m:sup>
                              <m:r>
                                <a:rPr lang="en-US" sz="2600" i="1">
                                  <a:latin typeface="Cambria Math" panose="02040503050406030204" pitchFamily="18" charset="0"/>
                                </a:rPr>
                                <m:t>𝑇</m:t>
                              </m:r>
                            </m:sup>
                          </m:sSup>
                          <m:d>
                            <m:dPr>
                              <m:ctrlPr>
                                <a:rPr lang="en-US" sz="2600" i="1">
                                  <a:latin typeface="Cambria Math" panose="02040503050406030204" pitchFamily="18" charset="0"/>
                                </a:rPr>
                              </m:ctrlPr>
                            </m:dPr>
                            <m:e>
                              <m:sSubSup>
                                <m:sSubSupPr>
                                  <m:ctrlPr>
                                    <a:rPr lang="en-US" sz="2600" i="1">
                                      <a:latin typeface="Cambria Math" panose="02040503050406030204" pitchFamily="18" charset="0"/>
                                    </a:rPr>
                                  </m:ctrlPr>
                                </m:sSubSupPr>
                                <m:e>
                                  <m:r>
                                    <a:rPr lang="en-US" sz="2600" i="1">
                                      <a:latin typeface="Cambria Math" panose="02040503050406030204" pitchFamily="18" charset="0"/>
                                    </a:rPr>
                                    <m:t>𝑉</m:t>
                                  </m:r>
                                </m:e>
                                <m:sub>
                                  <m:r>
                                    <a:rPr lang="en-US" sz="2600" i="1">
                                      <a:latin typeface="Cambria Math" panose="02040503050406030204" pitchFamily="18" charset="0"/>
                                    </a:rPr>
                                    <m:t>𝑘</m:t>
                                  </m:r>
                                  <m:r>
                                    <a:rPr lang="en-US" sz="2600" i="1">
                                      <a:latin typeface="Cambria Math" panose="02040503050406030204" pitchFamily="18" charset="0"/>
                                    </a:rPr>
                                    <m:t>+1</m:t>
                                  </m:r>
                                </m:sub>
                                <m:sup>
                                  <m:r>
                                    <a:rPr lang="en-US" sz="2600" i="1">
                                      <a:latin typeface="Cambria Math" panose="02040503050406030204" pitchFamily="18" charset="0"/>
                                    </a:rPr>
                                    <m:t>𝑇</m:t>
                                  </m:r>
                                </m:sup>
                              </m:sSubSup>
                              <m:r>
                                <a:rPr lang="en-US" sz="2600" i="1">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𝑈</m:t>
                                  </m:r>
                                </m:e>
                                <m:sub>
                                  <m:r>
                                    <a:rPr lang="en-US" sz="2600" i="1">
                                      <a:latin typeface="Cambria Math" panose="02040503050406030204" pitchFamily="18" charset="0"/>
                                    </a:rPr>
                                    <m:t>𝑘</m:t>
                                  </m:r>
                                  <m:r>
                                    <a:rPr lang="en-US" sz="2600" i="1">
                                      <a:latin typeface="Cambria Math" panose="02040503050406030204" pitchFamily="18" charset="0"/>
                                    </a:rPr>
                                    <m:t>+1</m:t>
                                  </m:r>
                                </m:sub>
                              </m:sSub>
                            </m:e>
                          </m:d>
                          <m:sSubSup>
                            <m:sSubSupPr>
                              <m:ctrlPr>
                                <a:rPr lang="en-US" sz="2600" i="1">
                                  <a:latin typeface="Cambria Math" panose="02040503050406030204" pitchFamily="18" charset="0"/>
                                </a:rPr>
                              </m:ctrlPr>
                            </m:sSubSupPr>
                            <m:e>
                              <m:r>
                                <a:rPr lang="en-US" sz="2600" i="1">
                                  <a:latin typeface="Cambria Math" panose="02040503050406030204" pitchFamily="18" charset="0"/>
                                </a:rPr>
                                <m:t>𝑓</m:t>
                              </m:r>
                            </m:e>
                            <m:sub>
                              <m:sSub>
                                <m:sSubPr>
                                  <m:ctrlPr>
                                    <a:rPr lang="en-US" sz="2600" i="1">
                                      <a:latin typeface="Cambria Math" panose="02040503050406030204" pitchFamily="18" charset="0"/>
                                    </a:rPr>
                                  </m:ctrlPr>
                                </m:sSubPr>
                                <m:e>
                                  <m:r>
                                    <a:rPr lang="en-US" sz="2600" b="1" i="1">
                                      <a:latin typeface="Cambria Math" panose="02040503050406030204" pitchFamily="18" charset="0"/>
                                    </a:rPr>
                                    <m:t>𝑿</m:t>
                                  </m:r>
                                </m:e>
                                <m:sub>
                                  <m:r>
                                    <a:rPr lang="en-US" sz="2600" i="1">
                                      <a:latin typeface="Cambria Math" panose="02040503050406030204" pitchFamily="18" charset="0"/>
                                    </a:rPr>
                                    <m:t>𝑘</m:t>
                                  </m:r>
                                </m:sub>
                              </m:sSub>
                            </m:sub>
                            <m:sup>
                              <m:r>
                                <a:rPr lang="en-US" sz="2600" i="1">
                                  <a:latin typeface="Cambria Math" panose="02040503050406030204" pitchFamily="18" charset="0"/>
                                </a:rPr>
                                <m:t>′</m:t>
                              </m:r>
                            </m:sup>
                          </m:sSubSup>
                          <m:d>
                            <m:dPr>
                              <m:ctrlPr>
                                <a:rPr lang="en-US" sz="2600" i="1">
                                  <a:latin typeface="Cambria Math" panose="02040503050406030204" pitchFamily="18" charset="0"/>
                                </a:rPr>
                              </m:ctrlPr>
                            </m:dPr>
                            <m:e>
                              <m:r>
                                <m:rPr>
                                  <m:sty m:val="p"/>
                                </m:rPr>
                                <a:rPr lang="en-US" sz="2600">
                                  <a:latin typeface="Cambria Math" panose="02040503050406030204" pitchFamily="18" charset="0"/>
                                </a:rPr>
                                <m:t>vec</m:t>
                              </m:r>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b="1" i="1">
                                              <a:latin typeface="Cambria Math" panose="02040503050406030204" pitchFamily="18" charset="0"/>
                                            </a:rPr>
                                            <m:t>𝑿</m:t>
                                          </m:r>
                                        </m:e>
                                      </m:acc>
                                    </m:e>
                                    <m:sub>
                                      <m:r>
                                        <a:rPr lang="en-US" sz="2600" i="1">
                                          <a:latin typeface="Cambria Math" panose="02040503050406030204" pitchFamily="18" charset="0"/>
                                        </a:rPr>
                                        <m:t>𝑘</m:t>
                                      </m:r>
                                      <m:r>
                                        <a:rPr lang="en-US" sz="2600" i="1">
                                          <a:latin typeface="Cambria Math" panose="02040503050406030204" pitchFamily="18" charset="0"/>
                                        </a:rPr>
                                        <m:t>−1</m:t>
                                      </m:r>
                                    </m:sub>
                                  </m:sSub>
                                </m:e>
                              </m:d>
                            </m:e>
                          </m:d>
                          <m:r>
                            <a:rPr lang="en-US" sz="2600" i="1">
                              <a:latin typeface="Cambria Math" panose="02040503050406030204" pitchFamily="18" charset="0"/>
                            </a:rPr>
                            <m:t>𝑑</m:t>
                          </m:r>
                          <m:r>
                            <m:rPr>
                              <m:sty m:val="p"/>
                            </m:rPr>
                            <a:rPr lang="en-US" sz="2600">
                              <a:latin typeface="Cambria Math" panose="02040503050406030204" pitchFamily="18" charset="0"/>
                            </a:rPr>
                            <m:t>vec</m:t>
                          </m:r>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r>
                                    <m:rPr>
                                      <m:sty m:val="p"/>
                                    </m:rPr>
                                    <a:rPr lang="en-US" sz="2600">
                                      <a:latin typeface="Cambria Math" panose="02040503050406030204" pitchFamily="18" charset="0"/>
                                    </a:rPr>
                                    <m:t>Θ</m:t>
                                  </m:r>
                                </m:e>
                                <m:sub>
                                  <m:r>
                                    <a:rPr lang="en-US" sz="2600" i="1">
                                      <a:latin typeface="Cambria Math" panose="02040503050406030204" pitchFamily="18" charset="0"/>
                                    </a:rPr>
                                    <m:t>𝑘</m:t>
                                  </m:r>
                                </m:sub>
                              </m:sSub>
                            </m:e>
                          </m:d>
                        </m:e>
                      </m:d>
                    </m:oMath>
                  </m:oMathPara>
                </a14:m>
                <a:endParaRPr lang="en-US" sz="2600" dirty="0"/>
              </a:p>
              <a:p>
                <a:pPr marL="0" indent="0">
                  <a:buNone/>
                </a:pPr>
                <a:r>
                  <a:rPr lang="en-US" sz="2600" dirty="0"/>
                  <a:t>It is totally to determine any gradient of </a:t>
                </a:r>
                <a:r>
                  <a:rPr lang="en-US" sz="2600" dirty="0" err="1"/>
                  <a:t>Θ</a:t>
                </a:r>
                <a:r>
                  <a:rPr lang="en-US" sz="2600" i="1" baseline="-25000" dirty="0" err="1"/>
                  <a:t>k</a:t>
                </a:r>
                <a:r>
                  <a:rPr lang="en-US" sz="2600" dirty="0"/>
                  <a:t> for all 1 ≤ </a:t>
                </a:r>
                <a:r>
                  <a:rPr lang="en-US" sz="2600" i="1" dirty="0"/>
                  <a:t>k </a:t>
                </a:r>
                <a:r>
                  <a:rPr lang="en-US" sz="2600" dirty="0"/>
                  <a:t>&lt; </a:t>
                </a:r>
                <a:r>
                  <a:rPr lang="en-US" sz="2600" i="1" dirty="0"/>
                  <a:t>K</a:t>
                </a:r>
                <a:r>
                  <a:rPr lang="en-US" sz="2600" dirty="0"/>
                  <a:t>.</a:t>
                </a:r>
              </a:p>
              <a:p>
                <a:pPr marL="0" indent="0">
                  <a:buNone/>
                </a:pPr>
                <a14:m>
                  <m:oMathPara xmlns:m="http://schemas.openxmlformats.org/officeDocument/2006/math">
                    <m:oMathParaPr>
                      <m:jc m:val="centerGroup"/>
                    </m:oMathParaPr>
                    <m:oMath xmlns:m="http://schemas.openxmlformats.org/officeDocument/2006/math">
                      <m:sSub>
                        <m:sSubPr>
                          <m:ctrlPr>
                            <a:rPr lang="en-US" sz="2600" i="1">
                              <a:latin typeface="Cambria Math" panose="02040503050406030204" pitchFamily="18" charset="0"/>
                            </a:rPr>
                          </m:ctrlPr>
                        </m:sSubPr>
                        <m:e>
                          <m:r>
                            <a:rPr lang="en-US" sz="2600">
                              <a:latin typeface="Cambria Math" panose="02040503050406030204" pitchFamily="18" charset="0"/>
                            </a:rPr>
                            <m:t>𝛻</m:t>
                          </m:r>
                        </m:e>
                        <m:sub>
                          <m:sSub>
                            <m:sSubPr>
                              <m:ctrlPr>
                                <a:rPr lang="en-US" sz="2600" i="1">
                                  <a:latin typeface="Cambria Math" panose="02040503050406030204" pitchFamily="18" charset="0"/>
                                </a:rPr>
                              </m:ctrlPr>
                            </m:sSubPr>
                            <m:e>
                              <m:r>
                                <m:rPr>
                                  <m:sty m:val="p"/>
                                </m:rPr>
                                <a:rPr lang="en-US" sz="2600">
                                  <a:latin typeface="Cambria Math" panose="02040503050406030204" pitchFamily="18" charset="0"/>
                                </a:rPr>
                                <m:t>Θ</m:t>
                              </m:r>
                            </m:e>
                            <m:sub>
                              <m:r>
                                <a:rPr lang="en-US" sz="2600" i="1">
                                  <a:latin typeface="Cambria Math" panose="02040503050406030204" pitchFamily="18" charset="0"/>
                                </a:rPr>
                                <m:t>𝑘</m:t>
                              </m:r>
                            </m:sub>
                          </m:sSub>
                        </m:sub>
                      </m:sSub>
                      <m:r>
                        <m:rPr>
                          <m:sty m:val="p"/>
                        </m:rPr>
                        <a:rPr lang="en-US" sz="2600">
                          <a:latin typeface="Cambria Math" panose="02040503050406030204" pitchFamily="18" charset="0"/>
                        </a:rPr>
                        <m:t>vec</m:t>
                      </m:r>
                      <m:d>
                        <m:dPr>
                          <m:ctrlPr>
                            <a:rPr lang="en-US" sz="2600" i="1">
                              <a:latin typeface="Cambria Math" panose="02040503050406030204" pitchFamily="18" charset="0"/>
                            </a:rPr>
                          </m:ctrlPr>
                        </m:dPr>
                        <m:e>
                          <m:r>
                            <a:rPr lang="en-US" sz="2600" i="1">
                              <a:latin typeface="Cambria Math" panose="02040503050406030204" pitchFamily="18" charset="0"/>
                            </a:rPr>
                            <m:t>𝑙</m:t>
                          </m:r>
                        </m:e>
                      </m:d>
                      <m:r>
                        <a:rPr lang="en-US" sz="2600" i="1">
                          <a:latin typeface="Cambria Math" panose="02040503050406030204" pitchFamily="18" charset="0"/>
                        </a:rPr>
                        <m:t>=</m:t>
                      </m:r>
                      <m:f>
                        <m:fPr>
                          <m:ctrlPr>
                            <a:rPr lang="en-US" sz="2600" i="1">
                              <a:latin typeface="Cambria Math" panose="02040503050406030204" pitchFamily="18" charset="0"/>
                            </a:rPr>
                          </m:ctrlPr>
                        </m:fPr>
                        <m:num>
                          <m:r>
                            <a:rPr lang="en-US" sz="2600" i="1">
                              <a:latin typeface="Cambria Math" panose="02040503050406030204" pitchFamily="18" charset="0"/>
                            </a:rPr>
                            <m:t>𝑑</m:t>
                          </m:r>
                          <m:r>
                            <m:rPr>
                              <m:sty m:val="p"/>
                            </m:rPr>
                            <a:rPr lang="en-US" sz="2600">
                              <a:latin typeface="Cambria Math" panose="02040503050406030204" pitchFamily="18" charset="0"/>
                            </a:rPr>
                            <m:t>vec</m:t>
                          </m:r>
                          <m:d>
                            <m:dPr>
                              <m:ctrlPr>
                                <a:rPr lang="en-US" sz="2600" i="1">
                                  <a:latin typeface="Cambria Math" panose="02040503050406030204" pitchFamily="18" charset="0"/>
                                </a:rPr>
                              </m:ctrlPr>
                            </m:dPr>
                            <m:e>
                              <m:r>
                                <a:rPr lang="en-US" sz="2600" i="1">
                                  <a:latin typeface="Cambria Math" panose="02040503050406030204" pitchFamily="18" charset="0"/>
                                </a:rPr>
                                <m:t>𝑙</m:t>
                              </m:r>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r>
                                        <a:rPr lang="en-US" sz="2600" b="1" i="1">
                                          <a:latin typeface="Cambria Math" panose="02040503050406030204" pitchFamily="18" charset="0"/>
                                        </a:rPr>
                                        <m:t>𝑿</m:t>
                                      </m:r>
                                    </m:e>
                                    <m:sub>
                                      <m:r>
                                        <a:rPr lang="en-US" sz="2600" i="1">
                                          <a:latin typeface="Cambria Math" panose="02040503050406030204" pitchFamily="18" charset="0"/>
                                        </a:rPr>
                                        <m:t>𝐾</m:t>
                                      </m:r>
                                    </m:sub>
                                  </m:sSub>
                                </m:e>
                              </m:d>
                            </m:e>
                          </m:d>
                        </m:num>
                        <m:den>
                          <m:r>
                            <a:rPr lang="en-US" sz="2600" i="1">
                              <a:latin typeface="Cambria Math" panose="02040503050406030204" pitchFamily="18" charset="0"/>
                            </a:rPr>
                            <m:t>𝑑</m:t>
                          </m:r>
                          <m:r>
                            <m:rPr>
                              <m:sty m:val="p"/>
                            </m:rPr>
                            <a:rPr lang="en-US" sz="2600">
                              <a:latin typeface="Cambria Math" panose="02040503050406030204" pitchFamily="18" charset="0"/>
                            </a:rPr>
                            <m:t>vec</m:t>
                          </m:r>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r>
                                    <m:rPr>
                                      <m:sty m:val="p"/>
                                    </m:rPr>
                                    <a:rPr lang="en-US" sz="2600">
                                      <a:latin typeface="Cambria Math" panose="02040503050406030204" pitchFamily="18" charset="0"/>
                                    </a:rPr>
                                    <m:t>Θ</m:t>
                                  </m:r>
                                </m:e>
                                <m:sub>
                                  <m:r>
                                    <a:rPr lang="en-US" sz="2600" i="1">
                                      <a:latin typeface="Cambria Math" panose="02040503050406030204" pitchFamily="18" charset="0"/>
                                    </a:rPr>
                                    <m:t>𝑘</m:t>
                                  </m:r>
                                </m:sub>
                              </m:sSub>
                            </m:e>
                          </m:d>
                        </m:den>
                      </m:f>
                      <m:r>
                        <a:rPr lang="en-US" sz="2600" i="1">
                          <a:latin typeface="Cambria Math" panose="02040503050406030204" pitchFamily="18" charset="0"/>
                        </a:rPr>
                        <m:t>=</m:t>
                      </m:r>
                      <m:sSup>
                        <m:sSupPr>
                          <m:ctrlPr>
                            <a:rPr lang="en-US" sz="2600" i="1">
                              <a:latin typeface="Cambria Math" panose="02040503050406030204" pitchFamily="18" charset="0"/>
                            </a:rPr>
                          </m:ctrlPr>
                        </m:sSupPr>
                        <m:e>
                          <m:d>
                            <m:dPr>
                              <m:ctrlPr>
                                <a:rPr lang="en-US" sz="2600" i="1">
                                  <a:latin typeface="Cambria Math" panose="02040503050406030204" pitchFamily="18" charset="0"/>
                                </a:rPr>
                              </m:ctrlPr>
                            </m:dPr>
                            <m:e>
                              <m:sSubSup>
                                <m:sSubSupPr>
                                  <m:ctrlPr>
                                    <a:rPr lang="en-US" sz="2600" i="1">
                                      <a:latin typeface="Cambria Math" panose="02040503050406030204" pitchFamily="18" charset="0"/>
                                    </a:rPr>
                                  </m:ctrlPr>
                                </m:sSubSupPr>
                                <m:e>
                                  <m:r>
                                    <a:rPr lang="en-US" sz="2600" i="1">
                                      <a:latin typeface="Cambria Math" panose="02040503050406030204" pitchFamily="18" charset="0"/>
                                    </a:rPr>
                                    <m:t>𝑓</m:t>
                                  </m:r>
                                </m:e>
                                <m:sub>
                                  <m:sSub>
                                    <m:sSubPr>
                                      <m:ctrlPr>
                                        <a:rPr lang="en-US" sz="2600" i="1">
                                          <a:latin typeface="Cambria Math" panose="02040503050406030204" pitchFamily="18" charset="0"/>
                                        </a:rPr>
                                      </m:ctrlPr>
                                    </m:sSubPr>
                                    <m:e>
                                      <m:r>
                                        <a:rPr lang="en-US" sz="2600" b="1" i="1">
                                          <a:latin typeface="Cambria Math" panose="02040503050406030204" pitchFamily="18" charset="0"/>
                                        </a:rPr>
                                        <m:t>𝑿</m:t>
                                      </m:r>
                                    </m:e>
                                    <m:sub>
                                      <m:r>
                                        <a:rPr lang="en-US" sz="2600" i="1">
                                          <a:latin typeface="Cambria Math" panose="02040503050406030204" pitchFamily="18" charset="0"/>
                                        </a:rPr>
                                        <m:t>𝑘</m:t>
                                      </m:r>
                                    </m:sub>
                                  </m:sSub>
                                </m:sub>
                                <m:sup>
                                  <m:r>
                                    <a:rPr lang="en-US" sz="2600" i="1">
                                      <a:latin typeface="Cambria Math" panose="02040503050406030204" pitchFamily="18" charset="0"/>
                                    </a:rPr>
                                    <m:t>′</m:t>
                                  </m:r>
                                </m:sup>
                              </m:sSubSup>
                              <m:d>
                                <m:dPr>
                                  <m:ctrlPr>
                                    <a:rPr lang="en-US" sz="2600" i="1">
                                      <a:latin typeface="Cambria Math" panose="02040503050406030204" pitchFamily="18" charset="0"/>
                                    </a:rPr>
                                  </m:ctrlPr>
                                </m:dPr>
                                <m:e>
                                  <m:r>
                                    <m:rPr>
                                      <m:sty m:val="p"/>
                                    </m:rPr>
                                    <a:rPr lang="en-US" sz="2600">
                                      <a:latin typeface="Cambria Math" panose="02040503050406030204" pitchFamily="18" charset="0"/>
                                    </a:rPr>
                                    <m:t>vec</m:t>
                                  </m:r>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acc>
                                            <m:accPr>
                                              <m:chr m:val="̂"/>
                                              <m:ctrlPr>
                                                <a:rPr lang="en-US" sz="2600" i="1">
                                                  <a:latin typeface="Cambria Math" panose="02040503050406030204" pitchFamily="18" charset="0"/>
                                                </a:rPr>
                                              </m:ctrlPr>
                                            </m:accPr>
                                            <m:e>
                                              <m:r>
                                                <a:rPr lang="en-US" sz="2600" b="1" i="1">
                                                  <a:latin typeface="Cambria Math" panose="02040503050406030204" pitchFamily="18" charset="0"/>
                                                </a:rPr>
                                                <m:t>𝑿</m:t>
                                              </m:r>
                                            </m:e>
                                          </m:acc>
                                        </m:e>
                                        <m:sub>
                                          <m:r>
                                            <a:rPr lang="en-US" sz="2600" i="1">
                                              <a:latin typeface="Cambria Math" panose="02040503050406030204" pitchFamily="18" charset="0"/>
                                            </a:rPr>
                                            <m:t>𝑘</m:t>
                                          </m:r>
                                          <m:r>
                                            <a:rPr lang="en-US" sz="2600" i="1">
                                              <a:latin typeface="Cambria Math" panose="02040503050406030204" pitchFamily="18" charset="0"/>
                                            </a:rPr>
                                            <m:t>−1</m:t>
                                          </m:r>
                                        </m:sub>
                                      </m:sSub>
                                    </m:e>
                                  </m:d>
                                </m:e>
                              </m:d>
                            </m:e>
                          </m:d>
                        </m:e>
                        <m:sup>
                          <m:r>
                            <a:rPr lang="en-US" sz="2600" i="1">
                              <a:latin typeface="Cambria Math" panose="02040503050406030204" pitchFamily="18" charset="0"/>
                            </a:rPr>
                            <m:t>𝑇</m:t>
                          </m:r>
                        </m:sup>
                      </m:sSup>
                      <m:sSup>
                        <m:sSupPr>
                          <m:ctrlPr>
                            <a:rPr lang="en-US" sz="2600" i="1">
                              <a:latin typeface="Cambria Math" panose="02040503050406030204" pitchFamily="18" charset="0"/>
                            </a:rPr>
                          </m:ctrlPr>
                        </m:sSupPr>
                        <m:e>
                          <m:d>
                            <m:dPr>
                              <m:ctrlPr>
                                <a:rPr lang="en-US" sz="2600" i="1">
                                  <a:latin typeface="Cambria Math" panose="02040503050406030204" pitchFamily="18" charset="0"/>
                                </a:rPr>
                              </m:ctrlPr>
                            </m:dPr>
                            <m:e>
                              <m:sSubSup>
                                <m:sSubSupPr>
                                  <m:ctrlPr>
                                    <a:rPr lang="en-US" sz="2600" i="1">
                                      <a:latin typeface="Cambria Math" panose="02040503050406030204" pitchFamily="18" charset="0"/>
                                    </a:rPr>
                                  </m:ctrlPr>
                                </m:sSubSupPr>
                                <m:e>
                                  <m:r>
                                    <a:rPr lang="en-US" sz="2600" i="1">
                                      <a:latin typeface="Cambria Math" panose="02040503050406030204" pitchFamily="18" charset="0"/>
                                    </a:rPr>
                                    <m:t>𝑉</m:t>
                                  </m:r>
                                </m:e>
                                <m:sub>
                                  <m:r>
                                    <a:rPr lang="en-US" sz="2600" i="1">
                                      <a:latin typeface="Cambria Math" panose="02040503050406030204" pitchFamily="18" charset="0"/>
                                    </a:rPr>
                                    <m:t>𝑘</m:t>
                                  </m:r>
                                  <m:r>
                                    <a:rPr lang="en-US" sz="2600" i="1">
                                      <a:latin typeface="Cambria Math" panose="02040503050406030204" pitchFamily="18" charset="0"/>
                                    </a:rPr>
                                    <m:t>+1</m:t>
                                  </m:r>
                                </m:sub>
                                <m:sup>
                                  <m:r>
                                    <a:rPr lang="en-US" sz="2600" i="1">
                                      <a:latin typeface="Cambria Math" panose="02040503050406030204" pitchFamily="18" charset="0"/>
                                    </a:rPr>
                                    <m:t>𝑇</m:t>
                                  </m:r>
                                </m:sup>
                              </m:sSubSup>
                              <m:r>
                                <a:rPr lang="en-US" sz="2600" i="1">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𝑈</m:t>
                                  </m:r>
                                </m:e>
                                <m:sub>
                                  <m:r>
                                    <a:rPr lang="en-US" sz="2600" i="1">
                                      <a:latin typeface="Cambria Math" panose="02040503050406030204" pitchFamily="18" charset="0"/>
                                    </a:rPr>
                                    <m:t>𝑘</m:t>
                                  </m:r>
                                  <m:r>
                                    <a:rPr lang="en-US" sz="2600" i="1">
                                      <a:latin typeface="Cambria Math" panose="02040503050406030204" pitchFamily="18" charset="0"/>
                                    </a:rPr>
                                    <m:t>+1</m:t>
                                  </m:r>
                                </m:sub>
                              </m:sSub>
                            </m:e>
                          </m:d>
                        </m:e>
                        <m:sup>
                          <m:r>
                            <a:rPr lang="en-US" sz="2600" i="1">
                              <a:latin typeface="Cambria Math" panose="02040503050406030204" pitchFamily="18" charset="0"/>
                            </a:rPr>
                            <m:t>𝑇</m:t>
                          </m:r>
                        </m:sup>
                      </m:sSup>
                      <m:sSub>
                        <m:sSubPr>
                          <m:ctrlPr>
                            <a:rPr lang="en-US" sz="2600" i="1">
                              <a:latin typeface="Cambria Math" panose="02040503050406030204" pitchFamily="18" charset="0"/>
                            </a:rPr>
                          </m:ctrlPr>
                        </m:sSubPr>
                        <m:e>
                          <m:r>
                            <a:rPr lang="en-US" sz="2600">
                              <a:latin typeface="Cambria Math" panose="02040503050406030204" pitchFamily="18" charset="0"/>
                            </a:rPr>
                            <m:t>𝛻</m:t>
                          </m:r>
                        </m:e>
                        <m:sub>
                          <m:sSub>
                            <m:sSubPr>
                              <m:ctrlPr>
                                <a:rPr lang="en-US" sz="2600" i="1">
                                  <a:latin typeface="Cambria Math" panose="02040503050406030204" pitchFamily="18" charset="0"/>
                                </a:rPr>
                              </m:ctrlPr>
                            </m:sSubPr>
                            <m:e>
                              <m:r>
                                <m:rPr>
                                  <m:sty m:val="p"/>
                                </m:rPr>
                                <a:rPr lang="en-US" sz="2600">
                                  <a:latin typeface="Cambria Math" panose="02040503050406030204" pitchFamily="18" charset="0"/>
                                </a:rPr>
                                <m:t>Θ</m:t>
                              </m:r>
                            </m:e>
                            <m:sub>
                              <m:r>
                                <a:rPr lang="en-US" sz="2600" i="1">
                                  <a:latin typeface="Cambria Math" panose="02040503050406030204" pitchFamily="18" charset="0"/>
                                </a:rPr>
                                <m:t>𝑘</m:t>
                              </m:r>
                              <m:r>
                                <a:rPr lang="en-US" sz="2600" i="1">
                                  <a:latin typeface="Cambria Math" panose="02040503050406030204" pitchFamily="18" charset="0"/>
                                </a:rPr>
                                <m:t>+1</m:t>
                              </m:r>
                            </m:sub>
                          </m:sSub>
                        </m:sub>
                      </m:sSub>
                      <m:r>
                        <m:rPr>
                          <m:sty m:val="p"/>
                        </m:rPr>
                        <a:rPr lang="en-US" sz="2600">
                          <a:latin typeface="Cambria Math" panose="02040503050406030204" pitchFamily="18" charset="0"/>
                        </a:rPr>
                        <m:t>vec</m:t>
                      </m:r>
                      <m:d>
                        <m:dPr>
                          <m:ctrlPr>
                            <a:rPr lang="en-US" sz="2600" i="1">
                              <a:latin typeface="Cambria Math" panose="02040503050406030204" pitchFamily="18" charset="0"/>
                            </a:rPr>
                          </m:ctrlPr>
                        </m:dPr>
                        <m:e>
                          <m:r>
                            <a:rPr lang="en-US" sz="2600" i="1">
                              <a:latin typeface="Cambria Math" panose="02040503050406030204" pitchFamily="18" charset="0"/>
                            </a:rPr>
                            <m:t>𝑙</m:t>
                          </m:r>
                        </m:e>
                      </m:d>
                    </m:oMath>
                  </m:oMathPara>
                </a14:m>
                <a:endParaRPr lang="en-US" sz="2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1280" y="914399"/>
                <a:ext cx="12029440" cy="5176066"/>
              </a:xfrm>
              <a:blipFill>
                <a:blip r:embed="rId2"/>
                <a:stretch>
                  <a:fillRect l="-912" t="-1060" r="-86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18</a:t>
            </a:fld>
            <a:endParaRPr lang="en-US"/>
          </a:p>
        </p:txBody>
      </p:sp>
    </p:spTree>
    <p:extLst>
      <p:ext uri="{BB962C8B-B14F-4D97-AF65-F5344CB8AC3E}">
        <p14:creationId xmlns:p14="http://schemas.microsoft.com/office/powerpoint/2010/main" val="16379325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a:t>
            </a:r>
            <a:r>
              <a:rPr lang="en-US" dirty="0" smtClean="0"/>
              <a:t>network (main)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1120" y="914399"/>
                <a:ext cx="12039600" cy="5176066"/>
              </a:xfrm>
            </p:spPr>
            <p:txBody>
              <a:bodyPr>
                <a:noAutofit/>
              </a:bodyPr>
              <a:lstStyle/>
              <a:p>
                <a:pPr marL="0" indent="0">
                  <a:buNone/>
                </a:pPr>
                <a:r>
                  <a:rPr lang="en-US" sz="2100" dirty="0">
                    <a:effectLst>
                      <a:outerShdw blurRad="38100" dist="38100" dir="2700000" algn="tl">
                        <a:srgbClr val="000000">
                          <a:alpha val="43137"/>
                        </a:srgbClr>
                      </a:outerShdw>
                    </a:effectLst>
                  </a:rPr>
                  <a:t>As a result of association of </a:t>
                </a:r>
                <a:r>
                  <a:rPr lang="en-US" sz="2100" dirty="0" smtClean="0">
                    <a:effectLst>
                      <a:outerShdw blurRad="38100" dist="38100" dir="2700000" algn="tl">
                        <a:srgbClr val="000000">
                          <a:alpha val="43137"/>
                        </a:srgbClr>
                      </a:outerShdw>
                    </a:effectLst>
                  </a:rPr>
                  <a:t>SGD </a:t>
                </a:r>
                <a:r>
                  <a:rPr lang="en-US" sz="2100" dirty="0">
                    <a:effectLst>
                      <a:outerShdw blurRad="38100" dist="38100" dir="2700000" algn="tl">
                        <a:srgbClr val="000000">
                          <a:alpha val="43137"/>
                        </a:srgbClr>
                      </a:outerShdw>
                    </a:effectLst>
                  </a:rPr>
                  <a:t>algorithm and backpropagation algorithm for training </a:t>
                </a:r>
                <a:r>
                  <a:rPr lang="en-US" sz="2100" dirty="0" smtClean="0">
                    <a:effectLst>
                      <a:outerShdw blurRad="38100" dist="38100" dir="2700000" algn="tl">
                        <a:srgbClr val="000000">
                          <a:alpha val="43137"/>
                        </a:srgbClr>
                      </a:outerShdw>
                    </a:effectLst>
                  </a:rPr>
                  <a:t>MNN, </a:t>
                </a:r>
                <a:r>
                  <a:rPr lang="en-US" sz="2100" dirty="0">
                    <a:effectLst>
                      <a:outerShdw blurRad="38100" dist="38100" dir="2700000" algn="tl">
                        <a:srgbClr val="000000">
                          <a:alpha val="43137"/>
                        </a:srgbClr>
                      </a:outerShdw>
                    </a:effectLst>
                  </a:rPr>
                  <a:t>all gradients </a:t>
                </a:r>
                <a14:m>
                  <m:oMath xmlns:m="http://schemas.openxmlformats.org/officeDocument/2006/math">
                    <m:sSub>
                      <m:sSubPr>
                        <m:ctrlPr>
                          <a:rPr lang="en-US" sz="2100" i="1">
                            <a:latin typeface="Cambria Math" panose="02040503050406030204" pitchFamily="18" charset="0"/>
                          </a:rPr>
                        </m:ctrlPr>
                      </m:sSubPr>
                      <m:e>
                        <m:r>
                          <a:rPr lang="en-US" sz="2100">
                            <a:latin typeface="Cambria Math" panose="02040503050406030204" pitchFamily="18" charset="0"/>
                          </a:rPr>
                          <m:t>𝛻</m:t>
                        </m:r>
                      </m:e>
                      <m:sub>
                        <m:sSub>
                          <m:sSubPr>
                            <m:ctrlPr>
                              <a:rPr lang="en-US" sz="2100" i="1">
                                <a:latin typeface="Cambria Math" panose="02040503050406030204" pitchFamily="18" charset="0"/>
                              </a:rPr>
                            </m:ctrlPr>
                          </m:sSubPr>
                          <m:e>
                            <m:r>
                              <a:rPr lang="en-US" sz="2100" i="1">
                                <a:latin typeface="Cambria Math" panose="02040503050406030204" pitchFamily="18" charset="0"/>
                              </a:rPr>
                              <m:t>𝑈</m:t>
                            </m:r>
                          </m:e>
                          <m:sub>
                            <m:r>
                              <a:rPr lang="en-US" sz="2100" i="1">
                                <a:latin typeface="Cambria Math" panose="02040503050406030204" pitchFamily="18" charset="0"/>
                              </a:rPr>
                              <m:t>𝑘</m:t>
                            </m:r>
                          </m:sub>
                        </m:sSub>
                      </m:sub>
                    </m:sSub>
                    <m:r>
                      <m:rPr>
                        <m:sty m:val="p"/>
                      </m:rPr>
                      <a:rPr lang="en-US" sz="2100">
                        <a:latin typeface="Cambria Math" panose="02040503050406030204" pitchFamily="18" charset="0"/>
                      </a:rPr>
                      <m:t>vec</m:t>
                    </m:r>
                    <m:d>
                      <m:dPr>
                        <m:ctrlPr>
                          <a:rPr lang="en-US" sz="2100" i="1">
                            <a:latin typeface="Cambria Math" panose="02040503050406030204" pitchFamily="18" charset="0"/>
                          </a:rPr>
                        </m:ctrlPr>
                      </m:dPr>
                      <m:e>
                        <m:r>
                          <a:rPr lang="en-US" sz="2100" i="1">
                            <a:latin typeface="Cambria Math" panose="02040503050406030204" pitchFamily="18" charset="0"/>
                          </a:rPr>
                          <m:t>𝑙</m:t>
                        </m:r>
                      </m:e>
                    </m:d>
                  </m:oMath>
                </a14:m>
                <a:r>
                  <a:rPr lang="en-US" sz="2100" dirty="0"/>
                  <a:t>, </a:t>
                </a:r>
                <a14:m>
                  <m:oMath xmlns:m="http://schemas.openxmlformats.org/officeDocument/2006/math">
                    <m:sSub>
                      <m:sSubPr>
                        <m:ctrlPr>
                          <a:rPr lang="en-US" sz="2100" i="1">
                            <a:latin typeface="Cambria Math" panose="02040503050406030204" pitchFamily="18" charset="0"/>
                          </a:rPr>
                        </m:ctrlPr>
                      </m:sSubPr>
                      <m:e>
                        <m:r>
                          <a:rPr lang="en-US" sz="2100">
                            <a:latin typeface="Cambria Math" panose="02040503050406030204" pitchFamily="18" charset="0"/>
                          </a:rPr>
                          <m:t>𝛻</m:t>
                        </m:r>
                      </m:e>
                      <m:sub>
                        <m:sSub>
                          <m:sSubPr>
                            <m:ctrlPr>
                              <a:rPr lang="en-US" sz="2100" i="1">
                                <a:latin typeface="Cambria Math" panose="02040503050406030204" pitchFamily="18" charset="0"/>
                              </a:rPr>
                            </m:ctrlPr>
                          </m:sSubPr>
                          <m:e>
                            <m:r>
                              <a:rPr lang="en-US" sz="2100" i="1">
                                <a:latin typeface="Cambria Math" panose="02040503050406030204" pitchFamily="18" charset="0"/>
                              </a:rPr>
                              <m:t>𝑉</m:t>
                            </m:r>
                          </m:e>
                          <m:sub>
                            <m:r>
                              <a:rPr lang="en-US" sz="2100" i="1">
                                <a:latin typeface="Cambria Math" panose="02040503050406030204" pitchFamily="18" charset="0"/>
                              </a:rPr>
                              <m:t>𝑘</m:t>
                            </m:r>
                          </m:sub>
                        </m:sSub>
                      </m:sub>
                    </m:sSub>
                    <m:r>
                      <m:rPr>
                        <m:sty m:val="p"/>
                      </m:rPr>
                      <a:rPr lang="en-US" sz="2100">
                        <a:latin typeface="Cambria Math" panose="02040503050406030204" pitchFamily="18" charset="0"/>
                      </a:rPr>
                      <m:t>vec</m:t>
                    </m:r>
                    <m:d>
                      <m:dPr>
                        <m:ctrlPr>
                          <a:rPr lang="en-US" sz="2100" i="1">
                            <a:latin typeface="Cambria Math" panose="02040503050406030204" pitchFamily="18" charset="0"/>
                          </a:rPr>
                        </m:ctrlPr>
                      </m:dPr>
                      <m:e>
                        <m:r>
                          <a:rPr lang="en-US" sz="2100" i="1">
                            <a:latin typeface="Cambria Math" panose="02040503050406030204" pitchFamily="18" charset="0"/>
                          </a:rPr>
                          <m:t>𝑙</m:t>
                        </m:r>
                      </m:e>
                    </m:d>
                  </m:oMath>
                </a14:m>
                <a:r>
                  <a:rPr lang="en-US" sz="2100" dirty="0"/>
                  <a:t>, and </a:t>
                </a:r>
                <a14:m>
                  <m:oMath xmlns:m="http://schemas.openxmlformats.org/officeDocument/2006/math">
                    <m:sSub>
                      <m:sSubPr>
                        <m:ctrlPr>
                          <a:rPr lang="en-US" sz="2100" i="1">
                            <a:latin typeface="Cambria Math" panose="02040503050406030204" pitchFamily="18" charset="0"/>
                          </a:rPr>
                        </m:ctrlPr>
                      </m:sSubPr>
                      <m:e>
                        <m:r>
                          <a:rPr lang="en-US" sz="2100">
                            <a:latin typeface="Cambria Math" panose="02040503050406030204" pitchFamily="18" charset="0"/>
                          </a:rPr>
                          <m:t>𝛻</m:t>
                        </m:r>
                      </m:e>
                      <m:sub>
                        <m:sSub>
                          <m:sSubPr>
                            <m:ctrlPr>
                              <a:rPr lang="en-US" sz="2100" i="1">
                                <a:latin typeface="Cambria Math" panose="02040503050406030204" pitchFamily="18" charset="0"/>
                              </a:rPr>
                            </m:ctrlPr>
                          </m:sSubPr>
                          <m:e>
                            <m:r>
                              <m:rPr>
                                <m:sty m:val="p"/>
                              </m:rPr>
                              <a:rPr lang="en-US" sz="2100">
                                <a:latin typeface="Cambria Math" panose="02040503050406030204" pitchFamily="18" charset="0"/>
                              </a:rPr>
                              <m:t>Θ</m:t>
                            </m:r>
                          </m:e>
                          <m:sub>
                            <m:r>
                              <a:rPr lang="en-US" sz="2100" i="1">
                                <a:latin typeface="Cambria Math" panose="02040503050406030204" pitchFamily="18" charset="0"/>
                              </a:rPr>
                              <m:t>𝑘</m:t>
                            </m:r>
                          </m:sub>
                        </m:sSub>
                      </m:sub>
                    </m:sSub>
                    <m:r>
                      <m:rPr>
                        <m:sty m:val="p"/>
                      </m:rPr>
                      <a:rPr lang="en-US" sz="2100">
                        <a:latin typeface="Cambria Math" panose="02040503050406030204" pitchFamily="18" charset="0"/>
                      </a:rPr>
                      <m:t>vec</m:t>
                    </m:r>
                    <m:d>
                      <m:dPr>
                        <m:ctrlPr>
                          <a:rPr lang="en-US" sz="2100" i="1">
                            <a:latin typeface="Cambria Math" panose="02040503050406030204" pitchFamily="18" charset="0"/>
                          </a:rPr>
                        </m:ctrlPr>
                      </m:dPr>
                      <m:e>
                        <m:r>
                          <a:rPr lang="en-US" sz="2100" i="1">
                            <a:latin typeface="Cambria Math" panose="02040503050406030204" pitchFamily="18" charset="0"/>
                          </a:rPr>
                          <m:t>𝑙</m:t>
                        </m:r>
                      </m:e>
                    </m:d>
                  </m:oMath>
                </a14:m>
                <a:r>
                  <a:rPr lang="en-US" sz="2100" dirty="0"/>
                  <a:t> of </a:t>
                </a:r>
                <a:r>
                  <a:rPr lang="en-US" sz="2100" dirty="0" err="1"/>
                  <a:t>Frobenius</a:t>
                </a:r>
                <a:r>
                  <a:rPr lang="en-US" sz="2100" dirty="0"/>
                  <a:t> norm likelihood with respect to </a:t>
                </a:r>
                <a:r>
                  <a:rPr lang="en-US" sz="2100" dirty="0" smtClean="0"/>
                  <a:t>parameters </a:t>
                </a:r>
                <a:r>
                  <a:rPr lang="en-US" sz="2100" i="1" dirty="0" err="1" smtClean="0"/>
                  <a:t>U</a:t>
                </a:r>
                <a:r>
                  <a:rPr lang="en-US" sz="2100" i="1" baseline="-25000" dirty="0" err="1" smtClean="0"/>
                  <a:t>k</a:t>
                </a:r>
                <a:r>
                  <a:rPr lang="en-US" sz="2100" dirty="0"/>
                  <a:t>, </a:t>
                </a:r>
                <a:r>
                  <a:rPr lang="en-US" sz="2100" i="1" dirty="0" err="1"/>
                  <a:t>V</a:t>
                </a:r>
                <a:r>
                  <a:rPr lang="en-US" sz="2100" i="1" baseline="-25000" dirty="0" err="1"/>
                  <a:t>k</a:t>
                </a:r>
                <a:r>
                  <a:rPr lang="en-US" sz="2100" dirty="0"/>
                  <a:t>, and </a:t>
                </a:r>
                <a:r>
                  <a:rPr lang="en-US" sz="2100" dirty="0" err="1"/>
                  <a:t>Θ</a:t>
                </a:r>
                <a:r>
                  <a:rPr lang="en-US" sz="2100" i="1" baseline="-25000" dirty="0" err="1"/>
                  <a:t>k</a:t>
                </a:r>
                <a:r>
                  <a:rPr lang="en-US" sz="2100" dirty="0"/>
                  <a:t> </a:t>
                </a:r>
                <a:r>
                  <a:rPr lang="en-US" sz="2100" dirty="0">
                    <a:effectLst>
                      <a:outerShdw blurRad="38100" dist="38100" dir="2700000" algn="tl">
                        <a:srgbClr val="000000">
                          <a:alpha val="43137"/>
                        </a:srgbClr>
                      </a:outerShdw>
                    </a:effectLst>
                  </a:rPr>
                  <a:t>within vectorization technique </a:t>
                </a:r>
                <a:r>
                  <a:rPr lang="en-US" sz="2100" dirty="0"/>
                  <a:t>for all 1 ≤ </a:t>
                </a:r>
                <a:r>
                  <a:rPr lang="en-US" sz="2100" i="1" dirty="0"/>
                  <a:t>k </a:t>
                </a:r>
                <a:r>
                  <a:rPr lang="en-US" sz="2100" dirty="0"/>
                  <a:t>≤ </a:t>
                </a:r>
                <a:r>
                  <a:rPr lang="en-US" sz="2100" i="1" dirty="0"/>
                  <a:t>K</a:t>
                </a:r>
                <a:r>
                  <a:rPr lang="en-US" sz="2100" dirty="0"/>
                  <a:t>, respectively </a:t>
                </a:r>
                <a:r>
                  <a:rPr lang="en-US" sz="2100" dirty="0">
                    <a:effectLst>
                      <a:outerShdw blurRad="38100" dist="38100" dir="2700000" algn="tl">
                        <a:srgbClr val="000000">
                          <a:alpha val="43137"/>
                        </a:srgbClr>
                      </a:outerShdw>
                    </a:effectLst>
                  </a:rPr>
                  <a:t>are calculated</a:t>
                </a:r>
                <a:r>
                  <a:rPr lang="en-US" sz="2100" dirty="0"/>
                  <a:t> as follows</a:t>
                </a:r>
                <a:r>
                  <a:rPr lang="en-US" sz="2100" dirty="0" smtClean="0"/>
                  <a:t>:</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100" i="1">
                              <a:latin typeface="Cambria Math" panose="02040503050406030204" pitchFamily="18" charset="0"/>
                            </a:rPr>
                          </m:ctrlPr>
                        </m:mPr>
                        <m:mr>
                          <m:e>
                            <m:sSub>
                              <m:sSubPr>
                                <m:ctrlPr>
                                  <a:rPr lang="en-US" sz="2100" i="1">
                                    <a:latin typeface="Cambria Math" panose="02040503050406030204" pitchFamily="18" charset="0"/>
                                  </a:rPr>
                                </m:ctrlPr>
                              </m:sSubPr>
                              <m:e>
                                <m:r>
                                  <a:rPr lang="en-US" sz="2100">
                                    <a:latin typeface="Cambria Math" panose="02040503050406030204" pitchFamily="18" charset="0"/>
                                  </a:rPr>
                                  <m:t>𝛻</m:t>
                                </m:r>
                              </m:e>
                              <m:sub>
                                <m:sSub>
                                  <m:sSubPr>
                                    <m:ctrlPr>
                                      <a:rPr lang="en-US" sz="2100" i="1">
                                        <a:latin typeface="Cambria Math" panose="02040503050406030204" pitchFamily="18" charset="0"/>
                                      </a:rPr>
                                    </m:ctrlPr>
                                  </m:sSubPr>
                                  <m:e>
                                    <m:r>
                                      <a:rPr lang="en-US" sz="2100" i="1">
                                        <a:latin typeface="Cambria Math" panose="02040503050406030204" pitchFamily="18" charset="0"/>
                                      </a:rPr>
                                      <m:t>𝑈</m:t>
                                    </m:r>
                                  </m:e>
                                  <m:sub>
                                    <m:r>
                                      <a:rPr lang="en-US" sz="2100" i="1">
                                        <a:latin typeface="Cambria Math" panose="02040503050406030204" pitchFamily="18" charset="0"/>
                                      </a:rPr>
                                      <m:t>𝑘</m:t>
                                    </m:r>
                                  </m:sub>
                                </m:sSub>
                              </m:sub>
                            </m:sSub>
                            <m:r>
                              <m:rPr>
                                <m:sty m:val="p"/>
                              </m:rPr>
                              <a:rPr lang="en-US" sz="2100">
                                <a:latin typeface="Cambria Math" panose="02040503050406030204" pitchFamily="18" charset="0"/>
                              </a:rPr>
                              <m:t>vec</m:t>
                            </m:r>
                            <m:d>
                              <m:dPr>
                                <m:ctrlPr>
                                  <a:rPr lang="en-US" sz="2100" i="1">
                                    <a:latin typeface="Cambria Math" panose="02040503050406030204" pitchFamily="18" charset="0"/>
                                  </a:rPr>
                                </m:ctrlPr>
                              </m:dPr>
                              <m:e>
                                <m:r>
                                  <a:rPr lang="en-US" sz="2100" i="1">
                                    <a:latin typeface="Cambria Math" panose="02040503050406030204" pitchFamily="18" charset="0"/>
                                  </a:rPr>
                                  <m:t>𝑙</m:t>
                                </m:r>
                              </m:e>
                            </m:d>
                            <m:r>
                              <a:rPr lang="en-US" sz="2100" i="1">
                                <a:latin typeface="Cambria Math" panose="02040503050406030204" pitchFamily="18" charset="0"/>
                              </a:rPr>
                              <m:t>=</m:t>
                            </m:r>
                            <m:sSup>
                              <m:sSupPr>
                                <m:ctrlPr>
                                  <a:rPr lang="en-US" sz="2100" i="1">
                                    <a:latin typeface="Cambria Math" panose="02040503050406030204" pitchFamily="18" charset="0"/>
                                  </a:rPr>
                                </m:ctrlPr>
                              </m:sSupPr>
                              <m:e>
                                <m:d>
                                  <m:dPr>
                                    <m:ctrlPr>
                                      <a:rPr lang="en-US" sz="2100" i="1">
                                        <a:latin typeface="Cambria Math" panose="02040503050406030204" pitchFamily="18" charset="0"/>
                                      </a:rPr>
                                    </m:ctrlPr>
                                  </m:dPr>
                                  <m:e>
                                    <m:sSup>
                                      <m:sSupPr>
                                        <m:ctrlPr>
                                          <a:rPr lang="en-US" sz="2100" i="1">
                                            <a:latin typeface="Cambria Math" panose="02040503050406030204" pitchFamily="18" charset="0"/>
                                          </a:rPr>
                                        </m:ctrlPr>
                                      </m:sSupPr>
                                      <m:e>
                                        <m:d>
                                          <m:dPr>
                                            <m:ctrlPr>
                                              <a:rPr lang="en-US" sz="2100" i="1">
                                                <a:latin typeface="Cambria Math" panose="02040503050406030204" pitchFamily="18" charset="0"/>
                                              </a:rPr>
                                            </m:ctrlPr>
                                          </m:dPr>
                                          <m:e>
                                            <m:sSub>
                                              <m:sSubPr>
                                                <m:ctrlPr>
                                                  <a:rPr lang="en-US" sz="2100" i="1">
                                                    <a:latin typeface="Cambria Math" panose="02040503050406030204" pitchFamily="18" charset="0"/>
                                                  </a:rPr>
                                                </m:ctrlPr>
                                              </m:sSubPr>
                                              <m:e>
                                                <m:r>
                                                  <a:rPr lang="en-US" sz="2100" b="1" i="1">
                                                    <a:latin typeface="Cambria Math" panose="02040503050406030204" pitchFamily="18" charset="0"/>
                                                  </a:rPr>
                                                  <m:t>𝑿</m:t>
                                                </m:r>
                                              </m:e>
                                              <m:sub>
                                                <m:r>
                                                  <a:rPr lang="en-US" sz="2100" i="1">
                                                    <a:latin typeface="Cambria Math" panose="02040503050406030204" pitchFamily="18" charset="0"/>
                                                  </a:rPr>
                                                  <m:t>𝑘</m:t>
                                                </m:r>
                                                <m:r>
                                                  <a:rPr lang="en-US" sz="2100" i="1">
                                                    <a:latin typeface="Cambria Math" panose="02040503050406030204" pitchFamily="18" charset="0"/>
                                                  </a:rPr>
                                                  <m:t>−1</m:t>
                                                </m:r>
                                              </m:sub>
                                            </m:sSub>
                                            <m:sSub>
                                              <m:sSubPr>
                                                <m:ctrlPr>
                                                  <a:rPr lang="en-US" sz="2100" i="1">
                                                    <a:latin typeface="Cambria Math" panose="02040503050406030204" pitchFamily="18" charset="0"/>
                                                  </a:rPr>
                                                </m:ctrlPr>
                                              </m:sSubPr>
                                              <m:e>
                                                <m:r>
                                                  <a:rPr lang="en-US" sz="2100" i="1">
                                                    <a:latin typeface="Cambria Math" panose="02040503050406030204" pitchFamily="18" charset="0"/>
                                                  </a:rPr>
                                                  <m:t>𝑉</m:t>
                                                </m:r>
                                              </m:e>
                                              <m:sub>
                                                <m:r>
                                                  <a:rPr lang="en-US" sz="2100" i="1">
                                                    <a:latin typeface="Cambria Math" panose="02040503050406030204" pitchFamily="18" charset="0"/>
                                                  </a:rPr>
                                                  <m:t>𝑘</m:t>
                                                </m:r>
                                              </m:sub>
                                            </m:sSub>
                                          </m:e>
                                        </m:d>
                                      </m:e>
                                      <m:sup>
                                        <m:r>
                                          <a:rPr lang="en-US" sz="2100" i="1">
                                            <a:latin typeface="Cambria Math" panose="02040503050406030204" pitchFamily="18" charset="0"/>
                                          </a:rPr>
                                          <m:t>𝑇</m:t>
                                        </m:r>
                                      </m:sup>
                                    </m:sSup>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𝐼</m:t>
                                        </m:r>
                                      </m:e>
                                      <m:sub>
                                        <m:r>
                                          <a:rPr lang="en-US" sz="2100" i="1">
                                            <a:latin typeface="Cambria Math" panose="02040503050406030204" pitchFamily="18" charset="0"/>
                                          </a:rPr>
                                          <m:t>𝑟</m:t>
                                        </m:r>
                                        <m:d>
                                          <m:dPr>
                                            <m:ctrlPr>
                                              <a:rPr lang="en-US" sz="2100" i="1">
                                                <a:latin typeface="Cambria Math" panose="02040503050406030204" pitchFamily="18" charset="0"/>
                                              </a:rPr>
                                            </m:ctrlPr>
                                          </m:dPr>
                                          <m:e>
                                            <m:sSub>
                                              <m:sSubPr>
                                                <m:ctrlPr>
                                                  <a:rPr lang="en-US" sz="2100" i="1">
                                                    <a:latin typeface="Cambria Math" panose="02040503050406030204" pitchFamily="18" charset="0"/>
                                                  </a:rPr>
                                                </m:ctrlPr>
                                              </m:sSubPr>
                                              <m:e>
                                                <m:r>
                                                  <a:rPr lang="en-US" sz="2100" i="1">
                                                    <a:latin typeface="Cambria Math" panose="02040503050406030204" pitchFamily="18" charset="0"/>
                                                  </a:rPr>
                                                  <m:t>𝑈</m:t>
                                                </m:r>
                                              </m:e>
                                              <m:sub>
                                                <m:r>
                                                  <a:rPr lang="en-US" sz="2100" i="1">
                                                    <a:latin typeface="Cambria Math" panose="02040503050406030204" pitchFamily="18" charset="0"/>
                                                  </a:rPr>
                                                  <m:t>𝑘</m:t>
                                                </m:r>
                                              </m:sub>
                                            </m:sSub>
                                          </m:e>
                                        </m:d>
                                      </m:sub>
                                    </m:sSub>
                                  </m:e>
                                </m:d>
                              </m:e>
                              <m:sup>
                                <m:r>
                                  <a:rPr lang="en-US" sz="2100" i="1">
                                    <a:latin typeface="Cambria Math" panose="02040503050406030204" pitchFamily="18" charset="0"/>
                                  </a:rPr>
                                  <m:t>𝑇</m:t>
                                </m:r>
                              </m:sup>
                            </m:sSup>
                            <m:sSub>
                              <m:sSubPr>
                                <m:ctrlPr>
                                  <a:rPr lang="en-US" sz="2100" i="1">
                                    <a:latin typeface="Cambria Math" panose="02040503050406030204" pitchFamily="18" charset="0"/>
                                  </a:rPr>
                                </m:ctrlPr>
                              </m:sSubPr>
                              <m:e>
                                <m:r>
                                  <a:rPr lang="en-US" sz="2100">
                                    <a:latin typeface="Cambria Math" panose="02040503050406030204" pitchFamily="18" charset="0"/>
                                  </a:rPr>
                                  <m:t>𝛻</m:t>
                                </m:r>
                              </m:e>
                              <m:sub>
                                <m:sSub>
                                  <m:sSubPr>
                                    <m:ctrlPr>
                                      <a:rPr lang="en-US" sz="2100" i="1">
                                        <a:latin typeface="Cambria Math" panose="02040503050406030204" pitchFamily="18" charset="0"/>
                                      </a:rPr>
                                    </m:ctrlPr>
                                  </m:sSubPr>
                                  <m:e>
                                    <m:r>
                                      <m:rPr>
                                        <m:sty m:val="p"/>
                                      </m:rPr>
                                      <a:rPr lang="en-US" sz="2100">
                                        <a:latin typeface="Cambria Math" panose="02040503050406030204" pitchFamily="18" charset="0"/>
                                      </a:rPr>
                                      <m:t>Θ</m:t>
                                    </m:r>
                                  </m:e>
                                  <m:sub>
                                    <m:r>
                                      <a:rPr lang="en-US" sz="2100" i="1">
                                        <a:latin typeface="Cambria Math" panose="02040503050406030204" pitchFamily="18" charset="0"/>
                                      </a:rPr>
                                      <m:t>𝑘</m:t>
                                    </m:r>
                                  </m:sub>
                                </m:sSub>
                              </m:sub>
                            </m:sSub>
                            <m:r>
                              <m:rPr>
                                <m:sty m:val="p"/>
                              </m:rPr>
                              <a:rPr lang="en-US" sz="2100">
                                <a:latin typeface="Cambria Math" panose="02040503050406030204" pitchFamily="18" charset="0"/>
                              </a:rPr>
                              <m:t>vec</m:t>
                            </m:r>
                            <m:d>
                              <m:dPr>
                                <m:ctrlPr>
                                  <a:rPr lang="en-US" sz="2100" i="1">
                                    <a:latin typeface="Cambria Math" panose="02040503050406030204" pitchFamily="18" charset="0"/>
                                  </a:rPr>
                                </m:ctrlPr>
                              </m:dPr>
                              <m:e>
                                <m:r>
                                  <a:rPr lang="en-US" sz="2100" i="1">
                                    <a:latin typeface="Cambria Math" panose="02040503050406030204" pitchFamily="18" charset="0"/>
                                  </a:rPr>
                                  <m:t>𝑙</m:t>
                                </m:r>
                              </m:e>
                            </m:d>
                          </m:e>
                        </m:mr>
                        <m:mr>
                          <m:e>
                            <m:sSub>
                              <m:sSubPr>
                                <m:ctrlPr>
                                  <a:rPr lang="en-US" sz="2100" i="1">
                                    <a:latin typeface="Cambria Math" panose="02040503050406030204" pitchFamily="18" charset="0"/>
                                  </a:rPr>
                                </m:ctrlPr>
                              </m:sSubPr>
                              <m:e>
                                <m:r>
                                  <a:rPr lang="en-US" sz="2100">
                                    <a:latin typeface="Cambria Math" panose="02040503050406030204" pitchFamily="18" charset="0"/>
                                  </a:rPr>
                                  <m:t>𝛻</m:t>
                                </m:r>
                              </m:e>
                              <m:sub>
                                <m:sSub>
                                  <m:sSubPr>
                                    <m:ctrlPr>
                                      <a:rPr lang="en-US" sz="2100" i="1">
                                        <a:latin typeface="Cambria Math" panose="02040503050406030204" pitchFamily="18" charset="0"/>
                                      </a:rPr>
                                    </m:ctrlPr>
                                  </m:sSubPr>
                                  <m:e>
                                    <m:r>
                                      <a:rPr lang="en-US" sz="2100" i="1">
                                        <a:latin typeface="Cambria Math" panose="02040503050406030204" pitchFamily="18" charset="0"/>
                                      </a:rPr>
                                      <m:t>𝑉</m:t>
                                    </m:r>
                                  </m:e>
                                  <m:sub>
                                    <m:r>
                                      <a:rPr lang="en-US" sz="2100" i="1">
                                        <a:latin typeface="Cambria Math" panose="02040503050406030204" pitchFamily="18" charset="0"/>
                                      </a:rPr>
                                      <m:t>𝑘</m:t>
                                    </m:r>
                                  </m:sub>
                                </m:sSub>
                              </m:sub>
                            </m:sSub>
                            <m:r>
                              <m:rPr>
                                <m:sty m:val="p"/>
                              </m:rPr>
                              <a:rPr lang="en-US" sz="2100">
                                <a:latin typeface="Cambria Math" panose="02040503050406030204" pitchFamily="18" charset="0"/>
                              </a:rPr>
                              <m:t>vec</m:t>
                            </m:r>
                            <m:d>
                              <m:dPr>
                                <m:ctrlPr>
                                  <a:rPr lang="en-US" sz="2100" i="1">
                                    <a:latin typeface="Cambria Math" panose="02040503050406030204" pitchFamily="18" charset="0"/>
                                  </a:rPr>
                                </m:ctrlPr>
                              </m:dPr>
                              <m:e>
                                <m:r>
                                  <a:rPr lang="en-US" sz="2100" i="1">
                                    <a:latin typeface="Cambria Math" panose="02040503050406030204" pitchFamily="18" charset="0"/>
                                  </a:rPr>
                                  <m:t>𝑙</m:t>
                                </m:r>
                              </m:e>
                            </m:d>
                            <m:r>
                              <a:rPr lang="en-US" sz="2100" i="1">
                                <a:latin typeface="Cambria Math" panose="02040503050406030204" pitchFamily="18" charset="0"/>
                              </a:rPr>
                              <m:t>=</m:t>
                            </m:r>
                            <m:sSup>
                              <m:sSupPr>
                                <m:ctrlPr>
                                  <a:rPr lang="en-US" sz="2100" i="1">
                                    <a:latin typeface="Cambria Math" panose="02040503050406030204" pitchFamily="18" charset="0"/>
                                  </a:rPr>
                                </m:ctrlPr>
                              </m:sSupPr>
                              <m:e>
                                <m:d>
                                  <m:dPr>
                                    <m:ctrlPr>
                                      <a:rPr lang="en-US" sz="2100" i="1">
                                        <a:latin typeface="Cambria Math" panose="02040503050406030204" pitchFamily="18" charset="0"/>
                                      </a:rPr>
                                    </m:ctrlPr>
                                  </m:dPr>
                                  <m:e>
                                    <m:sSub>
                                      <m:sSubPr>
                                        <m:ctrlPr>
                                          <a:rPr lang="en-US" sz="2100" i="1">
                                            <a:latin typeface="Cambria Math" panose="02040503050406030204" pitchFamily="18" charset="0"/>
                                          </a:rPr>
                                        </m:ctrlPr>
                                      </m:sSubPr>
                                      <m:e>
                                        <m:r>
                                          <a:rPr lang="en-US" sz="2100" i="1">
                                            <a:latin typeface="Cambria Math" panose="02040503050406030204" pitchFamily="18" charset="0"/>
                                          </a:rPr>
                                          <m:t>𝐼</m:t>
                                        </m:r>
                                      </m:e>
                                      <m:sub>
                                        <m:r>
                                          <a:rPr lang="en-US" sz="2100" i="1">
                                            <a:latin typeface="Cambria Math" panose="02040503050406030204" pitchFamily="18" charset="0"/>
                                          </a:rPr>
                                          <m:t>𝑐</m:t>
                                        </m:r>
                                        <m:d>
                                          <m:dPr>
                                            <m:ctrlPr>
                                              <a:rPr lang="en-US" sz="2100" i="1">
                                                <a:latin typeface="Cambria Math" panose="02040503050406030204" pitchFamily="18" charset="0"/>
                                              </a:rPr>
                                            </m:ctrlPr>
                                          </m:dPr>
                                          <m:e>
                                            <m:sSub>
                                              <m:sSubPr>
                                                <m:ctrlPr>
                                                  <a:rPr lang="en-US" sz="2100" i="1">
                                                    <a:latin typeface="Cambria Math" panose="02040503050406030204" pitchFamily="18" charset="0"/>
                                                  </a:rPr>
                                                </m:ctrlPr>
                                              </m:sSubPr>
                                              <m:e>
                                                <m:r>
                                                  <a:rPr lang="en-US" sz="2100" i="1">
                                                    <a:latin typeface="Cambria Math" panose="02040503050406030204" pitchFamily="18" charset="0"/>
                                                  </a:rPr>
                                                  <m:t>𝑉</m:t>
                                                </m:r>
                                              </m:e>
                                              <m:sub>
                                                <m:r>
                                                  <a:rPr lang="en-US" sz="2100" i="1">
                                                    <a:latin typeface="Cambria Math" panose="02040503050406030204" pitchFamily="18" charset="0"/>
                                                  </a:rPr>
                                                  <m:t>𝑘</m:t>
                                                </m:r>
                                              </m:sub>
                                            </m:sSub>
                                          </m:e>
                                        </m:d>
                                      </m:sub>
                                    </m:sSub>
                                    <m:r>
                                      <a:rPr lang="en-US" sz="2100" i="1">
                                        <a:latin typeface="Cambria Math" panose="02040503050406030204" pitchFamily="18" charset="0"/>
                                      </a:rPr>
                                      <m:t>⨂</m:t>
                                    </m:r>
                                    <m:d>
                                      <m:dPr>
                                        <m:ctrlPr>
                                          <a:rPr lang="en-US" sz="2100" i="1">
                                            <a:latin typeface="Cambria Math" panose="02040503050406030204" pitchFamily="18" charset="0"/>
                                          </a:rPr>
                                        </m:ctrlPr>
                                      </m:dPr>
                                      <m:e>
                                        <m:sSub>
                                          <m:sSubPr>
                                            <m:ctrlPr>
                                              <a:rPr lang="en-US" sz="2100" i="1">
                                                <a:latin typeface="Cambria Math" panose="02040503050406030204" pitchFamily="18" charset="0"/>
                                              </a:rPr>
                                            </m:ctrlPr>
                                          </m:sSubPr>
                                          <m:e>
                                            <m:r>
                                              <a:rPr lang="en-US" sz="2100" i="1">
                                                <a:latin typeface="Cambria Math" panose="02040503050406030204" pitchFamily="18" charset="0"/>
                                              </a:rPr>
                                              <m:t>𝑈</m:t>
                                            </m:r>
                                          </m:e>
                                          <m:sub>
                                            <m:r>
                                              <a:rPr lang="en-US" sz="2100" i="1">
                                                <a:latin typeface="Cambria Math" panose="02040503050406030204" pitchFamily="18" charset="0"/>
                                              </a:rPr>
                                              <m:t>𝑘</m:t>
                                            </m:r>
                                          </m:sub>
                                        </m:sSub>
                                        <m:sSub>
                                          <m:sSubPr>
                                            <m:ctrlPr>
                                              <a:rPr lang="en-US" sz="2100" i="1">
                                                <a:latin typeface="Cambria Math" panose="02040503050406030204" pitchFamily="18" charset="0"/>
                                              </a:rPr>
                                            </m:ctrlPr>
                                          </m:sSubPr>
                                          <m:e>
                                            <m:r>
                                              <a:rPr lang="en-US" sz="2100" b="1" i="1">
                                                <a:latin typeface="Cambria Math" panose="02040503050406030204" pitchFamily="18" charset="0"/>
                                              </a:rPr>
                                              <m:t>𝑿</m:t>
                                            </m:r>
                                          </m:e>
                                          <m:sub>
                                            <m:r>
                                              <a:rPr lang="en-US" sz="2100" i="1">
                                                <a:latin typeface="Cambria Math" panose="02040503050406030204" pitchFamily="18" charset="0"/>
                                              </a:rPr>
                                              <m:t>𝑘</m:t>
                                            </m:r>
                                            <m:r>
                                              <a:rPr lang="en-US" sz="2100" i="1">
                                                <a:latin typeface="Cambria Math" panose="02040503050406030204" pitchFamily="18" charset="0"/>
                                              </a:rPr>
                                              <m:t>−1</m:t>
                                            </m:r>
                                          </m:sub>
                                        </m:sSub>
                                      </m:e>
                                    </m:d>
                                  </m:e>
                                </m:d>
                              </m:e>
                              <m:sup>
                                <m:r>
                                  <a:rPr lang="en-US" sz="2100" i="1">
                                    <a:latin typeface="Cambria Math" panose="02040503050406030204" pitchFamily="18" charset="0"/>
                                  </a:rPr>
                                  <m:t>𝑇</m:t>
                                </m:r>
                              </m:sup>
                            </m:sSup>
                            <m:sSub>
                              <m:sSubPr>
                                <m:ctrlPr>
                                  <a:rPr lang="en-US" sz="2100" i="1">
                                    <a:latin typeface="Cambria Math" panose="02040503050406030204" pitchFamily="18" charset="0"/>
                                  </a:rPr>
                                </m:ctrlPr>
                              </m:sSubPr>
                              <m:e>
                                <m:r>
                                  <a:rPr lang="en-US" sz="2100">
                                    <a:latin typeface="Cambria Math" panose="02040503050406030204" pitchFamily="18" charset="0"/>
                                  </a:rPr>
                                  <m:t>𝛻</m:t>
                                </m:r>
                              </m:e>
                              <m:sub>
                                <m:sSub>
                                  <m:sSubPr>
                                    <m:ctrlPr>
                                      <a:rPr lang="en-US" sz="2100" i="1">
                                        <a:latin typeface="Cambria Math" panose="02040503050406030204" pitchFamily="18" charset="0"/>
                                      </a:rPr>
                                    </m:ctrlPr>
                                  </m:sSubPr>
                                  <m:e>
                                    <m:r>
                                      <m:rPr>
                                        <m:sty m:val="p"/>
                                      </m:rPr>
                                      <a:rPr lang="en-US" sz="2100">
                                        <a:latin typeface="Cambria Math" panose="02040503050406030204" pitchFamily="18" charset="0"/>
                                      </a:rPr>
                                      <m:t>Θ</m:t>
                                    </m:r>
                                  </m:e>
                                  <m:sub>
                                    <m:r>
                                      <a:rPr lang="en-US" sz="2100" i="1">
                                        <a:latin typeface="Cambria Math" panose="02040503050406030204" pitchFamily="18" charset="0"/>
                                      </a:rPr>
                                      <m:t>𝑘</m:t>
                                    </m:r>
                                  </m:sub>
                                </m:sSub>
                              </m:sub>
                            </m:sSub>
                            <m:r>
                              <m:rPr>
                                <m:sty m:val="p"/>
                              </m:rPr>
                              <a:rPr lang="en-US" sz="2100">
                                <a:latin typeface="Cambria Math" panose="02040503050406030204" pitchFamily="18" charset="0"/>
                              </a:rPr>
                              <m:t>vec</m:t>
                            </m:r>
                            <m:d>
                              <m:dPr>
                                <m:ctrlPr>
                                  <a:rPr lang="en-US" sz="2100" i="1">
                                    <a:latin typeface="Cambria Math" panose="02040503050406030204" pitchFamily="18" charset="0"/>
                                  </a:rPr>
                                </m:ctrlPr>
                              </m:dPr>
                              <m:e>
                                <m:r>
                                  <a:rPr lang="en-US" sz="2100" i="1">
                                    <a:latin typeface="Cambria Math" panose="02040503050406030204" pitchFamily="18" charset="0"/>
                                  </a:rPr>
                                  <m:t>𝑙</m:t>
                                </m:r>
                              </m:e>
                            </m:d>
                          </m:e>
                        </m:mr>
                        <m:mr>
                          <m:e>
                            <m:sSub>
                              <m:sSubPr>
                                <m:ctrlPr>
                                  <a:rPr lang="en-US" sz="2100" i="1">
                                    <a:latin typeface="Cambria Math" panose="02040503050406030204" pitchFamily="18" charset="0"/>
                                  </a:rPr>
                                </m:ctrlPr>
                              </m:sSubPr>
                              <m:e>
                                <m:r>
                                  <a:rPr lang="en-US" sz="2100">
                                    <a:latin typeface="Cambria Math" panose="02040503050406030204" pitchFamily="18" charset="0"/>
                                  </a:rPr>
                                  <m:t>𝛻</m:t>
                                </m:r>
                              </m:e>
                              <m:sub>
                                <m:sSub>
                                  <m:sSubPr>
                                    <m:ctrlPr>
                                      <a:rPr lang="en-US" sz="2100" i="1">
                                        <a:latin typeface="Cambria Math" panose="02040503050406030204" pitchFamily="18" charset="0"/>
                                      </a:rPr>
                                    </m:ctrlPr>
                                  </m:sSubPr>
                                  <m:e>
                                    <m:r>
                                      <m:rPr>
                                        <m:sty m:val="p"/>
                                      </m:rPr>
                                      <a:rPr lang="en-US" sz="2100">
                                        <a:latin typeface="Cambria Math" panose="02040503050406030204" pitchFamily="18" charset="0"/>
                                      </a:rPr>
                                      <m:t>Θ</m:t>
                                    </m:r>
                                  </m:e>
                                  <m:sub>
                                    <m:r>
                                      <a:rPr lang="en-US" sz="2100" i="1">
                                        <a:latin typeface="Cambria Math" panose="02040503050406030204" pitchFamily="18" charset="0"/>
                                      </a:rPr>
                                      <m:t>𝑘</m:t>
                                    </m:r>
                                  </m:sub>
                                </m:sSub>
                              </m:sub>
                            </m:sSub>
                            <m:r>
                              <m:rPr>
                                <m:sty m:val="p"/>
                              </m:rPr>
                              <a:rPr lang="en-US" sz="2100">
                                <a:latin typeface="Cambria Math" panose="02040503050406030204" pitchFamily="18" charset="0"/>
                              </a:rPr>
                              <m:t>vec</m:t>
                            </m:r>
                            <m:d>
                              <m:dPr>
                                <m:ctrlPr>
                                  <a:rPr lang="en-US" sz="2100" i="1">
                                    <a:latin typeface="Cambria Math" panose="02040503050406030204" pitchFamily="18" charset="0"/>
                                  </a:rPr>
                                </m:ctrlPr>
                              </m:dPr>
                              <m:e>
                                <m:r>
                                  <a:rPr lang="en-US" sz="2100" i="1">
                                    <a:latin typeface="Cambria Math" panose="02040503050406030204" pitchFamily="18" charset="0"/>
                                  </a:rPr>
                                  <m:t>𝑙</m:t>
                                </m:r>
                              </m:e>
                            </m:d>
                            <m:r>
                              <a:rPr lang="en-US" sz="2100" i="1">
                                <a:latin typeface="Cambria Math" panose="02040503050406030204" pitchFamily="18" charset="0"/>
                              </a:rPr>
                              <m:t>=</m:t>
                            </m:r>
                            <m:sSup>
                              <m:sSupPr>
                                <m:ctrlPr>
                                  <a:rPr lang="en-US" sz="2100" i="1">
                                    <a:latin typeface="Cambria Math" panose="02040503050406030204" pitchFamily="18" charset="0"/>
                                  </a:rPr>
                                </m:ctrlPr>
                              </m:sSupPr>
                              <m:e>
                                <m:d>
                                  <m:dPr>
                                    <m:ctrlPr>
                                      <a:rPr lang="en-US" sz="2100" i="1">
                                        <a:latin typeface="Cambria Math" panose="02040503050406030204" pitchFamily="18" charset="0"/>
                                      </a:rPr>
                                    </m:ctrlPr>
                                  </m:dPr>
                                  <m:e>
                                    <m:sSubSup>
                                      <m:sSubSupPr>
                                        <m:ctrlPr>
                                          <a:rPr lang="en-US" sz="2100" i="1">
                                            <a:latin typeface="Cambria Math" panose="02040503050406030204" pitchFamily="18" charset="0"/>
                                          </a:rPr>
                                        </m:ctrlPr>
                                      </m:sSubSupPr>
                                      <m:e>
                                        <m:r>
                                          <a:rPr lang="en-US" sz="2100" i="1">
                                            <a:latin typeface="Cambria Math" panose="02040503050406030204" pitchFamily="18" charset="0"/>
                                          </a:rPr>
                                          <m:t>𝑓</m:t>
                                        </m:r>
                                      </m:e>
                                      <m:sub>
                                        <m:sSub>
                                          <m:sSubPr>
                                            <m:ctrlPr>
                                              <a:rPr lang="en-US" sz="2100" i="1">
                                                <a:latin typeface="Cambria Math" panose="02040503050406030204" pitchFamily="18" charset="0"/>
                                              </a:rPr>
                                            </m:ctrlPr>
                                          </m:sSubPr>
                                          <m:e>
                                            <m:r>
                                              <a:rPr lang="en-US" sz="2100" b="1" i="1">
                                                <a:latin typeface="Cambria Math" panose="02040503050406030204" pitchFamily="18" charset="0"/>
                                              </a:rPr>
                                              <m:t>𝑿</m:t>
                                            </m:r>
                                          </m:e>
                                          <m:sub>
                                            <m:r>
                                              <a:rPr lang="en-US" sz="2100" i="1">
                                                <a:latin typeface="Cambria Math" panose="02040503050406030204" pitchFamily="18" charset="0"/>
                                              </a:rPr>
                                              <m:t>𝑘</m:t>
                                            </m:r>
                                          </m:sub>
                                        </m:sSub>
                                      </m:sub>
                                      <m:sup>
                                        <m:r>
                                          <a:rPr lang="en-US" sz="2100" i="1">
                                            <a:latin typeface="Cambria Math" panose="02040503050406030204" pitchFamily="18" charset="0"/>
                                          </a:rPr>
                                          <m:t>′</m:t>
                                        </m:r>
                                      </m:sup>
                                    </m:sSubSup>
                                    <m:d>
                                      <m:dPr>
                                        <m:ctrlPr>
                                          <a:rPr lang="en-US" sz="2100" i="1">
                                            <a:latin typeface="Cambria Math" panose="02040503050406030204" pitchFamily="18" charset="0"/>
                                          </a:rPr>
                                        </m:ctrlPr>
                                      </m:dPr>
                                      <m:e>
                                        <m:r>
                                          <m:rPr>
                                            <m:sty m:val="p"/>
                                          </m:rPr>
                                          <a:rPr lang="en-US" sz="2100">
                                            <a:latin typeface="Cambria Math" panose="02040503050406030204" pitchFamily="18" charset="0"/>
                                          </a:rPr>
                                          <m:t>vec</m:t>
                                        </m:r>
                                        <m:d>
                                          <m:dPr>
                                            <m:ctrlPr>
                                              <a:rPr lang="en-US" sz="2100" i="1">
                                                <a:latin typeface="Cambria Math" panose="02040503050406030204" pitchFamily="18" charset="0"/>
                                              </a:rPr>
                                            </m:ctrlPr>
                                          </m:dPr>
                                          <m:e>
                                            <m:sSub>
                                              <m:sSubPr>
                                                <m:ctrlPr>
                                                  <a:rPr lang="en-US" sz="2100" i="1">
                                                    <a:latin typeface="Cambria Math" panose="02040503050406030204" pitchFamily="18" charset="0"/>
                                                  </a:rPr>
                                                </m:ctrlPr>
                                              </m:sSubPr>
                                              <m:e>
                                                <m:acc>
                                                  <m:accPr>
                                                    <m:chr m:val="̂"/>
                                                    <m:ctrlPr>
                                                      <a:rPr lang="en-US" sz="2100" i="1">
                                                        <a:latin typeface="Cambria Math" panose="02040503050406030204" pitchFamily="18" charset="0"/>
                                                      </a:rPr>
                                                    </m:ctrlPr>
                                                  </m:accPr>
                                                  <m:e>
                                                    <m:r>
                                                      <a:rPr lang="en-US" sz="2100" b="1" i="1">
                                                        <a:latin typeface="Cambria Math" panose="02040503050406030204" pitchFamily="18" charset="0"/>
                                                      </a:rPr>
                                                      <m:t>𝑿</m:t>
                                                    </m:r>
                                                  </m:e>
                                                </m:acc>
                                              </m:e>
                                              <m:sub>
                                                <m:r>
                                                  <a:rPr lang="en-US" sz="2100" i="1">
                                                    <a:latin typeface="Cambria Math" panose="02040503050406030204" pitchFamily="18" charset="0"/>
                                                  </a:rPr>
                                                  <m:t>𝑘</m:t>
                                                </m:r>
                                                <m:r>
                                                  <a:rPr lang="en-US" sz="2100" i="1">
                                                    <a:latin typeface="Cambria Math" panose="02040503050406030204" pitchFamily="18" charset="0"/>
                                                  </a:rPr>
                                                  <m:t>−1</m:t>
                                                </m:r>
                                              </m:sub>
                                            </m:sSub>
                                          </m:e>
                                        </m:d>
                                      </m:e>
                                    </m:d>
                                  </m:e>
                                </m:d>
                              </m:e>
                              <m:sup>
                                <m:r>
                                  <a:rPr lang="en-US" sz="2100" i="1">
                                    <a:latin typeface="Cambria Math" panose="02040503050406030204" pitchFamily="18" charset="0"/>
                                  </a:rPr>
                                  <m:t>𝑇</m:t>
                                </m:r>
                              </m:sup>
                            </m:sSup>
                            <m:sSup>
                              <m:sSupPr>
                                <m:ctrlPr>
                                  <a:rPr lang="en-US" sz="2100" i="1">
                                    <a:latin typeface="Cambria Math" panose="02040503050406030204" pitchFamily="18" charset="0"/>
                                  </a:rPr>
                                </m:ctrlPr>
                              </m:sSupPr>
                              <m:e>
                                <m:d>
                                  <m:dPr>
                                    <m:ctrlPr>
                                      <a:rPr lang="en-US" sz="2100" i="1">
                                        <a:latin typeface="Cambria Math" panose="02040503050406030204" pitchFamily="18" charset="0"/>
                                      </a:rPr>
                                    </m:ctrlPr>
                                  </m:dPr>
                                  <m:e>
                                    <m:sSubSup>
                                      <m:sSubSupPr>
                                        <m:ctrlPr>
                                          <a:rPr lang="en-US" sz="2100" i="1">
                                            <a:latin typeface="Cambria Math" panose="02040503050406030204" pitchFamily="18" charset="0"/>
                                          </a:rPr>
                                        </m:ctrlPr>
                                      </m:sSubSupPr>
                                      <m:e>
                                        <m:r>
                                          <a:rPr lang="en-US" sz="2100" i="1">
                                            <a:latin typeface="Cambria Math" panose="02040503050406030204" pitchFamily="18" charset="0"/>
                                          </a:rPr>
                                          <m:t>𝑉</m:t>
                                        </m:r>
                                      </m:e>
                                      <m:sub>
                                        <m:r>
                                          <a:rPr lang="en-US" sz="2100" i="1">
                                            <a:latin typeface="Cambria Math" panose="02040503050406030204" pitchFamily="18" charset="0"/>
                                          </a:rPr>
                                          <m:t>𝑘</m:t>
                                        </m:r>
                                        <m:r>
                                          <a:rPr lang="en-US" sz="2100" i="1">
                                            <a:latin typeface="Cambria Math" panose="02040503050406030204" pitchFamily="18" charset="0"/>
                                          </a:rPr>
                                          <m:t>+1</m:t>
                                        </m:r>
                                      </m:sub>
                                      <m:sup>
                                        <m:r>
                                          <a:rPr lang="en-US" sz="2100" i="1">
                                            <a:latin typeface="Cambria Math" panose="02040503050406030204" pitchFamily="18" charset="0"/>
                                          </a:rPr>
                                          <m:t>𝑇</m:t>
                                        </m:r>
                                      </m:sup>
                                    </m:sSubSup>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𝑈</m:t>
                                        </m:r>
                                      </m:e>
                                      <m:sub>
                                        <m:r>
                                          <a:rPr lang="en-US" sz="2100" i="1">
                                            <a:latin typeface="Cambria Math" panose="02040503050406030204" pitchFamily="18" charset="0"/>
                                          </a:rPr>
                                          <m:t>𝑘</m:t>
                                        </m:r>
                                        <m:r>
                                          <a:rPr lang="en-US" sz="2100" i="1">
                                            <a:latin typeface="Cambria Math" panose="02040503050406030204" pitchFamily="18" charset="0"/>
                                          </a:rPr>
                                          <m:t>+1</m:t>
                                        </m:r>
                                      </m:sub>
                                    </m:sSub>
                                  </m:e>
                                </m:d>
                              </m:e>
                              <m:sup>
                                <m:r>
                                  <a:rPr lang="en-US" sz="2100" i="1">
                                    <a:latin typeface="Cambria Math" panose="02040503050406030204" pitchFamily="18" charset="0"/>
                                  </a:rPr>
                                  <m:t>𝑇</m:t>
                                </m:r>
                              </m:sup>
                            </m:sSup>
                            <m:sSub>
                              <m:sSubPr>
                                <m:ctrlPr>
                                  <a:rPr lang="en-US" sz="2100" i="1">
                                    <a:latin typeface="Cambria Math" panose="02040503050406030204" pitchFamily="18" charset="0"/>
                                  </a:rPr>
                                </m:ctrlPr>
                              </m:sSubPr>
                              <m:e>
                                <m:r>
                                  <a:rPr lang="en-US" sz="2100">
                                    <a:latin typeface="Cambria Math" panose="02040503050406030204" pitchFamily="18" charset="0"/>
                                  </a:rPr>
                                  <m:t>𝛻</m:t>
                                </m:r>
                              </m:e>
                              <m:sub>
                                <m:sSub>
                                  <m:sSubPr>
                                    <m:ctrlPr>
                                      <a:rPr lang="en-US" sz="2100" i="1">
                                        <a:latin typeface="Cambria Math" panose="02040503050406030204" pitchFamily="18" charset="0"/>
                                      </a:rPr>
                                    </m:ctrlPr>
                                  </m:sSubPr>
                                  <m:e>
                                    <m:r>
                                      <m:rPr>
                                        <m:sty m:val="p"/>
                                      </m:rPr>
                                      <a:rPr lang="en-US" sz="2100">
                                        <a:latin typeface="Cambria Math" panose="02040503050406030204" pitchFamily="18" charset="0"/>
                                      </a:rPr>
                                      <m:t>Θ</m:t>
                                    </m:r>
                                  </m:e>
                                  <m:sub>
                                    <m:r>
                                      <a:rPr lang="en-US" sz="2100" i="1">
                                        <a:latin typeface="Cambria Math" panose="02040503050406030204" pitchFamily="18" charset="0"/>
                                      </a:rPr>
                                      <m:t>𝑘</m:t>
                                    </m:r>
                                    <m:r>
                                      <a:rPr lang="en-US" sz="2100" i="1">
                                        <a:latin typeface="Cambria Math" panose="02040503050406030204" pitchFamily="18" charset="0"/>
                                      </a:rPr>
                                      <m:t>+1</m:t>
                                    </m:r>
                                  </m:sub>
                                </m:sSub>
                              </m:sub>
                            </m:sSub>
                            <m:r>
                              <m:rPr>
                                <m:sty m:val="p"/>
                              </m:rPr>
                              <a:rPr lang="en-US" sz="2100">
                                <a:latin typeface="Cambria Math" panose="02040503050406030204" pitchFamily="18" charset="0"/>
                              </a:rPr>
                              <m:t>vec</m:t>
                            </m:r>
                            <m:d>
                              <m:dPr>
                                <m:ctrlPr>
                                  <a:rPr lang="en-US" sz="2100" i="1">
                                    <a:latin typeface="Cambria Math" panose="02040503050406030204" pitchFamily="18" charset="0"/>
                                  </a:rPr>
                                </m:ctrlPr>
                              </m:dPr>
                              <m:e>
                                <m:r>
                                  <a:rPr lang="en-US" sz="2100" i="1">
                                    <a:latin typeface="Cambria Math" panose="02040503050406030204" pitchFamily="18" charset="0"/>
                                  </a:rPr>
                                  <m:t>𝑙</m:t>
                                </m:r>
                              </m:e>
                            </m:d>
                          </m:e>
                        </m:mr>
                        <m:mr>
                          <m:e>
                            <m:sSub>
                              <m:sSubPr>
                                <m:ctrlPr>
                                  <a:rPr lang="en-US" sz="2100" i="1">
                                    <a:latin typeface="Cambria Math" panose="02040503050406030204" pitchFamily="18" charset="0"/>
                                  </a:rPr>
                                </m:ctrlPr>
                              </m:sSubPr>
                              <m:e>
                                <m:r>
                                  <a:rPr lang="en-US" sz="2100">
                                    <a:latin typeface="Cambria Math" panose="02040503050406030204" pitchFamily="18" charset="0"/>
                                  </a:rPr>
                                  <m:t>𝛻</m:t>
                                </m:r>
                              </m:e>
                              <m:sub>
                                <m:sSub>
                                  <m:sSubPr>
                                    <m:ctrlPr>
                                      <a:rPr lang="en-US" sz="2100" i="1">
                                        <a:latin typeface="Cambria Math" panose="02040503050406030204" pitchFamily="18" charset="0"/>
                                      </a:rPr>
                                    </m:ctrlPr>
                                  </m:sSubPr>
                                  <m:e>
                                    <m:r>
                                      <m:rPr>
                                        <m:sty m:val="p"/>
                                      </m:rPr>
                                      <a:rPr lang="en-US" sz="2100">
                                        <a:latin typeface="Cambria Math" panose="02040503050406030204" pitchFamily="18" charset="0"/>
                                      </a:rPr>
                                      <m:t>Θ</m:t>
                                    </m:r>
                                  </m:e>
                                  <m:sub>
                                    <m:r>
                                      <a:rPr lang="en-US" sz="2100" i="1">
                                        <a:latin typeface="Cambria Math" panose="02040503050406030204" pitchFamily="18" charset="0"/>
                                      </a:rPr>
                                      <m:t>𝐾</m:t>
                                    </m:r>
                                  </m:sub>
                                </m:sSub>
                              </m:sub>
                            </m:sSub>
                            <m:r>
                              <m:rPr>
                                <m:sty m:val="p"/>
                              </m:rPr>
                              <a:rPr lang="en-US" sz="2100">
                                <a:latin typeface="Cambria Math" panose="02040503050406030204" pitchFamily="18" charset="0"/>
                              </a:rPr>
                              <m:t>vec</m:t>
                            </m:r>
                            <m:d>
                              <m:dPr>
                                <m:ctrlPr>
                                  <a:rPr lang="en-US" sz="2100" i="1">
                                    <a:latin typeface="Cambria Math" panose="02040503050406030204" pitchFamily="18" charset="0"/>
                                  </a:rPr>
                                </m:ctrlPr>
                              </m:dPr>
                              <m:e>
                                <m:r>
                                  <a:rPr lang="en-US" sz="2100" i="1">
                                    <a:latin typeface="Cambria Math" panose="02040503050406030204" pitchFamily="18" charset="0"/>
                                  </a:rPr>
                                  <m:t>𝑙</m:t>
                                </m:r>
                              </m:e>
                            </m:d>
                            <m:r>
                              <a:rPr lang="en-US" sz="2100" i="1">
                                <a:latin typeface="Cambria Math" panose="02040503050406030204" pitchFamily="18" charset="0"/>
                              </a:rPr>
                              <m:t>=</m:t>
                            </m:r>
                            <m:sSup>
                              <m:sSupPr>
                                <m:ctrlPr>
                                  <a:rPr lang="en-US" sz="2100" i="1">
                                    <a:latin typeface="Cambria Math" panose="02040503050406030204" pitchFamily="18" charset="0"/>
                                  </a:rPr>
                                </m:ctrlPr>
                              </m:sSupPr>
                              <m:e>
                                <m:d>
                                  <m:dPr>
                                    <m:ctrlPr>
                                      <a:rPr lang="en-US" sz="2100" i="1">
                                        <a:latin typeface="Cambria Math" panose="02040503050406030204" pitchFamily="18" charset="0"/>
                                      </a:rPr>
                                    </m:ctrlPr>
                                  </m:dPr>
                                  <m:e>
                                    <m:sSubSup>
                                      <m:sSubSupPr>
                                        <m:ctrlPr>
                                          <a:rPr lang="en-US" sz="2100" i="1">
                                            <a:latin typeface="Cambria Math" panose="02040503050406030204" pitchFamily="18" charset="0"/>
                                          </a:rPr>
                                        </m:ctrlPr>
                                      </m:sSubSupPr>
                                      <m:e>
                                        <m:r>
                                          <a:rPr lang="en-US" sz="2100" i="1">
                                            <a:latin typeface="Cambria Math" panose="02040503050406030204" pitchFamily="18" charset="0"/>
                                          </a:rPr>
                                          <m:t>𝑓</m:t>
                                        </m:r>
                                      </m:e>
                                      <m:sub>
                                        <m:sSub>
                                          <m:sSubPr>
                                            <m:ctrlPr>
                                              <a:rPr lang="en-US" sz="2100" i="1">
                                                <a:latin typeface="Cambria Math" panose="02040503050406030204" pitchFamily="18" charset="0"/>
                                              </a:rPr>
                                            </m:ctrlPr>
                                          </m:sSubPr>
                                          <m:e>
                                            <m:r>
                                              <a:rPr lang="en-US" sz="2100" b="1" i="1">
                                                <a:latin typeface="Cambria Math" panose="02040503050406030204" pitchFamily="18" charset="0"/>
                                              </a:rPr>
                                              <m:t>𝑿</m:t>
                                            </m:r>
                                          </m:e>
                                          <m:sub>
                                            <m:r>
                                              <a:rPr lang="en-US" sz="2100" i="1">
                                                <a:latin typeface="Cambria Math" panose="02040503050406030204" pitchFamily="18" charset="0"/>
                                              </a:rPr>
                                              <m:t>𝐾</m:t>
                                            </m:r>
                                          </m:sub>
                                        </m:sSub>
                                      </m:sub>
                                      <m:sup>
                                        <m:r>
                                          <a:rPr lang="en-US" sz="2100" i="1">
                                            <a:latin typeface="Cambria Math" panose="02040503050406030204" pitchFamily="18" charset="0"/>
                                          </a:rPr>
                                          <m:t>′</m:t>
                                        </m:r>
                                      </m:sup>
                                    </m:sSubSup>
                                    <m:d>
                                      <m:dPr>
                                        <m:ctrlPr>
                                          <a:rPr lang="en-US" sz="2100" i="1">
                                            <a:latin typeface="Cambria Math" panose="02040503050406030204" pitchFamily="18" charset="0"/>
                                          </a:rPr>
                                        </m:ctrlPr>
                                      </m:dPr>
                                      <m:e>
                                        <m:r>
                                          <m:rPr>
                                            <m:sty m:val="p"/>
                                          </m:rPr>
                                          <a:rPr lang="en-US" sz="2100">
                                            <a:latin typeface="Cambria Math" panose="02040503050406030204" pitchFamily="18" charset="0"/>
                                          </a:rPr>
                                          <m:t>vec</m:t>
                                        </m:r>
                                        <m:d>
                                          <m:dPr>
                                            <m:ctrlPr>
                                              <a:rPr lang="en-US" sz="2100" i="1">
                                                <a:latin typeface="Cambria Math" panose="02040503050406030204" pitchFamily="18" charset="0"/>
                                              </a:rPr>
                                            </m:ctrlPr>
                                          </m:dPr>
                                          <m:e>
                                            <m:sSub>
                                              <m:sSubPr>
                                                <m:ctrlPr>
                                                  <a:rPr lang="en-US" sz="2100" i="1">
                                                    <a:latin typeface="Cambria Math" panose="02040503050406030204" pitchFamily="18" charset="0"/>
                                                  </a:rPr>
                                                </m:ctrlPr>
                                              </m:sSubPr>
                                              <m:e>
                                                <m:acc>
                                                  <m:accPr>
                                                    <m:chr m:val="̂"/>
                                                    <m:ctrlPr>
                                                      <a:rPr lang="en-US" sz="2100" i="1">
                                                        <a:latin typeface="Cambria Math" panose="02040503050406030204" pitchFamily="18" charset="0"/>
                                                      </a:rPr>
                                                    </m:ctrlPr>
                                                  </m:accPr>
                                                  <m:e>
                                                    <m:r>
                                                      <a:rPr lang="en-US" sz="2100" b="1" i="1">
                                                        <a:latin typeface="Cambria Math" panose="02040503050406030204" pitchFamily="18" charset="0"/>
                                                      </a:rPr>
                                                      <m:t>𝑿</m:t>
                                                    </m:r>
                                                  </m:e>
                                                </m:acc>
                                              </m:e>
                                              <m:sub>
                                                <m:r>
                                                  <a:rPr lang="en-US" sz="2100" i="1">
                                                    <a:latin typeface="Cambria Math" panose="02040503050406030204" pitchFamily="18" charset="0"/>
                                                  </a:rPr>
                                                  <m:t>𝐾</m:t>
                                                </m:r>
                                                <m:r>
                                                  <a:rPr lang="en-US" sz="2100" i="1">
                                                    <a:latin typeface="Cambria Math" panose="02040503050406030204" pitchFamily="18" charset="0"/>
                                                  </a:rPr>
                                                  <m:t>−1</m:t>
                                                </m:r>
                                              </m:sub>
                                            </m:sSub>
                                          </m:e>
                                        </m:d>
                                      </m:e>
                                    </m:d>
                                  </m:e>
                                </m:d>
                              </m:e>
                              <m:sup>
                                <m:r>
                                  <a:rPr lang="en-US" sz="2100" i="1">
                                    <a:latin typeface="Cambria Math" panose="02040503050406030204" pitchFamily="18" charset="0"/>
                                  </a:rPr>
                                  <m:t>𝑇</m:t>
                                </m:r>
                              </m:sup>
                            </m:sSup>
                            <m:r>
                              <m:rPr>
                                <m:sty m:val="p"/>
                              </m:rPr>
                              <a:rPr lang="en-US" sz="2100">
                                <a:latin typeface="Cambria Math" panose="02040503050406030204" pitchFamily="18" charset="0"/>
                              </a:rPr>
                              <m:t>vec</m:t>
                            </m:r>
                            <m:d>
                              <m:dPr>
                                <m:ctrlPr>
                                  <a:rPr lang="en-US" sz="2100" i="1">
                                    <a:latin typeface="Cambria Math" panose="02040503050406030204" pitchFamily="18" charset="0"/>
                                  </a:rPr>
                                </m:ctrlPr>
                              </m:dPr>
                              <m:e>
                                <m:sSubSup>
                                  <m:sSubSupPr>
                                    <m:ctrlPr>
                                      <a:rPr lang="en-US" sz="2100" i="1">
                                        <a:latin typeface="Cambria Math" panose="02040503050406030204" pitchFamily="18" charset="0"/>
                                      </a:rPr>
                                    </m:ctrlPr>
                                  </m:sSubSupPr>
                                  <m:e>
                                    <m:r>
                                      <a:rPr lang="en-US" sz="2100" b="1" i="1">
                                        <a:latin typeface="Cambria Math" panose="02040503050406030204" pitchFamily="18" charset="0"/>
                                      </a:rPr>
                                      <m:t>𝑿</m:t>
                                    </m:r>
                                  </m:e>
                                  <m:sub>
                                    <m:r>
                                      <a:rPr lang="en-US" sz="2100" i="1">
                                        <a:latin typeface="Cambria Math" panose="02040503050406030204" pitchFamily="18" charset="0"/>
                                      </a:rPr>
                                      <m:t>𝐾</m:t>
                                    </m:r>
                                  </m:sub>
                                  <m:sup>
                                    <m:r>
                                      <a:rPr lang="en-US" sz="2100" i="1">
                                        <a:latin typeface="Cambria Math" panose="02040503050406030204" pitchFamily="18" charset="0"/>
                                      </a:rPr>
                                      <m:t>′</m:t>
                                    </m:r>
                                  </m:sup>
                                </m:sSubSup>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b="1" i="1">
                                        <a:latin typeface="Cambria Math" panose="02040503050406030204" pitchFamily="18" charset="0"/>
                                      </a:rPr>
                                      <m:t>𝑿</m:t>
                                    </m:r>
                                  </m:e>
                                  <m:sub>
                                    <m:r>
                                      <a:rPr lang="en-US" sz="2100" i="1">
                                        <a:latin typeface="Cambria Math" panose="02040503050406030204" pitchFamily="18" charset="0"/>
                                      </a:rPr>
                                      <m:t>𝐾</m:t>
                                    </m:r>
                                  </m:sub>
                                </m:sSub>
                              </m:e>
                            </m:d>
                          </m:e>
                        </m:mr>
                      </m:m>
                    </m:oMath>
                  </m:oMathPara>
                </a14:m>
                <a:endParaRPr lang="en-US" sz="2100" dirty="0" smtClean="0"/>
              </a:p>
              <a:p>
                <a:pPr marL="0" indent="0">
                  <a:buNone/>
                </a:pPr>
                <a:r>
                  <a:rPr lang="en-US" sz="2100" dirty="0"/>
                  <a:t>Please pay attention that functions </a:t>
                </a:r>
                <a:r>
                  <a:rPr lang="en-US" sz="2100" i="1" dirty="0"/>
                  <a:t>r</a:t>
                </a:r>
                <a:r>
                  <a:rPr lang="en-US" sz="2100" dirty="0"/>
                  <a:t>(</a:t>
                </a:r>
                <a:r>
                  <a:rPr lang="en-US" sz="2100" i="1" dirty="0"/>
                  <a:t>A</a:t>
                </a:r>
                <a:r>
                  <a:rPr lang="en-US" sz="2100" dirty="0"/>
                  <a:t>) and </a:t>
                </a:r>
                <a:r>
                  <a:rPr lang="en-US" sz="2100" i="1" dirty="0"/>
                  <a:t>c</a:t>
                </a:r>
                <a:r>
                  <a:rPr lang="en-US" sz="2100" dirty="0"/>
                  <a:t>(</a:t>
                </a:r>
                <a:r>
                  <a:rPr lang="en-US" sz="2100" i="1" dirty="0"/>
                  <a:t>A</a:t>
                </a:r>
                <a:r>
                  <a:rPr lang="en-US" sz="2100" dirty="0"/>
                  <a:t>) returns the number of rows and the number of columns for matrix </a:t>
                </a:r>
                <a:r>
                  <a:rPr lang="en-US" sz="2100" i="1" dirty="0"/>
                  <a:t>A</a:t>
                </a:r>
                <a:r>
                  <a:rPr lang="en-US" sz="2100" dirty="0" smtClean="0"/>
                  <a:t>.</a:t>
                </a:r>
                <a:r>
                  <a:rPr lang="en-US" sz="2100" dirty="0"/>
                  <a:t> Therefore, </a:t>
                </a:r>
                <a14:m>
                  <m:oMath xmlns:m="http://schemas.openxmlformats.org/officeDocument/2006/math">
                    <m:sSub>
                      <m:sSubPr>
                        <m:ctrlPr>
                          <a:rPr lang="en-US" sz="2100" i="1">
                            <a:latin typeface="Cambria Math" panose="02040503050406030204" pitchFamily="18" charset="0"/>
                          </a:rPr>
                        </m:ctrlPr>
                      </m:sSubPr>
                      <m:e>
                        <m:r>
                          <a:rPr lang="en-US" sz="2100" i="1">
                            <a:latin typeface="Cambria Math" panose="02040503050406030204" pitchFamily="18" charset="0"/>
                          </a:rPr>
                          <m:t>𝐼</m:t>
                        </m:r>
                      </m:e>
                      <m:sub>
                        <m:r>
                          <a:rPr lang="en-US" sz="2100" i="1">
                            <a:latin typeface="Cambria Math" panose="02040503050406030204" pitchFamily="18" charset="0"/>
                          </a:rPr>
                          <m:t>𝑟</m:t>
                        </m:r>
                        <m:d>
                          <m:dPr>
                            <m:ctrlPr>
                              <a:rPr lang="en-US" sz="2100" i="1">
                                <a:latin typeface="Cambria Math" panose="02040503050406030204" pitchFamily="18" charset="0"/>
                              </a:rPr>
                            </m:ctrlPr>
                          </m:dPr>
                          <m:e>
                            <m:sSub>
                              <m:sSubPr>
                                <m:ctrlPr>
                                  <a:rPr lang="en-US" sz="2100" i="1">
                                    <a:latin typeface="Cambria Math" panose="02040503050406030204" pitchFamily="18" charset="0"/>
                                  </a:rPr>
                                </m:ctrlPr>
                              </m:sSubPr>
                              <m:e>
                                <m:r>
                                  <a:rPr lang="en-US" sz="2100" i="1">
                                    <a:latin typeface="Cambria Math" panose="02040503050406030204" pitchFamily="18" charset="0"/>
                                  </a:rPr>
                                  <m:t>𝑈</m:t>
                                </m:r>
                              </m:e>
                              <m:sub>
                                <m:r>
                                  <a:rPr lang="en-US" sz="2100" i="1">
                                    <a:latin typeface="Cambria Math" panose="02040503050406030204" pitchFamily="18" charset="0"/>
                                  </a:rPr>
                                  <m:t>𝑘</m:t>
                                </m:r>
                              </m:sub>
                            </m:sSub>
                          </m:e>
                        </m:d>
                      </m:sub>
                    </m:sSub>
                  </m:oMath>
                </a14:m>
                <a:r>
                  <a:rPr lang="en-US" sz="2100" dirty="0"/>
                  <a:t> is identity matrix whose dimension is </a:t>
                </a:r>
                <a:r>
                  <a:rPr lang="en-US" sz="2100" i="1" dirty="0"/>
                  <a:t>r</a:t>
                </a:r>
                <a:r>
                  <a:rPr lang="en-US" sz="2100" dirty="0"/>
                  <a:t>(</a:t>
                </a:r>
                <a:r>
                  <a:rPr lang="en-US" sz="2100" i="1" dirty="0" err="1"/>
                  <a:t>U</a:t>
                </a:r>
                <a:r>
                  <a:rPr lang="en-US" sz="2100" i="1" baseline="-25000" dirty="0" err="1"/>
                  <a:t>k</a:t>
                </a:r>
                <a:r>
                  <a:rPr lang="en-US" sz="2100" dirty="0"/>
                  <a:t>)</a:t>
                </a:r>
                <a:r>
                  <a:rPr lang="en-US" sz="2100" dirty="0" err="1"/>
                  <a:t>x</a:t>
                </a:r>
                <a:r>
                  <a:rPr lang="en-US" sz="2100" i="1" dirty="0" err="1"/>
                  <a:t>r</a:t>
                </a:r>
                <a:r>
                  <a:rPr lang="en-US" sz="2100" dirty="0"/>
                  <a:t>(</a:t>
                </a:r>
                <a:r>
                  <a:rPr lang="en-US" sz="2100" i="1" dirty="0" err="1"/>
                  <a:t>U</a:t>
                </a:r>
                <a:r>
                  <a:rPr lang="en-US" sz="2100" i="1" baseline="-25000" dirty="0" err="1"/>
                  <a:t>k</a:t>
                </a:r>
                <a:r>
                  <a:rPr lang="en-US" sz="2100" dirty="0"/>
                  <a:t>) and </a:t>
                </a:r>
                <a14:m>
                  <m:oMath xmlns:m="http://schemas.openxmlformats.org/officeDocument/2006/math">
                    <m:sSub>
                      <m:sSubPr>
                        <m:ctrlPr>
                          <a:rPr lang="en-US" sz="2100" i="1">
                            <a:latin typeface="Cambria Math" panose="02040503050406030204" pitchFamily="18" charset="0"/>
                          </a:rPr>
                        </m:ctrlPr>
                      </m:sSubPr>
                      <m:e>
                        <m:r>
                          <a:rPr lang="en-US" sz="2100" i="1">
                            <a:latin typeface="Cambria Math" panose="02040503050406030204" pitchFamily="18" charset="0"/>
                          </a:rPr>
                          <m:t>𝐼</m:t>
                        </m:r>
                      </m:e>
                      <m:sub>
                        <m:r>
                          <a:rPr lang="en-US" sz="2100" i="1">
                            <a:latin typeface="Cambria Math" panose="02040503050406030204" pitchFamily="18" charset="0"/>
                          </a:rPr>
                          <m:t>𝑐</m:t>
                        </m:r>
                        <m:d>
                          <m:dPr>
                            <m:ctrlPr>
                              <a:rPr lang="en-US" sz="2100" i="1">
                                <a:latin typeface="Cambria Math" panose="02040503050406030204" pitchFamily="18" charset="0"/>
                              </a:rPr>
                            </m:ctrlPr>
                          </m:dPr>
                          <m:e>
                            <m:sSub>
                              <m:sSubPr>
                                <m:ctrlPr>
                                  <a:rPr lang="en-US" sz="2100" i="1">
                                    <a:latin typeface="Cambria Math" panose="02040503050406030204" pitchFamily="18" charset="0"/>
                                  </a:rPr>
                                </m:ctrlPr>
                              </m:sSubPr>
                              <m:e>
                                <m:r>
                                  <a:rPr lang="en-US" sz="2100" i="1">
                                    <a:latin typeface="Cambria Math" panose="02040503050406030204" pitchFamily="18" charset="0"/>
                                  </a:rPr>
                                  <m:t>𝑉</m:t>
                                </m:r>
                              </m:e>
                              <m:sub>
                                <m:r>
                                  <a:rPr lang="en-US" sz="2100" i="1">
                                    <a:latin typeface="Cambria Math" panose="02040503050406030204" pitchFamily="18" charset="0"/>
                                  </a:rPr>
                                  <m:t>𝑘</m:t>
                                </m:r>
                              </m:sub>
                            </m:sSub>
                          </m:e>
                        </m:d>
                      </m:sub>
                    </m:sSub>
                  </m:oMath>
                </a14:m>
                <a:r>
                  <a:rPr lang="en-US" sz="2100" dirty="0"/>
                  <a:t> is identity matrix whose dimension is </a:t>
                </a:r>
                <a:r>
                  <a:rPr lang="en-US" sz="2100" i="1" dirty="0"/>
                  <a:t>c</a:t>
                </a:r>
                <a:r>
                  <a:rPr lang="en-US" sz="2100" dirty="0"/>
                  <a:t>(</a:t>
                </a:r>
                <a:r>
                  <a:rPr lang="en-US" sz="2100" i="1" dirty="0" err="1"/>
                  <a:t>V</a:t>
                </a:r>
                <a:r>
                  <a:rPr lang="en-US" sz="2100" i="1" baseline="-25000" dirty="0" err="1"/>
                  <a:t>k</a:t>
                </a:r>
                <a:r>
                  <a:rPr lang="en-US" sz="2100" dirty="0"/>
                  <a:t>)x</a:t>
                </a:r>
                <a:r>
                  <a:rPr lang="en-US" sz="2100" i="1" dirty="0"/>
                  <a:t>c</a:t>
                </a:r>
                <a:r>
                  <a:rPr lang="en-US" sz="2100" dirty="0"/>
                  <a:t>(</a:t>
                </a:r>
                <a:r>
                  <a:rPr lang="en-US" sz="2100" i="1" dirty="0" err="1"/>
                  <a:t>V</a:t>
                </a:r>
                <a:r>
                  <a:rPr lang="en-US" sz="2100" i="1" baseline="-25000" dirty="0" err="1"/>
                  <a:t>k</a:t>
                </a:r>
                <a:r>
                  <a:rPr lang="en-US" sz="2100" dirty="0" smtClean="0"/>
                  <a:t>). </a:t>
                </a:r>
                <a:r>
                  <a:rPr lang="en-US" sz="2100" dirty="0" smtClean="0">
                    <a:effectLst>
                      <a:outerShdw blurRad="38100" dist="38100" dir="2700000" algn="tl">
                        <a:srgbClr val="000000">
                          <a:alpha val="43137"/>
                        </a:srgbClr>
                      </a:outerShdw>
                    </a:effectLst>
                  </a:rPr>
                  <a:t>Although </a:t>
                </a:r>
                <a:r>
                  <a:rPr lang="en-US" sz="2100" dirty="0">
                    <a:effectLst>
                      <a:outerShdw blurRad="38100" dist="38100" dir="2700000" algn="tl">
                        <a:srgbClr val="000000">
                          <a:alpha val="43137"/>
                        </a:srgbClr>
                      </a:outerShdw>
                    </a:effectLst>
                  </a:rPr>
                  <a:t>MNN is not new, please read the research paper “Matrix Neural Networks” (Gao, </a:t>
                </a:r>
                <a:r>
                  <a:rPr lang="en-US" sz="2100" dirty="0" err="1">
                    <a:effectLst>
                      <a:outerShdw blurRad="38100" dist="38100" dir="2700000" algn="tl">
                        <a:srgbClr val="000000">
                          <a:alpha val="43137"/>
                        </a:srgbClr>
                      </a:outerShdw>
                    </a:effectLst>
                  </a:rPr>
                  <a:t>Guo</a:t>
                </a:r>
                <a:r>
                  <a:rPr lang="en-US" sz="2100" dirty="0">
                    <a:effectLst>
                      <a:outerShdw blurRad="38100" dist="38100" dir="2700000" algn="tl">
                        <a:srgbClr val="000000">
                          <a:alpha val="43137"/>
                        </a:srgbClr>
                      </a:outerShdw>
                    </a:effectLst>
                  </a:rPr>
                  <a:t>, &amp; Wang, 2016) for comprehending </a:t>
                </a:r>
                <a:r>
                  <a:rPr lang="en-US" sz="2100" dirty="0" smtClean="0">
                    <a:effectLst>
                      <a:outerShdw blurRad="38100" dist="38100" dir="2700000" algn="tl">
                        <a:srgbClr val="000000">
                          <a:alpha val="43137"/>
                        </a:srgbClr>
                      </a:outerShdw>
                    </a:effectLst>
                  </a:rPr>
                  <a:t>MNN, </a:t>
                </a:r>
                <a:r>
                  <a:rPr lang="en-US" sz="2100" dirty="0">
                    <a:effectLst>
                      <a:outerShdw blurRad="38100" dist="38100" dir="2700000" algn="tl">
                        <a:srgbClr val="000000">
                          <a:alpha val="43137"/>
                        </a:srgbClr>
                      </a:outerShdw>
                    </a:effectLst>
                  </a:rPr>
                  <a:t>this research contributes to reproduce the succinct and practical equations above to train MNN</a:t>
                </a:r>
                <a:r>
                  <a:rPr lang="en-US" sz="21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1120" y="914399"/>
                <a:ext cx="12039600" cy="5176066"/>
              </a:xfrm>
              <a:blipFill>
                <a:blip r:embed="rId2"/>
                <a:stretch>
                  <a:fillRect l="-658" t="-824" r="-810" b="-3298"/>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19</a:t>
            </a:fld>
            <a:endParaRPr lang="en-US"/>
          </a:p>
        </p:txBody>
      </p:sp>
    </p:spTree>
    <p:extLst>
      <p:ext uri="{BB962C8B-B14F-4D97-AF65-F5344CB8AC3E}">
        <p14:creationId xmlns:p14="http://schemas.microsoft.com/office/powerpoint/2010/main" val="189569020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network</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1120" y="914399"/>
                <a:ext cx="12049760" cy="5176066"/>
              </a:xfrm>
            </p:spPr>
            <p:txBody>
              <a:bodyPr>
                <a:noAutofit/>
              </a:bodyPr>
              <a:lstStyle/>
              <a:p>
                <a:pPr marL="0" indent="0">
                  <a:buNone/>
                </a:pPr>
                <a:r>
                  <a:rPr lang="en-US" sz="1850" dirty="0"/>
                  <a:t>In practical calculation, the estimation equations are not significantly simpler than traditional ANN training because of vectorization operator and </a:t>
                </a:r>
                <a:r>
                  <a:rPr lang="en-US" sz="1850" dirty="0" err="1"/>
                  <a:t>Kronecker</a:t>
                </a:r>
                <a:r>
                  <a:rPr lang="en-US" sz="1850" dirty="0"/>
                  <a:t> product. Fortunately, </a:t>
                </a:r>
                <a:r>
                  <a:rPr lang="en-US" sz="1850" dirty="0" smtClean="0">
                    <a:effectLst>
                      <a:outerShdw blurRad="38100" dist="38100" dir="2700000" algn="tl">
                        <a:srgbClr val="000000">
                          <a:alpha val="43137"/>
                        </a:srgbClr>
                      </a:outerShdw>
                    </a:effectLst>
                  </a:rPr>
                  <a:t>wise-multiplication </a:t>
                </a:r>
                <a14:m>
                  <m:oMath xmlns:m="http://schemas.openxmlformats.org/officeDocument/2006/math">
                    <m:r>
                      <a:rPr lang="en-US" sz="1850" i="1">
                        <a:effectLst>
                          <a:outerShdw blurRad="38100" dist="38100" dir="2700000" algn="tl">
                            <a:srgbClr val="000000">
                              <a:alpha val="43137"/>
                            </a:srgbClr>
                          </a:outerShdw>
                        </a:effectLst>
                        <a:latin typeface="Cambria Math" panose="02040503050406030204" pitchFamily="18" charset="0"/>
                      </a:rPr>
                      <m:t>⨀</m:t>
                    </m:r>
                  </m:oMath>
                </a14:m>
                <a:r>
                  <a:rPr lang="en-US" sz="1850" dirty="0">
                    <a:effectLst>
                      <a:outerShdw blurRad="38100" dist="38100" dir="2700000" algn="tl">
                        <a:srgbClr val="000000">
                          <a:alpha val="43137"/>
                        </a:srgbClr>
                      </a:outerShdw>
                    </a:effectLst>
                  </a:rPr>
                  <a:t> </a:t>
                </a:r>
                <a:r>
                  <a:rPr lang="en-US" sz="1850" dirty="0" smtClean="0">
                    <a:effectLst>
                      <a:outerShdw blurRad="38100" dist="38100" dir="2700000" algn="tl">
                        <a:srgbClr val="000000">
                          <a:alpha val="43137"/>
                        </a:srgbClr>
                      </a:outerShdw>
                    </a:effectLst>
                  </a:rPr>
                  <a:t>is </a:t>
                </a:r>
                <a:r>
                  <a:rPr lang="en-US" sz="1850" dirty="0">
                    <a:effectLst>
                      <a:outerShdw blurRad="38100" dist="38100" dir="2700000" algn="tl">
                        <a:srgbClr val="000000">
                          <a:alpha val="43137"/>
                        </a:srgbClr>
                      </a:outerShdw>
                    </a:effectLst>
                  </a:rPr>
                  <a:t>applied into reducing computational cost </a:t>
                </a:r>
                <a:r>
                  <a:rPr lang="en-US" sz="1850" dirty="0" smtClean="0"/>
                  <a:t>with note that the inverse </a:t>
                </a:r>
                <a:r>
                  <a:rPr lang="en-US" sz="1850" dirty="0"/>
                  <a:t>vectorization operator </a:t>
                </a:r>
                <a:r>
                  <a:rPr lang="en-US" sz="1850" dirty="0" err="1"/>
                  <a:t>vec</a:t>
                </a:r>
                <a:r>
                  <a:rPr lang="en-US" sz="1850" baseline="30000" dirty="0"/>
                  <a:t>–1</a:t>
                </a:r>
                <a:r>
                  <a:rPr lang="en-US" sz="1850" dirty="0" smtClean="0"/>
                  <a:t>(.) converts </a:t>
                </a:r>
                <a:r>
                  <a:rPr lang="en-US" sz="1850" dirty="0"/>
                  <a:t>reversely a single column vector into original </a:t>
                </a:r>
                <a:r>
                  <a:rPr lang="en-US" sz="1850" dirty="0" smtClean="0"/>
                  <a:t>matrix.</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1850" i="1">
                              <a:latin typeface="Cambria Math" panose="02040503050406030204" pitchFamily="18" charset="0"/>
                            </a:rPr>
                          </m:ctrlPr>
                        </m:mPr>
                        <m:mr>
                          <m:e>
                            <m:sSub>
                              <m:sSubPr>
                                <m:ctrlPr>
                                  <a:rPr lang="en-US" sz="1850" i="1">
                                    <a:latin typeface="Cambria Math" panose="02040503050406030204" pitchFamily="18" charset="0"/>
                                  </a:rPr>
                                </m:ctrlPr>
                              </m:sSubPr>
                              <m:e>
                                <m:r>
                                  <a:rPr lang="en-US" sz="1850">
                                    <a:latin typeface="Cambria Math" panose="02040503050406030204" pitchFamily="18" charset="0"/>
                                  </a:rPr>
                                  <m:t>𝛻</m:t>
                                </m:r>
                              </m:e>
                              <m:sub>
                                <m:sSub>
                                  <m:sSubPr>
                                    <m:ctrlPr>
                                      <a:rPr lang="en-US" sz="1850" i="1">
                                        <a:latin typeface="Cambria Math" panose="02040503050406030204" pitchFamily="18" charset="0"/>
                                      </a:rPr>
                                    </m:ctrlPr>
                                  </m:sSubPr>
                                  <m:e>
                                    <m:r>
                                      <a:rPr lang="en-US" sz="1850" i="1">
                                        <a:latin typeface="Cambria Math" panose="02040503050406030204" pitchFamily="18" charset="0"/>
                                      </a:rPr>
                                      <m:t>𝑈</m:t>
                                    </m:r>
                                  </m:e>
                                  <m:sub>
                                    <m:r>
                                      <a:rPr lang="en-US" sz="1850" i="1">
                                        <a:latin typeface="Cambria Math" panose="02040503050406030204" pitchFamily="18" charset="0"/>
                                      </a:rPr>
                                      <m:t>𝑘</m:t>
                                    </m:r>
                                  </m:sub>
                                </m:sSub>
                              </m:sub>
                            </m:sSub>
                            <m:r>
                              <a:rPr lang="en-US" sz="1850" i="1">
                                <a:latin typeface="Cambria Math" panose="02040503050406030204" pitchFamily="18" charset="0"/>
                              </a:rPr>
                              <m:t>𝑙</m:t>
                            </m:r>
                            <m:r>
                              <a:rPr lang="en-US" sz="1850" i="1">
                                <a:latin typeface="Cambria Math" panose="02040503050406030204" pitchFamily="18" charset="0"/>
                              </a:rPr>
                              <m:t>=</m:t>
                            </m:r>
                            <m:sSup>
                              <m:sSupPr>
                                <m:ctrlPr>
                                  <a:rPr lang="en-US" sz="1850" i="1">
                                    <a:latin typeface="Cambria Math" panose="02040503050406030204" pitchFamily="18" charset="0"/>
                                  </a:rPr>
                                </m:ctrlPr>
                              </m:sSupPr>
                              <m:e>
                                <m:r>
                                  <m:rPr>
                                    <m:sty m:val="p"/>
                                  </m:rPr>
                                  <a:rPr lang="en-US" sz="1850">
                                    <a:latin typeface="Cambria Math" panose="02040503050406030204" pitchFamily="18" charset="0"/>
                                  </a:rPr>
                                  <m:t>vec</m:t>
                                </m:r>
                              </m:e>
                              <m:sup>
                                <m:r>
                                  <a:rPr lang="en-US" sz="1850" i="1">
                                    <a:latin typeface="Cambria Math" panose="02040503050406030204" pitchFamily="18" charset="0"/>
                                  </a:rPr>
                                  <m:t>−1</m:t>
                                </m:r>
                              </m:sup>
                            </m:sSup>
                            <m:d>
                              <m:dPr>
                                <m:ctrlPr>
                                  <a:rPr lang="en-US" sz="1850" i="1">
                                    <a:latin typeface="Cambria Math" panose="02040503050406030204" pitchFamily="18" charset="0"/>
                                  </a:rPr>
                                </m:ctrlPr>
                              </m:dPr>
                              <m:e>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𝑘</m:t>
                                                    </m:r>
                                                    <m:r>
                                                      <a:rPr lang="en-US" sz="1850" i="1">
                                                        <a:latin typeface="Cambria Math" panose="02040503050406030204" pitchFamily="18" charset="0"/>
                                                      </a:rPr>
                                                      <m:t>−1</m:t>
                                                    </m:r>
                                                  </m:sub>
                                                </m:sSub>
                                                <m:sSub>
                                                  <m:sSubPr>
                                                    <m:ctrlPr>
                                                      <a:rPr lang="en-US" sz="1850" i="1">
                                                        <a:latin typeface="Cambria Math" panose="02040503050406030204" pitchFamily="18" charset="0"/>
                                                      </a:rPr>
                                                    </m:ctrlPr>
                                                  </m:sSubPr>
                                                  <m:e>
                                                    <m:r>
                                                      <a:rPr lang="en-US" sz="1850" i="1">
                                                        <a:latin typeface="Cambria Math" panose="02040503050406030204" pitchFamily="18" charset="0"/>
                                                      </a:rPr>
                                                      <m:t>𝑉</m:t>
                                                    </m:r>
                                                  </m:e>
                                                  <m:sub>
                                                    <m:r>
                                                      <a:rPr lang="en-US" sz="1850" i="1">
                                                        <a:latin typeface="Cambria Math" panose="02040503050406030204" pitchFamily="18" charset="0"/>
                                                      </a:rPr>
                                                      <m:t>𝑘</m:t>
                                                    </m:r>
                                                  </m:sub>
                                                </m:sSub>
                                              </m:e>
                                            </m:d>
                                          </m:e>
                                          <m:sup>
                                            <m:r>
                                              <a:rPr lang="en-US" sz="1850" i="1">
                                                <a:latin typeface="Cambria Math" panose="02040503050406030204" pitchFamily="18" charset="0"/>
                                              </a:rPr>
                                              <m:t>𝑇</m:t>
                                            </m:r>
                                          </m:sup>
                                        </m:sSup>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i="1">
                                                <a:latin typeface="Cambria Math" panose="02040503050406030204" pitchFamily="18" charset="0"/>
                                              </a:rPr>
                                              <m:t>𝐼</m:t>
                                            </m:r>
                                          </m:e>
                                          <m:sub>
                                            <m:r>
                                              <a:rPr lang="en-US" sz="1850" i="1">
                                                <a:latin typeface="Cambria Math" panose="02040503050406030204" pitchFamily="18" charset="0"/>
                                              </a:rPr>
                                              <m:t>𝑟</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i="1">
                                                        <a:latin typeface="Cambria Math" panose="02040503050406030204" pitchFamily="18" charset="0"/>
                                                      </a:rPr>
                                                      <m:t>𝑈</m:t>
                                                    </m:r>
                                                  </m:e>
                                                  <m:sub>
                                                    <m:r>
                                                      <a:rPr lang="en-US" sz="1850" i="1">
                                                        <a:latin typeface="Cambria Math" panose="02040503050406030204" pitchFamily="18" charset="0"/>
                                                      </a:rPr>
                                                      <m:t>𝑘</m:t>
                                                    </m:r>
                                                  </m:sub>
                                                </m:sSub>
                                              </m:e>
                                            </m:d>
                                          </m:sub>
                                        </m:sSub>
                                      </m:e>
                                    </m:d>
                                  </m:e>
                                  <m:sup>
                                    <m:r>
                                      <a:rPr lang="en-US" sz="1850" i="1">
                                        <a:latin typeface="Cambria Math" panose="02040503050406030204" pitchFamily="18" charset="0"/>
                                      </a:rPr>
                                      <m:t>𝑇</m:t>
                                    </m:r>
                                  </m:sup>
                                </m:sSup>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a:latin typeface="Cambria Math" panose="02040503050406030204" pitchFamily="18" charset="0"/>
                                          </a:rPr>
                                          <m:t>𝛻</m:t>
                                        </m:r>
                                      </m:e>
                                      <m:sub>
                                        <m:sSub>
                                          <m:sSubPr>
                                            <m:ctrlPr>
                                              <a:rPr lang="en-US" sz="1850" i="1">
                                                <a:latin typeface="Cambria Math" panose="02040503050406030204" pitchFamily="18" charset="0"/>
                                              </a:rPr>
                                            </m:ctrlPr>
                                          </m:sSubPr>
                                          <m:e>
                                            <m:r>
                                              <m:rPr>
                                                <m:sty m:val="p"/>
                                              </m:rPr>
                                              <a:rPr lang="en-US" sz="1850">
                                                <a:latin typeface="Cambria Math" panose="02040503050406030204" pitchFamily="18" charset="0"/>
                                              </a:rPr>
                                              <m:t>Θ</m:t>
                                            </m:r>
                                          </m:e>
                                          <m:sub>
                                            <m:r>
                                              <a:rPr lang="en-US" sz="1850" i="1">
                                                <a:latin typeface="Cambria Math" panose="02040503050406030204" pitchFamily="18" charset="0"/>
                                              </a:rPr>
                                              <m:t>𝑘</m:t>
                                            </m:r>
                                          </m:sub>
                                        </m:sSub>
                                      </m:sub>
                                    </m:sSub>
                                    <m:r>
                                      <a:rPr lang="en-US" sz="1850" i="1">
                                        <a:latin typeface="Cambria Math" panose="02040503050406030204" pitchFamily="18" charset="0"/>
                                      </a:rPr>
                                      <m:t>𝑙</m:t>
                                    </m:r>
                                  </m:e>
                                </m:d>
                              </m:e>
                            </m:d>
                          </m:e>
                        </m:mr>
                        <m:mr>
                          <m:e>
                            <m:sSub>
                              <m:sSubPr>
                                <m:ctrlPr>
                                  <a:rPr lang="en-US" sz="1850" i="1">
                                    <a:latin typeface="Cambria Math" panose="02040503050406030204" pitchFamily="18" charset="0"/>
                                  </a:rPr>
                                </m:ctrlPr>
                              </m:sSubPr>
                              <m:e>
                                <m:r>
                                  <a:rPr lang="en-US" sz="1850">
                                    <a:latin typeface="Cambria Math" panose="02040503050406030204" pitchFamily="18" charset="0"/>
                                  </a:rPr>
                                  <m:t>𝛻</m:t>
                                </m:r>
                              </m:e>
                              <m:sub>
                                <m:sSub>
                                  <m:sSubPr>
                                    <m:ctrlPr>
                                      <a:rPr lang="en-US" sz="1850" i="1">
                                        <a:latin typeface="Cambria Math" panose="02040503050406030204" pitchFamily="18" charset="0"/>
                                      </a:rPr>
                                    </m:ctrlPr>
                                  </m:sSubPr>
                                  <m:e>
                                    <m:r>
                                      <a:rPr lang="en-US" sz="1850" i="1">
                                        <a:latin typeface="Cambria Math" panose="02040503050406030204" pitchFamily="18" charset="0"/>
                                      </a:rPr>
                                      <m:t>𝑉</m:t>
                                    </m:r>
                                  </m:e>
                                  <m:sub>
                                    <m:r>
                                      <a:rPr lang="en-US" sz="1850" i="1">
                                        <a:latin typeface="Cambria Math" panose="02040503050406030204" pitchFamily="18" charset="0"/>
                                      </a:rPr>
                                      <m:t>𝑘</m:t>
                                    </m:r>
                                  </m:sub>
                                </m:sSub>
                              </m:sub>
                            </m:sSub>
                            <m:r>
                              <a:rPr lang="en-US" sz="1850" i="1">
                                <a:latin typeface="Cambria Math" panose="02040503050406030204" pitchFamily="18" charset="0"/>
                              </a:rPr>
                              <m:t>𝑙</m:t>
                            </m:r>
                            <m:r>
                              <a:rPr lang="en-US" sz="1850" i="1">
                                <a:latin typeface="Cambria Math" panose="02040503050406030204" pitchFamily="18" charset="0"/>
                              </a:rPr>
                              <m:t>=</m:t>
                            </m:r>
                            <m:sSup>
                              <m:sSupPr>
                                <m:ctrlPr>
                                  <a:rPr lang="en-US" sz="1850" i="1">
                                    <a:latin typeface="Cambria Math" panose="02040503050406030204" pitchFamily="18" charset="0"/>
                                  </a:rPr>
                                </m:ctrlPr>
                              </m:sSupPr>
                              <m:e>
                                <m:r>
                                  <m:rPr>
                                    <m:sty m:val="p"/>
                                  </m:rPr>
                                  <a:rPr lang="en-US" sz="1850">
                                    <a:latin typeface="Cambria Math" panose="02040503050406030204" pitchFamily="18" charset="0"/>
                                  </a:rPr>
                                  <m:t>vec</m:t>
                                </m:r>
                              </m:e>
                              <m:sup>
                                <m:r>
                                  <a:rPr lang="en-US" sz="1850" i="1">
                                    <a:latin typeface="Cambria Math" panose="02040503050406030204" pitchFamily="18" charset="0"/>
                                  </a:rPr>
                                  <m:t>−1</m:t>
                                </m:r>
                              </m:sup>
                            </m:sSup>
                            <m:d>
                              <m:dPr>
                                <m:ctrlPr>
                                  <a:rPr lang="en-US" sz="1850" i="1">
                                    <a:latin typeface="Cambria Math" panose="02040503050406030204" pitchFamily="18" charset="0"/>
                                  </a:rPr>
                                </m:ctrlPr>
                              </m:dPr>
                              <m:e>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i="1">
                                                <a:latin typeface="Cambria Math" panose="02040503050406030204" pitchFamily="18" charset="0"/>
                                              </a:rPr>
                                              <m:t>𝐼</m:t>
                                            </m:r>
                                          </m:e>
                                          <m:sub>
                                            <m:r>
                                              <a:rPr lang="en-US" sz="1850" i="1">
                                                <a:latin typeface="Cambria Math" panose="02040503050406030204" pitchFamily="18" charset="0"/>
                                              </a:rPr>
                                              <m:t>𝑐</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i="1">
                                                        <a:latin typeface="Cambria Math" panose="02040503050406030204" pitchFamily="18" charset="0"/>
                                                      </a:rPr>
                                                      <m:t>𝑉</m:t>
                                                    </m:r>
                                                  </m:e>
                                                  <m:sub>
                                                    <m:r>
                                                      <a:rPr lang="en-US" sz="1850" i="1">
                                                        <a:latin typeface="Cambria Math" panose="02040503050406030204" pitchFamily="18" charset="0"/>
                                                      </a:rPr>
                                                      <m:t>𝑘</m:t>
                                                    </m:r>
                                                  </m:sub>
                                                </m:sSub>
                                              </m:e>
                                            </m:d>
                                          </m:sub>
                                        </m:sSub>
                                        <m:r>
                                          <a:rPr lang="en-US" sz="1850" i="1">
                                            <a:latin typeface="Cambria Math" panose="02040503050406030204" pitchFamily="18" charset="0"/>
                                          </a:rPr>
                                          <m:t>⨂</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i="1">
                                                    <a:latin typeface="Cambria Math" panose="02040503050406030204" pitchFamily="18" charset="0"/>
                                                  </a:rPr>
                                                  <m:t>𝑈</m:t>
                                                </m:r>
                                              </m:e>
                                              <m:sub>
                                                <m:r>
                                                  <a:rPr lang="en-US" sz="1850" i="1">
                                                    <a:latin typeface="Cambria Math" panose="02040503050406030204" pitchFamily="18" charset="0"/>
                                                  </a:rPr>
                                                  <m:t>𝑘</m:t>
                                                </m:r>
                                              </m:sub>
                                            </m:sSub>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𝑘</m:t>
                                                </m:r>
                                                <m:r>
                                                  <a:rPr lang="en-US" sz="1850" i="1">
                                                    <a:latin typeface="Cambria Math" panose="02040503050406030204" pitchFamily="18" charset="0"/>
                                                  </a:rPr>
                                                  <m:t>−1</m:t>
                                                </m:r>
                                              </m:sub>
                                            </m:sSub>
                                          </m:e>
                                        </m:d>
                                      </m:e>
                                    </m:d>
                                  </m:e>
                                  <m:sup>
                                    <m:r>
                                      <a:rPr lang="en-US" sz="1850" i="1">
                                        <a:latin typeface="Cambria Math" panose="02040503050406030204" pitchFamily="18" charset="0"/>
                                      </a:rPr>
                                      <m:t>𝑇</m:t>
                                    </m:r>
                                  </m:sup>
                                </m:sSup>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a:latin typeface="Cambria Math" panose="02040503050406030204" pitchFamily="18" charset="0"/>
                                          </a:rPr>
                                          <m:t>𝛻</m:t>
                                        </m:r>
                                      </m:e>
                                      <m:sub>
                                        <m:sSub>
                                          <m:sSubPr>
                                            <m:ctrlPr>
                                              <a:rPr lang="en-US" sz="1850" i="1">
                                                <a:latin typeface="Cambria Math" panose="02040503050406030204" pitchFamily="18" charset="0"/>
                                              </a:rPr>
                                            </m:ctrlPr>
                                          </m:sSubPr>
                                          <m:e>
                                            <m:r>
                                              <m:rPr>
                                                <m:sty m:val="p"/>
                                              </m:rPr>
                                              <a:rPr lang="en-US" sz="1850">
                                                <a:latin typeface="Cambria Math" panose="02040503050406030204" pitchFamily="18" charset="0"/>
                                              </a:rPr>
                                              <m:t>Θ</m:t>
                                            </m:r>
                                          </m:e>
                                          <m:sub>
                                            <m:r>
                                              <a:rPr lang="en-US" sz="1850" i="1">
                                                <a:latin typeface="Cambria Math" panose="02040503050406030204" pitchFamily="18" charset="0"/>
                                              </a:rPr>
                                              <m:t>𝑘</m:t>
                                            </m:r>
                                          </m:sub>
                                        </m:sSub>
                                      </m:sub>
                                    </m:sSub>
                                    <m:r>
                                      <a:rPr lang="en-US" sz="1850" i="1">
                                        <a:latin typeface="Cambria Math" panose="02040503050406030204" pitchFamily="18" charset="0"/>
                                      </a:rPr>
                                      <m:t>𝑙</m:t>
                                    </m:r>
                                  </m:e>
                                </m:d>
                              </m:e>
                            </m:d>
                          </m:e>
                        </m:mr>
                        <m:mr>
                          <m:e>
                            <m:sSub>
                              <m:sSubPr>
                                <m:ctrlPr>
                                  <a:rPr lang="en-US" sz="1850" i="1">
                                    <a:latin typeface="Cambria Math" panose="02040503050406030204" pitchFamily="18" charset="0"/>
                                  </a:rPr>
                                </m:ctrlPr>
                              </m:sSubPr>
                              <m:e>
                                <m:r>
                                  <a:rPr lang="en-US" sz="1850">
                                    <a:latin typeface="Cambria Math" panose="02040503050406030204" pitchFamily="18" charset="0"/>
                                  </a:rPr>
                                  <m:t>𝛻</m:t>
                                </m:r>
                              </m:e>
                              <m:sub>
                                <m:sSub>
                                  <m:sSubPr>
                                    <m:ctrlPr>
                                      <a:rPr lang="en-US" sz="1850" i="1">
                                        <a:latin typeface="Cambria Math" panose="02040503050406030204" pitchFamily="18" charset="0"/>
                                      </a:rPr>
                                    </m:ctrlPr>
                                  </m:sSubPr>
                                  <m:e>
                                    <m:r>
                                      <m:rPr>
                                        <m:sty m:val="p"/>
                                      </m:rPr>
                                      <a:rPr lang="en-US" sz="1850">
                                        <a:latin typeface="Cambria Math" panose="02040503050406030204" pitchFamily="18" charset="0"/>
                                      </a:rPr>
                                      <m:t>Θ</m:t>
                                    </m:r>
                                  </m:e>
                                  <m:sub>
                                    <m:r>
                                      <a:rPr lang="en-US" sz="1850" i="1">
                                        <a:latin typeface="Cambria Math" panose="02040503050406030204" pitchFamily="18" charset="0"/>
                                      </a:rPr>
                                      <m:t>𝑘</m:t>
                                    </m:r>
                                  </m:sub>
                                </m:sSub>
                              </m:sub>
                            </m:sSub>
                            <m:r>
                              <a:rPr lang="en-US" sz="1850" i="1">
                                <a:latin typeface="Cambria Math" panose="02040503050406030204" pitchFamily="18" charset="0"/>
                              </a:rPr>
                              <m:t>𝑙</m:t>
                            </m:r>
                            <m:r>
                              <a:rPr lang="en-US" sz="1850" i="1">
                                <a:latin typeface="Cambria Math" panose="02040503050406030204" pitchFamily="18" charset="0"/>
                              </a:rPr>
                              <m:t>=</m:t>
                            </m:r>
                            <m:d>
                              <m:dPr>
                                <m:begChr m:val="{"/>
                                <m:endChr m:val="}"/>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i="1">
                                        <a:latin typeface="Cambria Math" panose="02040503050406030204" pitchFamily="18" charset="0"/>
                                      </a:rPr>
                                      <m:t>𝑓</m:t>
                                    </m:r>
                                  </m:e>
                                  <m:sub>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𝑘</m:t>
                                        </m:r>
                                      </m:sub>
                                    </m:sSub>
                                  </m:sub>
                                  <m:sup>
                                    <m:r>
                                      <a:rPr lang="en-US" sz="1850" i="1">
                                        <a:latin typeface="Cambria Math" panose="02040503050406030204" pitchFamily="18" charset="0"/>
                                      </a:rPr>
                                      <m:t>′</m:t>
                                    </m:r>
                                  </m:sup>
                                </m:sSubSup>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acc>
                                          <m:accPr>
                                            <m:chr m:val="̂"/>
                                            <m:ctrlPr>
                                              <a:rPr lang="en-US" sz="1850" i="1">
                                                <a:latin typeface="Cambria Math" panose="02040503050406030204" pitchFamily="18" charset="0"/>
                                              </a:rPr>
                                            </m:ctrlPr>
                                          </m:accPr>
                                          <m:e>
                                            <m:r>
                                              <a:rPr lang="en-US" sz="1850" b="1" i="1">
                                                <a:latin typeface="Cambria Math" panose="02040503050406030204" pitchFamily="18" charset="0"/>
                                              </a:rPr>
                                              <m:t>𝑿</m:t>
                                            </m:r>
                                          </m:e>
                                        </m:acc>
                                      </m:e>
                                      <m:sub>
                                        <m:r>
                                          <a:rPr lang="en-US" sz="1850" i="1">
                                            <a:latin typeface="Cambria Math" panose="02040503050406030204" pitchFamily="18" charset="0"/>
                                          </a:rPr>
                                          <m:t>𝑘</m:t>
                                        </m:r>
                                        <m:r>
                                          <a:rPr lang="en-US" sz="1850" i="1">
                                            <a:latin typeface="Cambria Math" panose="02040503050406030204" pitchFamily="18" charset="0"/>
                                          </a:rPr>
                                          <m:t>−1</m:t>
                                        </m:r>
                                      </m:sub>
                                    </m:sSub>
                                  </m:e>
                                </m:d>
                              </m:e>
                            </m:d>
                            <m:r>
                              <a:rPr lang="en-US" sz="1850" i="1">
                                <a:latin typeface="Cambria Math" panose="02040503050406030204" pitchFamily="18" charset="0"/>
                              </a:rPr>
                              <m:t>⨀</m:t>
                            </m:r>
                            <m:d>
                              <m:dPr>
                                <m:ctrlPr>
                                  <a:rPr lang="en-US" sz="1850" i="1">
                                    <a:latin typeface="Cambria Math" panose="02040503050406030204" pitchFamily="18" charset="0"/>
                                  </a:rPr>
                                </m:ctrlPr>
                              </m:dPr>
                              <m:e>
                                <m:sSup>
                                  <m:sSupPr>
                                    <m:ctrlPr>
                                      <a:rPr lang="en-US" sz="1850" i="1">
                                        <a:latin typeface="Cambria Math" panose="02040503050406030204" pitchFamily="18" charset="0"/>
                                      </a:rPr>
                                    </m:ctrlPr>
                                  </m:sSupPr>
                                  <m:e>
                                    <m:r>
                                      <m:rPr>
                                        <m:sty m:val="p"/>
                                      </m:rPr>
                                      <a:rPr lang="en-US" sz="1850">
                                        <a:latin typeface="Cambria Math" panose="02040503050406030204" pitchFamily="18" charset="0"/>
                                      </a:rPr>
                                      <m:t>vec</m:t>
                                    </m:r>
                                  </m:e>
                                  <m:sup>
                                    <m:r>
                                      <a:rPr lang="en-US" sz="1850" i="1">
                                        <a:latin typeface="Cambria Math" panose="02040503050406030204" pitchFamily="18" charset="0"/>
                                      </a:rPr>
                                      <m:t>−1</m:t>
                                    </m:r>
                                  </m:sup>
                                </m:sSup>
                                <m:d>
                                  <m:dPr>
                                    <m:ctrlPr>
                                      <a:rPr lang="en-US" sz="1850" i="1">
                                        <a:latin typeface="Cambria Math" panose="02040503050406030204" pitchFamily="18" charset="0"/>
                                      </a:rPr>
                                    </m:ctrlPr>
                                  </m:dPr>
                                  <m:e>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i="1">
                                                    <a:latin typeface="Cambria Math" panose="02040503050406030204" pitchFamily="18" charset="0"/>
                                                  </a:rPr>
                                                  <m:t>𝑉</m:t>
                                                </m:r>
                                              </m:e>
                                              <m:sub>
                                                <m:r>
                                                  <a:rPr lang="en-US" sz="1850" i="1">
                                                    <a:latin typeface="Cambria Math" panose="02040503050406030204" pitchFamily="18" charset="0"/>
                                                  </a:rPr>
                                                  <m:t>𝑘</m:t>
                                                </m:r>
                                                <m:r>
                                                  <a:rPr lang="en-US" sz="1850" i="1">
                                                    <a:latin typeface="Cambria Math" panose="02040503050406030204" pitchFamily="18" charset="0"/>
                                                  </a:rPr>
                                                  <m:t>+1</m:t>
                                                </m:r>
                                              </m:sub>
                                              <m:sup>
                                                <m:r>
                                                  <a:rPr lang="en-US" sz="1850" i="1">
                                                    <a:latin typeface="Cambria Math" panose="02040503050406030204" pitchFamily="18" charset="0"/>
                                                  </a:rPr>
                                                  <m:t>𝑇</m:t>
                                                </m:r>
                                              </m:sup>
                                            </m:sSubSup>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i="1">
                                                    <a:latin typeface="Cambria Math" panose="02040503050406030204" pitchFamily="18" charset="0"/>
                                                  </a:rPr>
                                                  <m:t>𝑈</m:t>
                                                </m:r>
                                              </m:e>
                                              <m:sub>
                                                <m:r>
                                                  <a:rPr lang="en-US" sz="1850" i="1">
                                                    <a:latin typeface="Cambria Math" panose="02040503050406030204" pitchFamily="18" charset="0"/>
                                                  </a:rPr>
                                                  <m:t>𝑘</m:t>
                                                </m:r>
                                                <m:r>
                                                  <a:rPr lang="en-US" sz="1850" i="1">
                                                    <a:latin typeface="Cambria Math" panose="02040503050406030204" pitchFamily="18" charset="0"/>
                                                  </a:rPr>
                                                  <m:t>+1</m:t>
                                                </m:r>
                                              </m:sub>
                                            </m:sSub>
                                          </m:e>
                                        </m:d>
                                      </m:e>
                                      <m:sup>
                                        <m:r>
                                          <a:rPr lang="en-US" sz="1850" i="1">
                                            <a:latin typeface="Cambria Math" panose="02040503050406030204" pitchFamily="18" charset="0"/>
                                          </a:rPr>
                                          <m:t>𝑇</m:t>
                                        </m:r>
                                      </m:sup>
                                    </m:sSup>
                                    <m:r>
                                      <m:rPr>
                                        <m:sty m:val="p"/>
                                      </m:rPr>
                                      <a:rPr lang="en-US" sz="1850">
                                        <a:latin typeface="Cambria Math" panose="02040503050406030204" pitchFamily="18" charset="0"/>
                                      </a:rPr>
                                      <m:t>vec</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a:latin typeface="Cambria Math" panose="02040503050406030204" pitchFamily="18" charset="0"/>
                                              </a:rPr>
                                              <m:t>𝛻</m:t>
                                            </m:r>
                                          </m:e>
                                          <m:sub>
                                            <m:sSub>
                                              <m:sSubPr>
                                                <m:ctrlPr>
                                                  <a:rPr lang="en-US" sz="1850" i="1">
                                                    <a:latin typeface="Cambria Math" panose="02040503050406030204" pitchFamily="18" charset="0"/>
                                                  </a:rPr>
                                                </m:ctrlPr>
                                              </m:sSubPr>
                                              <m:e>
                                                <m:r>
                                                  <m:rPr>
                                                    <m:sty m:val="p"/>
                                                  </m:rPr>
                                                  <a:rPr lang="en-US" sz="1850">
                                                    <a:latin typeface="Cambria Math" panose="02040503050406030204" pitchFamily="18" charset="0"/>
                                                  </a:rPr>
                                                  <m:t>Θ</m:t>
                                                </m:r>
                                              </m:e>
                                              <m:sub>
                                                <m:r>
                                                  <a:rPr lang="en-US" sz="1850" i="1">
                                                    <a:latin typeface="Cambria Math" panose="02040503050406030204" pitchFamily="18" charset="0"/>
                                                  </a:rPr>
                                                  <m:t>𝑘</m:t>
                                                </m:r>
                                                <m:r>
                                                  <a:rPr lang="en-US" sz="1850" i="1">
                                                    <a:latin typeface="Cambria Math" panose="02040503050406030204" pitchFamily="18" charset="0"/>
                                                  </a:rPr>
                                                  <m:t>+1</m:t>
                                                </m:r>
                                              </m:sub>
                                            </m:sSub>
                                          </m:sub>
                                        </m:sSub>
                                        <m:r>
                                          <a:rPr lang="en-US" sz="1850" i="1">
                                            <a:latin typeface="Cambria Math" panose="02040503050406030204" pitchFamily="18" charset="0"/>
                                          </a:rPr>
                                          <m:t>𝑙</m:t>
                                        </m:r>
                                      </m:e>
                                    </m:d>
                                  </m:e>
                                </m:d>
                              </m:e>
                            </m:d>
                          </m:e>
                        </m:mr>
                        <m:mr>
                          <m:e>
                            <m:sSub>
                              <m:sSubPr>
                                <m:ctrlPr>
                                  <a:rPr lang="en-US" sz="1850" i="1">
                                    <a:latin typeface="Cambria Math" panose="02040503050406030204" pitchFamily="18" charset="0"/>
                                  </a:rPr>
                                </m:ctrlPr>
                              </m:sSubPr>
                              <m:e>
                                <m:r>
                                  <a:rPr lang="en-US" sz="1850">
                                    <a:latin typeface="Cambria Math" panose="02040503050406030204" pitchFamily="18" charset="0"/>
                                  </a:rPr>
                                  <m:t>𝛻</m:t>
                                </m:r>
                              </m:e>
                              <m:sub>
                                <m:sSub>
                                  <m:sSubPr>
                                    <m:ctrlPr>
                                      <a:rPr lang="en-US" sz="1850" i="1">
                                        <a:latin typeface="Cambria Math" panose="02040503050406030204" pitchFamily="18" charset="0"/>
                                      </a:rPr>
                                    </m:ctrlPr>
                                  </m:sSubPr>
                                  <m:e>
                                    <m:r>
                                      <m:rPr>
                                        <m:sty m:val="p"/>
                                      </m:rPr>
                                      <a:rPr lang="en-US" sz="1850">
                                        <a:latin typeface="Cambria Math" panose="02040503050406030204" pitchFamily="18" charset="0"/>
                                      </a:rPr>
                                      <m:t>Θ</m:t>
                                    </m:r>
                                  </m:e>
                                  <m:sub>
                                    <m:r>
                                      <a:rPr lang="en-US" sz="1850" i="1">
                                        <a:latin typeface="Cambria Math" panose="02040503050406030204" pitchFamily="18" charset="0"/>
                                      </a:rPr>
                                      <m:t>𝐾</m:t>
                                    </m:r>
                                  </m:sub>
                                </m:sSub>
                              </m:sub>
                            </m:sSub>
                            <m:r>
                              <a:rPr lang="en-US" sz="1850" i="1">
                                <a:latin typeface="Cambria Math" panose="02040503050406030204" pitchFamily="18" charset="0"/>
                              </a:rPr>
                              <m:t>𝑙</m:t>
                            </m:r>
                            <m:r>
                              <a:rPr lang="en-US" sz="1850" i="1">
                                <a:latin typeface="Cambria Math" panose="02040503050406030204" pitchFamily="18" charset="0"/>
                              </a:rPr>
                              <m:t>=</m:t>
                            </m:r>
                            <m:d>
                              <m:dPr>
                                <m:begChr m:val="{"/>
                                <m:endChr m:val="}"/>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i="1">
                                        <a:latin typeface="Cambria Math" panose="02040503050406030204" pitchFamily="18" charset="0"/>
                                      </a:rPr>
                                      <m:t>𝑓</m:t>
                                    </m:r>
                                  </m:e>
                                  <m:sub>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sub>
                                  <m:sup>
                                    <m:r>
                                      <a:rPr lang="en-US" sz="1850" i="1">
                                        <a:latin typeface="Cambria Math" panose="02040503050406030204" pitchFamily="18" charset="0"/>
                                      </a:rPr>
                                      <m:t>′</m:t>
                                    </m:r>
                                  </m:sup>
                                </m:sSubSup>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acc>
                                          <m:accPr>
                                            <m:chr m:val="̂"/>
                                            <m:ctrlPr>
                                              <a:rPr lang="en-US" sz="1850" i="1">
                                                <a:latin typeface="Cambria Math" panose="02040503050406030204" pitchFamily="18" charset="0"/>
                                              </a:rPr>
                                            </m:ctrlPr>
                                          </m:accPr>
                                          <m:e>
                                            <m:r>
                                              <a:rPr lang="en-US" sz="1850" b="1" i="1">
                                                <a:latin typeface="Cambria Math" panose="02040503050406030204" pitchFamily="18" charset="0"/>
                                              </a:rPr>
                                              <m:t>𝑿</m:t>
                                            </m:r>
                                          </m:e>
                                        </m:acc>
                                      </m:e>
                                      <m:sub>
                                        <m:r>
                                          <a:rPr lang="en-US" sz="1850" i="1">
                                            <a:latin typeface="Cambria Math" panose="02040503050406030204" pitchFamily="18" charset="0"/>
                                          </a:rPr>
                                          <m:t>𝐾</m:t>
                                        </m:r>
                                        <m:r>
                                          <a:rPr lang="en-US" sz="1850" i="1">
                                            <a:latin typeface="Cambria Math" panose="02040503050406030204" pitchFamily="18" charset="0"/>
                                          </a:rPr>
                                          <m:t>−1</m:t>
                                        </m:r>
                                      </m:sub>
                                    </m:sSub>
                                  </m:e>
                                </m:d>
                              </m:e>
                            </m:d>
                            <m:r>
                              <a:rPr lang="en-US" sz="1850" i="1">
                                <a:latin typeface="Cambria Math" panose="02040503050406030204" pitchFamily="18" charset="0"/>
                              </a:rPr>
                              <m:t>⨀</m:t>
                            </m:r>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b="1" i="1">
                                        <a:latin typeface="Cambria Math" panose="02040503050406030204" pitchFamily="18" charset="0"/>
                                      </a:rPr>
                                      <m:t>𝑿</m:t>
                                    </m:r>
                                  </m:e>
                                  <m:sub>
                                    <m:r>
                                      <a:rPr lang="en-US" sz="1850" i="1">
                                        <a:latin typeface="Cambria Math" panose="02040503050406030204" pitchFamily="18" charset="0"/>
                                      </a:rPr>
                                      <m:t>𝐾</m:t>
                                    </m:r>
                                  </m:sub>
                                  <m:sup>
                                    <m:r>
                                      <a:rPr lang="en-US" sz="1850" i="1">
                                        <a:latin typeface="Cambria Math" panose="02040503050406030204" pitchFamily="18" charset="0"/>
                                      </a:rPr>
                                      <m:t>′</m:t>
                                    </m:r>
                                  </m:sup>
                                </m:sSubSup>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𝐾</m:t>
                                    </m:r>
                                  </m:sub>
                                </m:sSub>
                              </m:e>
                            </m:d>
                          </m:e>
                        </m:mr>
                      </m:m>
                    </m:oMath>
                  </m:oMathPara>
                </a14:m>
                <a:endParaRPr lang="en-US" sz="1850" dirty="0" smtClean="0"/>
              </a:p>
              <a:p>
                <a:pPr marL="0" indent="0">
                  <a:buNone/>
                </a:pPr>
                <a:r>
                  <a:rPr lang="en-US" sz="1850" dirty="0" smtClean="0"/>
                  <a:t>Note </a:t>
                </a:r>
                <a:r>
                  <a:rPr lang="en-US" sz="1850" dirty="0"/>
                  <a:t>that </a:t>
                </a:r>
                <a14:m>
                  <m:oMath xmlns:m="http://schemas.openxmlformats.org/officeDocument/2006/math">
                    <m:d>
                      <m:dPr>
                        <m:begChr m:val="{"/>
                        <m:endChr m:val="}"/>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i="1">
                                <a:latin typeface="Cambria Math" panose="02040503050406030204" pitchFamily="18" charset="0"/>
                              </a:rPr>
                              <m:t>𝑓</m:t>
                            </m:r>
                          </m:e>
                          <m:sub>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𝑘</m:t>
                                </m:r>
                              </m:sub>
                            </m:sSub>
                          </m:sub>
                          <m:sup>
                            <m:r>
                              <a:rPr lang="en-US" sz="1850" i="1">
                                <a:latin typeface="Cambria Math" panose="02040503050406030204" pitchFamily="18" charset="0"/>
                              </a:rPr>
                              <m:t>′</m:t>
                            </m:r>
                          </m:sup>
                        </m:sSubSup>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acc>
                                  <m:accPr>
                                    <m:chr m:val="̂"/>
                                    <m:ctrlPr>
                                      <a:rPr lang="en-US" sz="1850" i="1">
                                        <a:latin typeface="Cambria Math" panose="02040503050406030204" pitchFamily="18" charset="0"/>
                                      </a:rPr>
                                    </m:ctrlPr>
                                  </m:accPr>
                                  <m:e>
                                    <m:r>
                                      <a:rPr lang="en-US" sz="1850" b="1" i="1">
                                        <a:latin typeface="Cambria Math" panose="02040503050406030204" pitchFamily="18" charset="0"/>
                                      </a:rPr>
                                      <m:t>𝑿</m:t>
                                    </m:r>
                                  </m:e>
                                </m:acc>
                              </m:e>
                              <m:sub>
                                <m:r>
                                  <a:rPr lang="en-US" sz="1850" i="1">
                                    <a:latin typeface="Cambria Math" panose="02040503050406030204" pitchFamily="18" charset="0"/>
                                  </a:rPr>
                                  <m:t>𝑘</m:t>
                                </m:r>
                                <m:r>
                                  <a:rPr lang="en-US" sz="1850" i="1">
                                    <a:latin typeface="Cambria Math" panose="02040503050406030204" pitchFamily="18" charset="0"/>
                                  </a:rPr>
                                  <m:t>−1</m:t>
                                </m:r>
                              </m:sub>
                            </m:sSub>
                          </m:e>
                        </m:d>
                      </m:e>
                    </m:d>
                  </m:oMath>
                </a14:m>
                <a:r>
                  <a:rPr lang="en-US" sz="1850" dirty="0"/>
                  <a:t> is not the derivative of the activation function </a:t>
                </a:r>
                <a:r>
                  <a:rPr lang="en-US" sz="1850" i="1" dirty="0"/>
                  <a:t>f</a:t>
                </a:r>
                <a:r>
                  <a:rPr lang="en-US" sz="1850" dirty="0"/>
                  <a:t>(.) with respective to </a:t>
                </a:r>
                <a14:m>
                  <m:oMath xmlns:m="http://schemas.openxmlformats.org/officeDocument/2006/math">
                    <m:sSub>
                      <m:sSubPr>
                        <m:ctrlPr>
                          <a:rPr lang="en-US" sz="1850" i="1">
                            <a:latin typeface="Cambria Math" panose="02040503050406030204" pitchFamily="18" charset="0"/>
                          </a:rPr>
                        </m:ctrlPr>
                      </m:sSubPr>
                      <m:e>
                        <m:acc>
                          <m:accPr>
                            <m:chr m:val="̂"/>
                            <m:ctrlPr>
                              <a:rPr lang="en-US" sz="1850" i="1">
                                <a:latin typeface="Cambria Math" panose="02040503050406030204" pitchFamily="18" charset="0"/>
                              </a:rPr>
                            </m:ctrlPr>
                          </m:accPr>
                          <m:e>
                            <m:r>
                              <a:rPr lang="en-US" sz="1850" b="1" i="1">
                                <a:latin typeface="Cambria Math" panose="02040503050406030204" pitchFamily="18" charset="0"/>
                              </a:rPr>
                              <m:t>𝑿</m:t>
                            </m:r>
                          </m:e>
                        </m:acc>
                      </m:e>
                      <m:sub>
                        <m:r>
                          <a:rPr lang="en-US" sz="1850" i="1">
                            <a:latin typeface="Cambria Math" panose="02040503050406030204" pitchFamily="18" charset="0"/>
                          </a:rPr>
                          <m:t>𝑘</m:t>
                        </m:r>
                        <m:r>
                          <a:rPr lang="en-US" sz="1850" i="1">
                            <a:latin typeface="Cambria Math" panose="02040503050406030204" pitchFamily="18" charset="0"/>
                          </a:rPr>
                          <m:t>−1</m:t>
                        </m:r>
                      </m:sub>
                    </m:sSub>
                  </m:oMath>
                </a14:m>
                <a:r>
                  <a:rPr lang="en-US" sz="1850" dirty="0"/>
                  <a:t>, indeed, which is the matrix of taking derivatives of all elements of </a:t>
                </a:r>
                <a14:m>
                  <m:oMath xmlns:m="http://schemas.openxmlformats.org/officeDocument/2006/math">
                    <m:sSub>
                      <m:sSubPr>
                        <m:ctrlPr>
                          <a:rPr lang="en-US" sz="1850" i="1">
                            <a:latin typeface="Cambria Math" panose="02040503050406030204" pitchFamily="18" charset="0"/>
                          </a:rPr>
                        </m:ctrlPr>
                      </m:sSubPr>
                      <m:e>
                        <m:acc>
                          <m:accPr>
                            <m:chr m:val="̂"/>
                            <m:ctrlPr>
                              <a:rPr lang="en-US" sz="1850" i="1">
                                <a:latin typeface="Cambria Math" panose="02040503050406030204" pitchFamily="18" charset="0"/>
                              </a:rPr>
                            </m:ctrlPr>
                          </m:accPr>
                          <m:e>
                            <m:r>
                              <a:rPr lang="en-US" sz="1850" b="1" i="1">
                                <a:latin typeface="Cambria Math" panose="02040503050406030204" pitchFamily="18" charset="0"/>
                              </a:rPr>
                              <m:t>𝑿</m:t>
                            </m:r>
                          </m:e>
                        </m:acc>
                      </m:e>
                      <m:sub>
                        <m:r>
                          <a:rPr lang="en-US" sz="1850" i="1">
                            <a:latin typeface="Cambria Math" panose="02040503050406030204" pitchFamily="18" charset="0"/>
                          </a:rPr>
                          <m:t>𝑘</m:t>
                        </m:r>
                        <m:r>
                          <a:rPr lang="en-US" sz="1850" i="1">
                            <a:latin typeface="Cambria Math" panose="02040503050406030204" pitchFamily="18" charset="0"/>
                          </a:rPr>
                          <m:t>−1</m:t>
                        </m:r>
                      </m:sub>
                    </m:sSub>
                  </m:oMath>
                </a14:m>
                <a:r>
                  <a:rPr lang="en-US" sz="1850" dirty="0" smtClean="0"/>
                  <a:t>.</a:t>
                </a:r>
                <a:r>
                  <a:rPr lang="en-US" sz="1850" dirty="0"/>
                  <a:t> Moreover, </a:t>
                </a:r>
                <a:r>
                  <a:rPr lang="en-US" sz="1850" dirty="0" err="1"/>
                  <a:t>Kronecker</a:t>
                </a:r>
                <a:r>
                  <a:rPr lang="en-US" sz="1850" dirty="0"/>
                  <a:t> product </a:t>
                </a:r>
                <a14:m>
                  <m:oMath xmlns:m="http://schemas.openxmlformats.org/officeDocument/2006/math">
                    <m:r>
                      <a:rPr lang="en-US" sz="1850" i="1">
                        <a:latin typeface="Cambria Math" panose="02040503050406030204" pitchFamily="18" charset="0"/>
                      </a:rPr>
                      <m:t>⨂</m:t>
                    </m:r>
                  </m:oMath>
                </a14:m>
                <a:r>
                  <a:rPr lang="en-US" sz="1850" dirty="0"/>
                  <a:t> is easily optimized in calculation by programming technique.</a:t>
                </a:r>
                <a:endParaRPr lang="en-US" sz="1850" dirty="0" smtClean="0"/>
              </a:p>
              <a:p>
                <a:pPr marL="0" indent="0">
                  <a:buNone/>
                </a:pPr>
                <a14:m>
                  <m:oMathPara xmlns:m="http://schemas.openxmlformats.org/officeDocument/2006/math">
                    <m:oMathParaPr>
                      <m:jc m:val="centerGroup"/>
                    </m:oMathParaPr>
                    <m:oMath xmlns:m="http://schemas.openxmlformats.org/officeDocument/2006/math">
                      <m:d>
                        <m:dPr>
                          <m:begChr m:val="{"/>
                          <m:endChr m:val="}"/>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i="1">
                                  <a:latin typeface="Cambria Math" panose="02040503050406030204" pitchFamily="18" charset="0"/>
                                </a:rPr>
                                <m:t>𝑓</m:t>
                              </m:r>
                            </m:e>
                            <m:sub>
                              <m:sSub>
                                <m:sSubPr>
                                  <m:ctrlPr>
                                    <a:rPr lang="en-US" sz="1850" i="1">
                                      <a:latin typeface="Cambria Math" panose="02040503050406030204" pitchFamily="18" charset="0"/>
                                    </a:rPr>
                                  </m:ctrlPr>
                                </m:sSubPr>
                                <m:e>
                                  <m:r>
                                    <a:rPr lang="en-US" sz="1850" b="1" i="1">
                                      <a:latin typeface="Cambria Math" panose="02040503050406030204" pitchFamily="18" charset="0"/>
                                    </a:rPr>
                                    <m:t>𝑿</m:t>
                                  </m:r>
                                </m:e>
                                <m:sub>
                                  <m:r>
                                    <a:rPr lang="en-US" sz="1850" i="1">
                                      <a:latin typeface="Cambria Math" panose="02040503050406030204" pitchFamily="18" charset="0"/>
                                    </a:rPr>
                                    <m:t>𝑘</m:t>
                                  </m:r>
                                </m:sub>
                              </m:sSub>
                            </m:sub>
                            <m:sup>
                              <m:r>
                                <a:rPr lang="en-US" sz="1850" i="1">
                                  <a:latin typeface="Cambria Math" panose="02040503050406030204" pitchFamily="18" charset="0"/>
                                </a:rPr>
                                <m:t>′</m:t>
                              </m:r>
                            </m:sup>
                          </m:sSubSup>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acc>
                                    <m:accPr>
                                      <m:chr m:val="̂"/>
                                      <m:ctrlPr>
                                        <a:rPr lang="en-US" sz="1850" i="1">
                                          <a:latin typeface="Cambria Math" panose="02040503050406030204" pitchFamily="18" charset="0"/>
                                        </a:rPr>
                                      </m:ctrlPr>
                                    </m:accPr>
                                    <m:e>
                                      <m:r>
                                        <a:rPr lang="en-US" sz="1850" b="1" i="1">
                                          <a:latin typeface="Cambria Math" panose="02040503050406030204" pitchFamily="18" charset="0"/>
                                        </a:rPr>
                                        <m:t>𝑿</m:t>
                                      </m:r>
                                    </m:e>
                                  </m:acc>
                                </m:e>
                                <m:sub>
                                  <m:r>
                                    <a:rPr lang="en-US" sz="1850" i="1">
                                      <a:latin typeface="Cambria Math" panose="02040503050406030204" pitchFamily="18" charset="0"/>
                                    </a:rPr>
                                    <m:t>𝑘</m:t>
                                  </m:r>
                                  <m:r>
                                    <a:rPr lang="en-US" sz="1850" i="1">
                                      <a:latin typeface="Cambria Math" panose="02040503050406030204" pitchFamily="18" charset="0"/>
                                    </a:rPr>
                                    <m:t>−1</m:t>
                                  </m:r>
                                </m:sub>
                              </m:sSub>
                            </m:e>
                          </m:d>
                        </m:e>
                      </m:d>
                      <m:r>
                        <a:rPr lang="en-US" sz="1850" i="1">
                          <a:latin typeface="Cambria Math" panose="02040503050406030204" pitchFamily="18" charset="0"/>
                        </a:rPr>
                        <m:t>=</m:t>
                      </m:r>
                      <m:d>
                        <m:dPr>
                          <m:begChr m:val="{"/>
                          <m:endChr m:val="}"/>
                          <m:ctrlPr>
                            <a:rPr lang="en-US" sz="1850" i="1">
                              <a:latin typeface="Cambria Math" panose="02040503050406030204" pitchFamily="18" charset="0"/>
                            </a:rPr>
                          </m:ctrlPr>
                        </m:dPr>
                        <m:e>
                          <m:sSup>
                            <m:sSupPr>
                              <m:ctrlPr>
                                <a:rPr lang="en-US" sz="1850" i="1">
                                  <a:latin typeface="Cambria Math" panose="02040503050406030204" pitchFamily="18" charset="0"/>
                                </a:rPr>
                              </m:ctrlPr>
                            </m:sSupPr>
                            <m:e>
                              <m:r>
                                <a:rPr lang="en-US" sz="1850" i="1">
                                  <a:latin typeface="Cambria Math" panose="02040503050406030204" pitchFamily="18" charset="0"/>
                                </a:rPr>
                                <m:t>𝑓</m:t>
                              </m:r>
                            </m:e>
                            <m:sup>
                              <m:r>
                                <a:rPr lang="en-US" sz="1850" i="1">
                                  <a:latin typeface="Cambria Math" panose="02040503050406030204" pitchFamily="18" charset="0"/>
                                </a:rPr>
                                <m:t>′</m:t>
                              </m:r>
                            </m:sup>
                          </m:sSup>
                          <m:d>
                            <m:dPr>
                              <m:ctrlPr>
                                <a:rPr lang="en-US" sz="1850" i="1">
                                  <a:latin typeface="Cambria Math" panose="02040503050406030204" pitchFamily="18" charset="0"/>
                                </a:rPr>
                              </m:ctrlPr>
                            </m:dPr>
                            <m:e>
                              <m:acc>
                                <m:accPr>
                                  <m:chr m:val="̂"/>
                                  <m:ctrlPr>
                                    <a:rPr lang="en-US" sz="1850" i="1">
                                      <a:latin typeface="Cambria Math" panose="02040503050406030204" pitchFamily="18" charset="0"/>
                                    </a:rPr>
                                  </m:ctrlPr>
                                </m:accPr>
                                <m:e>
                                  <m:r>
                                    <a:rPr lang="en-US" sz="1850" b="1" i="1">
                                      <a:latin typeface="Cambria Math" panose="02040503050406030204" pitchFamily="18" charset="0"/>
                                    </a:rPr>
                                    <m:t>𝑿</m:t>
                                  </m:r>
                                </m:e>
                              </m:acc>
                            </m:e>
                          </m:d>
                        </m:e>
                      </m:d>
                      <m:r>
                        <a:rPr lang="en-US" sz="1850" i="1">
                          <a:latin typeface="Cambria Math" panose="02040503050406030204" pitchFamily="18" charset="0"/>
                        </a:rPr>
                        <m:t>=</m:t>
                      </m:r>
                      <m:d>
                        <m:dPr>
                          <m:ctrlPr>
                            <a:rPr lang="en-US" sz="1850" i="1">
                              <a:latin typeface="Cambria Math" panose="02040503050406030204" pitchFamily="18" charset="0"/>
                            </a:rPr>
                          </m:ctrlPr>
                        </m:dPr>
                        <m:e>
                          <m:m>
                            <m:mPr>
                              <m:mcs>
                                <m:mc>
                                  <m:mcPr>
                                    <m:count m:val="4"/>
                                    <m:mcJc m:val="center"/>
                                  </m:mcPr>
                                </m:mc>
                              </m:mcs>
                              <m:ctrlPr>
                                <a:rPr lang="en-US" sz="1850" i="1">
                                  <a:latin typeface="Cambria Math" panose="02040503050406030204" pitchFamily="18" charset="0"/>
                                </a:rPr>
                              </m:ctrlPr>
                            </m:mPr>
                            <m:mr>
                              <m:e>
                                <m:sSup>
                                  <m:sSupPr>
                                    <m:ctrlPr>
                                      <a:rPr lang="en-US" sz="1850" i="1">
                                        <a:latin typeface="Cambria Math" panose="02040503050406030204" pitchFamily="18" charset="0"/>
                                      </a:rPr>
                                    </m:ctrlPr>
                                  </m:sSupPr>
                                  <m:e>
                                    <m:r>
                                      <a:rPr lang="en-US" sz="1850" i="1">
                                        <a:latin typeface="Cambria Math" panose="02040503050406030204" pitchFamily="18" charset="0"/>
                                      </a:rPr>
                                      <m:t>𝑓</m:t>
                                    </m:r>
                                  </m:e>
                                  <m:sup>
                                    <m:r>
                                      <a:rPr lang="en-US" sz="1850" i="1">
                                        <a:latin typeface="Cambria Math" panose="02040503050406030204" pitchFamily="18" charset="0"/>
                                      </a:rPr>
                                      <m:t>′</m:t>
                                    </m:r>
                                  </m:sup>
                                </m:sSup>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acc>
                                          <m:accPr>
                                            <m:chr m:val="̂"/>
                                            <m:ctrlPr>
                                              <a:rPr lang="en-US" sz="1850" i="1">
                                                <a:latin typeface="Cambria Math" panose="02040503050406030204" pitchFamily="18" charset="0"/>
                                              </a:rPr>
                                            </m:ctrlPr>
                                          </m:accPr>
                                          <m:e>
                                            <m:r>
                                              <a:rPr lang="en-US" sz="1850" i="1">
                                                <a:latin typeface="Cambria Math" panose="02040503050406030204" pitchFamily="18" charset="0"/>
                                              </a:rPr>
                                              <m:t>𝑥</m:t>
                                            </m:r>
                                          </m:e>
                                        </m:acc>
                                      </m:e>
                                      <m:sub>
                                        <m:r>
                                          <a:rPr lang="en-US" sz="1850" i="1">
                                            <a:latin typeface="Cambria Math" panose="02040503050406030204" pitchFamily="18" charset="0"/>
                                          </a:rPr>
                                          <m:t>11</m:t>
                                        </m:r>
                                      </m:sub>
                                    </m:sSub>
                                  </m:e>
                                </m:d>
                              </m:e>
                              <m:e>
                                <m:sSup>
                                  <m:sSupPr>
                                    <m:ctrlPr>
                                      <a:rPr lang="en-US" sz="1850" i="1">
                                        <a:latin typeface="Cambria Math" panose="02040503050406030204" pitchFamily="18" charset="0"/>
                                      </a:rPr>
                                    </m:ctrlPr>
                                  </m:sSupPr>
                                  <m:e>
                                    <m:r>
                                      <a:rPr lang="en-US" sz="1850" i="1">
                                        <a:latin typeface="Cambria Math" panose="02040503050406030204" pitchFamily="18" charset="0"/>
                                      </a:rPr>
                                      <m:t>𝑓</m:t>
                                    </m:r>
                                  </m:e>
                                  <m:sup>
                                    <m:r>
                                      <a:rPr lang="en-US" sz="1850" i="1">
                                        <a:latin typeface="Cambria Math" panose="02040503050406030204" pitchFamily="18" charset="0"/>
                                      </a:rPr>
                                      <m:t>′</m:t>
                                    </m:r>
                                  </m:sup>
                                </m:sSup>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acc>
                                          <m:accPr>
                                            <m:chr m:val="̂"/>
                                            <m:ctrlPr>
                                              <a:rPr lang="en-US" sz="1850" i="1">
                                                <a:latin typeface="Cambria Math" panose="02040503050406030204" pitchFamily="18" charset="0"/>
                                              </a:rPr>
                                            </m:ctrlPr>
                                          </m:accPr>
                                          <m:e>
                                            <m:r>
                                              <a:rPr lang="en-US" sz="1850" i="1">
                                                <a:latin typeface="Cambria Math" panose="02040503050406030204" pitchFamily="18" charset="0"/>
                                              </a:rPr>
                                              <m:t>𝑥</m:t>
                                            </m:r>
                                          </m:e>
                                        </m:acc>
                                      </m:e>
                                      <m:sub>
                                        <m:r>
                                          <a:rPr lang="en-US" sz="1850" i="1">
                                            <a:latin typeface="Cambria Math" panose="02040503050406030204" pitchFamily="18" charset="0"/>
                                          </a:rPr>
                                          <m:t>12</m:t>
                                        </m:r>
                                      </m:sub>
                                    </m:sSub>
                                  </m:e>
                                </m:d>
                              </m:e>
                              <m:e>
                                <m:r>
                                  <a:rPr lang="en-US" sz="1850" i="1">
                                    <a:latin typeface="Cambria Math" panose="02040503050406030204" pitchFamily="18" charset="0"/>
                                  </a:rPr>
                                  <m:t>⋯</m:t>
                                </m:r>
                              </m:e>
                              <m:e>
                                <m:sSup>
                                  <m:sSupPr>
                                    <m:ctrlPr>
                                      <a:rPr lang="en-US" sz="1850" i="1">
                                        <a:latin typeface="Cambria Math" panose="02040503050406030204" pitchFamily="18" charset="0"/>
                                      </a:rPr>
                                    </m:ctrlPr>
                                  </m:sSupPr>
                                  <m:e>
                                    <m:r>
                                      <a:rPr lang="en-US" sz="1850" i="1">
                                        <a:latin typeface="Cambria Math" panose="02040503050406030204" pitchFamily="18" charset="0"/>
                                      </a:rPr>
                                      <m:t>𝑓</m:t>
                                    </m:r>
                                  </m:e>
                                  <m:sup>
                                    <m:r>
                                      <a:rPr lang="en-US" sz="1850" i="1">
                                        <a:latin typeface="Cambria Math" panose="02040503050406030204" pitchFamily="18" charset="0"/>
                                      </a:rPr>
                                      <m:t>′</m:t>
                                    </m:r>
                                  </m:sup>
                                </m:sSup>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i="1">
                                            <a:latin typeface="Cambria Math" panose="02040503050406030204" pitchFamily="18" charset="0"/>
                                          </a:rPr>
                                          <m:t>𝑥</m:t>
                                        </m:r>
                                      </m:e>
                                      <m:sub>
                                        <m:r>
                                          <a:rPr lang="en-US" sz="1850" i="1">
                                            <a:latin typeface="Cambria Math" panose="02040503050406030204" pitchFamily="18" charset="0"/>
                                          </a:rPr>
                                          <m:t>1</m:t>
                                        </m:r>
                                        <m:r>
                                          <a:rPr lang="en-US" sz="1850" i="1">
                                            <a:latin typeface="Cambria Math" panose="02040503050406030204" pitchFamily="18" charset="0"/>
                                          </a:rPr>
                                          <m:t>𝑛</m:t>
                                        </m:r>
                                      </m:sub>
                                      <m:sup>
                                        <m:r>
                                          <a:rPr lang="en-US" sz="1850" i="1">
                                            <a:latin typeface="Cambria Math" panose="02040503050406030204" pitchFamily="18" charset="0"/>
                                          </a:rPr>
                                          <m:t>′</m:t>
                                        </m:r>
                                      </m:sup>
                                    </m:sSubSup>
                                  </m:e>
                                </m:d>
                              </m:e>
                            </m:mr>
                            <m:mr>
                              <m:e>
                                <m:sSup>
                                  <m:sSupPr>
                                    <m:ctrlPr>
                                      <a:rPr lang="en-US" sz="1850" i="1">
                                        <a:latin typeface="Cambria Math" panose="02040503050406030204" pitchFamily="18" charset="0"/>
                                      </a:rPr>
                                    </m:ctrlPr>
                                  </m:sSupPr>
                                  <m:e>
                                    <m:r>
                                      <a:rPr lang="en-US" sz="1850" i="1">
                                        <a:latin typeface="Cambria Math" panose="02040503050406030204" pitchFamily="18" charset="0"/>
                                      </a:rPr>
                                      <m:t>𝑓</m:t>
                                    </m:r>
                                  </m:e>
                                  <m:sup>
                                    <m:r>
                                      <a:rPr lang="en-US" sz="1850" i="1">
                                        <a:latin typeface="Cambria Math" panose="02040503050406030204" pitchFamily="18" charset="0"/>
                                      </a:rPr>
                                      <m:t>′</m:t>
                                    </m:r>
                                  </m:sup>
                                </m:sSup>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i="1">
                                            <a:latin typeface="Cambria Math" panose="02040503050406030204" pitchFamily="18" charset="0"/>
                                          </a:rPr>
                                          <m:t>𝑥</m:t>
                                        </m:r>
                                      </m:e>
                                      <m:sub>
                                        <m:r>
                                          <a:rPr lang="en-US" sz="1850" i="1">
                                            <a:latin typeface="Cambria Math" panose="02040503050406030204" pitchFamily="18" charset="0"/>
                                          </a:rPr>
                                          <m:t>21</m:t>
                                        </m:r>
                                      </m:sub>
                                      <m:sup>
                                        <m:r>
                                          <a:rPr lang="en-US" sz="1850" i="1">
                                            <a:latin typeface="Cambria Math" panose="02040503050406030204" pitchFamily="18" charset="0"/>
                                          </a:rPr>
                                          <m:t>′</m:t>
                                        </m:r>
                                      </m:sup>
                                    </m:sSubSup>
                                  </m:e>
                                </m:d>
                              </m:e>
                              <m:e>
                                <m:sSup>
                                  <m:sSupPr>
                                    <m:ctrlPr>
                                      <a:rPr lang="en-US" sz="1850" i="1">
                                        <a:latin typeface="Cambria Math" panose="02040503050406030204" pitchFamily="18" charset="0"/>
                                      </a:rPr>
                                    </m:ctrlPr>
                                  </m:sSupPr>
                                  <m:e>
                                    <m:r>
                                      <a:rPr lang="en-US" sz="1850" i="1">
                                        <a:latin typeface="Cambria Math" panose="02040503050406030204" pitchFamily="18" charset="0"/>
                                      </a:rPr>
                                      <m:t>𝑓</m:t>
                                    </m:r>
                                  </m:e>
                                  <m:sup>
                                    <m:r>
                                      <a:rPr lang="en-US" sz="1850" i="1">
                                        <a:latin typeface="Cambria Math" panose="02040503050406030204" pitchFamily="18" charset="0"/>
                                      </a:rPr>
                                      <m:t>′</m:t>
                                    </m:r>
                                  </m:sup>
                                </m:sSup>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i="1">
                                            <a:latin typeface="Cambria Math" panose="02040503050406030204" pitchFamily="18" charset="0"/>
                                          </a:rPr>
                                          <m:t>𝑥</m:t>
                                        </m:r>
                                      </m:e>
                                      <m:sub>
                                        <m:r>
                                          <a:rPr lang="en-US" sz="1850" i="1">
                                            <a:latin typeface="Cambria Math" panose="02040503050406030204" pitchFamily="18" charset="0"/>
                                          </a:rPr>
                                          <m:t>22</m:t>
                                        </m:r>
                                      </m:sub>
                                      <m:sup>
                                        <m:r>
                                          <a:rPr lang="en-US" sz="1850" i="1">
                                            <a:latin typeface="Cambria Math" panose="02040503050406030204" pitchFamily="18" charset="0"/>
                                          </a:rPr>
                                          <m:t>′</m:t>
                                        </m:r>
                                      </m:sup>
                                    </m:sSubSup>
                                  </m:e>
                                </m:d>
                              </m:e>
                              <m:e>
                                <m:r>
                                  <a:rPr lang="en-US" sz="1850" i="1">
                                    <a:latin typeface="Cambria Math" panose="02040503050406030204" pitchFamily="18" charset="0"/>
                                  </a:rPr>
                                  <m:t>⋯</m:t>
                                </m:r>
                              </m:e>
                              <m:e>
                                <m:sSup>
                                  <m:sSupPr>
                                    <m:ctrlPr>
                                      <a:rPr lang="en-US" sz="1850" i="1">
                                        <a:latin typeface="Cambria Math" panose="02040503050406030204" pitchFamily="18" charset="0"/>
                                      </a:rPr>
                                    </m:ctrlPr>
                                  </m:sSupPr>
                                  <m:e>
                                    <m:r>
                                      <a:rPr lang="en-US" sz="1850" i="1">
                                        <a:latin typeface="Cambria Math" panose="02040503050406030204" pitchFamily="18" charset="0"/>
                                      </a:rPr>
                                      <m:t>𝑓</m:t>
                                    </m:r>
                                  </m:e>
                                  <m:sup>
                                    <m:r>
                                      <a:rPr lang="en-US" sz="1850" i="1">
                                        <a:latin typeface="Cambria Math" panose="02040503050406030204" pitchFamily="18" charset="0"/>
                                      </a:rPr>
                                      <m:t>′</m:t>
                                    </m:r>
                                  </m:sup>
                                </m:sSup>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i="1">
                                            <a:latin typeface="Cambria Math" panose="02040503050406030204" pitchFamily="18" charset="0"/>
                                          </a:rPr>
                                          <m:t>𝑥</m:t>
                                        </m:r>
                                      </m:e>
                                      <m:sub>
                                        <m:r>
                                          <a:rPr lang="en-US" sz="1850" i="1">
                                            <a:latin typeface="Cambria Math" panose="02040503050406030204" pitchFamily="18" charset="0"/>
                                          </a:rPr>
                                          <m:t>2</m:t>
                                        </m:r>
                                        <m:r>
                                          <a:rPr lang="en-US" sz="1850" i="1">
                                            <a:latin typeface="Cambria Math" panose="02040503050406030204" pitchFamily="18" charset="0"/>
                                          </a:rPr>
                                          <m:t>𝑛</m:t>
                                        </m:r>
                                      </m:sub>
                                      <m:sup>
                                        <m:r>
                                          <a:rPr lang="en-US" sz="1850" i="1">
                                            <a:latin typeface="Cambria Math" panose="02040503050406030204" pitchFamily="18" charset="0"/>
                                          </a:rPr>
                                          <m:t>′</m:t>
                                        </m:r>
                                      </m:sup>
                                    </m:sSubSup>
                                  </m:e>
                                </m:d>
                              </m:e>
                            </m:mr>
                            <m:mr>
                              <m:e>
                                <m:r>
                                  <a:rPr lang="en-US" sz="1850" i="1">
                                    <a:latin typeface="Cambria Math" panose="02040503050406030204" pitchFamily="18" charset="0"/>
                                  </a:rPr>
                                  <m:t>⋮</m:t>
                                </m:r>
                              </m:e>
                              <m:e>
                                <m:r>
                                  <a:rPr lang="en-US" sz="1850" i="1">
                                    <a:latin typeface="Cambria Math" panose="02040503050406030204" pitchFamily="18" charset="0"/>
                                  </a:rPr>
                                  <m:t>⋮</m:t>
                                </m:r>
                              </m:e>
                              <m:e>
                                <m:r>
                                  <a:rPr lang="en-US" sz="1850" i="1">
                                    <a:latin typeface="Cambria Math" panose="02040503050406030204" pitchFamily="18" charset="0"/>
                                  </a:rPr>
                                  <m:t>⋱</m:t>
                                </m:r>
                              </m:e>
                              <m:e>
                                <m:r>
                                  <a:rPr lang="en-US" sz="1850" i="1">
                                    <a:latin typeface="Cambria Math" panose="02040503050406030204" pitchFamily="18" charset="0"/>
                                  </a:rPr>
                                  <m:t>⋮</m:t>
                                </m:r>
                              </m:e>
                            </m:mr>
                            <m:mr>
                              <m:e>
                                <m:sSup>
                                  <m:sSupPr>
                                    <m:ctrlPr>
                                      <a:rPr lang="en-US" sz="1850" i="1">
                                        <a:latin typeface="Cambria Math" panose="02040503050406030204" pitchFamily="18" charset="0"/>
                                      </a:rPr>
                                    </m:ctrlPr>
                                  </m:sSupPr>
                                  <m:e>
                                    <m:r>
                                      <a:rPr lang="en-US" sz="1850" i="1">
                                        <a:latin typeface="Cambria Math" panose="02040503050406030204" pitchFamily="18" charset="0"/>
                                      </a:rPr>
                                      <m:t>𝑓</m:t>
                                    </m:r>
                                  </m:e>
                                  <m:sup>
                                    <m:r>
                                      <a:rPr lang="en-US" sz="1850" i="1">
                                        <a:latin typeface="Cambria Math" panose="02040503050406030204" pitchFamily="18" charset="0"/>
                                      </a:rPr>
                                      <m:t>′</m:t>
                                    </m:r>
                                  </m:sup>
                                </m:sSup>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i="1">
                                            <a:latin typeface="Cambria Math" panose="02040503050406030204" pitchFamily="18" charset="0"/>
                                          </a:rPr>
                                          <m:t>𝑥</m:t>
                                        </m:r>
                                      </m:e>
                                      <m:sub>
                                        <m:r>
                                          <a:rPr lang="en-US" sz="1850" i="1">
                                            <a:latin typeface="Cambria Math" panose="02040503050406030204" pitchFamily="18" charset="0"/>
                                          </a:rPr>
                                          <m:t>𝑚</m:t>
                                        </m:r>
                                        <m:r>
                                          <a:rPr lang="en-US" sz="1850" i="1">
                                            <a:latin typeface="Cambria Math" panose="02040503050406030204" pitchFamily="18" charset="0"/>
                                          </a:rPr>
                                          <m:t>1</m:t>
                                        </m:r>
                                      </m:sub>
                                      <m:sup>
                                        <m:r>
                                          <a:rPr lang="en-US" sz="1850" i="1">
                                            <a:latin typeface="Cambria Math" panose="02040503050406030204" pitchFamily="18" charset="0"/>
                                          </a:rPr>
                                          <m:t>′</m:t>
                                        </m:r>
                                      </m:sup>
                                    </m:sSubSup>
                                  </m:e>
                                </m:d>
                              </m:e>
                              <m:e>
                                <m:sSup>
                                  <m:sSupPr>
                                    <m:ctrlPr>
                                      <a:rPr lang="en-US" sz="1850" i="1">
                                        <a:latin typeface="Cambria Math" panose="02040503050406030204" pitchFamily="18" charset="0"/>
                                      </a:rPr>
                                    </m:ctrlPr>
                                  </m:sSupPr>
                                  <m:e>
                                    <m:r>
                                      <a:rPr lang="en-US" sz="1850" i="1">
                                        <a:latin typeface="Cambria Math" panose="02040503050406030204" pitchFamily="18" charset="0"/>
                                      </a:rPr>
                                      <m:t>𝑓</m:t>
                                    </m:r>
                                  </m:e>
                                  <m:sup>
                                    <m:r>
                                      <a:rPr lang="en-US" sz="1850" i="1">
                                        <a:latin typeface="Cambria Math" panose="02040503050406030204" pitchFamily="18" charset="0"/>
                                      </a:rPr>
                                      <m:t>′</m:t>
                                    </m:r>
                                  </m:sup>
                                </m:sSup>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i="1">
                                            <a:latin typeface="Cambria Math" panose="02040503050406030204" pitchFamily="18" charset="0"/>
                                          </a:rPr>
                                          <m:t>𝑥</m:t>
                                        </m:r>
                                      </m:e>
                                      <m:sub>
                                        <m:r>
                                          <a:rPr lang="en-US" sz="1850" i="1">
                                            <a:latin typeface="Cambria Math" panose="02040503050406030204" pitchFamily="18" charset="0"/>
                                          </a:rPr>
                                          <m:t>𝑚</m:t>
                                        </m:r>
                                        <m:r>
                                          <a:rPr lang="en-US" sz="1850" i="1">
                                            <a:latin typeface="Cambria Math" panose="02040503050406030204" pitchFamily="18" charset="0"/>
                                          </a:rPr>
                                          <m:t>2</m:t>
                                        </m:r>
                                      </m:sub>
                                      <m:sup>
                                        <m:r>
                                          <a:rPr lang="en-US" sz="1850" i="1">
                                            <a:latin typeface="Cambria Math" panose="02040503050406030204" pitchFamily="18" charset="0"/>
                                          </a:rPr>
                                          <m:t>′</m:t>
                                        </m:r>
                                      </m:sup>
                                    </m:sSubSup>
                                  </m:e>
                                </m:d>
                              </m:e>
                              <m:e>
                                <m:r>
                                  <a:rPr lang="en-US" sz="1850" i="1">
                                    <a:latin typeface="Cambria Math" panose="02040503050406030204" pitchFamily="18" charset="0"/>
                                  </a:rPr>
                                  <m:t>⋯</m:t>
                                </m:r>
                              </m:e>
                              <m:e>
                                <m:sSup>
                                  <m:sSupPr>
                                    <m:ctrlPr>
                                      <a:rPr lang="en-US" sz="1850" i="1">
                                        <a:latin typeface="Cambria Math" panose="02040503050406030204" pitchFamily="18" charset="0"/>
                                      </a:rPr>
                                    </m:ctrlPr>
                                  </m:sSupPr>
                                  <m:e>
                                    <m:r>
                                      <a:rPr lang="en-US" sz="1850" i="1">
                                        <a:latin typeface="Cambria Math" panose="02040503050406030204" pitchFamily="18" charset="0"/>
                                      </a:rPr>
                                      <m:t>𝑓</m:t>
                                    </m:r>
                                  </m:e>
                                  <m:sup>
                                    <m:r>
                                      <a:rPr lang="en-US" sz="1850" i="1">
                                        <a:latin typeface="Cambria Math" panose="02040503050406030204" pitchFamily="18" charset="0"/>
                                      </a:rPr>
                                      <m:t>′</m:t>
                                    </m:r>
                                  </m:sup>
                                </m:sSup>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i="1">
                                            <a:latin typeface="Cambria Math" panose="02040503050406030204" pitchFamily="18" charset="0"/>
                                          </a:rPr>
                                          <m:t>𝑥</m:t>
                                        </m:r>
                                      </m:e>
                                      <m:sub>
                                        <m:r>
                                          <a:rPr lang="en-US" sz="1850" i="1">
                                            <a:latin typeface="Cambria Math" panose="02040503050406030204" pitchFamily="18" charset="0"/>
                                          </a:rPr>
                                          <m:t>𝑚𝑛</m:t>
                                        </m:r>
                                      </m:sub>
                                      <m:sup>
                                        <m:r>
                                          <a:rPr lang="en-US" sz="1850" i="1">
                                            <a:latin typeface="Cambria Math" panose="02040503050406030204" pitchFamily="18" charset="0"/>
                                          </a:rPr>
                                          <m:t>′</m:t>
                                        </m:r>
                                      </m:sup>
                                    </m:sSubSup>
                                  </m:e>
                                </m:d>
                              </m:e>
                            </m:mr>
                          </m:m>
                        </m:e>
                      </m:d>
                    </m:oMath>
                  </m:oMathPara>
                </a14:m>
                <a:endParaRPr lang="en-US" sz="185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1120" y="914399"/>
                <a:ext cx="12049760" cy="5176066"/>
              </a:xfrm>
              <a:blipFill>
                <a:blip r:embed="rId2"/>
                <a:stretch>
                  <a:fillRect l="-455" t="-707" r="-709" b="-2120"/>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20</a:t>
            </a:fld>
            <a:endParaRPr lang="en-US"/>
          </a:p>
        </p:txBody>
      </p:sp>
    </p:spTree>
    <p:extLst>
      <p:ext uri="{BB962C8B-B14F-4D97-AF65-F5344CB8AC3E}">
        <p14:creationId xmlns:p14="http://schemas.microsoft.com/office/powerpoint/2010/main" val="203915089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network</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1120" y="914399"/>
                <a:ext cx="12049760" cy="5176066"/>
              </a:xfrm>
            </p:spPr>
            <p:txBody>
              <a:bodyPr>
                <a:noAutofit/>
              </a:bodyPr>
              <a:lstStyle/>
              <a:p>
                <a:pPr marL="0" indent="0">
                  <a:buNone/>
                </a:pPr>
                <a:r>
                  <a:rPr lang="en-US" sz="2000" dirty="0" smtClean="0"/>
                  <a:t>The gradient </a:t>
                </a:r>
                <a14:m>
                  <m:oMath xmlns:m="http://schemas.openxmlformats.org/officeDocument/2006/math">
                    <m:sSub>
                      <m:sSubPr>
                        <m:ctrlPr>
                          <a:rPr lang="en-US" sz="2000" i="1">
                            <a:latin typeface="Cambria Math" panose="02040503050406030204" pitchFamily="18" charset="0"/>
                          </a:rPr>
                        </m:ctrlPr>
                      </m:sSubPr>
                      <m:e>
                        <m:r>
                          <a:rPr lang="en-US" sz="2000">
                            <a:latin typeface="Cambria Math" panose="02040503050406030204" pitchFamily="18" charset="0"/>
                          </a:rPr>
                          <m:t>𝛻</m:t>
                        </m:r>
                      </m:e>
                      <m:sub>
                        <m:sSub>
                          <m:sSubPr>
                            <m:ctrlPr>
                              <a:rPr lang="en-US" sz="2000" i="1">
                                <a:latin typeface="Cambria Math" panose="02040503050406030204" pitchFamily="18" charset="0"/>
                              </a:rPr>
                            </m:ctrlPr>
                          </m:sSubPr>
                          <m:e>
                            <m:r>
                              <m:rPr>
                                <m:sty m:val="p"/>
                              </m:rPr>
                              <a:rPr lang="en-US" sz="2000">
                                <a:latin typeface="Cambria Math" panose="02040503050406030204" pitchFamily="18" charset="0"/>
                              </a:rPr>
                              <m:t>Θ</m:t>
                            </m:r>
                          </m:e>
                          <m:sub>
                            <m:r>
                              <a:rPr lang="en-US" sz="2000" i="1">
                                <a:latin typeface="Cambria Math" panose="02040503050406030204" pitchFamily="18" charset="0"/>
                              </a:rPr>
                              <m:t>𝑘</m:t>
                            </m:r>
                          </m:sub>
                        </m:sSub>
                      </m:sub>
                    </m:sSub>
                    <m:r>
                      <m:rPr>
                        <m:sty m:val="p"/>
                      </m:rPr>
                      <a:rPr lang="en-US" sz="2000">
                        <a:latin typeface="Cambria Math" panose="02040503050406030204" pitchFamily="18" charset="0"/>
                      </a:rPr>
                      <m:t>vec</m:t>
                    </m:r>
                    <m:d>
                      <m:dPr>
                        <m:ctrlPr>
                          <a:rPr lang="en-US" sz="2000" i="1">
                            <a:latin typeface="Cambria Math" panose="02040503050406030204" pitchFamily="18" charset="0"/>
                          </a:rPr>
                        </m:ctrlPr>
                      </m:dPr>
                      <m:e>
                        <m:r>
                          <a:rPr lang="en-US" sz="2000" i="1">
                            <a:latin typeface="Cambria Math" panose="02040503050406030204" pitchFamily="18" charset="0"/>
                          </a:rPr>
                          <m:t>𝑙</m:t>
                        </m:r>
                      </m:e>
                    </m:d>
                  </m:oMath>
                </a14:m>
                <a:r>
                  <a:rPr lang="en-US" sz="2000" dirty="0"/>
                  <a:t> of the bias </a:t>
                </a:r>
                <a:r>
                  <a:rPr lang="en-US" sz="2000" dirty="0" err="1"/>
                  <a:t>Θ</a:t>
                </a:r>
                <a:r>
                  <a:rPr lang="en-US" sz="2000" i="1" baseline="-25000" dirty="0" err="1"/>
                  <a:t>k</a:t>
                </a:r>
                <a:r>
                  <a:rPr lang="en-US" sz="2000" dirty="0"/>
                  <a:t> at the layer </a:t>
                </a:r>
                <a:r>
                  <a:rPr lang="en-US" sz="2000" b="1" i="1" dirty="0" err="1"/>
                  <a:t>X</a:t>
                </a:r>
                <a:r>
                  <a:rPr lang="en-US" sz="2000" i="1" baseline="-25000" dirty="0" err="1"/>
                  <a:t>k</a:t>
                </a:r>
                <a:r>
                  <a:rPr lang="en-US" sz="2000" dirty="0"/>
                  <a:t> is called the </a:t>
                </a:r>
                <a:r>
                  <a:rPr lang="en-US" sz="2000" i="1" dirty="0"/>
                  <a:t>k</a:t>
                </a:r>
                <a:r>
                  <a:rPr lang="en-US" sz="2000" baseline="30000" dirty="0"/>
                  <a:t>th</a:t>
                </a:r>
                <a:r>
                  <a:rPr lang="en-US" sz="2000" dirty="0"/>
                  <a:t> bias is extended as follows</a:t>
                </a:r>
                <a:r>
                  <a:rPr lang="en-US" sz="2000" dirty="0" smtClean="0"/>
                  <a:t>:</a:t>
                </a:r>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sSub>
                            <m:sSubPr>
                              <m:ctrlPr>
                                <a:rPr lang="en-US" sz="2000" i="1">
                                  <a:latin typeface="Cambria Math" panose="02040503050406030204" pitchFamily="18" charset="0"/>
                                </a:rPr>
                              </m:ctrlPr>
                            </m:sSubPr>
                            <m:e>
                              <m:r>
                                <a:rPr lang="en-US" sz="2000" b="1" i="1">
                                  <a:latin typeface="Cambria Math" panose="02040503050406030204" pitchFamily="18" charset="0"/>
                                </a:rPr>
                                <m:t>𝑿</m:t>
                              </m:r>
                            </m:e>
                            <m:sub>
                              <m:r>
                                <a:rPr lang="en-US" sz="2000" i="1">
                                  <a:latin typeface="Cambria Math" panose="02040503050406030204" pitchFamily="18" charset="0"/>
                                </a:rPr>
                                <m:t>𝑘</m:t>
                              </m:r>
                            </m:sub>
                          </m:sSub>
                        </m:sub>
                      </m:sSub>
                      <m:d>
                        <m:dPr>
                          <m:ctrlPr>
                            <a:rPr lang="en-US" sz="2000" i="1">
                              <a:latin typeface="Cambria Math" panose="02040503050406030204" pitchFamily="18" charset="0"/>
                            </a:rPr>
                          </m:ctrlPr>
                        </m:dPr>
                        <m:e>
                          <m:r>
                            <m:rPr>
                              <m:sty m:val="p"/>
                            </m:rPr>
                            <a:rPr lang="en-US" sz="2000">
                              <a:latin typeface="Cambria Math" panose="02040503050406030204" pitchFamily="18" charset="0"/>
                            </a:rPr>
                            <m:t>vec</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1" i="1">
                                      <a:latin typeface="Cambria Math" panose="02040503050406030204" pitchFamily="18" charset="0"/>
                                    </a:rPr>
                                    <m:t>𝑿</m:t>
                                  </m:r>
                                </m:e>
                                <m:sub>
                                  <m:r>
                                    <a:rPr lang="en-US" sz="2000" i="1">
                                      <a:latin typeface="Cambria Math" panose="02040503050406030204" pitchFamily="18" charset="0"/>
                                    </a:rPr>
                                    <m:t>𝑘</m:t>
                                  </m:r>
                                </m:sub>
                              </m:sSub>
                            </m:e>
                          </m:d>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a:latin typeface="Cambria Math" panose="02040503050406030204" pitchFamily="18" charset="0"/>
                            </a:rPr>
                            <m:t>𝛻</m:t>
                          </m:r>
                        </m:e>
                        <m:sub>
                          <m:sSub>
                            <m:sSubPr>
                              <m:ctrlPr>
                                <a:rPr lang="en-US" sz="2000" i="1">
                                  <a:latin typeface="Cambria Math" panose="02040503050406030204" pitchFamily="18" charset="0"/>
                                </a:rPr>
                              </m:ctrlPr>
                            </m:sSubPr>
                            <m:e>
                              <m:r>
                                <m:rPr>
                                  <m:sty m:val="p"/>
                                </m:rPr>
                                <a:rPr lang="en-US" sz="2000">
                                  <a:latin typeface="Cambria Math" panose="02040503050406030204" pitchFamily="18" charset="0"/>
                                </a:rPr>
                                <m:t>Θ</m:t>
                              </m:r>
                            </m:e>
                            <m:sub>
                              <m:r>
                                <a:rPr lang="en-US" sz="2000" i="1">
                                  <a:latin typeface="Cambria Math" panose="02040503050406030204" pitchFamily="18" charset="0"/>
                                </a:rPr>
                                <m:t>𝑘</m:t>
                              </m:r>
                            </m:sub>
                          </m:sSub>
                        </m:sub>
                      </m:sSub>
                      <m:r>
                        <m:rPr>
                          <m:sty m:val="p"/>
                        </m:rPr>
                        <a:rPr lang="en-US" sz="2000">
                          <a:latin typeface="Cambria Math" panose="02040503050406030204" pitchFamily="18" charset="0"/>
                        </a:rPr>
                        <m:t>vec</m:t>
                      </m:r>
                      <m:d>
                        <m:dPr>
                          <m:ctrlPr>
                            <a:rPr lang="en-US" sz="2000" i="1">
                              <a:latin typeface="Cambria Math" panose="02040503050406030204" pitchFamily="18" charset="0"/>
                            </a:rPr>
                          </m:ctrlPr>
                        </m:dPr>
                        <m:e>
                          <m:r>
                            <a:rPr lang="en-US" sz="2000" i="1">
                              <a:latin typeface="Cambria Math" panose="02040503050406030204" pitchFamily="18" charset="0"/>
                            </a:rPr>
                            <m:t>𝑙</m:t>
                          </m:r>
                        </m:e>
                      </m:d>
                      <m:r>
                        <a:rPr lang="en-US" sz="2000" i="1">
                          <a:latin typeface="Cambria Math" panose="02040503050406030204" pitchFamily="18" charset="0"/>
                        </a:rPr>
                        <m:t>=</m:t>
                      </m:r>
                      <m:d>
                        <m:dPr>
                          <m:ctrlPr>
                            <a:rPr lang="en-US" sz="2000" i="1">
                              <a:latin typeface="Cambria Math" panose="02040503050406030204" pitchFamily="18" charset="0"/>
                            </a:rPr>
                          </m:ctrlPr>
                        </m:dPr>
                        <m:e>
                          <m:nary>
                            <m:naryPr>
                              <m:chr m:val="∏"/>
                              <m:limLoc m:val="undOvr"/>
                              <m:ctrlPr>
                                <a:rPr lang="en-US" sz="2000" i="1">
                                  <a:latin typeface="Cambria Math" panose="02040503050406030204" pitchFamily="18" charset="0"/>
                                </a:rPr>
                              </m:ctrlPr>
                            </m:naryPr>
                            <m:sub>
                              <m:r>
                                <a:rPr lang="en-US" sz="2000" i="1">
                                  <a:latin typeface="Cambria Math" panose="02040503050406030204" pitchFamily="18" charset="0"/>
                                </a:rPr>
                                <m:t>𝑙</m:t>
                              </m:r>
                              <m:r>
                                <a:rPr lang="en-US" sz="2000" i="1">
                                  <a:latin typeface="Cambria Math" panose="02040503050406030204" pitchFamily="18" charset="0"/>
                                </a:rPr>
                                <m:t>=</m:t>
                              </m:r>
                              <m:r>
                                <a:rPr lang="en-US" sz="2000" i="1">
                                  <a:latin typeface="Cambria Math" panose="02040503050406030204" pitchFamily="18" charset="0"/>
                                </a:rPr>
                                <m:t>𝑘</m:t>
                              </m:r>
                            </m:sub>
                            <m:sup>
                              <m:r>
                                <a:rPr lang="en-US" sz="2000" i="1">
                                  <a:latin typeface="Cambria Math" panose="02040503050406030204" pitchFamily="18" charset="0"/>
                                </a:rPr>
                                <m:t>𝐾</m:t>
                              </m:r>
                              <m:r>
                                <a:rPr lang="en-US" sz="2000" i="1">
                                  <a:latin typeface="Cambria Math" panose="02040503050406030204" pitchFamily="18" charset="0"/>
                                </a:rPr>
                                <m:t>−1</m:t>
                              </m:r>
                            </m:sup>
                            <m:e>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i="1">
                                              <a:latin typeface="Cambria Math" panose="02040503050406030204" pitchFamily="18" charset="0"/>
                                            </a:rPr>
                                            <m:t>𝑓</m:t>
                                          </m:r>
                                        </m:e>
                                        <m:sub>
                                          <m:sSub>
                                            <m:sSubPr>
                                              <m:ctrlPr>
                                                <a:rPr lang="en-US" sz="2000" i="1">
                                                  <a:latin typeface="Cambria Math" panose="02040503050406030204" pitchFamily="18" charset="0"/>
                                                </a:rPr>
                                              </m:ctrlPr>
                                            </m:sSubPr>
                                            <m:e>
                                              <m:r>
                                                <a:rPr lang="en-US" sz="2000" b="1" i="1">
                                                  <a:latin typeface="Cambria Math" panose="02040503050406030204" pitchFamily="18" charset="0"/>
                                                </a:rPr>
                                                <m:t>𝑿</m:t>
                                              </m:r>
                                            </m:e>
                                            <m:sub>
                                              <m:r>
                                                <a:rPr lang="en-US" sz="2000" i="1">
                                                  <a:latin typeface="Cambria Math" panose="02040503050406030204" pitchFamily="18" charset="0"/>
                                                </a:rPr>
                                                <m:t>𝑙</m:t>
                                              </m:r>
                                            </m:sub>
                                          </m:sSub>
                                        </m:sub>
                                        <m:sup>
                                          <m:r>
                                            <a:rPr lang="en-US" sz="2000" i="1">
                                              <a:latin typeface="Cambria Math" panose="02040503050406030204" pitchFamily="18" charset="0"/>
                                            </a:rPr>
                                            <m:t>′</m:t>
                                          </m:r>
                                        </m:sup>
                                      </m:sSubSup>
                                      <m:d>
                                        <m:dPr>
                                          <m:ctrlPr>
                                            <a:rPr lang="en-US" sz="2000" i="1">
                                              <a:latin typeface="Cambria Math" panose="02040503050406030204" pitchFamily="18" charset="0"/>
                                            </a:rPr>
                                          </m:ctrlPr>
                                        </m:dPr>
                                        <m:e>
                                          <m:r>
                                            <m:rPr>
                                              <m:sty m:val="p"/>
                                            </m:rPr>
                                            <a:rPr lang="en-US" sz="2000">
                                              <a:latin typeface="Cambria Math" panose="02040503050406030204" pitchFamily="18" charset="0"/>
                                            </a:rPr>
                                            <m:t>vec</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b="1" i="1">
                                                          <a:latin typeface="Cambria Math" panose="02040503050406030204" pitchFamily="18" charset="0"/>
                                                        </a:rPr>
                                                        <m:t>𝑿</m:t>
                                                      </m:r>
                                                    </m:e>
                                                  </m:acc>
                                                </m:e>
                                                <m:sub>
                                                  <m:r>
                                                    <a:rPr lang="en-US" sz="2000" i="1">
                                                      <a:latin typeface="Cambria Math" panose="02040503050406030204" pitchFamily="18" charset="0"/>
                                                    </a:rPr>
                                                    <m:t>𝑙</m:t>
                                                  </m:r>
                                                  <m:r>
                                                    <a:rPr lang="en-US" sz="2000" i="1">
                                                      <a:latin typeface="Cambria Math" panose="02040503050406030204" pitchFamily="18" charset="0"/>
                                                    </a:rPr>
                                                    <m:t>−1</m:t>
                                                  </m:r>
                                                </m:sub>
                                              </m:sSub>
                                            </m:e>
                                          </m:d>
                                        </m:e>
                                      </m:d>
                                    </m:e>
                                  </m:d>
                                </m:e>
                                <m:sup>
                                  <m:r>
                                    <a:rPr lang="en-US" sz="2000" i="1">
                                      <a:latin typeface="Cambria Math" panose="02040503050406030204" pitchFamily="18" charset="0"/>
                                    </a:rPr>
                                    <m:t>𝑇</m:t>
                                  </m:r>
                                </m:sup>
                              </m:sSup>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i="1">
                                              <a:latin typeface="Cambria Math" panose="02040503050406030204" pitchFamily="18" charset="0"/>
                                            </a:rPr>
                                            <m:t>𝑙</m:t>
                                          </m:r>
                                          <m:r>
                                            <a:rPr lang="en-US" sz="2000" i="1">
                                              <a:latin typeface="Cambria Math" panose="02040503050406030204" pitchFamily="18" charset="0"/>
                                            </a:rPr>
                                            <m:t>+1</m:t>
                                          </m:r>
                                        </m:sub>
                                        <m:sup>
                                          <m:r>
                                            <a:rPr lang="en-US" sz="2000" i="1">
                                              <a:latin typeface="Cambria Math" panose="02040503050406030204" pitchFamily="18" charset="0"/>
                                            </a:rPr>
                                            <m:t>𝑇</m:t>
                                          </m:r>
                                        </m:sup>
                                      </m:sSubSup>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𝑈</m:t>
                                          </m:r>
                                        </m:e>
                                        <m:sub>
                                          <m:r>
                                            <a:rPr lang="en-US" sz="2000" i="1">
                                              <a:latin typeface="Cambria Math" panose="02040503050406030204" pitchFamily="18" charset="0"/>
                                            </a:rPr>
                                            <m:t>𝑙</m:t>
                                          </m:r>
                                          <m:r>
                                            <a:rPr lang="en-US" sz="2000" i="1">
                                              <a:latin typeface="Cambria Math" panose="02040503050406030204" pitchFamily="18" charset="0"/>
                                            </a:rPr>
                                            <m:t>+1</m:t>
                                          </m:r>
                                        </m:sub>
                                      </m:sSub>
                                    </m:e>
                                  </m:d>
                                </m:e>
                                <m:sup>
                                  <m:r>
                                    <a:rPr lang="en-US" sz="2000" i="1">
                                      <a:latin typeface="Cambria Math" panose="02040503050406030204" pitchFamily="18" charset="0"/>
                                    </a:rPr>
                                    <m:t>𝑇</m:t>
                                  </m:r>
                                </m:sup>
                              </m:sSup>
                            </m:e>
                          </m:nary>
                        </m:e>
                      </m:d>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i="1">
                                      <a:latin typeface="Cambria Math" panose="02040503050406030204" pitchFamily="18" charset="0"/>
                                    </a:rPr>
                                    <m:t>𝑓</m:t>
                                  </m:r>
                                </m:e>
                                <m:sub>
                                  <m:sSub>
                                    <m:sSubPr>
                                      <m:ctrlPr>
                                        <a:rPr lang="en-US" sz="2000" i="1">
                                          <a:latin typeface="Cambria Math" panose="02040503050406030204" pitchFamily="18" charset="0"/>
                                        </a:rPr>
                                      </m:ctrlPr>
                                    </m:sSubPr>
                                    <m:e>
                                      <m:r>
                                        <a:rPr lang="en-US" sz="2000" b="1" i="1">
                                          <a:latin typeface="Cambria Math" panose="02040503050406030204" pitchFamily="18" charset="0"/>
                                        </a:rPr>
                                        <m:t>𝑿</m:t>
                                      </m:r>
                                    </m:e>
                                    <m:sub>
                                      <m:r>
                                        <a:rPr lang="en-US" sz="2000" i="1">
                                          <a:latin typeface="Cambria Math" panose="02040503050406030204" pitchFamily="18" charset="0"/>
                                        </a:rPr>
                                        <m:t>𝐾</m:t>
                                      </m:r>
                                    </m:sub>
                                  </m:sSub>
                                </m:sub>
                                <m:sup>
                                  <m:r>
                                    <a:rPr lang="en-US" sz="2000" i="1">
                                      <a:latin typeface="Cambria Math" panose="02040503050406030204" pitchFamily="18" charset="0"/>
                                    </a:rPr>
                                    <m:t>′</m:t>
                                  </m:r>
                                </m:sup>
                              </m:sSubSup>
                              <m:d>
                                <m:dPr>
                                  <m:ctrlPr>
                                    <a:rPr lang="en-US" sz="2000" i="1">
                                      <a:latin typeface="Cambria Math" panose="02040503050406030204" pitchFamily="18" charset="0"/>
                                    </a:rPr>
                                  </m:ctrlPr>
                                </m:dPr>
                                <m:e>
                                  <m:r>
                                    <m:rPr>
                                      <m:sty m:val="p"/>
                                    </m:rPr>
                                    <a:rPr lang="en-US" sz="2000">
                                      <a:latin typeface="Cambria Math" panose="02040503050406030204" pitchFamily="18" charset="0"/>
                                    </a:rPr>
                                    <m:t>vec</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b="1" i="1">
                                                  <a:latin typeface="Cambria Math" panose="02040503050406030204" pitchFamily="18" charset="0"/>
                                                </a:rPr>
                                                <m:t>𝑿</m:t>
                                              </m:r>
                                            </m:e>
                                          </m:acc>
                                        </m:e>
                                        <m:sub>
                                          <m:r>
                                            <a:rPr lang="en-US" sz="2000" i="1">
                                              <a:latin typeface="Cambria Math" panose="02040503050406030204" pitchFamily="18" charset="0"/>
                                            </a:rPr>
                                            <m:t>𝐾</m:t>
                                          </m:r>
                                          <m:r>
                                            <a:rPr lang="en-US" sz="2000" i="1">
                                              <a:latin typeface="Cambria Math" panose="02040503050406030204" pitchFamily="18" charset="0"/>
                                            </a:rPr>
                                            <m:t>−1</m:t>
                                          </m:r>
                                        </m:sub>
                                      </m:sSub>
                                    </m:e>
                                  </m:d>
                                </m:e>
                              </m:d>
                            </m:e>
                          </m:d>
                        </m:e>
                        <m:sup>
                          <m:r>
                            <a:rPr lang="en-US" sz="2000" i="1">
                              <a:latin typeface="Cambria Math" panose="02040503050406030204" pitchFamily="18" charset="0"/>
                            </a:rPr>
                            <m:t>𝑇</m:t>
                          </m:r>
                        </m:sup>
                      </m:sSup>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sSub>
                            <m:sSubPr>
                              <m:ctrlPr>
                                <a:rPr lang="en-US" sz="2000" i="1">
                                  <a:latin typeface="Cambria Math" panose="02040503050406030204" pitchFamily="18" charset="0"/>
                                </a:rPr>
                              </m:ctrlPr>
                            </m:sSubPr>
                            <m:e>
                              <m:r>
                                <a:rPr lang="en-US" sz="2000" b="1" i="1">
                                  <a:latin typeface="Cambria Math" panose="02040503050406030204" pitchFamily="18" charset="0"/>
                                </a:rPr>
                                <m:t>𝑿</m:t>
                              </m:r>
                            </m:e>
                            <m:sub>
                              <m:r>
                                <a:rPr lang="en-US" sz="2000" i="1">
                                  <a:latin typeface="Cambria Math" panose="02040503050406030204" pitchFamily="18" charset="0"/>
                                </a:rPr>
                                <m:t>𝐾</m:t>
                              </m:r>
                            </m:sub>
                          </m:sSub>
                        </m:sub>
                      </m:sSub>
                      <m:d>
                        <m:dPr>
                          <m:ctrlPr>
                            <a:rPr lang="en-US" sz="2000" i="1">
                              <a:latin typeface="Cambria Math" panose="02040503050406030204" pitchFamily="18" charset="0"/>
                            </a:rPr>
                          </m:ctrlPr>
                        </m:dPr>
                        <m:e>
                          <m:r>
                            <m:rPr>
                              <m:sty m:val="p"/>
                            </m:rPr>
                            <a:rPr lang="en-US" sz="2000">
                              <a:latin typeface="Cambria Math" panose="02040503050406030204" pitchFamily="18" charset="0"/>
                            </a:rPr>
                            <m:t>vec</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1" i="1">
                                      <a:latin typeface="Cambria Math" panose="02040503050406030204" pitchFamily="18" charset="0"/>
                                    </a:rPr>
                                    <m:t>𝑿</m:t>
                                  </m:r>
                                </m:e>
                                <m:sub>
                                  <m:r>
                                    <a:rPr lang="en-US" sz="2000" i="1">
                                      <a:latin typeface="Cambria Math" panose="02040503050406030204" pitchFamily="18" charset="0"/>
                                    </a:rPr>
                                    <m:t>𝐾</m:t>
                                  </m:r>
                                </m:sub>
                              </m:sSub>
                            </m:e>
                          </m:d>
                        </m:e>
                      </m:d>
                    </m:oMath>
                  </m:oMathPara>
                </a14:m>
                <a:endParaRPr lang="en-US" sz="2000" dirty="0" smtClean="0"/>
              </a:p>
              <a:p>
                <a:pPr marL="0" indent="0">
                  <a:buNone/>
                </a:pPr>
                <a:r>
                  <a:rPr lang="en-US" sz="2000" dirty="0"/>
                  <a:t>Where </a:t>
                </a:r>
                <a:r>
                  <a:rPr lang="en-US" sz="2000" dirty="0">
                    <a:effectLst>
                      <a:outerShdw blurRad="38100" dist="38100" dir="2700000" algn="tl">
                        <a:srgbClr val="000000">
                          <a:alpha val="43137"/>
                        </a:srgbClr>
                      </a:outerShdw>
                    </a:effectLst>
                  </a:rPr>
                  <a:t>the quantity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sSub>
                          <m:sSubPr>
                            <m:ctrlPr>
                              <a:rPr lang="en-US" sz="2000" i="1">
                                <a:latin typeface="Cambria Math" panose="02040503050406030204" pitchFamily="18" charset="0"/>
                              </a:rPr>
                            </m:ctrlPr>
                          </m:sSubPr>
                          <m:e>
                            <m:r>
                              <a:rPr lang="en-US" sz="2000" b="1" i="1">
                                <a:latin typeface="Cambria Math" panose="02040503050406030204" pitchFamily="18" charset="0"/>
                              </a:rPr>
                              <m:t>𝑿</m:t>
                            </m:r>
                          </m:e>
                          <m:sub>
                            <m:r>
                              <a:rPr lang="en-US" sz="2000" i="1">
                                <a:latin typeface="Cambria Math" panose="02040503050406030204" pitchFamily="18" charset="0"/>
                              </a:rPr>
                              <m:t>𝐾</m:t>
                            </m:r>
                          </m:sub>
                        </m:sSub>
                      </m:sub>
                    </m:sSub>
                    <m:d>
                      <m:dPr>
                        <m:ctrlPr>
                          <a:rPr lang="en-US" sz="2000" i="1">
                            <a:latin typeface="Cambria Math" panose="02040503050406030204" pitchFamily="18" charset="0"/>
                          </a:rPr>
                        </m:ctrlPr>
                      </m:dPr>
                      <m:e>
                        <m:r>
                          <m:rPr>
                            <m:sty m:val="p"/>
                          </m:rPr>
                          <a:rPr lang="en-US" sz="2000">
                            <a:latin typeface="Cambria Math" panose="02040503050406030204" pitchFamily="18" charset="0"/>
                          </a:rPr>
                          <m:t>vec</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1" i="1">
                                    <a:latin typeface="Cambria Math" panose="02040503050406030204" pitchFamily="18" charset="0"/>
                                  </a:rPr>
                                  <m:t>𝑿</m:t>
                                </m:r>
                              </m:e>
                              <m:sub>
                                <m:r>
                                  <a:rPr lang="en-US" sz="2000" i="1">
                                    <a:latin typeface="Cambria Math" panose="02040503050406030204" pitchFamily="18" charset="0"/>
                                  </a:rPr>
                                  <m:t>𝐾</m:t>
                                </m:r>
                              </m:sub>
                            </m:sSub>
                          </m:e>
                        </m:d>
                      </m:e>
                    </m:d>
                  </m:oMath>
                </a14:m>
                <a:r>
                  <a:rPr lang="en-US" sz="2000" dirty="0"/>
                  <a:t> </a:t>
                </a:r>
                <a:r>
                  <a:rPr lang="en-US" sz="2000" dirty="0">
                    <a:effectLst>
                      <a:outerShdw blurRad="38100" dist="38100" dir="2700000" algn="tl">
                        <a:srgbClr val="000000">
                          <a:alpha val="43137"/>
                        </a:srgbClr>
                      </a:outerShdw>
                    </a:effectLst>
                  </a:rPr>
                  <a:t>is called the </a:t>
                </a:r>
                <a:r>
                  <a:rPr lang="en-US" sz="2000" i="1" dirty="0">
                    <a:effectLst>
                      <a:outerShdw blurRad="38100" dist="38100" dir="2700000" algn="tl">
                        <a:srgbClr val="000000">
                          <a:alpha val="43137"/>
                        </a:srgbClr>
                      </a:outerShdw>
                    </a:effectLst>
                  </a:rPr>
                  <a:t>core last bias</a:t>
                </a:r>
                <a:r>
                  <a:rPr lang="en-US" sz="2000" dirty="0">
                    <a:effectLst>
                      <a:outerShdw blurRad="38100" dist="38100" dir="2700000" algn="tl">
                        <a:srgbClr val="000000">
                          <a:alpha val="43137"/>
                        </a:srgbClr>
                      </a:outerShdw>
                    </a:effectLst>
                  </a:rPr>
                  <a:t> which was calculated by the likelihood</a:t>
                </a:r>
                <a:r>
                  <a:rPr lang="en-US" sz="2000" dirty="0"/>
                  <a:t> based on squared </a:t>
                </a:r>
                <a:r>
                  <a:rPr lang="en-US" sz="2000" dirty="0" err="1"/>
                  <a:t>Frobenius</a:t>
                </a:r>
                <a:r>
                  <a:rPr lang="en-US" sz="2000" dirty="0"/>
                  <a:t> </a:t>
                </a:r>
                <a:r>
                  <a:rPr lang="en-US" sz="2000" dirty="0" smtClean="0"/>
                  <a:t>norm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sSub>
                          <m:sSubPr>
                            <m:ctrlPr>
                              <a:rPr lang="en-US" sz="2000" i="1">
                                <a:latin typeface="Cambria Math" panose="02040503050406030204" pitchFamily="18" charset="0"/>
                              </a:rPr>
                            </m:ctrlPr>
                          </m:sSubPr>
                          <m:e>
                            <m:r>
                              <a:rPr lang="en-US" sz="2000" b="1" i="1">
                                <a:latin typeface="Cambria Math" panose="02040503050406030204" pitchFamily="18" charset="0"/>
                              </a:rPr>
                              <m:t>𝑿</m:t>
                            </m:r>
                          </m:e>
                          <m:sub>
                            <m:r>
                              <a:rPr lang="en-US" sz="2000" i="1">
                                <a:latin typeface="Cambria Math" panose="02040503050406030204" pitchFamily="18" charset="0"/>
                              </a:rPr>
                              <m:t>𝐾</m:t>
                            </m:r>
                          </m:sub>
                        </m:sSub>
                      </m:sub>
                    </m:sSub>
                    <m:d>
                      <m:dPr>
                        <m:ctrlPr>
                          <a:rPr lang="en-US" sz="2000" i="1">
                            <a:latin typeface="Cambria Math" panose="02040503050406030204" pitchFamily="18" charset="0"/>
                          </a:rPr>
                        </m:ctrlPr>
                      </m:dPr>
                      <m:e>
                        <m:r>
                          <m:rPr>
                            <m:sty m:val="p"/>
                          </m:rPr>
                          <a:rPr lang="en-US" sz="2000">
                            <a:latin typeface="Cambria Math" panose="02040503050406030204" pitchFamily="18" charset="0"/>
                          </a:rPr>
                          <m:t>vec</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1" i="1">
                                    <a:latin typeface="Cambria Math" panose="02040503050406030204" pitchFamily="18" charset="0"/>
                                  </a:rPr>
                                  <m:t>𝑿</m:t>
                                </m:r>
                              </m:e>
                              <m:sub>
                                <m:r>
                                  <a:rPr lang="en-US" sz="2000" i="1">
                                    <a:latin typeface="Cambria Math" panose="02040503050406030204" pitchFamily="18" charset="0"/>
                                  </a:rPr>
                                  <m:t>𝐾</m:t>
                                </m:r>
                              </m:sub>
                            </m:sSub>
                          </m:e>
                        </m:d>
                      </m:e>
                    </m:d>
                    <m:r>
                      <a:rPr lang="en-US" sz="2000" i="1">
                        <a:latin typeface="Cambria Math" panose="02040503050406030204" pitchFamily="18" charset="0"/>
                      </a:rPr>
                      <m:t>=</m:t>
                    </m:r>
                    <m:sSubSup>
                      <m:sSubSupPr>
                        <m:ctrlPr>
                          <a:rPr lang="en-US" sz="2000" i="1">
                            <a:latin typeface="Cambria Math" panose="02040503050406030204" pitchFamily="18" charset="0"/>
                          </a:rPr>
                        </m:ctrlPr>
                      </m:sSubSupPr>
                      <m:e>
                        <m:r>
                          <a:rPr lang="en-US" sz="2000" b="1" i="1">
                            <a:latin typeface="Cambria Math" panose="02040503050406030204" pitchFamily="18" charset="0"/>
                          </a:rPr>
                          <m:t>𝑿</m:t>
                        </m:r>
                      </m:e>
                      <m:sub>
                        <m:r>
                          <a:rPr lang="en-US" sz="2000" i="1">
                            <a:latin typeface="Cambria Math" panose="02040503050406030204" pitchFamily="18" charset="0"/>
                          </a:rPr>
                          <m:t>𝐾</m:t>
                        </m:r>
                      </m:sub>
                      <m:sup>
                        <m:r>
                          <a:rPr lang="en-US" sz="2000" i="1">
                            <a:latin typeface="Cambria Math" panose="02040503050406030204" pitchFamily="18" charset="0"/>
                          </a:rPr>
                          <m:t>′</m:t>
                        </m:r>
                      </m:sup>
                    </m:sSubSup>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1" i="1">
                            <a:latin typeface="Cambria Math" panose="02040503050406030204" pitchFamily="18" charset="0"/>
                          </a:rPr>
                          <m:t>𝑿</m:t>
                        </m:r>
                      </m:e>
                      <m:sub>
                        <m:r>
                          <a:rPr lang="en-US" sz="2000" i="1">
                            <a:latin typeface="Cambria Math" panose="02040503050406030204" pitchFamily="18" charset="0"/>
                          </a:rPr>
                          <m:t>𝐾</m:t>
                        </m:r>
                      </m:sub>
                    </m:sSub>
                  </m:oMath>
                </a14:m>
                <a:r>
                  <a:rPr lang="en-US" sz="2000" dirty="0" smtClean="0"/>
                  <a:t>.</a:t>
                </a:r>
                <a:r>
                  <a:rPr lang="en-US" sz="2000" dirty="0"/>
                  <a:t> If MNN is applied into aforementioned classification task in order to derive MNN classifier, it is simpler to modify the core last bias to minimize the cross-entropy loss function as follows</a:t>
                </a:r>
                <a:r>
                  <a:rPr lang="en-US" sz="2000" dirty="0" smtClean="0"/>
                  <a:t>:</a:t>
                </a:r>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sSub>
                            <m:sSubPr>
                              <m:ctrlPr>
                                <a:rPr lang="en-US" sz="2000" i="1">
                                  <a:latin typeface="Cambria Math" panose="02040503050406030204" pitchFamily="18" charset="0"/>
                                </a:rPr>
                              </m:ctrlPr>
                            </m:sSubPr>
                            <m:e>
                              <m:r>
                                <a:rPr lang="en-US" sz="2000" b="1" i="1">
                                  <a:latin typeface="Cambria Math" panose="02040503050406030204" pitchFamily="18" charset="0"/>
                                </a:rPr>
                                <m:t>𝑿</m:t>
                              </m:r>
                            </m:e>
                            <m:sub>
                              <m:r>
                                <a:rPr lang="en-US" sz="2000" i="1">
                                  <a:latin typeface="Cambria Math" panose="02040503050406030204" pitchFamily="18" charset="0"/>
                                </a:rPr>
                                <m:t>𝐾</m:t>
                              </m:r>
                            </m:sub>
                          </m:sSub>
                        </m:sub>
                      </m:sSub>
                      <m:d>
                        <m:dPr>
                          <m:ctrlPr>
                            <a:rPr lang="en-US" sz="2000" i="1">
                              <a:latin typeface="Cambria Math" panose="02040503050406030204" pitchFamily="18" charset="0"/>
                            </a:rPr>
                          </m:ctrlPr>
                        </m:dPr>
                        <m:e>
                          <m:r>
                            <m:rPr>
                              <m:sty m:val="p"/>
                            </m:rPr>
                            <a:rPr lang="en-US" sz="2000">
                              <a:latin typeface="Cambria Math" panose="02040503050406030204" pitchFamily="18" charset="0"/>
                            </a:rPr>
                            <m:t>vec</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1" i="1">
                                      <a:latin typeface="Cambria Math" panose="02040503050406030204" pitchFamily="18" charset="0"/>
                                    </a:rPr>
                                    <m:t>𝑿</m:t>
                                  </m:r>
                                </m:e>
                                <m:sub>
                                  <m:r>
                                    <a:rPr lang="en-US" sz="2000" i="1">
                                      <a:latin typeface="Cambria Math" panose="02040503050406030204" pitchFamily="18" charset="0"/>
                                    </a:rPr>
                                    <m:t>𝐾</m:t>
                                  </m:r>
                                </m:sub>
                              </m:sSub>
                            </m:e>
                          </m:d>
                        </m:e>
                      </m:d>
                      <m:r>
                        <a:rPr lang="en-US" sz="2000" i="1">
                          <a:latin typeface="Cambria Math" panose="02040503050406030204" pitchFamily="18" charset="0"/>
                        </a:rPr>
                        <m:t>=</m:t>
                      </m:r>
                      <m:sSubSup>
                        <m:sSubSupPr>
                          <m:ctrlPr>
                            <a:rPr lang="en-US" sz="2000" i="1">
                              <a:latin typeface="Cambria Math" panose="02040503050406030204" pitchFamily="18" charset="0"/>
                            </a:rPr>
                          </m:ctrlPr>
                        </m:sSubSupPr>
                        <m:e>
                          <m:d>
                            <m:dPr>
                              <m:ctrlPr>
                                <a:rPr lang="en-US" sz="2000" i="1">
                                  <a:latin typeface="Cambria Math" panose="02040503050406030204" pitchFamily="18" charset="0"/>
                                </a:rPr>
                              </m:ctrlPr>
                            </m:dPr>
                            <m:e>
                              <m:nary>
                                <m:naryPr>
                                  <m:chr m:val="∑"/>
                                  <m:limLoc m:val="undOvr"/>
                                  <m:ctrlPr>
                                    <a:rPr lang="en-US" sz="2000" i="1">
                                      <a:latin typeface="Cambria Math" panose="02040503050406030204" pitchFamily="18" charset="0"/>
                                    </a:rPr>
                                  </m:ctrlPr>
                                </m:naryPr>
                                <m:sub>
                                  <m:r>
                                    <a:rPr lang="en-US" sz="2000" i="1">
                                      <a:latin typeface="Cambria Math" panose="02040503050406030204" pitchFamily="18" charset="0"/>
                                    </a:rPr>
                                    <m:t>𝑖</m:t>
                                  </m:r>
                                  <m:r>
                                    <a:rPr lang="en-US" sz="2000" i="1">
                                      <a:latin typeface="Cambria Math" panose="02040503050406030204" pitchFamily="18" charset="0"/>
                                    </a:rPr>
                                    <m:t>=1</m:t>
                                  </m:r>
                                </m:sub>
                                <m:sup>
                                  <m:r>
                                    <a:rPr lang="en-US" sz="2000" i="1">
                                      <a:latin typeface="Cambria Math" panose="02040503050406030204" pitchFamily="18" charset="0"/>
                                    </a:rPr>
                                    <m:t>𝑛</m:t>
                                  </m:r>
                                </m:sup>
                                <m:e>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𝑖</m:t>
                                      </m:r>
                                    </m:sub>
                                  </m:sSub>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𝛿</m:t>
                                          </m:r>
                                        </m:e>
                                        <m:sub>
                                          <m:r>
                                            <a:rPr lang="en-US" sz="2000" i="1">
                                              <a:latin typeface="Cambria Math" panose="02040503050406030204" pitchFamily="18" charset="0"/>
                                            </a:rPr>
                                            <m:t>𝑖𝑗</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sub>
                                          <m:r>
                                            <a:rPr lang="en-US" sz="2000" i="1">
                                              <a:latin typeface="Cambria Math" panose="02040503050406030204" pitchFamily="18" charset="0"/>
                                            </a:rPr>
                                            <m:t>𝑗</m:t>
                                          </m:r>
                                        </m:sub>
                                      </m:sSub>
                                    </m:e>
                                  </m:d>
                                </m:e>
                              </m:nary>
                            </m:e>
                          </m:d>
                        </m:e>
                        <m:sub>
                          <m:r>
                            <a:rPr lang="en-US" sz="2000" i="1">
                              <a:latin typeface="Cambria Math" panose="02040503050406030204" pitchFamily="18" charset="0"/>
                            </a:rPr>
                            <m:t>𝑗</m:t>
                          </m:r>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1,</m:t>
                              </m:r>
                              <m:r>
                                <a:rPr lang="en-US" sz="2000" i="1">
                                  <a:latin typeface="Cambria Math" panose="02040503050406030204" pitchFamily="18" charset="0"/>
                                </a:rPr>
                                <m:t>𝑛</m:t>
                              </m:r>
                            </m:e>
                          </m:acc>
                        </m:sub>
                        <m:sup>
                          <m:r>
                            <a:rPr lang="en-US" sz="2000" i="1">
                              <a:latin typeface="Cambria Math" panose="02040503050406030204" pitchFamily="18" charset="0"/>
                            </a:rPr>
                            <m:t>𝑇</m:t>
                          </m:r>
                        </m:sup>
                      </m:sSubSup>
                    </m:oMath>
                  </m:oMathPara>
                </a14:m>
                <a:endParaRPr lang="en-US" sz="2000" dirty="0"/>
              </a:p>
              <a:p>
                <a:pPr marL="0" indent="0">
                  <a:buNone/>
                </a:pPr>
                <a:r>
                  <a:rPr lang="en-US" sz="2000" dirty="0" smtClean="0"/>
                  <a:t>Moreover</a:t>
                </a:r>
                <a:r>
                  <a:rPr lang="en-US" sz="2000" dirty="0"/>
                  <a:t>, the </a:t>
                </a:r>
                <a:r>
                  <a:rPr lang="en-US" sz="2000" i="1" dirty="0"/>
                  <a:t>k</a:t>
                </a:r>
                <a:r>
                  <a:rPr lang="en-US" sz="2000" baseline="30000" dirty="0"/>
                  <a:t>th</a:t>
                </a:r>
                <a:r>
                  <a:rPr lang="en-US" sz="2000" dirty="0"/>
                  <a:t> bias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sSub>
                          <m:sSubPr>
                            <m:ctrlPr>
                              <a:rPr lang="en-US" sz="2000" i="1">
                                <a:latin typeface="Cambria Math" panose="02040503050406030204" pitchFamily="18" charset="0"/>
                              </a:rPr>
                            </m:ctrlPr>
                          </m:sSubPr>
                          <m:e>
                            <m:r>
                              <a:rPr lang="en-US" sz="2000" b="1" i="1">
                                <a:latin typeface="Cambria Math" panose="02040503050406030204" pitchFamily="18" charset="0"/>
                              </a:rPr>
                              <m:t>𝑿</m:t>
                            </m:r>
                          </m:e>
                          <m:sub>
                            <m:r>
                              <a:rPr lang="en-US" sz="2000" i="1">
                                <a:latin typeface="Cambria Math" panose="02040503050406030204" pitchFamily="18" charset="0"/>
                              </a:rPr>
                              <m:t>𝑘</m:t>
                            </m:r>
                          </m:sub>
                        </m:sSub>
                      </m:sub>
                    </m:sSub>
                    <m:d>
                      <m:dPr>
                        <m:ctrlPr>
                          <a:rPr lang="en-US" sz="2000" i="1">
                            <a:latin typeface="Cambria Math" panose="02040503050406030204" pitchFamily="18" charset="0"/>
                          </a:rPr>
                        </m:ctrlPr>
                      </m:dPr>
                      <m:e>
                        <m:r>
                          <m:rPr>
                            <m:sty m:val="p"/>
                          </m:rPr>
                          <a:rPr lang="en-US" sz="2000">
                            <a:latin typeface="Cambria Math" panose="02040503050406030204" pitchFamily="18" charset="0"/>
                          </a:rPr>
                          <m:t>vec</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1" i="1">
                                    <a:latin typeface="Cambria Math" panose="02040503050406030204" pitchFamily="18" charset="0"/>
                                  </a:rPr>
                                  <m:t>𝑿</m:t>
                                </m:r>
                              </m:e>
                              <m:sub>
                                <m:r>
                                  <a:rPr lang="en-US" sz="2000" i="1">
                                    <a:latin typeface="Cambria Math" panose="02040503050406030204" pitchFamily="18" charset="0"/>
                                  </a:rPr>
                                  <m:t>𝑘</m:t>
                                </m:r>
                              </m:sub>
                            </m:sSub>
                          </m:e>
                        </m:d>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a:latin typeface="Cambria Math" panose="02040503050406030204" pitchFamily="18" charset="0"/>
                          </a:rPr>
                          <m:t>𝛻</m:t>
                        </m:r>
                      </m:e>
                      <m:sub>
                        <m:sSub>
                          <m:sSubPr>
                            <m:ctrlPr>
                              <a:rPr lang="en-US" sz="2000" i="1">
                                <a:latin typeface="Cambria Math" panose="02040503050406030204" pitchFamily="18" charset="0"/>
                              </a:rPr>
                            </m:ctrlPr>
                          </m:sSubPr>
                          <m:e>
                            <m:r>
                              <m:rPr>
                                <m:sty m:val="p"/>
                              </m:rPr>
                              <a:rPr lang="en-US" sz="2000">
                                <a:latin typeface="Cambria Math" panose="02040503050406030204" pitchFamily="18" charset="0"/>
                              </a:rPr>
                              <m:t>Θ</m:t>
                            </m:r>
                          </m:e>
                          <m:sub>
                            <m:r>
                              <a:rPr lang="en-US" sz="2000" i="1">
                                <a:latin typeface="Cambria Math" panose="02040503050406030204" pitchFamily="18" charset="0"/>
                              </a:rPr>
                              <m:t>𝑘</m:t>
                            </m:r>
                          </m:sub>
                        </m:sSub>
                      </m:sub>
                    </m:sSub>
                    <m:r>
                      <m:rPr>
                        <m:sty m:val="p"/>
                      </m:rPr>
                      <a:rPr lang="en-US" sz="2000">
                        <a:latin typeface="Cambria Math" panose="02040503050406030204" pitchFamily="18" charset="0"/>
                      </a:rPr>
                      <m:t>vec</m:t>
                    </m:r>
                    <m:d>
                      <m:dPr>
                        <m:ctrlPr>
                          <a:rPr lang="en-US" sz="2000" i="1">
                            <a:latin typeface="Cambria Math" panose="02040503050406030204" pitchFamily="18" charset="0"/>
                          </a:rPr>
                        </m:ctrlPr>
                      </m:dPr>
                      <m:e>
                        <m:r>
                          <a:rPr lang="en-US" sz="2000" i="1">
                            <a:latin typeface="Cambria Math" panose="02040503050406030204" pitchFamily="18" charset="0"/>
                          </a:rPr>
                          <m:t>𝑙</m:t>
                        </m:r>
                      </m:e>
                    </m:d>
                  </m:oMath>
                </a14:m>
                <a:r>
                  <a:rPr lang="en-US" sz="2000" dirty="0"/>
                  <a:t> which is also called backward bias or </a:t>
                </a:r>
                <a:r>
                  <a:rPr lang="en-US" sz="2000" i="1" dirty="0"/>
                  <a:t>backward error</a:t>
                </a:r>
                <a:r>
                  <a:rPr lang="en-US" sz="2000" dirty="0"/>
                  <a:t> at </a:t>
                </a:r>
                <a:r>
                  <a:rPr lang="en-US" sz="2000" i="1" dirty="0"/>
                  <a:t>k</a:t>
                </a:r>
                <a:r>
                  <a:rPr lang="en-US" sz="2000" baseline="30000" dirty="0"/>
                  <a:t>th</a:t>
                </a:r>
                <a:r>
                  <a:rPr lang="en-US" sz="2000" dirty="0"/>
                  <a:t> layer is the cornerstone of association of backpropagation algorithm and </a:t>
                </a:r>
                <a:r>
                  <a:rPr lang="en-US" sz="2000" dirty="0" smtClean="0"/>
                  <a:t>SGD </a:t>
                </a:r>
                <a:r>
                  <a:rPr lang="en-US" sz="2000" dirty="0"/>
                  <a:t>algorithm because the </a:t>
                </a:r>
                <a:r>
                  <a:rPr lang="en-US" sz="2000" dirty="0" smtClean="0"/>
                  <a:t>gradient (bias) </a:t>
                </a:r>
                <a14:m>
                  <m:oMath xmlns:m="http://schemas.openxmlformats.org/officeDocument/2006/math">
                    <m:sSub>
                      <m:sSubPr>
                        <m:ctrlPr>
                          <a:rPr lang="en-US" sz="2000" i="1">
                            <a:latin typeface="Cambria Math" panose="02040503050406030204" pitchFamily="18" charset="0"/>
                          </a:rPr>
                        </m:ctrlPr>
                      </m:sSubPr>
                      <m:e>
                        <m:r>
                          <a:rPr lang="en-US" sz="2000">
                            <a:latin typeface="Cambria Math" panose="02040503050406030204" pitchFamily="18" charset="0"/>
                          </a:rPr>
                          <m:t>𝛻</m:t>
                        </m:r>
                      </m:e>
                      <m:sub>
                        <m:sSub>
                          <m:sSubPr>
                            <m:ctrlPr>
                              <a:rPr lang="en-US" sz="2000" i="1">
                                <a:latin typeface="Cambria Math" panose="02040503050406030204" pitchFamily="18" charset="0"/>
                              </a:rPr>
                            </m:ctrlPr>
                          </m:sSubPr>
                          <m:e>
                            <m:r>
                              <m:rPr>
                                <m:sty m:val="p"/>
                              </m:rPr>
                              <a:rPr lang="en-US" sz="2000">
                                <a:latin typeface="Cambria Math" panose="02040503050406030204" pitchFamily="18" charset="0"/>
                              </a:rPr>
                              <m:t>Θ</m:t>
                            </m:r>
                          </m:e>
                          <m:sub>
                            <m:r>
                              <a:rPr lang="en-US" sz="2000" i="1">
                                <a:latin typeface="Cambria Math" panose="02040503050406030204" pitchFamily="18" charset="0"/>
                              </a:rPr>
                              <m:t>𝑘</m:t>
                            </m:r>
                          </m:sub>
                        </m:sSub>
                      </m:sub>
                    </m:sSub>
                    <m:r>
                      <m:rPr>
                        <m:sty m:val="p"/>
                      </m:rPr>
                      <a:rPr lang="en-US" sz="2000">
                        <a:latin typeface="Cambria Math" panose="02040503050406030204" pitchFamily="18" charset="0"/>
                      </a:rPr>
                      <m:t>vec</m:t>
                    </m:r>
                    <m:d>
                      <m:dPr>
                        <m:ctrlPr>
                          <a:rPr lang="en-US" sz="2000" i="1">
                            <a:latin typeface="Cambria Math" panose="02040503050406030204" pitchFamily="18" charset="0"/>
                          </a:rPr>
                        </m:ctrlPr>
                      </m:dPr>
                      <m:e>
                        <m:r>
                          <a:rPr lang="en-US" sz="2000" i="1">
                            <a:latin typeface="Cambria Math" panose="02040503050406030204" pitchFamily="18" charset="0"/>
                          </a:rPr>
                          <m:t>𝑙</m:t>
                        </m:r>
                      </m:e>
                    </m:d>
                  </m:oMath>
                </a14:m>
                <a:r>
                  <a:rPr lang="en-US" sz="2000" dirty="0"/>
                  <a:t> is also the first-order derivative of training likelihood </a:t>
                </a:r>
                <a:r>
                  <a:rPr lang="en-US" sz="2000" i="1" dirty="0"/>
                  <a:t>l</a:t>
                </a:r>
                <a:r>
                  <a:rPr lang="en-US" sz="2000" dirty="0"/>
                  <a:t>(</a:t>
                </a:r>
                <a:r>
                  <a:rPr lang="en-US" sz="2000" b="1" i="1" dirty="0"/>
                  <a:t>X</a:t>
                </a:r>
                <a:r>
                  <a:rPr lang="en-US" sz="2000" i="1" baseline="-25000" dirty="0"/>
                  <a:t>K</a:t>
                </a:r>
                <a:r>
                  <a:rPr lang="en-US" sz="2000" dirty="0"/>
                  <a:t>) with respect to </a:t>
                </a:r>
                <a14:m>
                  <m:oMath xmlns:m="http://schemas.openxmlformats.org/officeDocument/2006/math">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b="1" i="1">
                                <a:latin typeface="Cambria Math" panose="02040503050406030204" pitchFamily="18" charset="0"/>
                              </a:rPr>
                              <m:t>𝑿</m:t>
                            </m:r>
                          </m:e>
                        </m:acc>
                      </m:e>
                      <m:sub>
                        <m:r>
                          <a:rPr lang="en-US" sz="2000" i="1">
                            <a:latin typeface="Cambria Math" panose="02040503050406030204" pitchFamily="18" charset="0"/>
                          </a:rPr>
                          <m:t>𝑘</m:t>
                        </m:r>
                        <m:r>
                          <a:rPr lang="en-US" sz="2000" i="1">
                            <a:latin typeface="Cambria Math" panose="02040503050406030204" pitchFamily="18" charset="0"/>
                          </a:rPr>
                          <m:t>−1</m:t>
                        </m:r>
                      </m:sub>
                    </m:sSub>
                  </m:oMath>
                </a14:m>
                <a:r>
                  <a:rPr lang="en-US" sz="2000" dirty="0"/>
                  <a:t> at the layer </a:t>
                </a:r>
                <a:r>
                  <a:rPr lang="en-US" sz="2000" b="1" i="1" dirty="0" err="1" smtClean="0"/>
                  <a:t>X</a:t>
                </a:r>
                <a:r>
                  <a:rPr lang="en-US" sz="2000" i="1" baseline="-25000" dirty="0" err="1" smtClean="0"/>
                  <a:t>k</a:t>
                </a:r>
                <a:r>
                  <a:rPr lang="en-US" sz="2000" dirty="0"/>
                  <a:t> </a:t>
                </a:r>
                <a:r>
                  <a:rPr lang="en-US" sz="2000" dirty="0" smtClean="0"/>
                  <a:t>as </a:t>
                </a:r>
                <a14:m>
                  <m:oMath xmlns:m="http://schemas.openxmlformats.org/officeDocument/2006/math">
                    <m:sSub>
                      <m:sSubPr>
                        <m:ctrlPr>
                          <a:rPr lang="en-US" sz="2000" i="1">
                            <a:latin typeface="Cambria Math" panose="02040503050406030204" pitchFamily="18" charset="0"/>
                          </a:rPr>
                        </m:ctrlPr>
                      </m:sSubPr>
                      <m:e>
                        <m:r>
                          <a:rPr lang="en-US" sz="2000">
                            <a:latin typeface="Cambria Math" panose="02040503050406030204" pitchFamily="18" charset="0"/>
                          </a:rPr>
                          <m:t>𝛻</m:t>
                        </m:r>
                      </m:e>
                      <m:sub>
                        <m:sSub>
                          <m:sSubPr>
                            <m:ctrlPr>
                              <a:rPr lang="en-US" sz="2000" i="1">
                                <a:latin typeface="Cambria Math" panose="02040503050406030204" pitchFamily="18" charset="0"/>
                              </a:rPr>
                            </m:ctrlPr>
                          </m:sSubPr>
                          <m:e>
                            <m:r>
                              <m:rPr>
                                <m:sty m:val="p"/>
                              </m:rPr>
                              <a:rPr lang="en-US" sz="2000">
                                <a:latin typeface="Cambria Math" panose="02040503050406030204" pitchFamily="18" charset="0"/>
                              </a:rPr>
                              <m:t>Θ</m:t>
                            </m:r>
                          </m:e>
                          <m:sub>
                            <m:r>
                              <a:rPr lang="en-US" sz="2000" i="1">
                                <a:latin typeface="Cambria Math" panose="02040503050406030204" pitchFamily="18" charset="0"/>
                              </a:rPr>
                              <m:t>𝑘</m:t>
                            </m:r>
                          </m:sub>
                        </m:sSub>
                      </m:sub>
                    </m:sSub>
                    <m:r>
                      <m:rPr>
                        <m:sty m:val="p"/>
                      </m:rPr>
                      <a:rPr lang="en-US" sz="2000">
                        <a:latin typeface="Cambria Math" panose="02040503050406030204" pitchFamily="18" charset="0"/>
                      </a:rPr>
                      <m:t>vec</m:t>
                    </m:r>
                    <m:d>
                      <m:dPr>
                        <m:ctrlPr>
                          <a:rPr lang="en-US" sz="2000" i="1">
                            <a:latin typeface="Cambria Math" panose="02040503050406030204" pitchFamily="18" charset="0"/>
                          </a:rPr>
                        </m:ctrlPr>
                      </m:dPr>
                      <m:e>
                        <m:r>
                          <a:rPr lang="en-US" sz="2000" i="1">
                            <a:latin typeface="Cambria Math" panose="02040503050406030204" pitchFamily="18" charset="0"/>
                          </a:rPr>
                          <m:t>𝑙</m:t>
                        </m:r>
                      </m:e>
                    </m:d>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𝑑𝑙</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1" i="1">
                                    <a:latin typeface="Cambria Math" panose="02040503050406030204" pitchFamily="18" charset="0"/>
                                  </a:rPr>
                                  <m:t>𝑿</m:t>
                                </m:r>
                              </m:e>
                              <m:sub>
                                <m:r>
                                  <a:rPr lang="en-US" sz="2000" i="1">
                                    <a:latin typeface="Cambria Math" panose="02040503050406030204" pitchFamily="18" charset="0"/>
                                  </a:rPr>
                                  <m:t>𝐾</m:t>
                                </m:r>
                              </m:sub>
                            </m:sSub>
                          </m:e>
                        </m:d>
                      </m:num>
                      <m:den>
                        <m:r>
                          <a:rPr lang="en-US" sz="2000" i="1">
                            <a:latin typeface="Cambria Math" panose="02040503050406030204" pitchFamily="18" charset="0"/>
                          </a:rPr>
                          <m:t>𝑑</m:t>
                        </m:r>
                        <m:r>
                          <m:rPr>
                            <m:sty m:val="p"/>
                          </m:rPr>
                          <a:rPr lang="en-US" sz="2000">
                            <a:latin typeface="Cambria Math" panose="02040503050406030204" pitchFamily="18" charset="0"/>
                          </a:rPr>
                          <m:t>vec</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m:rPr>
                                    <m:sty m:val="p"/>
                                  </m:rPr>
                                  <a:rPr lang="en-US" sz="2000">
                                    <a:latin typeface="Cambria Math" panose="02040503050406030204" pitchFamily="18" charset="0"/>
                                  </a:rPr>
                                  <m:t>Θ</m:t>
                                </m:r>
                              </m:e>
                              <m:sub>
                                <m:r>
                                  <a:rPr lang="en-US" sz="2000" i="1">
                                    <a:latin typeface="Cambria Math" panose="02040503050406030204" pitchFamily="18" charset="0"/>
                                  </a:rPr>
                                  <m:t>𝑘</m:t>
                                </m:r>
                              </m:sub>
                            </m:sSub>
                          </m:e>
                        </m:d>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𝑑𝑙</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1" i="1">
                                    <a:latin typeface="Cambria Math" panose="02040503050406030204" pitchFamily="18" charset="0"/>
                                  </a:rPr>
                                  <m:t>𝑿</m:t>
                                </m:r>
                              </m:e>
                              <m:sub>
                                <m:r>
                                  <a:rPr lang="en-US" sz="2000" i="1">
                                    <a:latin typeface="Cambria Math" panose="02040503050406030204" pitchFamily="18" charset="0"/>
                                  </a:rPr>
                                  <m:t>𝐾</m:t>
                                </m:r>
                              </m:sub>
                            </m:sSub>
                          </m:e>
                        </m:d>
                      </m:num>
                      <m:den>
                        <m:r>
                          <a:rPr lang="en-US" sz="2000" i="1">
                            <a:latin typeface="Cambria Math" panose="02040503050406030204" pitchFamily="18" charset="0"/>
                          </a:rPr>
                          <m:t>𝑑</m:t>
                        </m:r>
                        <m:r>
                          <m:rPr>
                            <m:sty m:val="p"/>
                          </m:rPr>
                          <a:rPr lang="en-US" sz="2000">
                            <a:latin typeface="Cambria Math" panose="02040503050406030204" pitchFamily="18" charset="0"/>
                          </a:rPr>
                          <m:t>vec</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b="1" i="1">
                                        <a:latin typeface="Cambria Math" panose="02040503050406030204" pitchFamily="18" charset="0"/>
                                      </a:rPr>
                                      <m:t>𝑿</m:t>
                                    </m:r>
                                  </m:e>
                                </m:acc>
                              </m:e>
                              <m:sub>
                                <m:r>
                                  <a:rPr lang="en-US" sz="2000" i="1">
                                    <a:latin typeface="Cambria Math" panose="02040503050406030204" pitchFamily="18" charset="0"/>
                                  </a:rPr>
                                  <m:t>𝑘</m:t>
                                </m:r>
                                <m:r>
                                  <a:rPr lang="en-US" sz="2000" i="1">
                                    <a:latin typeface="Cambria Math" panose="02040503050406030204" pitchFamily="18" charset="0"/>
                                  </a:rPr>
                                  <m:t>−1</m:t>
                                </m:r>
                              </m:sub>
                            </m:sSub>
                          </m:e>
                        </m:d>
                      </m:den>
                    </m:f>
                  </m:oMath>
                </a14:m>
                <a:r>
                  <a:rPr lang="en-US" sz="2000" dirty="0" smtClean="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1120" y="914399"/>
                <a:ext cx="12049760" cy="5176066"/>
              </a:xfrm>
              <a:blipFill>
                <a:blip r:embed="rId2"/>
                <a:stretch>
                  <a:fillRect l="-557" t="-589" r="-557"/>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21</a:t>
            </a:fld>
            <a:endParaRPr lang="en-US"/>
          </a:p>
        </p:txBody>
      </p:sp>
    </p:spTree>
    <p:extLst>
      <p:ext uri="{BB962C8B-B14F-4D97-AF65-F5344CB8AC3E}">
        <p14:creationId xmlns:p14="http://schemas.microsoft.com/office/powerpoint/2010/main" val="28866415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a:t>
            </a:r>
            <a:r>
              <a:rPr lang="en-US" dirty="0" smtClean="0"/>
              <a:t>network (main)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 y="914399"/>
                <a:ext cx="12009120" cy="5176066"/>
              </a:xfrm>
            </p:spPr>
            <p:txBody>
              <a:bodyPr>
                <a:noAutofit/>
              </a:bodyPr>
              <a:lstStyle/>
              <a:p>
                <a:r>
                  <a:rPr lang="en-US" sz="1900" i="1" dirty="0">
                    <a:effectLst>
                      <a:outerShdw blurRad="38100" dist="38100" dir="2700000" algn="tl">
                        <a:srgbClr val="000000">
                          <a:alpha val="43137"/>
                        </a:srgbClr>
                      </a:outerShdw>
                    </a:effectLst>
                  </a:rPr>
                  <a:t>Transformer</a:t>
                </a:r>
                <a:r>
                  <a:rPr lang="en-US" sz="1900" dirty="0"/>
                  <a:t> developed by </a:t>
                </a:r>
                <a:r>
                  <a:rPr lang="en-US" sz="1900" dirty="0" err="1"/>
                  <a:t>Vaswani</a:t>
                </a:r>
                <a:r>
                  <a:rPr lang="en-US" sz="1900" dirty="0"/>
                  <a:t> et al. (</a:t>
                </a:r>
                <a:r>
                  <a:rPr lang="en-US" sz="1900" dirty="0" err="1"/>
                  <a:t>Vaswani</a:t>
                </a:r>
                <a:r>
                  <a:rPr lang="en-US" sz="1900" dirty="0"/>
                  <a:t>, et al., 2017) </a:t>
                </a:r>
                <a:r>
                  <a:rPr lang="en-US" sz="1900" dirty="0">
                    <a:effectLst>
                      <a:outerShdw blurRad="38100" dist="38100" dir="2700000" algn="tl">
                        <a:srgbClr val="000000">
                          <a:alpha val="43137"/>
                        </a:srgbClr>
                      </a:outerShdw>
                    </a:effectLst>
                  </a:rPr>
                  <a:t>is invented to improve deep neural network (DNN) so that it discovers the self-structure </a:t>
                </a:r>
                <a:r>
                  <a:rPr lang="en-US" sz="1900" dirty="0" smtClean="0">
                    <a:effectLst>
                      <a:outerShdw blurRad="38100" dist="38100" dir="2700000" algn="tl">
                        <a:srgbClr val="000000">
                          <a:alpha val="43137"/>
                        </a:srgbClr>
                      </a:outerShdw>
                    </a:effectLst>
                  </a:rPr>
                  <a:t>or the internal feature </a:t>
                </a:r>
                <a:r>
                  <a:rPr lang="en-US" sz="1900" dirty="0">
                    <a:effectLst>
                      <a:outerShdw blurRad="38100" dist="38100" dir="2700000" algn="tl">
                        <a:srgbClr val="000000">
                          <a:alpha val="43137"/>
                        </a:srgbClr>
                      </a:outerShdw>
                    </a:effectLst>
                  </a:rPr>
                  <a:t>of input for DNN</a:t>
                </a:r>
                <a:r>
                  <a:rPr lang="en-US" sz="1900" dirty="0"/>
                  <a:t>. Exactly, given input </a:t>
                </a:r>
                <a:r>
                  <a:rPr lang="en-US" sz="1900" b="1" i="1" dirty="0"/>
                  <a:t>X</a:t>
                </a:r>
                <a:r>
                  <a:rPr lang="en-US" sz="1900" dirty="0"/>
                  <a:t> = </a:t>
                </a:r>
                <a:r>
                  <a:rPr lang="en-US" sz="1900" b="1" i="1" dirty="0"/>
                  <a:t>X</a:t>
                </a:r>
                <a:r>
                  <a:rPr lang="en-US" sz="1900" baseline="-25000" dirty="0"/>
                  <a:t>0</a:t>
                </a:r>
                <a:r>
                  <a:rPr lang="en-US" sz="1900" dirty="0"/>
                  <a:t> of DNN, self-structure of </a:t>
                </a:r>
                <a:r>
                  <a:rPr lang="en-US" sz="1900" b="1" i="1" dirty="0"/>
                  <a:t>X</a:t>
                </a:r>
                <a:r>
                  <a:rPr lang="en-US" sz="1900" dirty="0"/>
                  <a:t> which is internal structure of </a:t>
                </a:r>
                <a:r>
                  <a:rPr lang="en-US" sz="1900" b="1" i="1" dirty="0"/>
                  <a:t>X</a:t>
                </a:r>
                <a:r>
                  <a:rPr lang="en-US" sz="1900" dirty="0"/>
                  <a:t> is known as self-attention or attention in context of transformer. In other words, transformer extracts such attention denoted </a:t>
                </a:r>
                <a:r>
                  <a:rPr lang="en-US" sz="1900" i="1" dirty="0"/>
                  <a:t>A</a:t>
                </a:r>
                <a:r>
                  <a:rPr lang="en-US" sz="1900" dirty="0"/>
                  <a:t> = </a:t>
                </a:r>
                <a:r>
                  <a:rPr lang="en-US" sz="1900" i="1" dirty="0"/>
                  <a:t>A</a:t>
                </a:r>
                <a:r>
                  <a:rPr lang="en-US" sz="1900" dirty="0"/>
                  <a:t>(</a:t>
                </a:r>
                <a:r>
                  <a:rPr lang="en-US" sz="1900" b="1" i="1" dirty="0"/>
                  <a:t>X</a:t>
                </a:r>
                <a:r>
                  <a:rPr lang="en-US" sz="1900" dirty="0"/>
                  <a:t>) so that DNN processes the finer feature </a:t>
                </a:r>
                <a:r>
                  <a:rPr lang="en-US" sz="1900" i="1" dirty="0"/>
                  <a:t>A</a:t>
                </a:r>
                <a:r>
                  <a:rPr lang="en-US" sz="1900" dirty="0"/>
                  <a:t> instead of processing the coarser input </a:t>
                </a:r>
                <a:r>
                  <a:rPr lang="en-US" sz="1900" b="1" i="1" dirty="0"/>
                  <a:t>X</a:t>
                </a:r>
                <a:r>
                  <a:rPr lang="en-US" sz="1900" dirty="0"/>
                  <a:t>. </a:t>
                </a:r>
                <a:r>
                  <a:rPr lang="en-US" sz="1900" dirty="0" smtClean="0"/>
                  <a:t>In </a:t>
                </a:r>
                <a:r>
                  <a:rPr lang="en-US" sz="1900" dirty="0"/>
                  <a:t>practice, transformer is associated with feedforward network (FFN) in order to establish a complex transformer which aims to provide the self-supervised learning mechanism to </a:t>
                </a:r>
                <a:r>
                  <a:rPr lang="en-US" sz="1900" dirty="0" smtClean="0"/>
                  <a:t>ANN, </a:t>
                </a:r>
                <a:r>
                  <a:rPr lang="en-US" sz="1900" dirty="0"/>
                  <a:t>which is actually a revolution in domain of </a:t>
                </a:r>
                <a:r>
                  <a:rPr lang="en-US" sz="1900" dirty="0" smtClean="0"/>
                  <a:t>AI.</a:t>
                </a:r>
              </a:p>
              <a:p>
                <a:r>
                  <a:rPr lang="en-US" sz="1900" dirty="0">
                    <a:effectLst>
                      <a:outerShdw blurRad="38100" dist="38100" dir="2700000" algn="tl">
                        <a:srgbClr val="000000">
                          <a:alpha val="43137"/>
                        </a:srgbClr>
                      </a:outerShdw>
                    </a:effectLst>
                  </a:rPr>
                  <a:t>At the other hand, transformer built in its core “attention” without FFN is also a different methodology from traditional ANN </a:t>
                </a:r>
                <a:r>
                  <a:rPr lang="en-US" sz="1900" dirty="0"/>
                  <a:t>because the propagation rule of attentional transformer </a:t>
                </a:r>
                <a14:m>
                  <m:oMath xmlns:m="http://schemas.openxmlformats.org/officeDocument/2006/math">
                    <m:r>
                      <a:rPr lang="en-US" sz="1900" i="1">
                        <a:latin typeface="Cambria Math" panose="02040503050406030204" pitchFamily="18" charset="0"/>
                      </a:rPr>
                      <m:t>𝐴</m:t>
                    </m:r>
                    <m:r>
                      <a:rPr lang="en-US" sz="1900" i="1">
                        <a:latin typeface="Cambria Math" panose="02040503050406030204" pitchFamily="18" charset="0"/>
                      </a:rPr>
                      <m:t>=</m:t>
                    </m:r>
                    <m:r>
                      <m:rPr>
                        <m:sty m:val="p"/>
                      </m:rPr>
                      <a:rPr lang="en-US" sz="1900">
                        <a:latin typeface="Cambria Math" panose="02040503050406030204" pitchFamily="18" charset="0"/>
                      </a:rPr>
                      <m:t>softmax</m:t>
                    </m:r>
                    <m:d>
                      <m:dPr>
                        <m:ctrlPr>
                          <a:rPr lang="en-US" sz="1900" i="1">
                            <a:latin typeface="Cambria Math" panose="02040503050406030204" pitchFamily="18" charset="0"/>
                          </a:rPr>
                        </m:ctrlPr>
                      </m:dPr>
                      <m:e>
                        <m:f>
                          <m:fPr>
                            <m:ctrlPr>
                              <a:rPr lang="en-US" sz="1900" i="1">
                                <a:latin typeface="Cambria Math" panose="02040503050406030204" pitchFamily="18" charset="0"/>
                              </a:rPr>
                            </m:ctrlPr>
                          </m:fPr>
                          <m:num>
                            <m:r>
                              <a:rPr lang="en-US" sz="1900" i="1">
                                <a:latin typeface="Cambria Math" panose="02040503050406030204" pitchFamily="18" charset="0"/>
                              </a:rPr>
                              <m:t>𝑄</m:t>
                            </m:r>
                            <m:sSup>
                              <m:sSupPr>
                                <m:ctrlPr>
                                  <a:rPr lang="en-US" sz="1900" i="1">
                                    <a:latin typeface="Cambria Math" panose="02040503050406030204" pitchFamily="18" charset="0"/>
                                  </a:rPr>
                                </m:ctrlPr>
                              </m:sSupPr>
                              <m:e>
                                <m:r>
                                  <a:rPr lang="en-US" sz="1900" i="1">
                                    <a:latin typeface="Cambria Math" panose="02040503050406030204" pitchFamily="18" charset="0"/>
                                  </a:rPr>
                                  <m:t>𝐾</m:t>
                                </m:r>
                              </m:e>
                              <m:sup>
                                <m:r>
                                  <a:rPr lang="en-US" sz="1900" i="1">
                                    <a:latin typeface="Cambria Math" panose="02040503050406030204" pitchFamily="18" charset="0"/>
                                  </a:rPr>
                                  <m:t>𝑇</m:t>
                                </m:r>
                              </m:sup>
                            </m:sSup>
                          </m:num>
                          <m:den>
                            <m:rad>
                              <m:radPr>
                                <m:degHide m:val="on"/>
                                <m:ctrlPr>
                                  <a:rPr lang="en-US" sz="1900" i="1">
                                    <a:latin typeface="Cambria Math" panose="02040503050406030204" pitchFamily="18" charset="0"/>
                                  </a:rPr>
                                </m:ctrlPr>
                              </m:radPr>
                              <m:deg/>
                              <m:e>
                                <m:sSub>
                                  <m:sSubPr>
                                    <m:ctrlPr>
                                      <a:rPr lang="en-US" sz="1900" i="1">
                                        <a:latin typeface="Cambria Math" panose="02040503050406030204" pitchFamily="18" charset="0"/>
                                      </a:rPr>
                                    </m:ctrlPr>
                                  </m:sSubPr>
                                  <m:e>
                                    <m:r>
                                      <a:rPr lang="en-US" sz="1900" i="1">
                                        <a:latin typeface="Cambria Math" panose="02040503050406030204" pitchFamily="18" charset="0"/>
                                      </a:rPr>
                                      <m:t>𝑑</m:t>
                                    </m:r>
                                  </m:e>
                                  <m:sub>
                                    <m:r>
                                      <a:rPr lang="en-US" sz="1900" i="1">
                                        <a:latin typeface="Cambria Math" panose="02040503050406030204" pitchFamily="18" charset="0"/>
                                      </a:rPr>
                                      <m:t>𝑘</m:t>
                                    </m:r>
                                  </m:sub>
                                </m:sSub>
                              </m:e>
                            </m:rad>
                          </m:den>
                        </m:f>
                      </m:e>
                    </m:d>
                    <m:r>
                      <a:rPr lang="en-US" sz="1900" i="1">
                        <a:latin typeface="Cambria Math" panose="02040503050406030204" pitchFamily="18" charset="0"/>
                      </a:rPr>
                      <m:t>𝑉</m:t>
                    </m:r>
                  </m:oMath>
                </a14:m>
                <a:r>
                  <a:rPr lang="en-US" sz="1900" dirty="0"/>
                  <a:t> mentioned later is an improvement of the propagation rule of </a:t>
                </a:r>
                <a:r>
                  <a:rPr lang="en-US" sz="1900" dirty="0" smtClean="0"/>
                  <a:t>ANN. </a:t>
                </a:r>
                <a:r>
                  <a:rPr lang="en-US" sz="1900" dirty="0"/>
                  <a:t>Actually, the transformer-based propagation rule </a:t>
                </a:r>
                <a14:m>
                  <m:oMath xmlns:m="http://schemas.openxmlformats.org/officeDocument/2006/math">
                    <m:r>
                      <a:rPr lang="en-US" sz="1900" i="1">
                        <a:latin typeface="Cambria Math" panose="02040503050406030204" pitchFamily="18" charset="0"/>
                      </a:rPr>
                      <m:t>𝐴</m:t>
                    </m:r>
                    <m:r>
                      <a:rPr lang="en-US" sz="1900" i="1">
                        <a:latin typeface="Cambria Math" panose="02040503050406030204" pitchFamily="18" charset="0"/>
                      </a:rPr>
                      <m:t>=</m:t>
                    </m:r>
                    <m:r>
                      <m:rPr>
                        <m:sty m:val="p"/>
                      </m:rPr>
                      <a:rPr lang="en-US" sz="1900">
                        <a:latin typeface="Cambria Math" panose="02040503050406030204" pitchFamily="18" charset="0"/>
                      </a:rPr>
                      <m:t>softmax</m:t>
                    </m:r>
                    <m:d>
                      <m:dPr>
                        <m:ctrlPr>
                          <a:rPr lang="en-US" sz="1900" i="1">
                            <a:latin typeface="Cambria Math" panose="02040503050406030204" pitchFamily="18" charset="0"/>
                          </a:rPr>
                        </m:ctrlPr>
                      </m:dPr>
                      <m:e>
                        <m:f>
                          <m:fPr>
                            <m:ctrlPr>
                              <a:rPr lang="en-US" sz="1900" i="1">
                                <a:latin typeface="Cambria Math" panose="02040503050406030204" pitchFamily="18" charset="0"/>
                              </a:rPr>
                            </m:ctrlPr>
                          </m:fPr>
                          <m:num>
                            <m:r>
                              <a:rPr lang="en-US" sz="1900" i="1">
                                <a:latin typeface="Cambria Math" panose="02040503050406030204" pitchFamily="18" charset="0"/>
                              </a:rPr>
                              <m:t>𝑄</m:t>
                            </m:r>
                            <m:sSup>
                              <m:sSupPr>
                                <m:ctrlPr>
                                  <a:rPr lang="en-US" sz="1900" i="1">
                                    <a:latin typeface="Cambria Math" panose="02040503050406030204" pitchFamily="18" charset="0"/>
                                  </a:rPr>
                                </m:ctrlPr>
                              </m:sSupPr>
                              <m:e>
                                <m:r>
                                  <a:rPr lang="en-US" sz="1900" i="1">
                                    <a:latin typeface="Cambria Math" panose="02040503050406030204" pitchFamily="18" charset="0"/>
                                  </a:rPr>
                                  <m:t>𝐾</m:t>
                                </m:r>
                              </m:e>
                              <m:sup>
                                <m:r>
                                  <a:rPr lang="en-US" sz="1900" i="1">
                                    <a:latin typeface="Cambria Math" panose="02040503050406030204" pitchFamily="18" charset="0"/>
                                  </a:rPr>
                                  <m:t>𝑇</m:t>
                                </m:r>
                              </m:sup>
                            </m:sSup>
                          </m:num>
                          <m:den>
                            <m:rad>
                              <m:radPr>
                                <m:degHide m:val="on"/>
                                <m:ctrlPr>
                                  <a:rPr lang="en-US" sz="1900" i="1">
                                    <a:latin typeface="Cambria Math" panose="02040503050406030204" pitchFamily="18" charset="0"/>
                                  </a:rPr>
                                </m:ctrlPr>
                              </m:radPr>
                              <m:deg/>
                              <m:e>
                                <m:sSub>
                                  <m:sSubPr>
                                    <m:ctrlPr>
                                      <a:rPr lang="en-US" sz="1900" i="1">
                                        <a:latin typeface="Cambria Math" panose="02040503050406030204" pitchFamily="18" charset="0"/>
                                      </a:rPr>
                                    </m:ctrlPr>
                                  </m:sSubPr>
                                  <m:e>
                                    <m:r>
                                      <a:rPr lang="en-US" sz="1900" i="1">
                                        <a:latin typeface="Cambria Math" panose="02040503050406030204" pitchFamily="18" charset="0"/>
                                      </a:rPr>
                                      <m:t>𝑑</m:t>
                                    </m:r>
                                  </m:e>
                                  <m:sub>
                                    <m:r>
                                      <a:rPr lang="en-US" sz="1900" i="1">
                                        <a:latin typeface="Cambria Math" panose="02040503050406030204" pitchFamily="18" charset="0"/>
                                      </a:rPr>
                                      <m:t>𝑘</m:t>
                                    </m:r>
                                  </m:sub>
                                </m:sSub>
                              </m:e>
                            </m:rad>
                          </m:den>
                        </m:f>
                      </m:e>
                    </m:d>
                    <m:r>
                      <a:rPr lang="en-US" sz="1900" i="1">
                        <a:latin typeface="Cambria Math" panose="02040503050406030204" pitchFamily="18" charset="0"/>
                      </a:rPr>
                      <m:t>𝑉</m:t>
                    </m:r>
                  </m:oMath>
                </a14:m>
                <a:r>
                  <a:rPr lang="en-US" sz="1900" dirty="0"/>
                  <a:t> is more complicated and clever than the ANN-based propagation rule </a:t>
                </a:r>
                <a14:m>
                  <m:oMath xmlns:m="http://schemas.openxmlformats.org/officeDocument/2006/math">
                    <m:sSub>
                      <m:sSubPr>
                        <m:ctrlPr>
                          <a:rPr lang="en-US" sz="1900" i="1">
                            <a:latin typeface="Cambria Math" panose="02040503050406030204" pitchFamily="18" charset="0"/>
                          </a:rPr>
                        </m:ctrlPr>
                      </m:sSubPr>
                      <m:e>
                        <m:r>
                          <a:rPr lang="en-US" sz="1900" b="1" i="1">
                            <a:latin typeface="Cambria Math" panose="02040503050406030204" pitchFamily="18" charset="0"/>
                          </a:rPr>
                          <m:t>𝑿</m:t>
                        </m:r>
                      </m:e>
                      <m:sub>
                        <m:r>
                          <a:rPr lang="en-US" sz="1900" i="1">
                            <a:latin typeface="Cambria Math" panose="02040503050406030204" pitchFamily="18" charset="0"/>
                          </a:rPr>
                          <m:t>𝑘</m:t>
                        </m:r>
                      </m:sub>
                    </m:sSub>
                    <m:r>
                      <a:rPr lang="en-US" sz="1900" i="1">
                        <a:latin typeface="Cambria Math" panose="02040503050406030204" pitchFamily="18" charset="0"/>
                      </a:rPr>
                      <m:t>=</m:t>
                    </m:r>
                    <m:r>
                      <a:rPr lang="en-US" sz="1900" i="1">
                        <a:latin typeface="Cambria Math" panose="02040503050406030204" pitchFamily="18" charset="0"/>
                      </a:rPr>
                      <m:t>𝑓</m:t>
                    </m:r>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acc>
                              <m:accPr>
                                <m:chr m:val="̂"/>
                                <m:ctrlPr>
                                  <a:rPr lang="en-US" sz="1900" i="1">
                                    <a:latin typeface="Cambria Math" panose="02040503050406030204" pitchFamily="18" charset="0"/>
                                  </a:rPr>
                                </m:ctrlPr>
                              </m:accPr>
                              <m:e>
                                <m:r>
                                  <a:rPr lang="en-US" sz="1900" b="1" i="1">
                                    <a:latin typeface="Cambria Math" panose="02040503050406030204" pitchFamily="18" charset="0"/>
                                  </a:rPr>
                                  <m:t>𝑿</m:t>
                                </m:r>
                              </m:e>
                            </m:acc>
                          </m:e>
                          <m:sub>
                            <m:r>
                              <a:rPr lang="en-US" sz="1900" i="1">
                                <a:latin typeface="Cambria Math" panose="02040503050406030204" pitchFamily="18" charset="0"/>
                              </a:rPr>
                              <m:t>𝑘</m:t>
                            </m:r>
                            <m:r>
                              <a:rPr lang="en-US" sz="1900" i="1">
                                <a:latin typeface="Cambria Math" panose="02040503050406030204" pitchFamily="18" charset="0"/>
                              </a:rPr>
                              <m:t>−1</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𝑈</m:t>
                            </m:r>
                          </m:e>
                          <m:sub>
                            <m:r>
                              <a:rPr lang="en-US" sz="1900" i="1">
                                <a:latin typeface="Cambria Math" panose="02040503050406030204" pitchFamily="18" charset="0"/>
                              </a:rPr>
                              <m:t>𝑘</m:t>
                            </m:r>
                          </m:sub>
                        </m:sSub>
                        <m:sSub>
                          <m:sSubPr>
                            <m:ctrlPr>
                              <a:rPr lang="en-US" sz="1900" i="1">
                                <a:latin typeface="Cambria Math" panose="02040503050406030204" pitchFamily="18" charset="0"/>
                              </a:rPr>
                            </m:ctrlPr>
                          </m:sSubPr>
                          <m:e>
                            <m:r>
                              <a:rPr lang="en-US" sz="1900" b="1" i="1">
                                <a:latin typeface="Cambria Math" panose="02040503050406030204" pitchFamily="18" charset="0"/>
                              </a:rPr>
                              <m:t>𝑿</m:t>
                            </m:r>
                          </m:e>
                          <m:sub>
                            <m:r>
                              <a:rPr lang="en-US" sz="1900" i="1">
                                <a:latin typeface="Cambria Math" panose="02040503050406030204" pitchFamily="18" charset="0"/>
                              </a:rPr>
                              <m:t>𝑘</m:t>
                            </m:r>
                            <m:r>
                              <a:rPr lang="en-US" sz="1900" i="1">
                                <a:latin typeface="Cambria Math" panose="02040503050406030204" pitchFamily="18" charset="0"/>
                              </a:rPr>
                              <m:t>−1</m:t>
                            </m:r>
                          </m:sub>
                        </m:sSub>
                        <m:sSub>
                          <m:sSubPr>
                            <m:ctrlPr>
                              <a:rPr lang="en-US" sz="1900" i="1">
                                <a:latin typeface="Cambria Math" panose="02040503050406030204" pitchFamily="18" charset="0"/>
                              </a:rPr>
                            </m:ctrlPr>
                          </m:sSubPr>
                          <m:e>
                            <m:r>
                              <a:rPr lang="en-US" sz="1900" i="1">
                                <a:latin typeface="Cambria Math" panose="02040503050406030204" pitchFamily="18" charset="0"/>
                              </a:rPr>
                              <m:t>𝑉</m:t>
                            </m:r>
                          </m:e>
                          <m:sub>
                            <m:r>
                              <a:rPr lang="en-US" sz="1900" i="1">
                                <a:latin typeface="Cambria Math" panose="02040503050406030204" pitchFamily="18" charset="0"/>
                              </a:rPr>
                              <m:t>𝑘</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m:rPr>
                                <m:sty m:val="p"/>
                              </m:rPr>
                              <a:rPr lang="en-US" sz="1900">
                                <a:latin typeface="Cambria Math" panose="02040503050406030204" pitchFamily="18" charset="0"/>
                              </a:rPr>
                              <m:t>Θ</m:t>
                            </m:r>
                          </m:e>
                          <m:sub>
                            <m:r>
                              <a:rPr lang="en-US" sz="1900" i="1">
                                <a:latin typeface="Cambria Math" panose="02040503050406030204" pitchFamily="18" charset="0"/>
                              </a:rPr>
                              <m:t>𝑘</m:t>
                            </m:r>
                          </m:sub>
                        </m:sSub>
                      </m:e>
                    </m:d>
                  </m:oMath>
                </a14:m>
                <a:r>
                  <a:rPr lang="en-US" sz="1900" dirty="0"/>
                  <a:t> with note that the soft-max function </a:t>
                </a:r>
                <a:r>
                  <a:rPr lang="en-US" sz="1900" dirty="0" smtClean="0"/>
                  <a:t>is </a:t>
                </a:r>
                <a:r>
                  <a:rPr lang="en-US" sz="1900" dirty="0"/>
                  <a:t>also a perfect squash activation function. Therefore, it is totally to connect many attentions as attentional layers together by the same way that ANN connects its neuron layers together</a:t>
                </a:r>
                <a:r>
                  <a:rPr lang="en-US" sz="1900" dirty="0" smtClean="0"/>
                  <a:t>.</a:t>
                </a:r>
              </a:p>
              <a:p>
                <a:r>
                  <a:rPr lang="en-US" sz="1900" dirty="0"/>
                  <a:t>The reason that the FFN connects the attention </a:t>
                </a:r>
                <a:r>
                  <a:rPr lang="en-US" sz="1900" i="1" dirty="0"/>
                  <a:t>A</a:t>
                </a:r>
                <a:r>
                  <a:rPr lang="en-US" sz="1900" dirty="0"/>
                  <a:t>(</a:t>
                </a:r>
                <a:r>
                  <a:rPr lang="en-US" sz="1900" b="1" i="1" dirty="0"/>
                  <a:t>X</a:t>
                </a:r>
                <a:r>
                  <a:rPr lang="en-US" sz="1900" dirty="0"/>
                  <a:t>) for constituting a complex transformer is to fine-tune the attention </a:t>
                </a:r>
                <a:r>
                  <a:rPr lang="en-US" sz="1900" i="1" dirty="0"/>
                  <a:t>A</a:t>
                </a:r>
                <a:r>
                  <a:rPr lang="en-US" sz="1900" dirty="0"/>
                  <a:t>(</a:t>
                </a:r>
                <a:r>
                  <a:rPr lang="en-US" sz="1900" b="1" i="1" dirty="0"/>
                  <a:t>X</a:t>
                </a:r>
                <a:r>
                  <a:rPr lang="en-US" sz="1900" dirty="0"/>
                  <a:t>), which is the second viewpoint that is opposite to the aforementioned first viewpoint that the attention </a:t>
                </a:r>
                <a:r>
                  <a:rPr lang="en-US" sz="1900" i="1" dirty="0"/>
                  <a:t>A</a:t>
                </a:r>
                <a:r>
                  <a:rPr lang="en-US" sz="1900" dirty="0"/>
                  <a:t>(</a:t>
                </a:r>
                <a:r>
                  <a:rPr lang="en-US" sz="1900" b="1" i="1" dirty="0"/>
                  <a:t>X</a:t>
                </a:r>
                <a:r>
                  <a:rPr lang="en-US" sz="1900" dirty="0"/>
                  <a:t>) aims to fine-tune the coarse input data </a:t>
                </a:r>
                <a:r>
                  <a:rPr lang="en-US" sz="1900" b="1" i="1" dirty="0"/>
                  <a:t>X</a:t>
                </a:r>
                <a:r>
                  <a:rPr lang="en-US" sz="1900" dirty="0"/>
                  <a:t> into finer feature </a:t>
                </a:r>
                <a:r>
                  <a:rPr lang="en-US" sz="1900" i="1" dirty="0"/>
                  <a:t>A</a:t>
                </a:r>
                <a:r>
                  <a:rPr lang="en-US" sz="1900" dirty="0"/>
                  <a:t>(</a:t>
                </a:r>
                <a:r>
                  <a:rPr lang="en-US" sz="1900" b="1" i="1" dirty="0"/>
                  <a:t>X</a:t>
                </a:r>
                <a:r>
                  <a:rPr lang="en-US" sz="19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 y="914399"/>
                <a:ext cx="12009120" cy="5176066"/>
              </a:xfrm>
              <a:blipFill>
                <a:blip r:embed="rId2"/>
                <a:stretch>
                  <a:fillRect l="-406" t="-707" r="-711" b="-3298"/>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22</a:t>
            </a:fld>
            <a:endParaRPr lang="en-US"/>
          </a:p>
        </p:txBody>
      </p:sp>
    </p:spTree>
    <p:extLst>
      <p:ext uri="{BB962C8B-B14F-4D97-AF65-F5344CB8AC3E}">
        <p14:creationId xmlns:p14="http://schemas.microsoft.com/office/powerpoint/2010/main" val="17443563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network</a:t>
            </a:r>
          </a:p>
        </p:txBody>
      </p:sp>
      <p:sp>
        <p:nvSpPr>
          <p:cNvPr id="3" name="Content Placeholder 2"/>
          <p:cNvSpPr>
            <a:spLocks noGrp="1"/>
          </p:cNvSpPr>
          <p:nvPr>
            <p:ph idx="1"/>
          </p:nvPr>
        </p:nvSpPr>
        <p:spPr>
          <a:xfrm>
            <a:off x="71120" y="914399"/>
            <a:ext cx="12049760" cy="5176066"/>
          </a:xfrm>
        </p:spPr>
        <p:txBody>
          <a:bodyPr>
            <a:noAutofit/>
          </a:bodyPr>
          <a:lstStyle/>
          <a:p>
            <a:r>
              <a:rPr lang="en-US" sz="2250" dirty="0"/>
              <a:t>The essence of convolutional neural network (CNN) is to extract feature of image whereas the essence of transformer-based attention discovering is to extract feature of general data in matrix form. That is the reason of the main hypothesis of this </a:t>
            </a:r>
            <a:r>
              <a:rPr lang="en-US" sz="2250" dirty="0" smtClean="0"/>
              <a:t>research “Is </a:t>
            </a:r>
            <a:r>
              <a:rPr lang="en-US" sz="2250" dirty="0"/>
              <a:t>matrix neural network </a:t>
            </a:r>
            <a:r>
              <a:rPr lang="en-US" sz="2250" dirty="0" smtClean="0"/>
              <a:t>(MNN) the </a:t>
            </a:r>
            <a:r>
              <a:rPr lang="en-US" sz="2250" dirty="0"/>
              <a:t>alternative of </a:t>
            </a:r>
            <a:r>
              <a:rPr lang="en-US" sz="2250" dirty="0" smtClean="0"/>
              <a:t>CNN?”, </a:t>
            </a:r>
            <a:r>
              <a:rPr lang="en-US" sz="2250" dirty="0"/>
              <a:t>which also implies that whether attention extracted by transformer can be the alternative of convolutional layer resulted by CNN when attention of transformer is always based on matrix. The first hazard problem is that CNN processes fast convolutional layer because of the implication of filter operating by small size of kernel whereas there is the aforementioned boom problem of ANN depends on flattening high-dimensional matrix-form data like image into vector-form input </a:t>
            </a:r>
            <a:r>
              <a:rPr lang="en-US" sz="2250" dirty="0" smtClean="0"/>
              <a:t>layer.</a:t>
            </a:r>
          </a:p>
          <a:p>
            <a:r>
              <a:rPr lang="en-US" sz="2250" dirty="0" smtClean="0"/>
              <a:t>Fortunately</a:t>
            </a:r>
            <a:r>
              <a:rPr lang="en-US" sz="2250" dirty="0"/>
              <a:t>, the first hazard problem is solved exactly by </a:t>
            </a:r>
            <a:r>
              <a:rPr lang="en-US" sz="2250" dirty="0" smtClean="0"/>
              <a:t>MNN </a:t>
            </a:r>
            <a:r>
              <a:rPr lang="en-US" sz="2250" dirty="0"/>
              <a:t>where parameters of MNN are in matrix form. As a result, </a:t>
            </a:r>
            <a:r>
              <a:rPr lang="en-US" sz="2250" dirty="0">
                <a:effectLst>
                  <a:outerShdw blurRad="38100" dist="38100" dir="2700000" algn="tl">
                    <a:srgbClr val="000000">
                      <a:alpha val="43137"/>
                    </a:srgbClr>
                  </a:outerShdw>
                </a:effectLst>
              </a:rPr>
              <a:t>the fact that FFN of transformer is MNN is application of MNN into transformer so that the research focuses on the effectiveness of MNN in comparison with CNN in order to evaluate the hypothesis “Is </a:t>
            </a:r>
            <a:r>
              <a:rPr lang="en-US" sz="2250" dirty="0" smtClean="0">
                <a:effectLst>
                  <a:outerShdw blurRad="38100" dist="38100" dir="2700000" algn="tl">
                    <a:srgbClr val="000000">
                      <a:alpha val="43137"/>
                    </a:srgbClr>
                  </a:outerShdw>
                </a:effectLst>
              </a:rPr>
              <a:t>MNN </a:t>
            </a:r>
            <a:r>
              <a:rPr lang="en-US" sz="2250" dirty="0">
                <a:effectLst>
                  <a:outerShdw blurRad="38100" dist="38100" dir="2700000" algn="tl">
                    <a:srgbClr val="000000">
                      <a:alpha val="43137"/>
                    </a:srgbClr>
                  </a:outerShdw>
                </a:effectLst>
              </a:rPr>
              <a:t>the alternative of </a:t>
            </a:r>
            <a:r>
              <a:rPr lang="en-US" sz="2250" dirty="0" smtClean="0">
                <a:effectLst>
                  <a:outerShdw blurRad="38100" dist="38100" dir="2700000" algn="tl">
                    <a:srgbClr val="000000">
                      <a:alpha val="43137"/>
                    </a:srgbClr>
                  </a:outerShdw>
                </a:effectLst>
              </a:rPr>
              <a:t>CNN?”</a:t>
            </a:r>
            <a:r>
              <a:rPr lang="en-US" sz="2250" dirty="0" smtClean="0"/>
              <a:t> </a:t>
            </a:r>
            <a:r>
              <a:rPr lang="en-US" sz="2250" dirty="0"/>
              <a:t>with note that convergence speed is also concerned when evaluating this hypothesis. Anyhow, it is necessary to sketch transformer and its extraction mechanism for extracting attention.</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23</a:t>
            </a:fld>
            <a:endParaRPr lang="en-US"/>
          </a:p>
        </p:txBody>
      </p:sp>
    </p:spTree>
    <p:extLst>
      <p:ext uri="{BB962C8B-B14F-4D97-AF65-F5344CB8AC3E}">
        <p14:creationId xmlns:p14="http://schemas.microsoft.com/office/powerpoint/2010/main" val="209967988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a:t>
            </a:r>
            <a:r>
              <a:rPr lang="en-US" dirty="0" smtClean="0"/>
              <a:t>network (main)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1120" y="914399"/>
                <a:ext cx="12029440" cy="5176066"/>
              </a:xfrm>
            </p:spPr>
            <p:txBody>
              <a:bodyPr>
                <a:noAutofit/>
              </a:bodyPr>
              <a:lstStyle/>
              <a:p>
                <a:pPr marL="0" indent="0">
                  <a:buNone/>
                </a:pPr>
                <a:r>
                  <a:rPr lang="en-US" sz="2100" dirty="0" smtClean="0">
                    <a:effectLst>
                      <a:outerShdw blurRad="38100" dist="38100" dir="2700000" algn="tl">
                        <a:srgbClr val="000000">
                          <a:alpha val="43137"/>
                        </a:srgbClr>
                      </a:outerShdw>
                    </a:effectLst>
                  </a:rPr>
                  <a:t>Given input data </a:t>
                </a:r>
                <a:r>
                  <a:rPr lang="en-US" sz="2100" b="1" i="1" dirty="0">
                    <a:effectLst>
                      <a:outerShdw blurRad="38100" dist="38100" dir="2700000" algn="tl">
                        <a:srgbClr val="000000">
                          <a:alpha val="43137"/>
                        </a:srgbClr>
                      </a:outerShdw>
                    </a:effectLst>
                  </a:rPr>
                  <a:t>X</a:t>
                </a:r>
                <a:r>
                  <a:rPr lang="en-US" sz="2100" dirty="0">
                    <a:effectLst>
                      <a:outerShdw blurRad="38100" dist="38100" dir="2700000" algn="tl">
                        <a:srgbClr val="000000">
                          <a:alpha val="43137"/>
                        </a:srgbClr>
                      </a:outerShdw>
                    </a:effectLst>
                  </a:rPr>
                  <a:t> = </a:t>
                </a:r>
                <a:r>
                  <a:rPr lang="en-US" sz="2100" b="1" i="1" dirty="0">
                    <a:effectLst>
                      <a:outerShdw blurRad="38100" dist="38100" dir="2700000" algn="tl">
                        <a:srgbClr val="000000">
                          <a:alpha val="43137"/>
                        </a:srgbClr>
                      </a:outerShdw>
                    </a:effectLst>
                  </a:rPr>
                  <a:t>X</a:t>
                </a:r>
                <a:r>
                  <a:rPr lang="en-US" sz="2100" baseline="-25000" dirty="0">
                    <a:effectLst>
                      <a:outerShdw blurRad="38100" dist="38100" dir="2700000" algn="tl">
                        <a:srgbClr val="000000">
                          <a:alpha val="43137"/>
                        </a:srgbClr>
                      </a:outerShdw>
                    </a:effectLst>
                  </a:rPr>
                  <a:t>0</a:t>
                </a:r>
                <a:r>
                  <a:rPr lang="en-US" sz="2100" dirty="0">
                    <a:effectLst>
                      <a:outerShdw blurRad="38100" dist="38100" dir="2700000" algn="tl">
                        <a:srgbClr val="000000">
                          <a:alpha val="43137"/>
                        </a:srgbClr>
                      </a:outerShdw>
                    </a:effectLst>
                  </a:rPr>
                  <a:t> and three weight </a:t>
                </a:r>
                <a:r>
                  <a:rPr lang="en-US" sz="2100" dirty="0" smtClean="0">
                    <a:effectLst>
                      <a:outerShdw blurRad="38100" dist="38100" dir="2700000" algn="tl">
                        <a:srgbClr val="000000">
                          <a:alpha val="43137"/>
                        </a:srgbClr>
                      </a:outerShdw>
                    </a:effectLst>
                  </a:rPr>
                  <a:t>matrices </a:t>
                </a:r>
                <a:r>
                  <a:rPr lang="en-US" sz="2100" i="1" dirty="0">
                    <a:effectLst>
                      <a:outerShdw blurRad="38100" dist="38100" dir="2700000" algn="tl">
                        <a:srgbClr val="000000">
                          <a:alpha val="43137"/>
                        </a:srgbClr>
                      </a:outerShdw>
                    </a:effectLst>
                  </a:rPr>
                  <a:t>W</a:t>
                </a:r>
                <a:r>
                  <a:rPr lang="en-US" sz="2100" i="1" baseline="30000" dirty="0">
                    <a:effectLst>
                      <a:outerShdw blurRad="38100" dist="38100" dir="2700000" algn="tl">
                        <a:srgbClr val="000000">
                          <a:alpha val="43137"/>
                        </a:srgbClr>
                      </a:outerShdw>
                    </a:effectLst>
                  </a:rPr>
                  <a:t>Q</a:t>
                </a:r>
                <a:r>
                  <a:rPr lang="en-US" sz="2100" dirty="0">
                    <a:effectLst>
                      <a:outerShdw blurRad="38100" dist="38100" dir="2700000" algn="tl">
                        <a:srgbClr val="000000">
                          <a:alpha val="43137"/>
                        </a:srgbClr>
                      </a:outerShdw>
                    </a:effectLst>
                  </a:rPr>
                  <a:t>, </a:t>
                </a:r>
                <a:r>
                  <a:rPr lang="en-US" sz="2100" i="1" dirty="0">
                    <a:effectLst>
                      <a:outerShdw blurRad="38100" dist="38100" dir="2700000" algn="tl">
                        <a:srgbClr val="000000">
                          <a:alpha val="43137"/>
                        </a:srgbClr>
                      </a:outerShdw>
                    </a:effectLst>
                  </a:rPr>
                  <a:t>W</a:t>
                </a:r>
                <a:r>
                  <a:rPr lang="en-US" sz="2100" i="1" baseline="30000" dirty="0">
                    <a:effectLst>
                      <a:outerShdw blurRad="38100" dist="38100" dir="2700000" algn="tl">
                        <a:srgbClr val="000000">
                          <a:alpha val="43137"/>
                        </a:srgbClr>
                      </a:outerShdw>
                    </a:effectLst>
                  </a:rPr>
                  <a:t>K</a:t>
                </a:r>
                <a:r>
                  <a:rPr lang="en-US" sz="2100" dirty="0">
                    <a:effectLst>
                      <a:outerShdw blurRad="38100" dist="38100" dir="2700000" algn="tl">
                        <a:srgbClr val="000000">
                          <a:alpha val="43137"/>
                        </a:srgbClr>
                      </a:outerShdw>
                    </a:effectLst>
                  </a:rPr>
                  <a:t>, and </a:t>
                </a:r>
                <a:r>
                  <a:rPr lang="en-US" sz="2100" i="1" dirty="0">
                    <a:effectLst>
                      <a:outerShdw blurRad="38100" dist="38100" dir="2700000" algn="tl">
                        <a:srgbClr val="000000">
                          <a:alpha val="43137"/>
                        </a:srgbClr>
                      </a:outerShdw>
                    </a:effectLst>
                  </a:rPr>
                  <a:t>W</a:t>
                </a:r>
                <a:r>
                  <a:rPr lang="en-US" sz="2100" i="1" baseline="30000" dirty="0">
                    <a:effectLst>
                      <a:outerShdw blurRad="38100" dist="38100" dir="2700000" algn="tl">
                        <a:srgbClr val="000000">
                          <a:alpha val="43137"/>
                        </a:srgbClr>
                      </a:outerShdw>
                    </a:effectLst>
                  </a:rPr>
                  <a:t>V</a:t>
                </a:r>
                <a:r>
                  <a:rPr lang="en-US" sz="2100" dirty="0">
                    <a:effectLst>
                      <a:outerShdw blurRad="38100" dist="38100" dir="2700000" algn="tl">
                        <a:srgbClr val="000000">
                          <a:alpha val="43137"/>
                        </a:srgbClr>
                      </a:outerShdw>
                    </a:effectLst>
                  </a:rPr>
                  <a:t> which are parameters of transformer, then query matrix </a:t>
                </a:r>
                <a:r>
                  <a:rPr lang="en-US" sz="2100" i="1" dirty="0">
                    <a:effectLst>
                      <a:outerShdw blurRad="38100" dist="38100" dir="2700000" algn="tl">
                        <a:srgbClr val="000000">
                          <a:alpha val="43137"/>
                        </a:srgbClr>
                      </a:outerShdw>
                    </a:effectLst>
                  </a:rPr>
                  <a:t>Q</a:t>
                </a:r>
                <a:r>
                  <a:rPr lang="en-US" sz="2100" dirty="0">
                    <a:effectLst>
                      <a:outerShdw blurRad="38100" dist="38100" dir="2700000" algn="tl">
                        <a:srgbClr val="000000">
                          <a:alpha val="43137"/>
                        </a:srgbClr>
                      </a:outerShdw>
                    </a:effectLst>
                  </a:rPr>
                  <a:t>, key matrix </a:t>
                </a:r>
                <a:r>
                  <a:rPr lang="en-US" sz="2100" i="1" dirty="0">
                    <a:effectLst>
                      <a:outerShdw blurRad="38100" dist="38100" dir="2700000" algn="tl">
                        <a:srgbClr val="000000">
                          <a:alpha val="43137"/>
                        </a:srgbClr>
                      </a:outerShdw>
                    </a:effectLst>
                  </a:rPr>
                  <a:t>K</a:t>
                </a:r>
                <a:r>
                  <a:rPr lang="en-US" sz="2100" dirty="0">
                    <a:effectLst>
                      <a:outerShdw blurRad="38100" dist="38100" dir="2700000" algn="tl">
                        <a:srgbClr val="000000">
                          <a:alpha val="43137"/>
                        </a:srgbClr>
                      </a:outerShdw>
                    </a:effectLst>
                  </a:rPr>
                  <a:t>, and value matrix </a:t>
                </a:r>
                <a:r>
                  <a:rPr lang="en-US" sz="2100" i="1" dirty="0">
                    <a:effectLst>
                      <a:outerShdw blurRad="38100" dist="38100" dir="2700000" algn="tl">
                        <a:srgbClr val="000000">
                          <a:alpha val="43137"/>
                        </a:srgbClr>
                      </a:outerShdw>
                    </a:effectLst>
                  </a:rPr>
                  <a:t>V</a:t>
                </a:r>
                <a:r>
                  <a:rPr lang="en-US" sz="2100" dirty="0">
                    <a:effectLst>
                      <a:outerShdw blurRad="38100" dist="38100" dir="2700000" algn="tl">
                        <a:srgbClr val="000000">
                          <a:alpha val="43137"/>
                        </a:srgbClr>
                      </a:outerShdw>
                    </a:effectLst>
                  </a:rPr>
                  <a:t> are specified as follows</a:t>
                </a:r>
                <a:r>
                  <a:rPr lang="en-US" sz="2100" dirty="0" smtClean="0">
                    <a:effectLst>
                      <a:outerShdw blurRad="38100" dist="38100" dir="2700000" algn="tl">
                        <a:srgbClr val="000000">
                          <a:alpha val="43137"/>
                        </a:srgbClr>
                      </a:outerShdw>
                    </a:effectLst>
                  </a:rPr>
                  <a:t>:</a:t>
                </a:r>
              </a:p>
              <a:p>
                <a:pPr marL="0" indent="0">
                  <a:buNone/>
                </a:pPr>
                <a14:m>
                  <m:oMathPara xmlns:m="http://schemas.openxmlformats.org/officeDocument/2006/math">
                    <m:oMathParaPr>
                      <m:jc m:val="centerGroup"/>
                    </m:oMathParaPr>
                    <m:oMath xmlns:m="http://schemas.openxmlformats.org/officeDocument/2006/math">
                      <m:r>
                        <a:rPr lang="en-US" sz="2100" i="1">
                          <a:latin typeface="Cambria Math" panose="02040503050406030204" pitchFamily="18" charset="0"/>
                        </a:rPr>
                        <m:t>𝑄</m:t>
                      </m:r>
                      <m:r>
                        <a:rPr lang="en-US" sz="2100" i="1">
                          <a:latin typeface="Cambria Math" panose="02040503050406030204" pitchFamily="18" charset="0"/>
                        </a:rPr>
                        <m:t>=</m:t>
                      </m:r>
                      <m:r>
                        <a:rPr lang="en-US" sz="2100" b="1" i="1">
                          <a:latin typeface="Cambria Math" panose="02040503050406030204" pitchFamily="18" charset="0"/>
                        </a:rPr>
                        <m:t>𝑿</m:t>
                      </m:r>
                      <m:sSup>
                        <m:sSupPr>
                          <m:ctrlPr>
                            <a:rPr lang="en-US" sz="2100" i="1">
                              <a:latin typeface="Cambria Math" panose="02040503050406030204" pitchFamily="18" charset="0"/>
                            </a:rPr>
                          </m:ctrlPr>
                        </m:sSupPr>
                        <m:e>
                          <m:r>
                            <a:rPr lang="en-US" sz="2100" i="1">
                              <a:latin typeface="Cambria Math" panose="02040503050406030204" pitchFamily="18" charset="0"/>
                            </a:rPr>
                            <m:t>𝑊</m:t>
                          </m:r>
                        </m:e>
                        <m:sup>
                          <m:r>
                            <a:rPr lang="en-US" sz="2100" i="1">
                              <a:latin typeface="Cambria Math" panose="02040503050406030204" pitchFamily="18" charset="0"/>
                            </a:rPr>
                            <m:t>𝑄</m:t>
                          </m:r>
                        </m:sup>
                      </m:sSup>
                      <m:r>
                        <a:rPr lang="en-US" sz="2100" b="0" i="1" smtClean="0">
                          <a:latin typeface="Cambria Math" panose="02040503050406030204" pitchFamily="18" charset="0"/>
                        </a:rPr>
                        <m:t>,</m:t>
                      </m:r>
                      <m:r>
                        <a:rPr lang="en-US" sz="2100" i="1">
                          <a:latin typeface="Cambria Math" panose="02040503050406030204" pitchFamily="18" charset="0"/>
                        </a:rPr>
                        <m:t>𝐾</m:t>
                      </m:r>
                      <m:r>
                        <a:rPr lang="en-US" sz="2100" i="1">
                          <a:latin typeface="Cambria Math" panose="02040503050406030204" pitchFamily="18" charset="0"/>
                        </a:rPr>
                        <m:t>=</m:t>
                      </m:r>
                      <m:r>
                        <a:rPr lang="en-US" sz="2100" b="1" i="1">
                          <a:latin typeface="Cambria Math" panose="02040503050406030204" pitchFamily="18" charset="0"/>
                        </a:rPr>
                        <m:t>𝑿</m:t>
                      </m:r>
                      <m:sSup>
                        <m:sSupPr>
                          <m:ctrlPr>
                            <a:rPr lang="en-US" sz="2100" i="1">
                              <a:latin typeface="Cambria Math" panose="02040503050406030204" pitchFamily="18" charset="0"/>
                            </a:rPr>
                          </m:ctrlPr>
                        </m:sSupPr>
                        <m:e>
                          <m:r>
                            <a:rPr lang="en-US" sz="2100" i="1">
                              <a:latin typeface="Cambria Math" panose="02040503050406030204" pitchFamily="18" charset="0"/>
                            </a:rPr>
                            <m:t>𝑊</m:t>
                          </m:r>
                        </m:e>
                        <m:sup>
                          <m:r>
                            <a:rPr lang="en-US" sz="2100" i="1">
                              <a:latin typeface="Cambria Math" panose="02040503050406030204" pitchFamily="18" charset="0"/>
                            </a:rPr>
                            <m:t>𝐾</m:t>
                          </m:r>
                        </m:sup>
                      </m:sSup>
                      <m:r>
                        <a:rPr lang="en-US" sz="2100" b="0" i="1" smtClean="0">
                          <a:latin typeface="Cambria Math" panose="02040503050406030204" pitchFamily="18" charset="0"/>
                        </a:rPr>
                        <m:t>,</m:t>
                      </m:r>
                      <m:r>
                        <a:rPr lang="en-US" sz="2100" i="1">
                          <a:latin typeface="Cambria Math" panose="02040503050406030204" pitchFamily="18" charset="0"/>
                        </a:rPr>
                        <m:t>𝑉</m:t>
                      </m:r>
                      <m:r>
                        <a:rPr lang="en-US" sz="2100" i="1">
                          <a:latin typeface="Cambria Math" panose="02040503050406030204" pitchFamily="18" charset="0"/>
                        </a:rPr>
                        <m:t>=</m:t>
                      </m:r>
                      <m:r>
                        <a:rPr lang="en-US" sz="2100" b="1" i="1">
                          <a:latin typeface="Cambria Math" panose="02040503050406030204" pitchFamily="18" charset="0"/>
                        </a:rPr>
                        <m:t>𝑿</m:t>
                      </m:r>
                      <m:sSup>
                        <m:sSupPr>
                          <m:ctrlPr>
                            <a:rPr lang="en-US" sz="2100" i="1">
                              <a:latin typeface="Cambria Math" panose="02040503050406030204" pitchFamily="18" charset="0"/>
                            </a:rPr>
                          </m:ctrlPr>
                        </m:sSupPr>
                        <m:e>
                          <m:r>
                            <a:rPr lang="en-US" sz="2100" i="1">
                              <a:latin typeface="Cambria Math" panose="02040503050406030204" pitchFamily="18" charset="0"/>
                            </a:rPr>
                            <m:t>𝑊</m:t>
                          </m:r>
                        </m:e>
                        <m:sup>
                          <m:r>
                            <a:rPr lang="en-US" sz="2100" i="1">
                              <a:latin typeface="Cambria Math" panose="02040503050406030204" pitchFamily="18" charset="0"/>
                            </a:rPr>
                            <m:t>𝑉</m:t>
                          </m:r>
                        </m:sup>
                      </m:sSup>
                    </m:oMath>
                  </m:oMathPara>
                </a14:m>
                <a:endParaRPr lang="en-US" sz="2100" dirty="0" smtClean="0"/>
              </a:p>
              <a:p>
                <a:pPr marL="0" indent="0">
                  <a:buNone/>
                </a:pPr>
                <a:r>
                  <a:rPr lang="en-US" sz="2100" dirty="0"/>
                  <a:t>Query matrix </a:t>
                </a:r>
                <a:r>
                  <a:rPr lang="en-US" sz="2100" i="1" dirty="0"/>
                  <a:t>Q</a:t>
                </a:r>
                <a:r>
                  <a:rPr lang="en-US" sz="2100" dirty="0"/>
                  <a:t> represents what the system necessarily searches and key matrix </a:t>
                </a:r>
                <a:r>
                  <a:rPr lang="en-US" sz="2100" i="1" dirty="0"/>
                  <a:t>K</a:t>
                </a:r>
                <a:r>
                  <a:rPr lang="en-US" sz="2100" dirty="0"/>
                  <a:t> represents the information that sequence </a:t>
                </a:r>
                <a:r>
                  <a:rPr lang="en-US" sz="2100" b="1" i="1" dirty="0"/>
                  <a:t>X</a:t>
                </a:r>
                <a:r>
                  <a:rPr lang="en-US" sz="2100" dirty="0"/>
                  <a:t> may expectedly contain whereas value matrix </a:t>
                </a:r>
                <a:r>
                  <a:rPr lang="en-US" sz="2100" i="1" dirty="0"/>
                  <a:t>V</a:t>
                </a:r>
                <a:r>
                  <a:rPr lang="en-US" sz="2100" dirty="0"/>
                  <a:t> represents the actual content of sequence </a:t>
                </a:r>
                <a:r>
                  <a:rPr lang="en-US" sz="2100" b="1" i="1" dirty="0"/>
                  <a:t>X</a:t>
                </a:r>
                <a:r>
                  <a:rPr lang="en-US" sz="2100" dirty="0"/>
                  <a:t> (Gemini 2025). As usual, the three parametric matrices</a:t>
                </a:r>
                <a:r>
                  <a:rPr lang="en-US" sz="2100" i="1" dirty="0"/>
                  <a:t> W</a:t>
                </a:r>
                <a:r>
                  <a:rPr lang="en-US" sz="2100" i="1" baseline="30000" dirty="0"/>
                  <a:t>Q</a:t>
                </a:r>
                <a:r>
                  <a:rPr lang="en-US" sz="2100" dirty="0"/>
                  <a:t>, </a:t>
                </a:r>
                <a:r>
                  <a:rPr lang="en-US" sz="2100" i="1" dirty="0"/>
                  <a:t>W</a:t>
                </a:r>
                <a:r>
                  <a:rPr lang="en-US" sz="2100" i="1" baseline="30000" dirty="0"/>
                  <a:t>K</a:t>
                </a:r>
                <a:r>
                  <a:rPr lang="en-US" sz="2100" dirty="0"/>
                  <a:t>, and </a:t>
                </a:r>
                <a:r>
                  <a:rPr lang="en-US" sz="2100" i="1" dirty="0"/>
                  <a:t>W</a:t>
                </a:r>
                <a:r>
                  <a:rPr lang="en-US" sz="2100" i="1" baseline="30000" dirty="0"/>
                  <a:t>V</a:t>
                </a:r>
                <a:r>
                  <a:rPr lang="en-US" sz="2100" dirty="0"/>
                  <a:t> are called query weight matrix, key weight matrix, value weight matrix, respectively. </a:t>
                </a:r>
                <a:r>
                  <a:rPr lang="en-US" sz="2100" dirty="0">
                    <a:effectLst>
                      <a:outerShdw blurRad="38100" dist="38100" dir="2700000" algn="tl">
                        <a:srgbClr val="000000">
                          <a:alpha val="43137"/>
                        </a:srgbClr>
                      </a:outerShdw>
                    </a:effectLst>
                  </a:rPr>
                  <a:t>Attention </a:t>
                </a:r>
                <a:r>
                  <a:rPr lang="en-US" sz="2100" i="1" dirty="0">
                    <a:effectLst>
                      <a:outerShdw blurRad="38100" dist="38100" dir="2700000" algn="tl">
                        <a:srgbClr val="000000">
                          <a:alpha val="43137"/>
                        </a:srgbClr>
                      </a:outerShdw>
                    </a:effectLst>
                  </a:rPr>
                  <a:t>A</a:t>
                </a:r>
                <a:r>
                  <a:rPr lang="en-US" sz="2100" dirty="0">
                    <a:effectLst>
                      <a:outerShdw blurRad="38100" dist="38100" dir="2700000" algn="tl">
                        <a:srgbClr val="000000">
                          <a:alpha val="43137"/>
                        </a:srgbClr>
                      </a:outerShdw>
                    </a:effectLst>
                  </a:rPr>
                  <a:t> = </a:t>
                </a:r>
                <a:r>
                  <a:rPr lang="en-US" sz="2100" i="1" dirty="0">
                    <a:effectLst>
                      <a:outerShdw blurRad="38100" dist="38100" dir="2700000" algn="tl">
                        <a:srgbClr val="000000">
                          <a:alpha val="43137"/>
                        </a:srgbClr>
                      </a:outerShdw>
                    </a:effectLst>
                  </a:rPr>
                  <a:t>A</a:t>
                </a:r>
                <a:r>
                  <a:rPr lang="en-US" sz="2100" dirty="0">
                    <a:effectLst>
                      <a:outerShdw blurRad="38100" dist="38100" dir="2700000" algn="tl">
                        <a:srgbClr val="000000">
                          <a:alpha val="43137"/>
                        </a:srgbClr>
                      </a:outerShdw>
                    </a:effectLst>
                  </a:rPr>
                  <a:t>(</a:t>
                </a:r>
                <a:r>
                  <a:rPr lang="en-US" sz="2100" b="1" i="1" dirty="0">
                    <a:effectLst>
                      <a:outerShdw blurRad="38100" dist="38100" dir="2700000" algn="tl">
                        <a:srgbClr val="000000">
                          <a:alpha val="43137"/>
                        </a:srgbClr>
                      </a:outerShdw>
                    </a:effectLst>
                  </a:rPr>
                  <a:t>X</a:t>
                </a:r>
                <a:r>
                  <a:rPr lang="en-US" sz="2100" dirty="0">
                    <a:effectLst>
                      <a:outerShdw blurRad="38100" dist="38100" dir="2700000" algn="tl">
                        <a:srgbClr val="000000">
                          <a:alpha val="43137"/>
                        </a:srgbClr>
                      </a:outerShdw>
                    </a:effectLst>
                  </a:rPr>
                  <a:t>) is calculated based on product of </a:t>
                </a:r>
                <a:r>
                  <a:rPr lang="en-US" sz="2100" i="1" dirty="0">
                    <a:effectLst>
                      <a:outerShdw blurRad="38100" dist="38100" dir="2700000" algn="tl">
                        <a:srgbClr val="000000">
                          <a:alpha val="43137"/>
                        </a:srgbClr>
                      </a:outerShdw>
                    </a:effectLst>
                  </a:rPr>
                  <a:t>Q</a:t>
                </a:r>
                <a:r>
                  <a:rPr lang="en-US" sz="2100" dirty="0">
                    <a:effectLst>
                      <a:outerShdw blurRad="38100" dist="38100" dir="2700000" algn="tl">
                        <a:srgbClr val="000000">
                          <a:alpha val="43137"/>
                        </a:srgbClr>
                      </a:outerShdw>
                    </a:effectLst>
                  </a:rPr>
                  <a:t>, </a:t>
                </a:r>
                <a:r>
                  <a:rPr lang="en-US" sz="2100" i="1" dirty="0">
                    <a:effectLst>
                      <a:outerShdw blurRad="38100" dist="38100" dir="2700000" algn="tl">
                        <a:srgbClr val="000000">
                          <a:alpha val="43137"/>
                        </a:srgbClr>
                      </a:outerShdw>
                    </a:effectLst>
                  </a:rPr>
                  <a:t>K</a:t>
                </a:r>
                <a:r>
                  <a:rPr lang="en-US" sz="2100" dirty="0">
                    <a:effectLst>
                      <a:outerShdw blurRad="38100" dist="38100" dir="2700000" algn="tl">
                        <a:srgbClr val="000000">
                          <a:alpha val="43137"/>
                        </a:srgbClr>
                      </a:outerShdw>
                    </a:effectLst>
                  </a:rPr>
                  <a:t>, and </a:t>
                </a:r>
                <a:r>
                  <a:rPr lang="en-US" sz="2100" i="1" dirty="0">
                    <a:effectLst>
                      <a:outerShdw blurRad="38100" dist="38100" dir="2700000" algn="tl">
                        <a:srgbClr val="000000">
                          <a:alpha val="43137"/>
                        </a:srgbClr>
                      </a:outerShdw>
                    </a:effectLst>
                  </a:rPr>
                  <a:t>V</a:t>
                </a:r>
                <a:r>
                  <a:rPr lang="en-US" sz="2100" dirty="0">
                    <a:effectLst>
                      <a:outerShdw blurRad="38100" dist="38100" dir="2700000" algn="tl">
                        <a:srgbClr val="000000">
                          <a:alpha val="43137"/>
                        </a:srgbClr>
                      </a:outerShdw>
                    </a:effectLst>
                  </a:rPr>
                  <a:t> in association with soft-max function, as follows</a:t>
                </a:r>
                <a:r>
                  <a:rPr lang="en-US" sz="2100" dirty="0" smtClean="0">
                    <a:effectLst>
                      <a:outerShdw blurRad="38100" dist="38100" dir="2700000" algn="tl">
                        <a:srgbClr val="000000">
                          <a:alpha val="43137"/>
                        </a:srgbClr>
                      </a:outerShdw>
                    </a:effectLst>
                  </a:rPr>
                  <a:t>:</a:t>
                </a:r>
              </a:p>
              <a:p>
                <a:pPr marL="0" indent="0">
                  <a:buNone/>
                </a:pPr>
                <a14:m>
                  <m:oMathPara xmlns:m="http://schemas.openxmlformats.org/officeDocument/2006/math">
                    <m:oMathParaPr>
                      <m:jc m:val="centerGroup"/>
                    </m:oMathParaPr>
                    <m:oMath xmlns:m="http://schemas.openxmlformats.org/officeDocument/2006/math">
                      <m:r>
                        <a:rPr lang="en-US" sz="2100" i="1">
                          <a:latin typeface="Cambria Math" panose="02040503050406030204" pitchFamily="18" charset="0"/>
                        </a:rPr>
                        <m:t>𝐴</m:t>
                      </m:r>
                      <m:r>
                        <a:rPr lang="en-US" sz="2100" i="1">
                          <a:latin typeface="Cambria Math" panose="02040503050406030204" pitchFamily="18" charset="0"/>
                        </a:rPr>
                        <m:t>=</m:t>
                      </m:r>
                      <m:r>
                        <a:rPr lang="en-US" sz="2100" i="1">
                          <a:latin typeface="Cambria Math" panose="02040503050406030204" pitchFamily="18" charset="0"/>
                        </a:rPr>
                        <m:t>𝐴</m:t>
                      </m:r>
                      <m:d>
                        <m:dPr>
                          <m:ctrlPr>
                            <a:rPr lang="en-US" sz="2100" i="1">
                              <a:latin typeface="Cambria Math" panose="02040503050406030204" pitchFamily="18" charset="0"/>
                            </a:rPr>
                          </m:ctrlPr>
                        </m:dPr>
                        <m:e>
                          <m:r>
                            <a:rPr lang="en-US" sz="2100" b="1" i="1">
                              <a:latin typeface="Cambria Math" panose="02040503050406030204" pitchFamily="18" charset="0"/>
                            </a:rPr>
                            <m:t>𝑿</m:t>
                          </m:r>
                        </m:e>
                      </m:d>
                      <m:r>
                        <a:rPr lang="en-US" sz="2100" i="1">
                          <a:latin typeface="Cambria Math" panose="02040503050406030204" pitchFamily="18" charset="0"/>
                        </a:rPr>
                        <m:t>=</m:t>
                      </m:r>
                      <m:r>
                        <m:rPr>
                          <m:sty m:val="p"/>
                        </m:rPr>
                        <a:rPr lang="en-US" sz="2100">
                          <a:latin typeface="Cambria Math" panose="02040503050406030204" pitchFamily="18" charset="0"/>
                        </a:rPr>
                        <m:t>Attention</m:t>
                      </m:r>
                      <m:d>
                        <m:dPr>
                          <m:ctrlPr>
                            <a:rPr lang="en-US" sz="2100" i="1">
                              <a:latin typeface="Cambria Math" panose="02040503050406030204" pitchFamily="18" charset="0"/>
                            </a:rPr>
                          </m:ctrlPr>
                        </m:dPr>
                        <m:e>
                          <m:r>
                            <a:rPr lang="en-US" sz="2100" b="1" i="1">
                              <a:latin typeface="Cambria Math" panose="02040503050406030204" pitchFamily="18" charset="0"/>
                            </a:rPr>
                            <m:t>𝑿</m:t>
                          </m:r>
                        </m:e>
                      </m:d>
                      <m:r>
                        <a:rPr lang="en-US" sz="2100">
                          <a:latin typeface="Cambria Math" panose="02040503050406030204" pitchFamily="18" charset="0"/>
                        </a:rPr>
                        <m:t>=</m:t>
                      </m:r>
                      <m:r>
                        <m:rPr>
                          <m:sty m:val="p"/>
                        </m:rPr>
                        <a:rPr lang="en-US" sz="2100">
                          <a:latin typeface="Cambria Math" panose="02040503050406030204" pitchFamily="18" charset="0"/>
                        </a:rPr>
                        <m:t>Attention</m:t>
                      </m:r>
                      <m:d>
                        <m:dPr>
                          <m:ctrlPr>
                            <a:rPr lang="en-US" sz="2100" i="1">
                              <a:latin typeface="Cambria Math" panose="02040503050406030204" pitchFamily="18" charset="0"/>
                            </a:rPr>
                          </m:ctrlPr>
                        </m:dPr>
                        <m:e>
                          <m:r>
                            <a:rPr lang="en-US" sz="2100" i="1">
                              <a:latin typeface="Cambria Math" panose="02040503050406030204" pitchFamily="18" charset="0"/>
                            </a:rPr>
                            <m:t>𝑄</m:t>
                          </m:r>
                          <m:r>
                            <a:rPr lang="en-US" sz="2100" i="1">
                              <a:latin typeface="Cambria Math" panose="02040503050406030204" pitchFamily="18" charset="0"/>
                            </a:rPr>
                            <m:t>,</m:t>
                          </m:r>
                          <m:r>
                            <a:rPr lang="en-US" sz="2100" i="1">
                              <a:latin typeface="Cambria Math" panose="02040503050406030204" pitchFamily="18" charset="0"/>
                            </a:rPr>
                            <m:t>𝐾</m:t>
                          </m:r>
                          <m:r>
                            <a:rPr lang="en-US" sz="2100" i="1">
                              <a:latin typeface="Cambria Math" panose="02040503050406030204" pitchFamily="18" charset="0"/>
                            </a:rPr>
                            <m:t>,</m:t>
                          </m:r>
                          <m:r>
                            <a:rPr lang="en-US" sz="2100" i="1">
                              <a:latin typeface="Cambria Math" panose="02040503050406030204" pitchFamily="18" charset="0"/>
                            </a:rPr>
                            <m:t>𝑉</m:t>
                          </m:r>
                        </m:e>
                      </m:d>
                      <m:r>
                        <a:rPr lang="en-US" sz="2100" i="1">
                          <a:latin typeface="Cambria Math" panose="02040503050406030204" pitchFamily="18" charset="0"/>
                        </a:rPr>
                        <m:t>=</m:t>
                      </m:r>
                      <m:r>
                        <m:rPr>
                          <m:sty m:val="p"/>
                        </m:rPr>
                        <a:rPr lang="en-US" sz="2100">
                          <a:latin typeface="Cambria Math" panose="02040503050406030204" pitchFamily="18" charset="0"/>
                        </a:rPr>
                        <m:t>softmax</m:t>
                      </m:r>
                      <m:d>
                        <m:dPr>
                          <m:ctrlPr>
                            <a:rPr lang="en-US" sz="2100" i="1">
                              <a:latin typeface="Cambria Math" panose="02040503050406030204" pitchFamily="18" charset="0"/>
                            </a:rPr>
                          </m:ctrlPr>
                        </m:dPr>
                        <m:e>
                          <m:f>
                            <m:fPr>
                              <m:ctrlPr>
                                <a:rPr lang="en-US" sz="2100" i="1">
                                  <a:latin typeface="Cambria Math" panose="02040503050406030204" pitchFamily="18" charset="0"/>
                                </a:rPr>
                              </m:ctrlPr>
                            </m:fPr>
                            <m:num>
                              <m:r>
                                <a:rPr lang="en-US" sz="2100" i="1">
                                  <a:latin typeface="Cambria Math" panose="02040503050406030204" pitchFamily="18" charset="0"/>
                                </a:rPr>
                                <m:t>𝑄</m:t>
                              </m:r>
                              <m:sSup>
                                <m:sSupPr>
                                  <m:ctrlPr>
                                    <a:rPr lang="en-US" sz="2100" i="1">
                                      <a:latin typeface="Cambria Math" panose="02040503050406030204" pitchFamily="18" charset="0"/>
                                    </a:rPr>
                                  </m:ctrlPr>
                                </m:sSupPr>
                                <m:e>
                                  <m:r>
                                    <a:rPr lang="en-US" sz="2100" i="1">
                                      <a:latin typeface="Cambria Math" panose="02040503050406030204" pitchFamily="18" charset="0"/>
                                    </a:rPr>
                                    <m:t>𝐾</m:t>
                                  </m:r>
                                </m:e>
                                <m:sup>
                                  <m:r>
                                    <a:rPr lang="en-US" sz="2100" i="1">
                                      <a:latin typeface="Cambria Math" panose="02040503050406030204" pitchFamily="18" charset="0"/>
                                    </a:rPr>
                                    <m:t>𝑇</m:t>
                                  </m:r>
                                </m:sup>
                              </m:sSup>
                            </m:num>
                            <m:den>
                              <m:rad>
                                <m:radPr>
                                  <m:degHide m:val="on"/>
                                  <m:ctrlPr>
                                    <a:rPr lang="en-US" sz="2100" i="1">
                                      <a:latin typeface="Cambria Math" panose="02040503050406030204" pitchFamily="18" charset="0"/>
                                    </a:rPr>
                                  </m:ctrlPr>
                                </m:radPr>
                                <m:deg/>
                                <m:e>
                                  <m:sSub>
                                    <m:sSubPr>
                                      <m:ctrlPr>
                                        <a:rPr lang="en-US" sz="2100" i="1">
                                          <a:latin typeface="Cambria Math" panose="02040503050406030204" pitchFamily="18" charset="0"/>
                                        </a:rPr>
                                      </m:ctrlPr>
                                    </m:sSubPr>
                                    <m:e>
                                      <m:r>
                                        <a:rPr lang="en-US" sz="2100" i="1">
                                          <a:latin typeface="Cambria Math" panose="02040503050406030204" pitchFamily="18" charset="0"/>
                                        </a:rPr>
                                        <m:t>𝑑</m:t>
                                      </m:r>
                                    </m:e>
                                    <m:sub>
                                      <m:r>
                                        <a:rPr lang="en-US" sz="2100" i="1">
                                          <a:latin typeface="Cambria Math" panose="02040503050406030204" pitchFamily="18" charset="0"/>
                                        </a:rPr>
                                        <m:t>𝑘</m:t>
                                      </m:r>
                                    </m:sub>
                                  </m:sSub>
                                </m:e>
                              </m:rad>
                            </m:den>
                          </m:f>
                        </m:e>
                      </m:d>
                      <m:r>
                        <a:rPr lang="en-US" sz="2100" i="1">
                          <a:latin typeface="Cambria Math" panose="02040503050406030204" pitchFamily="18" charset="0"/>
                        </a:rPr>
                        <m:t>𝑉</m:t>
                      </m:r>
                    </m:oMath>
                  </m:oMathPara>
                </a14:m>
                <a:endParaRPr lang="en-US" sz="2100" dirty="0" smtClean="0"/>
              </a:p>
              <a:p>
                <a:pPr marL="0" indent="0">
                  <a:buNone/>
                </a:pPr>
                <a:r>
                  <a:rPr lang="en-US" sz="2100" dirty="0"/>
                  <a:t>Attention is learned by association of stochastic gradient descent (SGD) and backpropagation algorithm for maximizing the likelihood function which in turn is squared </a:t>
                </a:r>
                <a:r>
                  <a:rPr lang="en-US" sz="2100" dirty="0" err="1"/>
                  <a:t>Frobenius</a:t>
                </a:r>
                <a:r>
                  <a:rPr lang="en-US" sz="2100" dirty="0"/>
                  <a:t> norm of the distance between computed attention </a:t>
                </a:r>
                <a:r>
                  <a:rPr lang="en-US" sz="2100" i="1" dirty="0"/>
                  <a:t>A</a:t>
                </a:r>
                <a:r>
                  <a:rPr lang="en-US" sz="2100" dirty="0"/>
                  <a:t> and environmental real attention </a:t>
                </a:r>
                <a:r>
                  <a:rPr lang="en-US" sz="2100" i="1" dirty="0"/>
                  <a:t>A</a:t>
                </a:r>
                <a:r>
                  <a:rPr lang="en-US" sz="2100" dirty="0" smtClean="0"/>
                  <a:t>’.</a:t>
                </a:r>
              </a:p>
              <a:p>
                <a:pPr marL="0" indent="0">
                  <a:buNone/>
                </a:pPr>
                <a14:m>
                  <m:oMathPara xmlns:m="http://schemas.openxmlformats.org/officeDocument/2006/math">
                    <m:oMathParaPr>
                      <m:jc m:val="centerGroup"/>
                    </m:oMathParaPr>
                    <m:oMath xmlns:m="http://schemas.openxmlformats.org/officeDocument/2006/math">
                      <m:r>
                        <a:rPr lang="en-US" sz="2100" i="1">
                          <a:latin typeface="Cambria Math" panose="02040503050406030204" pitchFamily="18" charset="0"/>
                        </a:rPr>
                        <m:t>𝐿</m:t>
                      </m:r>
                      <m:d>
                        <m:dPr>
                          <m:ctrlPr>
                            <a:rPr lang="en-US" sz="2100" i="1">
                              <a:latin typeface="Cambria Math" panose="02040503050406030204" pitchFamily="18" charset="0"/>
                            </a:rPr>
                          </m:ctrlPr>
                        </m:dPr>
                        <m:e>
                          <m:r>
                            <a:rPr lang="en-US" sz="2100" i="1">
                              <a:latin typeface="Cambria Math" panose="02040503050406030204" pitchFamily="18" charset="0"/>
                            </a:rPr>
                            <m:t>𝐴</m:t>
                          </m:r>
                        </m:e>
                      </m:d>
                      <m:r>
                        <a:rPr lang="en-US" sz="2100" i="1">
                          <a:latin typeface="Cambria Math" panose="02040503050406030204" pitchFamily="18" charset="0"/>
                        </a:rPr>
                        <m:t>=−</m:t>
                      </m:r>
                      <m:f>
                        <m:fPr>
                          <m:ctrlPr>
                            <a:rPr lang="en-US" sz="2100" i="1">
                              <a:latin typeface="Cambria Math" panose="02040503050406030204" pitchFamily="18" charset="0"/>
                            </a:rPr>
                          </m:ctrlPr>
                        </m:fPr>
                        <m:num>
                          <m:r>
                            <a:rPr lang="en-US" sz="2100" i="1">
                              <a:latin typeface="Cambria Math" panose="02040503050406030204" pitchFamily="18" charset="0"/>
                            </a:rPr>
                            <m:t>1</m:t>
                          </m:r>
                        </m:num>
                        <m:den>
                          <m:r>
                            <a:rPr lang="en-US" sz="2100" i="1">
                              <a:latin typeface="Cambria Math" panose="02040503050406030204" pitchFamily="18" charset="0"/>
                            </a:rPr>
                            <m:t>2</m:t>
                          </m:r>
                        </m:den>
                      </m:f>
                      <m:sSup>
                        <m:sSupPr>
                          <m:ctrlPr>
                            <a:rPr lang="en-US" sz="2100" i="1">
                              <a:latin typeface="Cambria Math" panose="02040503050406030204" pitchFamily="18" charset="0"/>
                            </a:rPr>
                          </m:ctrlPr>
                        </m:sSupPr>
                        <m:e>
                          <m:d>
                            <m:dPr>
                              <m:begChr m:val="‖"/>
                              <m:endChr m:val="‖"/>
                              <m:ctrlPr>
                                <a:rPr lang="en-US" sz="2100" i="1">
                                  <a:latin typeface="Cambria Math" panose="02040503050406030204" pitchFamily="18" charset="0"/>
                                </a:rPr>
                              </m:ctrlPr>
                            </m:dPr>
                            <m:e>
                              <m:sSup>
                                <m:sSupPr>
                                  <m:ctrlPr>
                                    <a:rPr lang="en-US" sz="2100" i="1">
                                      <a:latin typeface="Cambria Math" panose="02040503050406030204" pitchFamily="18" charset="0"/>
                                    </a:rPr>
                                  </m:ctrlPr>
                                </m:sSupPr>
                                <m:e>
                                  <m:r>
                                    <a:rPr lang="en-US" sz="2100" i="1">
                                      <a:latin typeface="Cambria Math" panose="02040503050406030204" pitchFamily="18" charset="0"/>
                                    </a:rPr>
                                    <m:t>𝐴</m:t>
                                  </m:r>
                                </m:e>
                                <m:sup>
                                  <m:r>
                                    <a:rPr lang="en-US" sz="2100" i="1">
                                      <a:latin typeface="Cambria Math" panose="02040503050406030204" pitchFamily="18" charset="0"/>
                                    </a:rPr>
                                    <m:t>′</m:t>
                                  </m:r>
                                </m:sup>
                              </m:sSup>
                              <m:r>
                                <a:rPr lang="en-US" sz="2100" i="1">
                                  <a:latin typeface="Cambria Math" panose="02040503050406030204" pitchFamily="18" charset="0"/>
                                </a:rPr>
                                <m:t>−</m:t>
                              </m:r>
                              <m:r>
                                <a:rPr lang="en-US" sz="2100" i="1">
                                  <a:latin typeface="Cambria Math" panose="02040503050406030204" pitchFamily="18" charset="0"/>
                                </a:rPr>
                                <m:t>𝐴</m:t>
                              </m:r>
                            </m:e>
                          </m:d>
                        </m:e>
                        <m:sup>
                          <m:r>
                            <a:rPr lang="en-US" sz="2100" i="1">
                              <a:latin typeface="Cambria Math" panose="02040503050406030204" pitchFamily="18" charset="0"/>
                            </a:rPr>
                            <m:t>2</m:t>
                          </m:r>
                        </m:sup>
                      </m:sSup>
                      <m:r>
                        <a:rPr lang="en-US" sz="2100" i="1">
                          <a:latin typeface="Cambria Math" panose="02040503050406030204" pitchFamily="18" charset="0"/>
                        </a:rPr>
                        <m:t>=−</m:t>
                      </m:r>
                      <m:f>
                        <m:fPr>
                          <m:ctrlPr>
                            <a:rPr lang="en-US" sz="2100" i="1">
                              <a:latin typeface="Cambria Math" panose="02040503050406030204" pitchFamily="18" charset="0"/>
                            </a:rPr>
                          </m:ctrlPr>
                        </m:fPr>
                        <m:num>
                          <m:r>
                            <a:rPr lang="en-US" sz="2100" i="1">
                              <a:latin typeface="Cambria Math" panose="02040503050406030204" pitchFamily="18" charset="0"/>
                            </a:rPr>
                            <m:t>1</m:t>
                          </m:r>
                        </m:num>
                        <m:den>
                          <m:r>
                            <a:rPr lang="en-US" sz="2100" i="1">
                              <a:latin typeface="Cambria Math" panose="02040503050406030204" pitchFamily="18" charset="0"/>
                            </a:rPr>
                            <m:t>2</m:t>
                          </m:r>
                        </m:den>
                      </m:f>
                      <m:nary>
                        <m:naryPr>
                          <m:chr m:val="∑"/>
                          <m:limLoc m:val="undOvr"/>
                          <m:supHide m:val="on"/>
                          <m:ctrlPr>
                            <a:rPr lang="en-US" sz="2100" i="1">
                              <a:latin typeface="Cambria Math" panose="02040503050406030204" pitchFamily="18" charset="0"/>
                            </a:rPr>
                          </m:ctrlPr>
                        </m:naryPr>
                        <m:sub>
                          <m:r>
                            <a:rPr lang="en-US" sz="2100" i="1">
                              <a:latin typeface="Cambria Math" panose="02040503050406030204" pitchFamily="18" charset="0"/>
                            </a:rPr>
                            <m:t>𝑖</m:t>
                          </m:r>
                        </m:sub>
                        <m:sup/>
                        <m:e>
                          <m:nary>
                            <m:naryPr>
                              <m:chr m:val="∑"/>
                              <m:limLoc m:val="undOvr"/>
                              <m:supHide m:val="on"/>
                              <m:ctrlPr>
                                <a:rPr lang="en-US" sz="2100" i="1">
                                  <a:latin typeface="Cambria Math" panose="02040503050406030204" pitchFamily="18" charset="0"/>
                                </a:rPr>
                              </m:ctrlPr>
                            </m:naryPr>
                            <m:sub>
                              <m:r>
                                <a:rPr lang="en-US" sz="2100" i="1">
                                  <a:latin typeface="Cambria Math" panose="02040503050406030204" pitchFamily="18" charset="0"/>
                                </a:rPr>
                                <m:t>𝑗</m:t>
                              </m:r>
                            </m:sub>
                            <m:sup/>
                            <m:e>
                              <m:sSup>
                                <m:sSupPr>
                                  <m:ctrlPr>
                                    <a:rPr lang="en-US" sz="2100" i="1">
                                      <a:latin typeface="Cambria Math" panose="02040503050406030204" pitchFamily="18" charset="0"/>
                                    </a:rPr>
                                  </m:ctrlPr>
                                </m:sSupPr>
                                <m:e>
                                  <m:d>
                                    <m:dPr>
                                      <m:ctrlPr>
                                        <a:rPr lang="en-US" sz="2100" i="1">
                                          <a:latin typeface="Cambria Math" panose="02040503050406030204" pitchFamily="18" charset="0"/>
                                        </a:rPr>
                                      </m:ctrlPr>
                                    </m:dPr>
                                    <m:e>
                                      <m:sSubSup>
                                        <m:sSubSupPr>
                                          <m:ctrlPr>
                                            <a:rPr lang="en-US" sz="2100" i="1">
                                              <a:latin typeface="Cambria Math" panose="02040503050406030204" pitchFamily="18" charset="0"/>
                                            </a:rPr>
                                          </m:ctrlPr>
                                        </m:sSubSupPr>
                                        <m:e>
                                          <m:r>
                                            <a:rPr lang="en-US" sz="2100" i="1">
                                              <a:latin typeface="Cambria Math" panose="02040503050406030204" pitchFamily="18" charset="0"/>
                                            </a:rPr>
                                            <m:t>𝑎</m:t>
                                          </m:r>
                                        </m:e>
                                        <m:sub>
                                          <m:r>
                                            <a:rPr lang="en-US" sz="2100" i="1">
                                              <a:latin typeface="Cambria Math" panose="02040503050406030204" pitchFamily="18" charset="0"/>
                                            </a:rPr>
                                            <m:t>𝑖𝑗</m:t>
                                          </m:r>
                                        </m:sub>
                                        <m:sup>
                                          <m:r>
                                            <a:rPr lang="en-US" sz="2100" i="1">
                                              <a:latin typeface="Cambria Math" panose="02040503050406030204" pitchFamily="18" charset="0"/>
                                            </a:rPr>
                                            <m:t>′</m:t>
                                          </m:r>
                                        </m:sup>
                                      </m:sSubSup>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𝑎</m:t>
                                          </m:r>
                                        </m:e>
                                        <m:sub>
                                          <m:r>
                                            <a:rPr lang="en-US" sz="2100" i="1">
                                              <a:latin typeface="Cambria Math" panose="02040503050406030204" pitchFamily="18" charset="0"/>
                                            </a:rPr>
                                            <m:t>𝑖𝑗</m:t>
                                          </m:r>
                                        </m:sub>
                                      </m:sSub>
                                    </m:e>
                                  </m:d>
                                </m:e>
                                <m:sup>
                                  <m:r>
                                    <a:rPr lang="en-US" sz="2100" i="1">
                                      <a:latin typeface="Cambria Math" panose="02040503050406030204" pitchFamily="18" charset="0"/>
                                    </a:rPr>
                                    <m:t>2</m:t>
                                  </m:r>
                                </m:sup>
                              </m:sSup>
                            </m:e>
                          </m:nary>
                        </m:e>
                      </m:nary>
                    </m:oMath>
                  </m:oMathPara>
                </a14:m>
                <a:endParaRPr lang="en-US" sz="21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1120" y="914399"/>
                <a:ext cx="12029440" cy="5176066"/>
              </a:xfrm>
              <a:blipFill>
                <a:blip r:embed="rId2"/>
                <a:stretch>
                  <a:fillRect l="-659" t="-824" r="-811" b="-707"/>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24</a:t>
            </a:fld>
            <a:endParaRPr lang="en-US"/>
          </a:p>
        </p:txBody>
      </p:sp>
    </p:spTree>
    <p:extLst>
      <p:ext uri="{BB962C8B-B14F-4D97-AF65-F5344CB8AC3E}">
        <p14:creationId xmlns:p14="http://schemas.microsoft.com/office/powerpoint/2010/main" val="140342657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network</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1120" y="914399"/>
                <a:ext cx="12039600" cy="5176066"/>
              </a:xfrm>
            </p:spPr>
            <p:txBody>
              <a:bodyPr>
                <a:noAutofit/>
              </a:bodyPr>
              <a:lstStyle/>
              <a:p>
                <a:pPr marL="0" indent="0">
                  <a:buNone/>
                </a:pPr>
                <a:r>
                  <a:rPr lang="en-US" sz="2300" dirty="0" smtClean="0">
                    <a:effectLst>
                      <a:outerShdw blurRad="38100" dist="38100" dir="2700000" algn="tl">
                        <a:srgbClr val="000000">
                          <a:alpha val="43137"/>
                        </a:srgbClr>
                      </a:outerShdw>
                    </a:effectLst>
                  </a:rPr>
                  <a:t>Attention learning is the core of learning transformer </a:t>
                </a:r>
                <a:r>
                  <a:rPr lang="en-US" sz="2300" dirty="0" smtClean="0"/>
                  <a:t>and the essence of attention learning is to estimate the three parametric matrices</a:t>
                </a:r>
                <a:r>
                  <a:rPr lang="en-US" sz="2300" i="1" dirty="0"/>
                  <a:t> W</a:t>
                </a:r>
                <a:r>
                  <a:rPr lang="en-US" sz="2300" i="1" baseline="30000" dirty="0"/>
                  <a:t>Q</a:t>
                </a:r>
                <a:r>
                  <a:rPr lang="en-US" sz="2300" dirty="0"/>
                  <a:t>, </a:t>
                </a:r>
                <a:r>
                  <a:rPr lang="en-US" sz="2300" i="1" dirty="0"/>
                  <a:t>W</a:t>
                </a:r>
                <a:r>
                  <a:rPr lang="en-US" sz="2300" i="1" baseline="30000" dirty="0"/>
                  <a:t>K</a:t>
                </a:r>
                <a:r>
                  <a:rPr lang="en-US" sz="2300" dirty="0"/>
                  <a:t>, and </a:t>
                </a:r>
                <a:r>
                  <a:rPr lang="en-US" sz="2300" i="1" dirty="0"/>
                  <a:t>W</a:t>
                </a:r>
                <a:r>
                  <a:rPr lang="en-US" sz="2300" i="1" baseline="30000" dirty="0"/>
                  <a:t>V</a:t>
                </a:r>
                <a:r>
                  <a:rPr lang="en-US" sz="2300" dirty="0" smtClean="0"/>
                  <a:t>.</a:t>
                </a:r>
              </a:p>
              <a:p>
                <a:pPr marL="0" indent="0">
                  <a:buNone/>
                </a:pPr>
                <a14:m>
                  <m:oMathPara xmlns:m="http://schemas.openxmlformats.org/officeDocument/2006/math">
                    <m:oMathParaPr>
                      <m:jc m:val="centerGroup"/>
                    </m:oMathParaPr>
                    <m:oMath xmlns:m="http://schemas.openxmlformats.org/officeDocument/2006/math">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𝑄</m:t>
                          </m:r>
                        </m:sup>
                      </m:sSup>
                      <m:r>
                        <a:rPr lang="en-US" sz="2300" i="1">
                          <a:latin typeface="Cambria Math" panose="02040503050406030204" pitchFamily="18" charset="0"/>
                        </a:rPr>
                        <m:t>=</m:t>
                      </m:r>
                      <m:func>
                        <m:funcPr>
                          <m:ctrlPr>
                            <a:rPr lang="en-US" sz="2300" i="1">
                              <a:latin typeface="Cambria Math" panose="02040503050406030204" pitchFamily="18" charset="0"/>
                            </a:rPr>
                          </m:ctrlPr>
                        </m:funcPr>
                        <m:fName>
                          <m:limLow>
                            <m:limLowPr>
                              <m:ctrlPr>
                                <a:rPr lang="en-US" sz="2300" i="1">
                                  <a:latin typeface="Cambria Math" panose="02040503050406030204" pitchFamily="18" charset="0"/>
                                </a:rPr>
                              </m:ctrlPr>
                            </m:limLowPr>
                            <m:e>
                              <m:r>
                                <m:rPr>
                                  <m:sty m:val="p"/>
                                </m:rPr>
                                <a:rPr lang="en-US" sz="2300">
                                  <a:latin typeface="Cambria Math" panose="02040503050406030204" pitchFamily="18" charset="0"/>
                                </a:rPr>
                                <m:t>argmax</m:t>
                              </m:r>
                            </m:e>
                            <m:lim>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𝑄</m:t>
                                  </m:r>
                                </m:sup>
                              </m:sSup>
                            </m:lim>
                          </m:limLow>
                        </m:fName>
                        <m:e>
                          <m:r>
                            <a:rPr lang="en-US" sz="2300" i="1">
                              <a:latin typeface="Cambria Math" panose="02040503050406030204" pitchFamily="18" charset="0"/>
                            </a:rPr>
                            <m:t>𝐿</m:t>
                          </m:r>
                          <m:d>
                            <m:dPr>
                              <m:ctrlPr>
                                <a:rPr lang="en-US" sz="2300" i="1">
                                  <a:latin typeface="Cambria Math" panose="02040503050406030204" pitchFamily="18" charset="0"/>
                                </a:rPr>
                              </m:ctrlPr>
                            </m:dPr>
                            <m:e>
                              <m:r>
                                <a:rPr lang="en-US" sz="2300" i="1">
                                  <a:latin typeface="Cambria Math" panose="02040503050406030204" pitchFamily="18" charset="0"/>
                                </a:rPr>
                                <m:t>𝐴</m:t>
                              </m:r>
                            </m:e>
                          </m:d>
                        </m:e>
                      </m:func>
                      <m:r>
                        <a:rPr lang="en-US" sz="2300" b="0" i="1" smtClean="0">
                          <a:latin typeface="Cambria Math" panose="02040503050406030204" pitchFamily="18" charset="0"/>
                        </a:rPr>
                        <m:t>,</m:t>
                      </m:r>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𝐾</m:t>
                          </m:r>
                        </m:sup>
                      </m:sSup>
                      <m:r>
                        <a:rPr lang="en-US" sz="2300" i="1">
                          <a:latin typeface="Cambria Math" panose="02040503050406030204" pitchFamily="18" charset="0"/>
                        </a:rPr>
                        <m:t>=</m:t>
                      </m:r>
                      <m:func>
                        <m:funcPr>
                          <m:ctrlPr>
                            <a:rPr lang="en-US" sz="2300" i="1">
                              <a:latin typeface="Cambria Math" panose="02040503050406030204" pitchFamily="18" charset="0"/>
                            </a:rPr>
                          </m:ctrlPr>
                        </m:funcPr>
                        <m:fName>
                          <m:limLow>
                            <m:limLowPr>
                              <m:ctrlPr>
                                <a:rPr lang="en-US" sz="2300" i="1">
                                  <a:latin typeface="Cambria Math" panose="02040503050406030204" pitchFamily="18" charset="0"/>
                                </a:rPr>
                              </m:ctrlPr>
                            </m:limLowPr>
                            <m:e>
                              <m:r>
                                <m:rPr>
                                  <m:sty m:val="p"/>
                                </m:rPr>
                                <a:rPr lang="en-US" sz="2300">
                                  <a:latin typeface="Cambria Math" panose="02040503050406030204" pitchFamily="18" charset="0"/>
                                </a:rPr>
                                <m:t>argmax</m:t>
                              </m:r>
                            </m:e>
                            <m:lim>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𝐾</m:t>
                                  </m:r>
                                </m:sup>
                              </m:sSup>
                            </m:lim>
                          </m:limLow>
                        </m:fName>
                        <m:e>
                          <m:r>
                            <a:rPr lang="en-US" sz="2300" i="1">
                              <a:latin typeface="Cambria Math" panose="02040503050406030204" pitchFamily="18" charset="0"/>
                            </a:rPr>
                            <m:t>𝐿</m:t>
                          </m:r>
                          <m:d>
                            <m:dPr>
                              <m:ctrlPr>
                                <a:rPr lang="en-US" sz="2300" i="1">
                                  <a:latin typeface="Cambria Math" panose="02040503050406030204" pitchFamily="18" charset="0"/>
                                </a:rPr>
                              </m:ctrlPr>
                            </m:dPr>
                            <m:e>
                              <m:r>
                                <a:rPr lang="en-US" sz="2300" i="1">
                                  <a:latin typeface="Cambria Math" panose="02040503050406030204" pitchFamily="18" charset="0"/>
                                </a:rPr>
                                <m:t>𝐴</m:t>
                              </m:r>
                            </m:e>
                          </m:d>
                        </m:e>
                      </m:func>
                      <m:r>
                        <a:rPr lang="en-US" sz="2300" b="0" i="1" smtClean="0">
                          <a:latin typeface="Cambria Math" panose="02040503050406030204" pitchFamily="18" charset="0"/>
                        </a:rPr>
                        <m:t>,</m:t>
                      </m:r>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𝑉</m:t>
                          </m:r>
                        </m:sup>
                      </m:sSup>
                      <m:r>
                        <a:rPr lang="en-US" sz="2300" i="1">
                          <a:latin typeface="Cambria Math" panose="02040503050406030204" pitchFamily="18" charset="0"/>
                        </a:rPr>
                        <m:t>=</m:t>
                      </m:r>
                      <m:func>
                        <m:funcPr>
                          <m:ctrlPr>
                            <a:rPr lang="en-US" sz="2300" i="1">
                              <a:latin typeface="Cambria Math" panose="02040503050406030204" pitchFamily="18" charset="0"/>
                            </a:rPr>
                          </m:ctrlPr>
                        </m:funcPr>
                        <m:fName>
                          <m:limLow>
                            <m:limLowPr>
                              <m:ctrlPr>
                                <a:rPr lang="en-US" sz="2300" i="1">
                                  <a:latin typeface="Cambria Math" panose="02040503050406030204" pitchFamily="18" charset="0"/>
                                </a:rPr>
                              </m:ctrlPr>
                            </m:limLowPr>
                            <m:e>
                              <m:r>
                                <m:rPr>
                                  <m:sty m:val="p"/>
                                </m:rPr>
                                <a:rPr lang="en-US" sz="2300">
                                  <a:latin typeface="Cambria Math" panose="02040503050406030204" pitchFamily="18" charset="0"/>
                                </a:rPr>
                                <m:t>argmax</m:t>
                              </m:r>
                            </m:e>
                            <m:lim>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𝑉</m:t>
                                  </m:r>
                                </m:sup>
                              </m:sSup>
                            </m:lim>
                          </m:limLow>
                        </m:fName>
                        <m:e>
                          <m:r>
                            <a:rPr lang="en-US" sz="2300" i="1">
                              <a:latin typeface="Cambria Math" panose="02040503050406030204" pitchFamily="18" charset="0"/>
                            </a:rPr>
                            <m:t>𝐿</m:t>
                          </m:r>
                          <m:d>
                            <m:dPr>
                              <m:ctrlPr>
                                <a:rPr lang="en-US" sz="2300" i="1">
                                  <a:latin typeface="Cambria Math" panose="02040503050406030204" pitchFamily="18" charset="0"/>
                                </a:rPr>
                              </m:ctrlPr>
                            </m:dPr>
                            <m:e>
                              <m:r>
                                <a:rPr lang="en-US" sz="2300" i="1">
                                  <a:latin typeface="Cambria Math" panose="02040503050406030204" pitchFamily="18" charset="0"/>
                                </a:rPr>
                                <m:t>𝐴</m:t>
                              </m:r>
                            </m:e>
                          </m:d>
                        </m:e>
                      </m:func>
                    </m:oMath>
                  </m:oMathPara>
                </a14:m>
                <a:endParaRPr lang="en-US" sz="2300" dirty="0"/>
              </a:p>
              <a:p>
                <a:pPr marL="0" indent="0">
                  <a:buNone/>
                </a:pPr>
                <a:r>
                  <a:rPr lang="en-US" sz="2300" dirty="0" smtClean="0"/>
                  <a:t>According </a:t>
                </a:r>
                <a:r>
                  <a:rPr lang="en-US" sz="2300" dirty="0"/>
                  <a:t>to SGD algorithm, parameters </a:t>
                </a:r>
                <a:r>
                  <a:rPr lang="en-US" sz="2300" i="1" dirty="0"/>
                  <a:t>W</a:t>
                </a:r>
                <a:r>
                  <a:rPr lang="en-US" sz="2300" i="1" baseline="30000" dirty="0"/>
                  <a:t>Q</a:t>
                </a:r>
                <a:r>
                  <a:rPr lang="en-US" sz="2300" dirty="0"/>
                  <a:t>, </a:t>
                </a:r>
                <a:r>
                  <a:rPr lang="en-US" sz="2300" i="1" dirty="0"/>
                  <a:t>W</a:t>
                </a:r>
                <a:r>
                  <a:rPr lang="en-US" sz="2300" i="1" baseline="30000" dirty="0"/>
                  <a:t>K</a:t>
                </a:r>
                <a:r>
                  <a:rPr lang="en-US" sz="2300" dirty="0"/>
                  <a:t>, and </a:t>
                </a:r>
                <a:r>
                  <a:rPr lang="en-US" sz="2300" i="1" dirty="0"/>
                  <a:t>W</a:t>
                </a:r>
                <a:r>
                  <a:rPr lang="en-US" sz="2300" i="1" baseline="30000" dirty="0"/>
                  <a:t>V</a:t>
                </a:r>
                <a:r>
                  <a:rPr lang="en-US" sz="2300" dirty="0"/>
                  <a:t> are computed iteratively as follows</a:t>
                </a:r>
                <a:r>
                  <a:rPr lang="en-US" sz="2300" dirty="0" smtClean="0"/>
                  <a:t>:</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300" i="1">
                              <a:latin typeface="Cambria Math" panose="02040503050406030204" pitchFamily="18" charset="0"/>
                            </a:rPr>
                          </m:ctrlPr>
                        </m:mPr>
                        <m:mr>
                          <m:e>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𝑄</m:t>
                                </m:r>
                              </m:sup>
                            </m:sSup>
                            <m:r>
                              <a:rPr lang="en-US" sz="2300" i="1">
                                <a:latin typeface="Cambria Math" panose="02040503050406030204" pitchFamily="18" charset="0"/>
                              </a:rPr>
                              <m:t>=</m:t>
                            </m:r>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𝑄</m:t>
                                </m:r>
                              </m:sup>
                            </m:sSup>
                            <m:r>
                              <a:rPr lang="en-US" sz="2300" i="1">
                                <a:latin typeface="Cambria Math" panose="02040503050406030204" pitchFamily="18" charset="0"/>
                              </a:rPr>
                              <m:t>+</m:t>
                            </m:r>
                            <m:r>
                              <a:rPr lang="en-US" sz="2300" i="1">
                                <a:latin typeface="Cambria Math" panose="02040503050406030204" pitchFamily="18" charset="0"/>
                              </a:rPr>
                              <m:t>𝛾</m:t>
                            </m:r>
                            <m:f>
                              <m:fPr>
                                <m:ctrlPr>
                                  <a:rPr lang="en-US" sz="2300" i="1">
                                    <a:latin typeface="Cambria Math" panose="02040503050406030204" pitchFamily="18" charset="0"/>
                                  </a:rPr>
                                </m:ctrlPr>
                              </m:fPr>
                              <m:num>
                                <m:r>
                                  <a:rPr lang="en-US" sz="2300" i="1">
                                    <a:latin typeface="Cambria Math" panose="02040503050406030204" pitchFamily="18" charset="0"/>
                                  </a:rPr>
                                  <m:t>𝜕</m:t>
                                </m:r>
                                <m:r>
                                  <a:rPr lang="en-US" sz="2300" i="1">
                                    <a:latin typeface="Cambria Math" panose="02040503050406030204" pitchFamily="18" charset="0"/>
                                  </a:rPr>
                                  <m:t>𝐿</m:t>
                                </m:r>
                                <m:d>
                                  <m:dPr>
                                    <m:ctrlPr>
                                      <a:rPr lang="en-US" sz="2300" i="1">
                                        <a:latin typeface="Cambria Math" panose="02040503050406030204" pitchFamily="18" charset="0"/>
                                      </a:rPr>
                                    </m:ctrlPr>
                                  </m:dPr>
                                  <m:e>
                                    <m:r>
                                      <a:rPr lang="en-US" sz="2300" i="1">
                                        <a:latin typeface="Cambria Math" panose="02040503050406030204" pitchFamily="18" charset="0"/>
                                      </a:rPr>
                                      <m:t>𝐴</m:t>
                                    </m:r>
                                  </m:e>
                                </m:d>
                              </m:num>
                              <m:den>
                                <m:r>
                                  <a:rPr lang="en-US" sz="2300" i="1">
                                    <a:latin typeface="Cambria Math" panose="02040503050406030204" pitchFamily="18" charset="0"/>
                                  </a:rPr>
                                  <m:t>𝜕</m:t>
                                </m:r>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𝑄</m:t>
                                    </m:r>
                                  </m:sup>
                                </m:sSup>
                              </m:den>
                            </m:f>
                          </m:e>
                        </m:mr>
                        <m:mr>
                          <m:e>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𝐾</m:t>
                                </m:r>
                              </m:sup>
                            </m:sSup>
                            <m:r>
                              <a:rPr lang="en-US" sz="2300" i="1">
                                <a:latin typeface="Cambria Math" panose="02040503050406030204" pitchFamily="18" charset="0"/>
                              </a:rPr>
                              <m:t>=</m:t>
                            </m:r>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𝐾</m:t>
                                </m:r>
                              </m:sup>
                            </m:sSup>
                            <m:r>
                              <a:rPr lang="en-US" sz="2300" i="1">
                                <a:latin typeface="Cambria Math" panose="02040503050406030204" pitchFamily="18" charset="0"/>
                              </a:rPr>
                              <m:t>+</m:t>
                            </m:r>
                            <m:r>
                              <a:rPr lang="en-US" sz="2300" i="1">
                                <a:latin typeface="Cambria Math" panose="02040503050406030204" pitchFamily="18" charset="0"/>
                              </a:rPr>
                              <m:t>𝛾</m:t>
                            </m:r>
                            <m:f>
                              <m:fPr>
                                <m:ctrlPr>
                                  <a:rPr lang="en-US" sz="2300" i="1">
                                    <a:latin typeface="Cambria Math" panose="02040503050406030204" pitchFamily="18" charset="0"/>
                                  </a:rPr>
                                </m:ctrlPr>
                              </m:fPr>
                              <m:num>
                                <m:r>
                                  <a:rPr lang="en-US" sz="2300" i="1">
                                    <a:latin typeface="Cambria Math" panose="02040503050406030204" pitchFamily="18" charset="0"/>
                                  </a:rPr>
                                  <m:t>𝜕</m:t>
                                </m:r>
                                <m:r>
                                  <a:rPr lang="en-US" sz="2300" i="1">
                                    <a:latin typeface="Cambria Math" panose="02040503050406030204" pitchFamily="18" charset="0"/>
                                  </a:rPr>
                                  <m:t>𝐿</m:t>
                                </m:r>
                                <m:d>
                                  <m:dPr>
                                    <m:ctrlPr>
                                      <a:rPr lang="en-US" sz="2300" i="1">
                                        <a:latin typeface="Cambria Math" panose="02040503050406030204" pitchFamily="18" charset="0"/>
                                      </a:rPr>
                                    </m:ctrlPr>
                                  </m:dPr>
                                  <m:e>
                                    <m:r>
                                      <a:rPr lang="en-US" sz="2300" i="1">
                                        <a:latin typeface="Cambria Math" panose="02040503050406030204" pitchFamily="18" charset="0"/>
                                      </a:rPr>
                                      <m:t>𝐴</m:t>
                                    </m:r>
                                  </m:e>
                                </m:d>
                              </m:num>
                              <m:den>
                                <m:r>
                                  <a:rPr lang="en-US" sz="2300" i="1">
                                    <a:latin typeface="Cambria Math" panose="02040503050406030204" pitchFamily="18" charset="0"/>
                                  </a:rPr>
                                  <m:t>𝜕</m:t>
                                </m:r>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𝐾</m:t>
                                    </m:r>
                                  </m:sup>
                                </m:sSup>
                              </m:den>
                            </m:f>
                          </m:e>
                        </m:mr>
                        <m:mr>
                          <m:e>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𝑉</m:t>
                                </m:r>
                              </m:sup>
                            </m:sSup>
                            <m:r>
                              <a:rPr lang="en-US" sz="2300" i="1">
                                <a:latin typeface="Cambria Math" panose="02040503050406030204" pitchFamily="18" charset="0"/>
                              </a:rPr>
                              <m:t>=</m:t>
                            </m:r>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𝑉</m:t>
                                </m:r>
                              </m:sup>
                            </m:sSup>
                            <m:r>
                              <a:rPr lang="en-US" sz="2300" i="1">
                                <a:latin typeface="Cambria Math" panose="02040503050406030204" pitchFamily="18" charset="0"/>
                              </a:rPr>
                              <m:t>+</m:t>
                            </m:r>
                            <m:r>
                              <a:rPr lang="en-US" sz="2300" i="1">
                                <a:latin typeface="Cambria Math" panose="02040503050406030204" pitchFamily="18" charset="0"/>
                              </a:rPr>
                              <m:t>𝛾</m:t>
                            </m:r>
                            <m:f>
                              <m:fPr>
                                <m:ctrlPr>
                                  <a:rPr lang="en-US" sz="2300" i="1">
                                    <a:latin typeface="Cambria Math" panose="02040503050406030204" pitchFamily="18" charset="0"/>
                                  </a:rPr>
                                </m:ctrlPr>
                              </m:fPr>
                              <m:num>
                                <m:r>
                                  <a:rPr lang="en-US" sz="2300" i="1">
                                    <a:latin typeface="Cambria Math" panose="02040503050406030204" pitchFamily="18" charset="0"/>
                                  </a:rPr>
                                  <m:t>𝜕</m:t>
                                </m:r>
                                <m:r>
                                  <a:rPr lang="en-US" sz="2300" i="1">
                                    <a:latin typeface="Cambria Math" panose="02040503050406030204" pitchFamily="18" charset="0"/>
                                  </a:rPr>
                                  <m:t>𝐿</m:t>
                                </m:r>
                                <m:d>
                                  <m:dPr>
                                    <m:ctrlPr>
                                      <a:rPr lang="en-US" sz="2300" i="1">
                                        <a:latin typeface="Cambria Math" panose="02040503050406030204" pitchFamily="18" charset="0"/>
                                      </a:rPr>
                                    </m:ctrlPr>
                                  </m:dPr>
                                  <m:e>
                                    <m:r>
                                      <a:rPr lang="en-US" sz="2300" i="1">
                                        <a:latin typeface="Cambria Math" panose="02040503050406030204" pitchFamily="18" charset="0"/>
                                      </a:rPr>
                                      <m:t>𝐴</m:t>
                                    </m:r>
                                  </m:e>
                                </m:d>
                              </m:num>
                              <m:den>
                                <m:r>
                                  <a:rPr lang="en-US" sz="2300" i="1">
                                    <a:latin typeface="Cambria Math" panose="02040503050406030204" pitchFamily="18" charset="0"/>
                                  </a:rPr>
                                  <m:t>𝜕</m:t>
                                </m:r>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𝑉</m:t>
                                    </m:r>
                                  </m:sup>
                                </m:sSup>
                              </m:den>
                            </m:f>
                          </m:e>
                        </m:mr>
                      </m:m>
                    </m:oMath>
                  </m:oMathPara>
                </a14:m>
                <a:endParaRPr lang="en-US" sz="2300" dirty="0"/>
              </a:p>
              <a:p>
                <a:pPr marL="0" indent="0">
                  <a:buNone/>
                </a:pPr>
                <a:r>
                  <a:rPr lang="en-US" sz="2300" dirty="0" smtClean="0"/>
                  <a:t>Note</a:t>
                </a:r>
                <a:r>
                  <a:rPr lang="en-US" sz="2300" dirty="0"/>
                  <a:t>, </a:t>
                </a:r>
                <a:r>
                  <a:rPr lang="en-US" sz="2300" i="1" dirty="0"/>
                  <a:t>γ</a:t>
                </a:r>
                <a:r>
                  <a:rPr lang="en-US" sz="2300" dirty="0"/>
                  <a:t> (0 &lt; </a:t>
                </a:r>
                <a:r>
                  <a:rPr lang="en-US" sz="2300" i="1" dirty="0"/>
                  <a:t>γ</a:t>
                </a:r>
                <a:r>
                  <a:rPr lang="en-US" sz="2300" dirty="0"/>
                  <a:t> ≤ 1) is learning rate whereas </a:t>
                </a:r>
                <a14:m>
                  <m:oMath xmlns:m="http://schemas.openxmlformats.org/officeDocument/2006/math">
                    <m:f>
                      <m:fPr>
                        <m:ctrlPr>
                          <a:rPr lang="en-US" sz="2300" i="1">
                            <a:latin typeface="Cambria Math" panose="02040503050406030204" pitchFamily="18" charset="0"/>
                          </a:rPr>
                        </m:ctrlPr>
                      </m:fPr>
                      <m:num>
                        <m:r>
                          <a:rPr lang="en-US" sz="2300" i="1">
                            <a:latin typeface="Cambria Math" panose="02040503050406030204" pitchFamily="18" charset="0"/>
                          </a:rPr>
                          <m:t>𝐿</m:t>
                        </m:r>
                        <m:d>
                          <m:dPr>
                            <m:ctrlPr>
                              <a:rPr lang="en-US" sz="2300" i="1">
                                <a:latin typeface="Cambria Math" panose="02040503050406030204" pitchFamily="18" charset="0"/>
                              </a:rPr>
                            </m:ctrlPr>
                          </m:dPr>
                          <m:e>
                            <m:r>
                              <a:rPr lang="en-US" sz="2300" i="1">
                                <a:latin typeface="Cambria Math" panose="02040503050406030204" pitchFamily="18" charset="0"/>
                              </a:rPr>
                              <m:t>𝐴</m:t>
                            </m:r>
                          </m:e>
                        </m:d>
                      </m:num>
                      <m:den>
                        <m:r>
                          <a:rPr lang="en-US" sz="2300" i="1">
                            <a:latin typeface="Cambria Math" panose="02040503050406030204" pitchFamily="18" charset="0"/>
                          </a:rPr>
                          <m:t>𝜕</m:t>
                        </m:r>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𝑄</m:t>
                            </m:r>
                          </m:sup>
                        </m:sSup>
                      </m:den>
                    </m:f>
                  </m:oMath>
                </a14:m>
                <a:r>
                  <a:rPr lang="en-US" sz="2300" dirty="0"/>
                  <a:t>, </a:t>
                </a:r>
                <a14:m>
                  <m:oMath xmlns:m="http://schemas.openxmlformats.org/officeDocument/2006/math">
                    <m:f>
                      <m:fPr>
                        <m:ctrlPr>
                          <a:rPr lang="en-US" sz="2300" i="1">
                            <a:latin typeface="Cambria Math" panose="02040503050406030204" pitchFamily="18" charset="0"/>
                          </a:rPr>
                        </m:ctrlPr>
                      </m:fPr>
                      <m:num>
                        <m:r>
                          <a:rPr lang="en-US" sz="2300" i="1">
                            <a:latin typeface="Cambria Math" panose="02040503050406030204" pitchFamily="18" charset="0"/>
                          </a:rPr>
                          <m:t>𝐿</m:t>
                        </m:r>
                        <m:d>
                          <m:dPr>
                            <m:ctrlPr>
                              <a:rPr lang="en-US" sz="2300" i="1">
                                <a:latin typeface="Cambria Math" panose="02040503050406030204" pitchFamily="18" charset="0"/>
                              </a:rPr>
                            </m:ctrlPr>
                          </m:dPr>
                          <m:e>
                            <m:r>
                              <a:rPr lang="en-US" sz="2300" i="1">
                                <a:latin typeface="Cambria Math" panose="02040503050406030204" pitchFamily="18" charset="0"/>
                              </a:rPr>
                              <m:t>𝐴</m:t>
                            </m:r>
                          </m:e>
                        </m:d>
                      </m:num>
                      <m:den>
                        <m:r>
                          <a:rPr lang="en-US" sz="2300" i="1">
                            <a:latin typeface="Cambria Math" panose="02040503050406030204" pitchFamily="18" charset="0"/>
                          </a:rPr>
                          <m:t>𝜕</m:t>
                        </m:r>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𝐾</m:t>
                            </m:r>
                          </m:sup>
                        </m:sSup>
                      </m:den>
                    </m:f>
                  </m:oMath>
                </a14:m>
                <a:r>
                  <a:rPr lang="en-US" sz="2300" dirty="0"/>
                  <a:t>, and </a:t>
                </a:r>
                <a14:m>
                  <m:oMath xmlns:m="http://schemas.openxmlformats.org/officeDocument/2006/math">
                    <m:f>
                      <m:fPr>
                        <m:ctrlPr>
                          <a:rPr lang="en-US" sz="2300" i="1">
                            <a:latin typeface="Cambria Math" panose="02040503050406030204" pitchFamily="18" charset="0"/>
                          </a:rPr>
                        </m:ctrlPr>
                      </m:fPr>
                      <m:num>
                        <m:r>
                          <a:rPr lang="en-US" sz="2300" i="1">
                            <a:latin typeface="Cambria Math" panose="02040503050406030204" pitchFamily="18" charset="0"/>
                          </a:rPr>
                          <m:t>𝐿</m:t>
                        </m:r>
                        <m:d>
                          <m:dPr>
                            <m:ctrlPr>
                              <a:rPr lang="en-US" sz="2300" i="1">
                                <a:latin typeface="Cambria Math" panose="02040503050406030204" pitchFamily="18" charset="0"/>
                              </a:rPr>
                            </m:ctrlPr>
                          </m:dPr>
                          <m:e>
                            <m:r>
                              <a:rPr lang="en-US" sz="2300" i="1">
                                <a:latin typeface="Cambria Math" panose="02040503050406030204" pitchFamily="18" charset="0"/>
                              </a:rPr>
                              <m:t>𝐴</m:t>
                            </m:r>
                          </m:e>
                        </m:d>
                      </m:num>
                      <m:den>
                        <m:r>
                          <a:rPr lang="en-US" sz="2300" i="1">
                            <a:latin typeface="Cambria Math" panose="02040503050406030204" pitchFamily="18" charset="0"/>
                          </a:rPr>
                          <m:t>𝜕</m:t>
                        </m:r>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𝑉</m:t>
                            </m:r>
                          </m:sup>
                        </m:sSup>
                      </m:den>
                    </m:f>
                  </m:oMath>
                </a14:m>
                <a:r>
                  <a:rPr lang="en-US" sz="2300" dirty="0"/>
                  <a:t> are first-order derivatives (gradients) of </a:t>
                </a:r>
                <a:r>
                  <a:rPr lang="en-US" sz="2300" i="1" dirty="0"/>
                  <a:t>L</a:t>
                </a:r>
                <a:r>
                  <a:rPr lang="en-US" sz="2300" dirty="0"/>
                  <a:t>(</a:t>
                </a:r>
                <a:r>
                  <a:rPr lang="en-US" sz="2300" i="1" dirty="0"/>
                  <a:t>A</a:t>
                </a:r>
                <a:r>
                  <a:rPr lang="en-US" sz="2300" dirty="0"/>
                  <a:t>) with respect to </a:t>
                </a:r>
                <a:r>
                  <a:rPr lang="en-US" sz="2300" i="1" dirty="0"/>
                  <a:t>W</a:t>
                </a:r>
                <a:r>
                  <a:rPr lang="en-US" sz="2300" i="1" baseline="30000" dirty="0"/>
                  <a:t>Q</a:t>
                </a:r>
                <a:r>
                  <a:rPr lang="en-US" sz="2300" dirty="0"/>
                  <a:t>, </a:t>
                </a:r>
                <a:r>
                  <a:rPr lang="en-US" sz="2300" i="1" dirty="0"/>
                  <a:t>W</a:t>
                </a:r>
                <a:r>
                  <a:rPr lang="en-US" sz="2300" i="1" baseline="30000" dirty="0"/>
                  <a:t>K</a:t>
                </a:r>
                <a:r>
                  <a:rPr lang="en-US" sz="2300" dirty="0"/>
                  <a:t>, and </a:t>
                </a:r>
                <a:r>
                  <a:rPr lang="en-US" sz="2300" i="1" dirty="0"/>
                  <a:t>W</a:t>
                </a:r>
                <a:r>
                  <a:rPr lang="en-US" sz="2300" i="1" baseline="30000" dirty="0"/>
                  <a:t>V</a:t>
                </a:r>
                <a:r>
                  <a:rPr lang="en-US" sz="2300" dirty="0"/>
                  <a:t>, respectively. However, it is not easy to calculate directly calculating </a:t>
                </a:r>
                <a14:m>
                  <m:oMath xmlns:m="http://schemas.openxmlformats.org/officeDocument/2006/math">
                    <m:f>
                      <m:fPr>
                        <m:ctrlPr>
                          <a:rPr lang="en-US" sz="2300" i="1">
                            <a:latin typeface="Cambria Math" panose="02040503050406030204" pitchFamily="18" charset="0"/>
                          </a:rPr>
                        </m:ctrlPr>
                      </m:fPr>
                      <m:num>
                        <m:r>
                          <a:rPr lang="en-US" sz="2300" i="1">
                            <a:latin typeface="Cambria Math" panose="02040503050406030204" pitchFamily="18" charset="0"/>
                          </a:rPr>
                          <m:t>𝐿</m:t>
                        </m:r>
                        <m:d>
                          <m:dPr>
                            <m:ctrlPr>
                              <a:rPr lang="en-US" sz="2300" i="1">
                                <a:latin typeface="Cambria Math" panose="02040503050406030204" pitchFamily="18" charset="0"/>
                              </a:rPr>
                            </m:ctrlPr>
                          </m:dPr>
                          <m:e>
                            <m:r>
                              <a:rPr lang="en-US" sz="2300" i="1">
                                <a:latin typeface="Cambria Math" panose="02040503050406030204" pitchFamily="18" charset="0"/>
                              </a:rPr>
                              <m:t>𝐴</m:t>
                            </m:r>
                          </m:e>
                        </m:d>
                      </m:num>
                      <m:den>
                        <m:r>
                          <a:rPr lang="en-US" sz="2300" i="1">
                            <a:latin typeface="Cambria Math" panose="02040503050406030204" pitchFamily="18" charset="0"/>
                          </a:rPr>
                          <m:t>𝜕</m:t>
                        </m:r>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𝑄</m:t>
                            </m:r>
                          </m:sup>
                        </m:sSup>
                      </m:den>
                    </m:f>
                  </m:oMath>
                </a14:m>
                <a:r>
                  <a:rPr lang="en-US" sz="2300" dirty="0"/>
                  <a:t>, </a:t>
                </a:r>
                <a14:m>
                  <m:oMath xmlns:m="http://schemas.openxmlformats.org/officeDocument/2006/math">
                    <m:f>
                      <m:fPr>
                        <m:ctrlPr>
                          <a:rPr lang="en-US" sz="2300" i="1">
                            <a:latin typeface="Cambria Math" panose="02040503050406030204" pitchFamily="18" charset="0"/>
                          </a:rPr>
                        </m:ctrlPr>
                      </m:fPr>
                      <m:num>
                        <m:r>
                          <a:rPr lang="en-US" sz="2300" i="1">
                            <a:latin typeface="Cambria Math" panose="02040503050406030204" pitchFamily="18" charset="0"/>
                          </a:rPr>
                          <m:t>𝐿</m:t>
                        </m:r>
                        <m:d>
                          <m:dPr>
                            <m:ctrlPr>
                              <a:rPr lang="en-US" sz="2300" i="1">
                                <a:latin typeface="Cambria Math" panose="02040503050406030204" pitchFamily="18" charset="0"/>
                              </a:rPr>
                            </m:ctrlPr>
                          </m:dPr>
                          <m:e>
                            <m:r>
                              <a:rPr lang="en-US" sz="2300" i="1">
                                <a:latin typeface="Cambria Math" panose="02040503050406030204" pitchFamily="18" charset="0"/>
                              </a:rPr>
                              <m:t>𝐴</m:t>
                            </m:r>
                          </m:e>
                        </m:d>
                      </m:num>
                      <m:den>
                        <m:r>
                          <a:rPr lang="en-US" sz="2300" i="1">
                            <a:latin typeface="Cambria Math" panose="02040503050406030204" pitchFamily="18" charset="0"/>
                          </a:rPr>
                          <m:t>𝜕</m:t>
                        </m:r>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𝐾</m:t>
                            </m:r>
                          </m:sup>
                        </m:sSup>
                      </m:den>
                    </m:f>
                  </m:oMath>
                </a14:m>
                <a:r>
                  <a:rPr lang="en-US" sz="2300" dirty="0"/>
                  <a:t>, and </a:t>
                </a:r>
                <a14:m>
                  <m:oMath xmlns:m="http://schemas.openxmlformats.org/officeDocument/2006/math">
                    <m:f>
                      <m:fPr>
                        <m:ctrlPr>
                          <a:rPr lang="en-US" sz="2300" i="1">
                            <a:latin typeface="Cambria Math" panose="02040503050406030204" pitchFamily="18" charset="0"/>
                          </a:rPr>
                        </m:ctrlPr>
                      </m:fPr>
                      <m:num>
                        <m:r>
                          <a:rPr lang="en-US" sz="2300" i="1">
                            <a:latin typeface="Cambria Math" panose="02040503050406030204" pitchFamily="18" charset="0"/>
                          </a:rPr>
                          <m:t>𝐿</m:t>
                        </m:r>
                        <m:d>
                          <m:dPr>
                            <m:ctrlPr>
                              <a:rPr lang="en-US" sz="2300" i="1">
                                <a:latin typeface="Cambria Math" panose="02040503050406030204" pitchFamily="18" charset="0"/>
                              </a:rPr>
                            </m:ctrlPr>
                          </m:dPr>
                          <m:e>
                            <m:r>
                              <a:rPr lang="en-US" sz="2300" i="1">
                                <a:latin typeface="Cambria Math" panose="02040503050406030204" pitchFamily="18" charset="0"/>
                              </a:rPr>
                              <m:t>𝐴</m:t>
                            </m:r>
                          </m:e>
                        </m:d>
                      </m:num>
                      <m:den>
                        <m:r>
                          <a:rPr lang="en-US" sz="2300" i="1">
                            <a:latin typeface="Cambria Math" panose="02040503050406030204" pitchFamily="18" charset="0"/>
                          </a:rPr>
                          <m:t>𝜕</m:t>
                        </m:r>
                        <m:sSup>
                          <m:sSupPr>
                            <m:ctrlPr>
                              <a:rPr lang="en-US" sz="2300" i="1">
                                <a:latin typeface="Cambria Math" panose="02040503050406030204" pitchFamily="18" charset="0"/>
                              </a:rPr>
                            </m:ctrlPr>
                          </m:sSupPr>
                          <m:e>
                            <m:r>
                              <a:rPr lang="en-US" sz="2300" i="1">
                                <a:latin typeface="Cambria Math" panose="02040503050406030204" pitchFamily="18" charset="0"/>
                              </a:rPr>
                              <m:t>𝑊</m:t>
                            </m:r>
                          </m:e>
                          <m:sup>
                            <m:r>
                              <a:rPr lang="en-US" sz="2300" i="1">
                                <a:latin typeface="Cambria Math" panose="02040503050406030204" pitchFamily="18" charset="0"/>
                              </a:rPr>
                              <m:t>𝑉</m:t>
                            </m:r>
                          </m:sup>
                        </m:sSup>
                      </m:den>
                    </m:f>
                  </m:oMath>
                </a14:m>
                <a:r>
                  <a:rPr lang="en-US" sz="2300" dirty="0"/>
                  <a:t> based only on </a:t>
                </a:r>
                <a:r>
                  <a:rPr lang="en-US" sz="2300" i="1" dirty="0"/>
                  <a:t>L</a:t>
                </a:r>
                <a:r>
                  <a:rPr lang="en-US" sz="2300" dirty="0"/>
                  <a:t>(</a:t>
                </a:r>
                <a:r>
                  <a:rPr lang="en-US" sz="2300" i="1" dirty="0"/>
                  <a:t>A</a:t>
                </a:r>
                <a:r>
                  <a:rPr lang="en-US" sz="23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1120" y="914399"/>
                <a:ext cx="12039600" cy="5176066"/>
              </a:xfrm>
              <a:blipFill>
                <a:blip r:embed="rId2"/>
                <a:stretch>
                  <a:fillRect l="-810" t="-1060" r="-709" b="-2120"/>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25</a:t>
            </a:fld>
            <a:endParaRPr lang="en-US"/>
          </a:p>
        </p:txBody>
      </p:sp>
    </p:spTree>
    <p:extLst>
      <p:ext uri="{BB962C8B-B14F-4D97-AF65-F5344CB8AC3E}">
        <p14:creationId xmlns:p14="http://schemas.microsoft.com/office/powerpoint/2010/main" val="323586533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network</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1120" y="914399"/>
                <a:ext cx="12049760" cy="5176066"/>
              </a:xfrm>
            </p:spPr>
            <p:txBody>
              <a:bodyPr>
                <a:noAutofit/>
              </a:bodyPr>
              <a:lstStyle/>
              <a:p>
                <a:pPr marL="0" indent="0">
                  <a:buNone/>
                </a:pPr>
                <a:r>
                  <a:rPr lang="en-US" sz="1850" dirty="0" smtClean="0"/>
                  <a:t>SGD is applied into attention learning but calculating gradients in SGD is seemly infeasible in practice because derivative of the matrix-by-matrix soft-max function </a:t>
                </a:r>
                <a14:m>
                  <m:oMath xmlns:m="http://schemas.openxmlformats.org/officeDocument/2006/math">
                    <m:r>
                      <m:rPr>
                        <m:sty m:val="p"/>
                      </m:rPr>
                      <a:rPr lang="en-US" sz="1850">
                        <a:latin typeface="Cambria Math" panose="02040503050406030204" pitchFamily="18" charset="0"/>
                      </a:rPr>
                      <m:t>softmax</m:t>
                    </m:r>
                    <m:d>
                      <m:dPr>
                        <m:ctrlPr>
                          <a:rPr lang="en-US" sz="1850" i="1">
                            <a:latin typeface="Cambria Math" panose="02040503050406030204" pitchFamily="18" charset="0"/>
                          </a:rPr>
                        </m:ctrlPr>
                      </m:dPr>
                      <m:e>
                        <m:f>
                          <m:fPr>
                            <m:ctrlPr>
                              <a:rPr lang="en-US" sz="1850" i="1">
                                <a:latin typeface="Cambria Math" panose="02040503050406030204" pitchFamily="18" charset="0"/>
                              </a:rPr>
                            </m:ctrlPr>
                          </m:fPr>
                          <m:num>
                            <m:r>
                              <a:rPr lang="en-US" sz="1850" i="1">
                                <a:latin typeface="Cambria Math" panose="02040503050406030204" pitchFamily="18" charset="0"/>
                              </a:rPr>
                              <m:t>𝑄</m:t>
                            </m:r>
                            <m:sSup>
                              <m:sSupPr>
                                <m:ctrlPr>
                                  <a:rPr lang="en-US" sz="1850" i="1">
                                    <a:latin typeface="Cambria Math" panose="02040503050406030204" pitchFamily="18" charset="0"/>
                                  </a:rPr>
                                </m:ctrlPr>
                              </m:sSupPr>
                              <m:e>
                                <m:r>
                                  <a:rPr lang="en-US" sz="1850" i="1">
                                    <a:latin typeface="Cambria Math" panose="02040503050406030204" pitchFamily="18" charset="0"/>
                                  </a:rPr>
                                  <m:t>𝐾</m:t>
                                </m:r>
                              </m:e>
                              <m:sup>
                                <m:r>
                                  <a:rPr lang="en-US" sz="1850" i="1">
                                    <a:latin typeface="Cambria Math" panose="02040503050406030204" pitchFamily="18" charset="0"/>
                                  </a:rPr>
                                  <m:t>𝑇</m:t>
                                </m:r>
                              </m:sup>
                            </m:sSup>
                          </m:num>
                          <m:den>
                            <m:rad>
                              <m:radPr>
                                <m:degHide m:val="on"/>
                                <m:ctrlPr>
                                  <a:rPr lang="en-US" sz="1850" i="1">
                                    <a:latin typeface="Cambria Math" panose="02040503050406030204" pitchFamily="18" charset="0"/>
                                  </a:rPr>
                                </m:ctrlPr>
                              </m:radPr>
                              <m:deg/>
                              <m:e>
                                <m:sSub>
                                  <m:sSubPr>
                                    <m:ctrlPr>
                                      <a:rPr lang="en-US" sz="1850" i="1">
                                        <a:latin typeface="Cambria Math" panose="02040503050406030204" pitchFamily="18" charset="0"/>
                                      </a:rPr>
                                    </m:ctrlPr>
                                  </m:sSubPr>
                                  <m:e>
                                    <m:r>
                                      <a:rPr lang="en-US" sz="1850" i="1">
                                        <a:latin typeface="Cambria Math" panose="02040503050406030204" pitchFamily="18" charset="0"/>
                                      </a:rPr>
                                      <m:t>𝑑</m:t>
                                    </m:r>
                                  </m:e>
                                  <m:sub>
                                    <m:r>
                                      <a:rPr lang="en-US" sz="1850" i="1">
                                        <a:latin typeface="Cambria Math" panose="02040503050406030204" pitchFamily="18" charset="0"/>
                                      </a:rPr>
                                      <m:t>𝑘</m:t>
                                    </m:r>
                                  </m:sub>
                                </m:sSub>
                              </m:e>
                            </m:rad>
                          </m:den>
                        </m:f>
                      </m:e>
                    </m:d>
                  </m:oMath>
                </a14:m>
                <a:r>
                  <a:rPr lang="en-US" sz="1850" dirty="0"/>
                  <a:t> is high-dimensional tensor. Fortunately, </a:t>
                </a:r>
                <a:r>
                  <a:rPr lang="en-US" sz="1850" dirty="0" smtClean="0">
                    <a:effectLst>
                      <a:outerShdw blurRad="38100" dist="38100" dir="2700000" algn="tl">
                        <a:srgbClr val="000000">
                          <a:alpha val="43137"/>
                        </a:srgbClr>
                      </a:outerShdw>
                    </a:effectLst>
                  </a:rPr>
                  <a:t>the soft-max function is </a:t>
                </a:r>
                <a:r>
                  <a:rPr lang="en-US" sz="1850" dirty="0">
                    <a:effectLst>
                      <a:outerShdw blurRad="38100" dist="38100" dir="2700000" algn="tl">
                        <a:srgbClr val="000000">
                          <a:alpha val="43137"/>
                        </a:srgbClr>
                      </a:outerShdw>
                    </a:effectLst>
                  </a:rPr>
                  <a:t>calculated by row-by-row way so that its rows are mutually independent so that the likelihood function </a:t>
                </a:r>
                <a:r>
                  <a:rPr lang="en-US" sz="1850" i="1" dirty="0">
                    <a:effectLst>
                      <a:outerShdw blurRad="38100" dist="38100" dir="2700000" algn="tl">
                        <a:srgbClr val="000000">
                          <a:alpha val="43137"/>
                        </a:srgbClr>
                      </a:outerShdw>
                    </a:effectLst>
                  </a:rPr>
                  <a:t>L</a:t>
                </a:r>
                <a:r>
                  <a:rPr lang="en-US" sz="1850" dirty="0">
                    <a:effectLst>
                      <a:outerShdw blurRad="38100" dist="38100" dir="2700000" algn="tl">
                        <a:srgbClr val="000000">
                          <a:alpha val="43137"/>
                        </a:srgbClr>
                      </a:outerShdw>
                    </a:effectLst>
                  </a:rPr>
                  <a:t>(</a:t>
                </a:r>
                <a:r>
                  <a:rPr lang="en-US" sz="1850" i="1" dirty="0">
                    <a:effectLst>
                      <a:outerShdw blurRad="38100" dist="38100" dir="2700000" algn="tl">
                        <a:srgbClr val="000000">
                          <a:alpha val="43137"/>
                        </a:srgbClr>
                      </a:outerShdw>
                    </a:effectLst>
                  </a:rPr>
                  <a:t>A</a:t>
                </a:r>
                <a:r>
                  <a:rPr lang="en-US" sz="1850" dirty="0">
                    <a:effectLst>
                      <a:outerShdw blurRad="38100" dist="38100" dir="2700000" algn="tl">
                        <a:srgbClr val="000000">
                          <a:alpha val="43137"/>
                        </a:srgbClr>
                      </a:outerShdw>
                    </a:effectLst>
                  </a:rPr>
                  <a:t>) will be partitioned into partial likelihood functions </a:t>
                </a:r>
                <a:r>
                  <a:rPr lang="en-US" sz="1850" i="1" dirty="0">
                    <a:effectLst>
                      <a:outerShdw blurRad="38100" dist="38100" dir="2700000" algn="tl">
                        <a:srgbClr val="000000">
                          <a:alpha val="43137"/>
                        </a:srgbClr>
                      </a:outerShdw>
                    </a:effectLst>
                  </a:rPr>
                  <a:t>l</a:t>
                </a:r>
                <a:r>
                  <a:rPr lang="en-US" sz="1850" i="1" baseline="-25000" dirty="0">
                    <a:effectLst>
                      <a:outerShdw blurRad="38100" dist="38100" dir="2700000" algn="tl">
                        <a:srgbClr val="000000">
                          <a:alpha val="43137"/>
                        </a:srgbClr>
                      </a:outerShdw>
                    </a:effectLst>
                  </a:rPr>
                  <a:t>i</a:t>
                </a:r>
                <a:r>
                  <a:rPr lang="en-US" sz="1850" dirty="0">
                    <a:effectLst>
                      <a:outerShdw blurRad="38100" dist="38100" dir="2700000" algn="tl">
                        <a:srgbClr val="000000">
                          <a:alpha val="43137"/>
                        </a:srgbClr>
                      </a:outerShdw>
                    </a:effectLst>
                  </a:rPr>
                  <a:t>(</a:t>
                </a:r>
                <a:r>
                  <a:rPr lang="en-US" sz="1850" b="1" i="1" dirty="0" err="1">
                    <a:effectLst>
                      <a:outerShdw blurRad="38100" dist="38100" dir="2700000" algn="tl">
                        <a:srgbClr val="000000">
                          <a:alpha val="43137"/>
                        </a:srgbClr>
                      </a:outerShdw>
                    </a:effectLst>
                  </a:rPr>
                  <a:t>a</a:t>
                </a:r>
                <a:r>
                  <a:rPr lang="en-US" sz="1850" i="1" baseline="-25000" dirty="0" err="1">
                    <a:effectLst>
                      <a:outerShdw blurRad="38100" dist="38100" dir="2700000" algn="tl">
                        <a:srgbClr val="000000">
                          <a:alpha val="43137"/>
                        </a:srgbClr>
                      </a:outerShdw>
                    </a:effectLst>
                  </a:rPr>
                  <a:t>i</a:t>
                </a:r>
                <a:r>
                  <a:rPr lang="en-US" sz="1850" dirty="0">
                    <a:effectLst>
                      <a:outerShdw blurRad="38100" dist="38100" dir="2700000" algn="tl">
                        <a:srgbClr val="000000">
                          <a:alpha val="43137"/>
                        </a:srgbClr>
                      </a:outerShdw>
                    </a:effectLst>
                  </a:rPr>
                  <a:t>)</a:t>
                </a:r>
                <a:r>
                  <a:rPr lang="en-US" sz="1850" dirty="0"/>
                  <a:t> where every partial attention </a:t>
                </a:r>
                <a:r>
                  <a:rPr lang="en-US" sz="1850" b="1" i="1" dirty="0" err="1"/>
                  <a:t>a</a:t>
                </a:r>
                <a:r>
                  <a:rPr lang="en-US" sz="1850" i="1" baseline="-25000" dirty="0" err="1"/>
                  <a:t>i</a:t>
                </a:r>
                <a:r>
                  <a:rPr lang="en-US" sz="1850" dirty="0"/>
                  <a:t> is the column vector representing the </a:t>
                </a:r>
                <a:r>
                  <a:rPr lang="en-US" sz="1850" i="1" dirty="0" err="1"/>
                  <a:t>i</a:t>
                </a:r>
                <a:r>
                  <a:rPr lang="en-US" sz="1850" baseline="30000" dirty="0" err="1"/>
                  <a:t>th</a:t>
                </a:r>
                <a:r>
                  <a:rPr lang="en-US" sz="1850" dirty="0"/>
                  <a:t> row of </a:t>
                </a:r>
                <a:r>
                  <a:rPr lang="en-US" sz="1850" i="1" dirty="0"/>
                  <a:t>A</a:t>
                </a:r>
                <a:r>
                  <a:rPr lang="en-US" sz="1850" dirty="0" smtClean="0"/>
                  <a:t>.</a:t>
                </a:r>
              </a:p>
              <a:p>
                <a:pPr marL="0" indent="0">
                  <a:buNone/>
                </a:pPr>
                <a14:m>
                  <m:oMathPara xmlns:m="http://schemas.openxmlformats.org/officeDocument/2006/math">
                    <m:oMathParaPr>
                      <m:jc m:val="centerGroup"/>
                    </m:oMathParaPr>
                    <m:oMath xmlns:m="http://schemas.openxmlformats.org/officeDocument/2006/math">
                      <m:sSub>
                        <m:sSubPr>
                          <m:ctrlPr>
                            <a:rPr lang="en-US" sz="1850" i="1">
                              <a:latin typeface="Cambria Math" panose="02040503050406030204" pitchFamily="18" charset="0"/>
                            </a:rPr>
                          </m:ctrlPr>
                        </m:sSubPr>
                        <m:e>
                          <m:r>
                            <a:rPr lang="en-US" sz="1850" i="1">
                              <a:latin typeface="Cambria Math" panose="02040503050406030204" pitchFamily="18" charset="0"/>
                            </a:rPr>
                            <m:t>𝑙</m:t>
                          </m:r>
                        </m:e>
                        <m:sub>
                          <m:r>
                            <a:rPr lang="en-US" sz="1850" i="1">
                              <a:latin typeface="Cambria Math" panose="02040503050406030204" pitchFamily="18" charset="0"/>
                            </a:rPr>
                            <m:t>𝑖</m:t>
                          </m:r>
                        </m:sub>
                      </m:sSub>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b="1" i="1">
                                  <a:latin typeface="Cambria Math" panose="02040503050406030204" pitchFamily="18" charset="0"/>
                                </a:rPr>
                                <m:t>𝒂</m:t>
                              </m:r>
                            </m:e>
                            <m:sub>
                              <m:r>
                                <a:rPr lang="en-US" sz="1850" i="1">
                                  <a:latin typeface="Cambria Math" panose="02040503050406030204" pitchFamily="18" charset="0"/>
                                </a:rPr>
                                <m:t>𝑖</m:t>
                              </m:r>
                            </m:sub>
                          </m:sSub>
                        </m:e>
                      </m:d>
                      <m:r>
                        <a:rPr lang="en-US" sz="1850" i="1">
                          <a:latin typeface="Cambria Math" panose="02040503050406030204" pitchFamily="18" charset="0"/>
                        </a:rPr>
                        <m:t>=−</m:t>
                      </m:r>
                      <m:f>
                        <m:fPr>
                          <m:ctrlPr>
                            <a:rPr lang="en-US" sz="1850" i="1">
                              <a:latin typeface="Cambria Math" panose="02040503050406030204" pitchFamily="18" charset="0"/>
                            </a:rPr>
                          </m:ctrlPr>
                        </m:fPr>
                        <m:num>
                          <m:r>
                            <a:rPr lang="en-US" sz="1850" i="1">
                              <a:latin typeface="Cambria Math" panose="02040503050406030204" pitchFamily="18" charset="0"/>
                            </a:rPr>
                            <m:t>1</m:t>
                          </m:r>
                        </m:num>
                        <m:den>
                          <m:r>
                            <a:rPr lang="en-US" sz="1850" i="1">
                              <a:latin typeface="Cambria Math" panose="02040503050406030204" pitchFamily="18" charset="0"/>
                            </a:rPr>
                            <m:t>2</m:t>
                          </m:r>
                        </m:den>
                      </m:f>
                      <m:sSup>
                        <m:sSupPr>
                          <m:ctrlPr>
                            <a:rPr lang="en-US" sz="1850" i="1">
                              <a:latin typeface="Cambria Math" panose="02040503050406030204" pitchFamily="18" charset="0"/>
                            </a:rPr>
                          </m:ctrlPr>
                        </m:sSupPr>
                        <m:e>
                          <m:d>
                            <m:dPr>
                              <m:begChr m:val="‖"/>
                              <m:endChr m:val="‖"/>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b="1" i="1">
                                      <a:latin typeface="Cambria Math" panose="02040503050406030204" pitchFamily="18" charset="0"/>
                                    </a:rPr>
                                    <m:t>𝒂</m:t>
                                  </m:r>
                                </m:e>
                                <m:sub>
                                  <m:r>
                                    <a:rPr lang="en-US" sz="1850" i="1">
                                      <a:latin typeface="Cambria Math" panose="02040503050406030204" pitchFamily="18" charset="0"/>
                                    </a:rPr>
                                    <m:t>𝑖</m:t>
                                  </m:r>
                                </m:sub>
                                <m:sup>
                                  <m:r>
                                    <a:rPr lang="en-US" sz="1850" i="1">
                                      <a:latin typeface="Cambria Math" panose="02040503050406030204" pitchFamily="18" charset="0"/>
                                    </a:rPr>
                                    <m:t>′</m:t>
                                  </m:r>
                                </m:sup>
                              </m:sSubSup>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b="1" i="1">
                                      <a:latin typeface="Cambria Math" panose="02040503050406030204" pitchFamily="18" charset="0"/>
                                    </a:rPr>
                                    <m:t>𝒂</m:t>
                                  </m:r>
                                </m:e>
                                <m:sub>
                                  <m:r>
                                    <a:rPr lang="en-US" sz="1850" i="1">
                                      <a:latin typeface="Cambria Math" panose="02040503050406030204" pitchFamily="18" charset="0"/>
                                    </a:rPr>
                                    <m:t>𝑖</m:t>
                                  </m:r>
                                </m:sub>
                              </m:sSub>
                            </m:e>
                          </m:d>
                        </m:e>
                        <m:sup>
                          <m:r>
                            <a:rPr lang="en-US" sz="1850" i="1">
                              <a:latin typeface="Cambria Math" panose="02040503050406030204" pitchFamily="18" charset="0"/>
                            </a:rPr>
                            <m:t>2</m:t>
                          </m:r>
                        </m:sup>
                      </m:sSup>
                      <m:r>
                        <a:rPr lang="en-US" sz="1850" i="1">
                          <a:latin typeface="Cambria Math" panose="02040503050406030204" pitchFamily="18" charset="0"/>
                        </a:rPr>
                        <m:t>=−</m:t>
                      </m:r>
                      <m:f>
                        <m:fPr>
                          <m:ctrlPr>
                            <a:rPr lang="en-US" sz="1850" i="1">
                              <a:latin typeface="Cambria Math" panose="02040503050406030204" pitchFamily="18" charset="0"/>
                            </a:rPr>
                          </m:ctrlPr>
                        </m:fPr>
                        <m:num>
                          <m:r>
                            <a:rPr lang="en-US" sz="1850" i="1">
                              <a:latin typeface="Cambria Math" panose="02040503050406030204" pitchFamily="18" charset="0"/>
                            </a:rPr>
                            <m:t>1</m:t>
                          </m:r>
                        </m:num>
                        <m:den>
                          <m:r>
                            <a:rPr lang="en-US" sz="1850" i="1">
                              <a:latin typeface="Cambria Math" panose="02040503050406030204" pitchFamily="18" charset="0"/>
                            </a:rPr>
                            <m:t>2</m:t>
                          </m:r>
                        </m:den>
                      </m:f>
                      <m:nary>
                        <m:naryPr>
                          <m:chr m:val="∑"/>
                          <m:limLoc m:val="undOvr"/>
                          <m:supHide m:val="on"/>
                          <m:ctrlPr>
                            <a:rPr lang="en-US" sz="1850" i="1">
                              <a:latin typeface="Cambria Math" panose="02040503050406030204" pitchFamily="18" charset="0"/>
                            </a:rPr>
                          </m:ctrlPr>
                        </m:naryPr>
                        <m:sub>
                          <m:r>
                            <a:rPr lang="en-US" sz="1850" i="1">
                              <a:latin typeface="Cambria Math" panose="02040503050406030204" pitchFamily="18" charset="0"/>
                            </a:rPr>
                            <m:t>𝑗</m:t>
                          </m:r>
                        </m:sub>
                        <m:sup/>
                        <m:e>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i="1">
                                          <a:latin typeface="Cambria Math" panose="02040503050406030204" pitchFamily="18" charset="0"/>
                                        </a:rPr>
                                        <m:t>𝑎</m:t>
                                      </m:r>
                                    </m:e>
                                    <m:sub>
                                      <m:r>
                                        <a:rPr lang="en-US" sz="1850" i="1">
                                          <a:latin typeface="Cambria Math" panose="02040503050406030204" pitchFamily="18" charset="0"/>
                                        </a:rPr>
                                        <m:t>𝑖𝑗</m:t>
                                      </m:r>
                                    </m:sub>
                                    <m:sup>
                                      <m:r>
                                        <a:rPr lang="en-US" sz="1850" i="1">
                                          <a:latin typeface="Cambria Math" panose="02040503050406030204" pitchFamily="18" charset="0"/>
                                        </a:rPr>
                                        <m:t>′</m:t>
                                      </m:r>
                                    </m:sup>
                                  </m:sSubSup>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i="1">
                                          <a:latin typeface="Cambria Math" panose="02040503050406030204" pitchFamily="18" charset="0"/>
                                        </a:rPr>
                                        <m:t>𝑎</m:t>
                                      </m:r>
                                    </m:e>
                                    <m:sub>
                                      <m:r>
                                        <a:rPr lang="en-US" sz="1850" i="1">
                                          <a:latin typeface="Cambria Math" panose="02040503050406030204" pitchFamily="18" charset="0"/>
                                        </a:rPr>
                                        <m:t>𝑖𝑗</m:t>
                                      </m:r>
                                    </m:sub>
                                  </m:sSub>
                                </m:e>
                              </m:d>
                            </m:e>
                            <m:sup>
                              <m:r>
                                <a:rPr lang="en-US" sz="1850" i="1">
                                  <a:latin typeface="Cambria Math" panose="02040503050406030204" pitchFamily="18" charset="0"/>
                                </a:rPr>
                                <m:t>2</m:t>
                              </m:r>
                            </m:sup>
                          </m:sSup>
                        </m:e>
                      </m:nary>
                    </m:oMath>
                  </m:oMathPara>
                </a14:m>
                <a:endParaRPr lang="en-US" sz="1850" dirty="0" smtClean="0"/>
              </a:p>
              <a:p>
                <a:pPr marL="0" indent="0">
                  <a:buNone/>
                </a:pPr>
                <a:r>
                  <a:rPr lang="en-US" sz="1850" dirty="0"/>
                  <a:t>Such that differential of </a:t>
                </a:r>
                <a:r>
                  <a:rPr lang="en-US" sz="1850" i="1" dirty="0"/>
                  <a:t>L</a:t>
                </a:r>
                <a:r>
                  <a:rPr lang="en-US" sz="1850" dirty="0"/>
                  <a:t>(</a:t>
                </a:r>
                <a:r>
                  <a:rPr lang="en-US" sz="1850" i="1" dirty="0"/>
                  <a:t>A</a:t>
                </a:r>
                <a:r>
                  <a:rPr lang="en-US" sz="1850" dirty="0"/>
                  <a:t>) </a:t>
                </a:r>
                <a:r>
                  <a:rPr lang="en-US" sz="1850" dirty="0" smtClean="0"/>
                  <a:t>is </a:t>
                </a:r>
                <a:r>
                  <a:rPr lang="en-US" sz="1850" dirty="0"/>
                  <a:t>sum of partial differentials of </a:t>
                </a:r>
                <a:r>
                  <a:rPr lang="en-US" sz="1850" i="1" dirty="0"/>
                  <a:t>l</a:t>
                </a:r>
                <a:r>
                  <a:rPr lang="en-US" sz="1850" i="1" baseline="-25000" dirty="0"/>
                  <a:t>i</a:t>
                </a:r>
                <a:r>
                  <a:rPr lang="en-US" sz="1850" dirty="0"/>
                  <a:t>(</a:t>
                </a:r>
                <a:r>
                  <a:rPr lang="en-US" sz="1850" b="1" i="1" dirty="0" err="1"/>
                  <a:t>a</a:t>
                </a:r>
                <a:r>
                  <a:rPr lang="en-US" sz="1850" i="1" baseline="-25000" dirty="0" err="1"/>
                  <a:t>i</a:t>
                </a:r>
                <a:r>
                  <a:rPr lang="en-US" sz="1850" dirty="0" smtClean="0"/>
                  <a:t>).</a:t>
                </a:r>
              </a:p>
              <a:p>
                <a:pPr marL="0" indent="0">
                  <a:buNone/>
                </a:pPr>
                <a14:m>
                  <m:oMathPara xmlns:m="http://schemas.openxmlformats.org/officeDocument/2006/math">
                    <m:oMathParaPr>
                      <m:jc m:val="centerGroup"/>
                    </m:oMathParaPr>
                    <m:oMath xmlns:m="http://schemas.openxmlformats.org/officeDocument/2006/math">
                      <m:r>
                        <a:rPr lang="en-US" sz="1850" i="1">
                          <a:latin typeface="Cambria Math" panose="02040503050406030204" pitchFamily="18" charset="0"/>
                        </a:rPr>
                        <m:t>𝐿</m:t>
                      </m:r>
                      <m:d>
                        <m:dPr>
                          <m:ctrlPr>
                            <a:rPr lang="en-US" sz="1850" i="1">
                              <a:latin typeface="Cambria Math" panose="02040503050406030204" pitchFamily="18" charset="0"/>
                            </a:rPr>
                          </m:ctrlPr>
                        </m:dPr>
                        <m:e>
                          <m:r>
                            <a:rPr lang="en-US" sz="1850" i="1">
                              <a:latin typeface="Cambria Math" panose="02040503050406030204" pitchFamily="18" charset="0"/>
                            </a:rPr>
                            <m:t>𝐴</m:t>
                          </m:r>
                        </m:e>
                      </m:d>
                      <m:r>
                        <a:rPr lang="en-US" sz="1850" i="1">
                          <a:latin typeface="Cambria Math" panose="02040503050406030204" pitchFamily="18" charset="0"/>
                        </a:rPr>
                        <m:t>=</m:t>
                      </m:r>
                      <m:nary>
                        <m:naryPr>
                          <m:chr m:val="∑"/>
                          <m:limLoc m:val="undOvr"/>
                          <m:ctrlPr>
                            <a:rPr lang="en-US" sz="1850" i="1">
                              <a:latin typeface="Cambria Math" panose="02040503050406030204" pitchFamily="18" charset="0"/>
                            </a:rPr>
                          </m:ctrlPr>
                        </m:naryPr>
                        <m:sub>
                          <m:r>
                            <a:rPr lang="en-US" sz="1850" i="1">
                              <a:latin typeface="Cambria Math" panose="02040503050406030204" pitchFamily="18" charset="0"/>
                            </a:rPr>
                            <m:t>𝑖</m:t>
                          </m:r>
                          <m:r>
                            <a:rPr lang="en-US" sz="1850" i="1">
                              <a:latin typeface="Cambria Math" panose="02040503050406030204" pitchFamily="18" charset="0"/>
                            </a:rPr>
                            <m:t>=1</m:t>
                          </m:r>
                        </m:sub>
                        <m:sup>
                          <m:r>
                            <a:rPr lang="en-US" sz="1850" i="1">
                              <a:latin typeface="Cambria Math" panose="02040503050406030204" pitchFamily="18" charset="0"/>
                            </a:rPr>
                            <m:t>𝑚</m:t>
                          </m:r>
                        </m:sup>
                        <m:e>
                          <m:sSub>
                            <m:sSubPr>
                              <m:ctrlPr>
                                <a:rPr lang="en-US" sz="1850" i="1">
                                  <a:latin typeface="Cambria Math" panose="02040503050406030204" pitchFamily="18" charset="0"/>
                                </a:rPr>
                              </m:ctrlPr>
                            </m:sSubPr>
                            <m:e>
                              <m:r>
                                <a:rPr lang="en-US" sz="1850" i="1">
                                  <a:latin typeface="Cambria Math" panose="02040503050406030204" pitchFamily="18" charset="0"/>
                                </a:rPr>
                                <m:t>𝑙</m:t>
                              </m:r>
                            </m:e>
                            <m:sub>
                              <m:r>
                                <a:rPr lang="en-US" sz="1850" i="1">
                                  <a:latin typeface="Cambria Math" panose="02040503050406030204" pitchFamily="18" charset="0"/>
                                </a:rPr>
                                <m:t>𝑖</m:t>
                              </m:r>
                            </m:sub>
                          </m:sSub>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b="1" i="1">
                                      <a:latin typeface="Cambria Math" panose="02040503050406030204" pitchFamily="18" charset="0"/>
                                    </a:rPr>
                                    <m:t>𝒂</m:t>
                                  </m:r>
                                </m:e>
                                <m:sub>
                                  <m:r>
                                    <a:rPr lang="en-US" sz="1850" i="1">
                                      <a:latin typeface="Cambria Math" panose="02040503050406030204" pitchFamily="18" charset="0"/>
                                    </a:rPr>
                                    <m:t>𝑖</m:t>
                                  </m:r>
                                </m:sub>
                              </m:sSub>
                            </m:e>
                          </m:d>
                        </m:e>
                      </m:nary>
                      <m:r>
                        <a:rPr lang="en-US" sz="1850" b="0" i="1" smtClean="0">
                          <a:latin typeface="Cambria Math" panose="02040503050406030204" pitchFamily="18" charset="0"/>
                        </a:rPr>
                        <m:t> </m:t>
                      </m:r>
                      <m:r>
                        <m:rPr>
                          <m:sty m:val="p"/>
                        </m:rPr>
                        <a:rPr lang="en-US" sz="1850" b="0" i="0" smtClean="0">
                          <a:latin typeface="Cambria Math" panose="02040503050406030204" pitchFamily="18" charset="0"/>
                        </a:rPr>
                        <m:t>and</m:t>
                      </m:r>
                      <m:r>
                        <a:rPr lang="en-US" sz="1850" b="0" i="1" smtClean="0">
                          <a:latin typeface="Cambria Math" panose="02040503050406030204" pitchFamily="18" charset="0"/>
                        </a:rPr>
                        <m:t> </m:t>
                      </m:r>
                      <m:r>
                        <a:rPr lang="en-US" sz="1850" i="1">
                          <a:latin typeface="Cambria Math" panose="02040503050406030204" pitchFamily="18" charset="0"/>
                        </a:rPr>
                        <m:t>𝑑𝐿</m:t>
                      </m:r>
                      <m:d>
                        <m:dPr>
                          <m:ctrlPr>
                            <a:rPr lang="en-US" sz="1850" i="1">
                              <a:latin typeface="Cambria Math" panose="02040503050406030204" pitchFamily="18" charset="0"/>
                            </a:rPr>
                          </m:ctrlPr>
                        </m:dPr>
                        <m:e>
                          <m:r>
                            <a:rPr lang="en-US" sz="1850" i="1">
                              <a:latin typeface="Cambria Math" panose="02040503050406030204" pitchFamily="18" charset="0"/>
                            </a:rPr>
                            <m:t>𝐴</m:t>
                          </m:r>
                        </m:e>
                      </m:d>
                      <m:r>
                        <a:rPr lang="en-US" sz="1850" i="1">
                          <a:latin typeface="Cambria Math" panose="02040503050406030204" pitchFamily="18" charset="0"/>
                        </a:rPr>
                        <m:t>=</m:t>
                      </m:r>
                      <m:nary>
                        <m:naryPr>
                          <m:chr m:val="∑"/>
                          <m:limLoc m:val="undOvr"/>
                          <m:ctrlPr>
                            <a:rPr lang="en-US" sz="1850" i="1">
                              <a:latin typeface="Cambria Math" panose="02040503050406030204" pitchFamily="18" charset="0"/>
                            </a:rPr>
                          </m:ctrlPr>
                        </m:naryPr>
                        <m:sub>
                          <m:r>
                            <a:rPr lang="en-US" sz="1850" i="1">
                              <a:latin typeface="Cambria Math" panose="02040503050406030204" pitchFamily="18" charset="0"/>
                            </a:rPr>
                            <m:t>𝑖</m:t>
                          </m:r>
                          <m:r>
                            <a:rPr lang="en-US" sz="1850" i="1">
                              <a:latin typeface="Cambria Math" panose="02040503050406030204" pitchFamily="18" charset="0"/>
                            </a:rPr>
                            <m:t>=1</m:t>
                          </m:r>
                        </m:sub>
                        <m:sup>
                          <m:r>
                            <a:rPr lang="en-US" sz="1850" i="1">
                              <a:latin typeface="Cambria Math" panose="02040503050406030204" pitchFamily="18" charset="0"/>
                            </a:rPr>
                            <m:t>𝑚</m:t>
                          </m:r>
                        </m:sup>
                        <m:e>
                          <m:r>
                            <a:rPr lang="en-US" sz="1850" i="1">
                              <a:latin typeface="Cambria Math" panose="02040503050406030204" pitchFamily="18" charset="0"/>
                            </a:rPr>
                            <m:t>𝑑</m:t>
                          </m:r>
                          <m:sSub>
                            <m:sSubPr>
                              <m:ctrlPr>
                                <a:rPr lang="en-US" sz="1850" i="1">
                                  <a:latin typeface="Cambria Math" panose="02040503050406030204" pitchFamily="18" charset="0"/>
                                </a:rPr>
                              </m:ctrlPr>
                            </m:sSubPr>
                            <m:e>
                              <m:r>
                                <a:rPr lang="en-US" sz="1850" i="1">
                                  <a:latin typeface="Cambria Math" panose="02040503050406030204" pitchFamily="18" charset="0"/>
                                </a:rPr>
                                <m:t>𝑙</m:t>
                              </m:r>
                            </m:e>
                            <m:sub>
                              <m:r>
                                <a:rPr lang="en-US" sz="1850" i="1">
                                  <a:latin typeface="Cambria Math" panose="02040503050406030204" pitchFamily="18" charset="0"/>
                                </a:rPr>
                                <m:t>𝑖</m:t>
                              </m:r>
                            </m:sub>
                          </m:sSub>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b="1" i="1">
                                      <a:latin typeface="Cambria Math" panose="02040503050406030204" pitchFamily="18" charset="0"/>
                                    </a:rPr>
                                    <m:t>𝒂</m:t>
                                  </m:r>
                                </m:e>
                                <m:sub>
                                  <m:r>
                                    <a:rPr lang="en-US" sz="1850" i="1">
                                      <a:latin typeface="Cambria Math" panose="02040503050406030204" pitchFamily="18" charset="0"/>
                                    </a:rPr>
                                    <m:t>𝑖</m:t>
                                  </m:r>
                                </m:sub>
                              </m:sSub>
                            </m:e>
                          </m:d>
                        </m:e>
                      </m:nary>
                    </m:oMath>
                  </m:oMathPara>
                </a14:m>
                <a:endParaRPr lang="en-US" sz="1850" dirty="0" smtClean="0"/>
              </a:p>
              <a:p>
                <a:pPr marL="0" indent="0">
                  <a:buNone/>
                </a:pPr>
                <a:r>
                  <a:rPr lang="en-US" sz="1850" dirty="0"/>
                  <a:t>Note, dimensions of weight matrices </a:t>
                </a:r>
                <a:r>
                  <a:rPr lang="en-US" sz="1850" i="1" dirty="0"/>
                  <a:t>W</a:t>
                </a:r>
                <a:r>
                  <a:rPr lang="en-US" sz="1850" i="1" baseline="30000" dirty="0"/>
                  <a:t>Q</a:t>
                </a:r>
                <a:r>
                  <a:rPr lang="en-US" sz="1850" dirty="0"/>
                  <a:t>, </a:t>
                </a:r>
                <a:r>
                  <a:rPr lang="en-US" sz="1850" i="1" dirty="0"/>
                  <a:t>W</a:t>
                </a:r>
                <a:r>
                  <a:rPr lang="en-US" sz="1850" i="1" baseline="30000" dirty="0"/>
                  <a:t>K</a:t>
                </a:r>
                <a:r>
                  <a:rPr lang="en-US" sz="1850" dirty="0"/>
                  <a:t>, and </a:t>
                </a:r>
                <a:r>
                  <a:rPr lang="en-US" sz="1850" i="1" dirty="0"/>
                  <a:t>W</a:t>
                </a:r>
                <a:r>
                  <a:rPr lang="en-US" sz="1850" i="1" baseline="30000" dirty="0"/>
                  <a:t>V</a:t>
                </a:r>
                <a:r>
                  <a:rPr lang="en-US" sz="1850" dirty="0"/>
                  <a:t> are </a:t>
                </a:r>
                <a:r>
                  <a:rPr lang="en-US" sz="1850" i="1" dirty="0" err="1"/>
                  <a:t>d</a:t>
                </a:r>
                <a:r>
                  <a:rPr lang="en-US" sz="1850" i="1" baseline="-25000" dirty="0" err="1"/>
                  <a:t>m</a:t>
                </a:r>
                <a:r>
                  <a:rPr lang="en-US" sz="1850" dirty="0"/>
                  <a:t> x </a:t>
                </a:r>
                <a:r>
                  <a:rPr lang="en-US" sz="1850" i="1" dirty="0" err="1"/>
                  <a:t>d</a:t>
                </a:r>
                <a:r>
                  <a:rPr lang="en-US" sz="1850" i="1" baseline="-25000" dirty="0" err="1"/>
                  <a:t>k</a:t>
                </a:r>
                <a:r>
                  <a:rPr lang="en-US" sz="1850" dirty="0"/>
                  <a:t>, </a:t>
                </a:r>
                <a:r>
                  <a:rPr lang="en-US" sz="1850" i="1" dirty="0" err="1"/>
                  <a:t>d</a:t>
                </a:r>
                <a:r>
                  <a:rPr lang="en-US" sz="1850" i="1" baseline="-25000" dirty="0" err="1"/>
                  <a:t>m</a:t>
                </a:r>
                <a:r>
                  <a:rPr lang="en-US" sz="1850" dirty="0"/>
                  <a:t> x </a:t>
                </a:r>
                <a:r>
                  <a:rPr lang="en-US" sz="1850" i="1" dirty="0" err="1"/>
                  <a:t>d</a:t>
                </a:r>
                <a:r>
                  <a:rPr lang="en-US" sz="1850" i="1" baseline="-25000" dirty="0" err="1"/>
                  <a:t>k</a:t>
                </a:r>
                <a:r>
                  <a:rPr lang="en-US" sz="1850" dirty="0"/>
                  <a:t>, and </a:t>
                </a:r>
                <a:r>
                  <a:rPr lang="en-US" sz="1850" i="1" dirty="0" err="1"/>
                  <a:t>d</a:t>
                </a:r>
                <a:r>
                  <a:rPr lang="en-US" sz="1850" i="1" baseline="-25000" dirty="0" err="1"/>
                  <a:t>m</a:t>
                </a:r>
                <a:r>
                  <a:rPr lang="en-US" sz="1850" dirty="0"/>
                  <a:t> x </a:t>
                </a:r>
                <a:r>
                  <a:rPr lang="en-US" sz="1850" i="1" dirty="0"/>
                  <a:t>d</a:t>
                </a:r>
                <a:r>
                  <a:rPr lang="en-US" sz="1850" i="1" baseline="-25000" dirty="0"/>
                  <a:t>v</a:t>
                </a:r>
                <a:r>
                  <a:rPr lang="en-US" sz="1850" dirty="0"/>
                  <a:t>, respectively. </a:t>
                </a:r>
                <a:r>
                  <a:rPr lang="en-US" sz="1850" dirty="0" smtClean="0"/>
                  <a:t>In </a:t>
                </a:r>
                <a:r>
                  <a:rPr lang="en-US" sz="1850" dirty="0"/>
                  <a:t>literature, </a:t>
                </a:r>
                <a:r>
                  <a:rPr lang="en-US" sz="1850" i="1" dirty="0" err="1"/>
                  <a:t>d</a:t>
                </a:r>
                <a:r>
                  <a:rPr lang="en-US" sz="1850" i="1" baseline="-25000" dirty="0" err="1"/>
                  <a:t>m</a:t>
                </a:r>
                <a:r>
                  <a:rPr lang="en-US" sz="1850" dirty="0"/>
                  <a:t> which is most important is called model </a:t>
                </a:r>
                <a:r>
                  <a:rPr lang="en-US" sz="1850" dirty="0" smtClean="0"/>
                  <a:t>dimension. </a:t>
                </a:r>
                <a:r>
                  <a:rPr lang="en-US" sz="1850" dirty="0"/>
                  <a:t>Given the self-attention </a:t>
                </a:r>
                <a:r>
                  <a:rPr lang="en-US" sz="1850" b="1" i="1" dirty="0" err="1"/>
                  <a:t>a</a:t>
                </a:r>
                <a:r>
                  <a:rPr lang="en-US" sz="1850" i="1" baseline="-25000" dirty="0" err="1"/>
                  <a:t>i</a:t>
                </a:r>
                <a:r>
                  <a:rPr lang="en-US" sz="1850" dirty="0"/>
                  <a:t> = (</a:t>
                </a:r>
                <a:r>
                  <a:rPr lang="en-US" sz="1850" i="1" dirty="0"/>
                  <a:t>a</a:t>
                </a:r>
                <a:r>
                  <a:rPr lang="en-US" sz="1850" i="1" baseline="-25000" dirty="0"/>
                  <a:t>i</a:t>
                </a:r>
                <a:r>
                  <a:rPr lang="en-US" sz="1850" baseline="-25000" dirty="0"/>
                  <a:t>1</a:t>
                </a:r>
                <a:r>
                  <a:rPr lang="en-US" sz="1850" dirty="0"/>
                  <a:t>, </a:t>
                </a:r>
                <a:r>
                  <a:rPr lang="en-US" sz="1850" i="1" dirty="0"/>
                  <a:t>a</a:t>
                </a:r>
                <a:r>
                  <a:rPr lang="en-US" sz="1850" i="1" baseline="-25000" dirty="0"/>
                  <a:t>i</a:t>
                </a:r>
                <a:r>
                  <a:rPr lang="en-US" sz="1850" baseline="-25000" dirty="0"/>
                  <a:t>2</a:t>
                </a:r>
                <a:r>
                  <a:rPr lang="en-US" sz="1850" dirty="0"/>
                  <a:t>,…, </a:t>
                </a:r>
                <a14:m>
                  <m:oMath xmlns:m="http://schemas.openxmlformats.org/officeDocument/2006/math">
                    <m:sSub>
                      <m:sSubPr>
                        <m:ctrlPr>
                          <a:rPr lang="en-US" sz="1850" i="1">
                            <a:latin typeface="Cambria Math" panose="02040503050406030204" pitchFamily="18" charset="0"/>
                          </a:rPr>
                        </m:ctrlPr>
                      </m:sSubPr>
                      <m:e>
                        <m:r>
                          <a:rPr lang="en-US" sz="1850" i="1">
                            <a:latin typeface="Cambria Math" panose="02040503050406030204" pitchFamily="18" charset="0"/>
                          </a:rPr>
                          <m:t>𝑎</m:t>
                        </m:r>
                      </m:e>
                      <m:sub>
                        <m:r>
                          <a:rPr lang="en-US" sz="1850" i="1">
                            <a:latin typeface="Cambria Math" panose="02040503050406030204" pitchFamily="18" charset="0"/>
                          </a:rPr>
                          <m:t>1</m:t>
                        </m:r>
                        <m:sSub>
                          <m:sSubPr>
                            <m:ctrlPr>
                              <a:rPr lang="en-US" sz="1850" i="1">
                                <a:latin typeface="Cambria Math" panose="02040503050406030204" pitchFamily="18" charset="0"/>
                              </a:rPr>
                            </m:ctrlPr>
                          </m:sSubPr>
                          <m:e>
                            <m:r>
                              <a:rPr lang="en-US" sz="1850" i="1">
                                <a:latin typeface="Cambria Math" panose="02040503050406030204" pitchFamily="18" charset="0"/>
                              </a:rPr>
                              <m:t>𝑑</m:t>
                            </m:r>
                          </m:e>
                          <m:sub>
                            <m:r>
                              <a:rPr lang="en-US" sz="1850" i="1">
                                <a:latin typeface="Cambria Math" panose="02040503050406030204" pitchFamily="18" charset="0"/>
                              </a:rPr>
                              <m:t>𝑣</m:t>
                            </m:r>
                          </m:sub>
                        </m:sSub>
                      </m:sub>
                    </m:sSub>
                  </m:oMath>
                </a14:m>
                <a:r>
                  <a:rPr lang="en-US" sz="1850" dirty="0"/>
                  <a:t>)</a:t>
                </a:r>
                <a:r>
                  <a:rPr lang="en-US" sz="1850" i="1" baseline="30000" dirty="0"/>
                  <a:t>T</a:t>
                </a:r>
                <a:r>
                  <a:rPr lang="en-US" sz="1850" dirty="0"/>
                  <a:t> of the </a:t>
                </a:r>
                <a:r>
                  <a:rPr lang="en-US" sz="1850" i="1" dirty="0" err="1"/>
                  <a:t>i</a:t>
                </a:r>
                <a:r>
                  <a:rPr lang="en-US" sz="1850" baseline="30000" dirty="0" err="1"/>
                  <a:t>th</a:t>
                </a:r>
                <a:r>
                  <a:rPr lang="en-US" sz="1850" dirty="0"/>
                  <a:t> token, its element </a:t>
                </a:r>
                <a14:m>
                  <m:oMath xmlns:m="http://schemas.openxmlformats.org/officeDocument/2006/math">
                    <m:sSub>
                      <m:sSubPr>
                        <m:ctrlPr>
                          <a:rPr lang="en-US" sz="1850" i="1">
                            <a:latin typeface="Cambria Math" panose="02040503050406030204" pitchFamily="18" charset="0"/>
                          </a:rPr>
                        </m:ctrlPr>
                      </m:sSubPr>
                      <m:e>
                        <m:r>
                          <a:rPr lang="en-US" sz="1850" i="1">
                            <a:latin typeface="Cambria Math" panose="02040503050406030204" pitchFamily="18" charset="0"/>
                          </a:rPr>
                          <m:t>𝑎</m:t>
                        </m:r>
                      </m:e>
                      <m:sub>
                        <m:r>
                          <a:rPr lang="en-US" sz="1850" i="1">
                            <a:latin typeface="Cambria Math" panose="02040503050406030204" pitchFamily="18" charset="0"/>
                          </a:rPr>
                          <m:t>𝑖𝑗</m:t>
                        </m:r>
                      </m:sub>
                    </m:sSub>
                    <m:r>
                      <a:rPr lang="en-US" sz="1850" i="1">
                        <a:latin typeface="Cambria Math" panose="02040503050406030204" pitchFamily="18" charset="0"/>
                      </a:rPr>
                      <m:t>=</m:t>
                    </m:r>
                    <m:nary>
                      <m:naryPr>
                        <m:chr m:val="∑"/>
                        <m:limLoc m:val="undOvr"/>
                        <m:ctrlPr>
                          <a:rPr lang="en-US" sz="1850" i="1">
                            <a:latin typeface="Cambria Math" panose="02040503050406030204" pitchFamily="18" charset="0"/>
                          </a:rPr>
                        </m:ctrlPr>
                      </m:naryPr>
                      <m:sub>
                        <m:r>
                          <a:rPr lang="en-US" sz="1850" i="1">
                            <a:latin typeface="Cambria Math" panose="02040503050406030204" pitchFamily="18" charset="0"/>
                          </a:rPr>
                          <m:t>𝑘</m:t>
                        </m:r>
                        <m:r>
                          <a:rPr lang="en-US" sz="1850" i="1">
                            <a:latin typeface="Cambria Math" panose="02040503050406030204" pitchFamily="18" charset="0"/>
                          </a:rPr>
                          <m:t>=1</m:t>
                        </m:r>
                      </m:sub>
                      <m:sup>
                        <m:r>
                          <a:rPr lang="en-US" sz="1850" i="1">
                            <a:latin typeface="Cambria Math" panose="02040503050406030204" pitchFamily="18" charset="0"/>
                          </a:rPr>
                          <m:t>𝑚</m:t>
                        </m:r>
                      </m:sup>
                      <m:e>
                        <m:sSub>
                          <m:sSubPr>
                            <m:ctrlPr>
                              <a:rPr lang="en-US" sz="1850" i="1">
                                <a:latin typeface="Cambria Math" panose="02040503050406030204" pitchFamily="18" charset="0"/>
                              </a:rPr>
                            </m:ctrlPr>
                          </m:sSubPr>
                          <m:e>
                            <m:r>
                              <a:rPr lang="en-US" sz="1850" i="1">
                                <a:latin typeface="Cambria Math" panose="02040503050406030204" pitchFamily="18" charset="0"/>
                              </a:rPr>
                              <m:t>𝑝</m:t>
                            </m:r>
                          </m:e>
                          <m:sub>
                            <m:r>
                              <a:rPr lang="en-US" sz="1850" i="1">
                                <a:latin typeface="Cambria Math" panose="02040503050406030204" pitchFamily="18" charset="0"/>
                              </a:rPr>
                              <m:t>𝑖𝑘</m:t>
                            </m:r>
                          </m:sub>
                        </m:sSub>
                        <m:sSub>
                          <m:sSubPr>
                            <m:ctrlPr>
                              <a:rPr lang="en-US" sz="1850" i="1">
                                <a:latin typeface="Cambria Math" panose="02040503050406030204" pitchFamily="18" charset="0"/>
                              </a:rPr>
                            </m:ctrlPr>
                          </m:sSubPr>
                          <m:e>
                            <m:r>
                              <a:rPr lang="en-US" sz="1850" i="1">
                                <a:latin typeface="Cambria Math" panose="02040503050406030204" pitchFamily="18" charset="0"/>
                              </a:rPr>
                              <m:t>𝑣</m:t>
                            </m:r>
                          </m:e>
                          <m:sub>
                            <m:r>
                              <a:rPr lang="en-US" sz="1850" i="1">
                                <a:latin typeface="Cambria Math" panose="02040503050406030204" pitchFamily="18" charset="0"/>
                              </a:rPr>
                              <m:t>𝑘𝑗</m:t>
                            </m:r>
                          </m:sub>
                        </m:sSub>
                      </m:e>
                    </m:nary>
                  </m:oMath>
                </a14:m>
                <a:r>
                  <a:rPr lang="en-US" sz="1850" dirty="0"/>
                  <a:t> is the weighted sum of all </a:t>
                </a:r>
                <a:r>
                  <a:rPr lang="en-US" sz="1850" i="1" dirty="0" err="1"/>
                  <a:t>j</a:t>
                </a:r>
                <a:r>
                  <a:rPr lang="en-US" sz="1850" baseline="30000" dirty="0" err="1"/>
                  <a:t>th</a:t>
                </a:r>
                <a:r>
                  <a:rPr lang="en-US" sz="1850" dirty="0"/>
                  <a:t> terms (at the same </a:t>
                </a:r>
                <a:r>
                  <a:rPr lang="en-US" sz="1850" i="1" dirty="0" err="1"/>
                  <a:t>j</a:t>
                </a:r>
                <a:r>
                  <a:rPr lang="en-US" sz="1850" baseline="30000" dirty="0" err="1"/>
                  <a:t>th</a:t>
                </a:r>
                <a:r>
                  <a:rPr lang="en-US" sz="1850" dirty="0"/>
                  <a:t> column) over all tokens where every </a:t>
                </a:r>
                <a:r>
                  <a:rPr lang="en-US" sz="1850" i="1" dirty="0"/>
                  <a:t>k</a:t>
                </a:r>
                <a:r>
                  <a:rPr lang="en-US" sz="1850" baseline="30000" dirty="0"/>
                  <a:t>th</a:t>
                </a:r>
                <a:r>
                  <a:rPr lang="en-US" sz="1850" dirty="0"/>
                  <a:t> weight is specified as the probability </a:t>
                </a:r>
                <a:r>
                  <a:rPr lang="en-US" sz="1850" i="1" dirty="0" err="1"/>
                  <a:t>p</a:t>
                </a:r>
                <a:r>
                  <a:rPr lang="en-US" sz="1850" i="1" baseline="-25000" dirty="0" err="1"/>
                  <a:t>ik</a:t>
                </a:r>
                <a:r>
                  <a:rPr lang="en-US" sz="1850" dirty="0"/>
                  <a:t> that measures the similarity of the </a:t>
                </a:r>
                <a:r>
                  <a:rPr lang="en-US" sz="1850" i="1" dirty="0" err="1"/>
                  <a:t>i</a:t>
                </a:r>
                <a:r>
                  <a:rPr lang="en-US" sz="1850" baseline="30000" dirty="0" err="1"/>
                  <a:t>th</a:t>
                </a:r>
                <a:r>
                  <a:rPr lang="en-US" sz="1850" dirty="0"/>
                  <a:t> token and the </a:t>
                </a:r>
                <a:r>
                  <a:rPr lang="en-US" sz="1850" i="1" dirty="0"/>
                  <a:t>k</a:t>
                </a:r>
                <a:r>
                  <a:rPr lang="en-US" sz="1850" baseline="30000" dirty="0"/>
                  <a:t>th</a:t>
                </a:r>
                <a:r>
                  <a:rPr lang="en-US" sz="1850" dirty="0"/>
                  <a:t> token. It is interesting that such probability </a:t>
                </a:r>
                <a:r>
                  <a:rPr lang="en-US" sz="1850" i="1" dirty="0" err="1"/>
                  <a:t>p</a:t>
                </a:r>
                <a:r>
                  <a:rPr lang="en-US" sz="1850" i="1" baseline="-25000" dirty="0" err="1"/>
                  <a:t>ik</a:t>
                </a:r>
                <a:r>
                  <a:rPr lang="en-US" sz="1850" dirty="0"/>
                  <a:t> which is essentially the similarity is calculated as the association of dot product (non-normalized cosine) and soft-max function (for normalizing), which can be interpreted by another way as the frequency that the current </a:t>
                </a:r>
                <a:r>
                  <a:rPr lang="en-US" sz="1850" i="1" dirty="0" err="1"/>
                  <a:t>i</a:t>
                </a:r>
                <a:r>
                  <a:rPr lang="en-US" sz="1850" baseline="30000" dirty="0" err="1"/>
                  <a:t>th</a:t>
                </a:r>
                <a:r>
                  <a:rPr lang="en-US" sz="1850" dirty="0"/>
                  <a:t> token matches the </a:t>
                </a:r>
                <a:r>
                  <a:rPr lang="en-US" sz="1850" i="1" dirty="0"/>
                  <a:t>k</a:t>
                </a:r>
                <a:r>
                  <a:rPr lang="en-US" sz="1850" baseline="30000" dirty="0"/>
                  <a:t>th</a:t>
                </a:r>
                <a:r>
                  <a:rPr lang="en-US" sz="1850" dirty="0"/>
                  <a:t> token.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1120" y="914399"/>
                <a:ext cx="12049760" cy="5176066"/>
              </a:xfrm>
              <a:blipFill>
                <a:blip r:embed="rId2"/>
                <a:stretch>
                  <a:fillRect l="-2834" t="-707" r="-759" b="-3180"/>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26</a:t>
            </a:fld>
            <a:endParaRPr lang="en-US"/>
          </a:p>
        </p:txBody>
      </p:sp>
    </p:spTree>
    <p:extLst>
      <p:ext uri="{BB962C8B-B14F-4D97-AF65-F5344CB8AC3E}">
        <p14:creationId xmlns:p14="http://schemas.microsoft.com/office/powerpoint/2010/main" val="39147508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a:t>
            </a:r>
            <a:r>
              <a:rPr lang="en-US" dirty="0" smtClean="0"/>
              <a:t>network (skip)</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1280" y="914399"/>
                <a:ext cx="12029440" cy="5176066"/>
              </a:xfrm>
            </p:spPr>
            <p:txBody>
              <a:bodyPr>
                <a:noAutofit/>
              </a:bodyPr>
              <a:lstStyle/>
              <a:p>
                <a:pPr marL="0" indent="0">
                  <a:buNone/>
                </a:pPr>
                <a:r>
                  <a:rPr lang="en-US" sz="1850" dirty="0" smtClean="0">
                    <a:effectLst>
                      <a:outerShdw blurRad="38100" dist="38100" dir="2700000" algn="tl">
                        <a:srgbClr val="000000">
                          <a:alpha val="43137"/>
                        </a:srgbClr>
                      </a:outerShdw>
                    </a:effectLst>
                  </a:rPr>
                  <a:t>Some important notes:</a:t>
                </a:r>
              </a:p>
              <a:p>
                <a:pPr marL="0" indent="0">
                  <a:buNone/>
                </a:pPr>
                <a14:m>
                  <m:oMathPara xmlns:m="http://schemas.openxmlformats.org/officeDocument/2006/math">
                    <m:oMathParaPr>
                      <m:jc m:val="left"/>
                    </m:oMathParaPr>
                    <m:oMath xmlns:m="http://schemas.openxmlformats.org/officeDocument/2006/math">
                      <m:r>
                        <m:rPr>
                          <m:sty m:val="p"/>
                        </m:rPr>
                        <a:rPr lang="en-US" sz="1850">
                          <a:latin typeface="Cambria Math" panose="02040503050406030204" pitchFamily="18" charset="0"/>
                        </a:rPr>
                        <m:t>softmax</m:t>
                      </m:r>
                      <m:d>
                        <m:dPr>
                          <m:ctrlPr>
                            <a:rPr lang="en-US" sz="1850" i="1">
                              <a:latin typeface="Cambria Math" panose="02040503050406030204" pitchFamily="18" charset="0"/>
                            </a:rPr>
                          </m:ctrlPr>
                        </m:dPr>
                        <m:e>
                          <m:f>
                            <m:fPr>
                              <m:ctrlPr>
                                <a:rPr lang="en-US" sz="1850" i="1">
                                  <a:latin typeface="Cambria Math" panose="02040503050406030204" pitchFamily="18" charset="0"/>
                                </a:rPr>
                              </m:ctrlPr>
                            </m:fPr>
                            <m:num>
                              <m:r>
                                <a:rPr lang="en-US" sz="1850" i="1">
                                  <a:latin typeface="Cambria Math" panose="02040503050406030204" pitchFamily="18" charset="0"/>
                                </a:rPr>
                                <m:t>𝑄</m:t>
                              </m:r>
                              <m:sSup>
                                <m:sSupPr>
                                  <m:ctrlPr>
                                    <a:rPr lang="en-US" sz="1850" i="1">
                                      <a:latin typeface="Cambria Math" panose="02040503050406030204" pitchFamily="18" charset="0"/>
                                    </a:rPr>
                                  </m:ctrlPr>
                                </m:sSupPr>
                                <m:e>
                                  <m:r>
                                    <a:rPr lang="en-US" sz="1850" i="1">
                                      <a:latin typeface="Cambria Math" panose="02040503050406030204" pitchFamily="18" charset="0"/>
                                    </a:rPr>
                                    <m:t>𝐾</m:t>
                                  </m:r>
                                </m:e>
                                <m:sup>
                                  <m:r>
                                    <a:rPr lang="en-US" sz="1850" i="1">
                                      <a:latin typeface="Cambria Math" panose="02040503050406030204" pitchFamily="18" charset="0"/>
                                    </a:rPr>
                                    <m:t>𝑇</m:t>
                                  </m:r>
                                </m:sup>
                              </m:sSup>
                            </m:num>
                            <m:den>
                              <m:rad>
                                <m:radPr>
                                  <m:degHide m:val="on"/>
                                  <m:ctrlPr>
                                    <a:rPr lang="en-US" sz="1850" i="1">
                                      <a:latin typeface="Cambria Math" panose="02040503050406030204" pitchFamily="18" charset="0"/>
                                    </a:rPr>
                                  </m:ctrlPr>
                                </m:radPr>
                                <m:deg/>
                                <m:e>
                                  <m:sSub>
                                    <m:sSubPr>
                                      <m:ctrlPr>
                                        <a:rPr lang="en-US" sz="1850" i="1">
                                          <a:latin typeface="Cambria Math" panose="02040503050406030204" pitchFamily="18" charset="0"/>
                                        </a:rPr>
                                      </m:ctrlPr>
                                    </m:sSubPr>
                                    <m:e>
                                      <m:r>
                                        <a:rPr lang="en-US" sz="1850" i="1">
                                          <a:latin typeface="Cambria Math" panose="02040503050406030204" pitchFamily="18" charset="0"/>
                                        </a:rPr>
                                        <m:t>𝑑</m:t>
                                      </m:r>
                                    </m:e>
                                    <m:sub>
                                      <m:r>
                                        <a:rPr lang="en-US" sz="1850" i="1">
                                          <a:latin typeface="Cambria Math" panose="02040503050406030204" pitchFamily="18" charset="0"/>
                                        </a:rPr>
                                        <m:t>𝑘</m:t>
                                      </m:r>
                                    </m:sub>
                                  </m:sSub>
                                </m:e>
                              </m:rad>
                            </m:den>
                          </m:f>
                        </m:e>
                      </m:d>
                      <m:r>
                        <m:rPr>
                          <m:aln/>
                        </m:rPr>
                        <a:rPr lang="en-US" sz="1850">
                          <a:latin typeface="Cambria Math" panose="02040503050406030204" pitchFamily="18" charset="0"/>
                        </a:rPr>
                        <m:t>=</m:t>
                      </m:r>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b="1" i="1">
                                      <a:latin typeface="Cambria Math" panose="02040503050406030204" pitchFamily="18" charset="0"/>
                                    </a:rPr>
                                    <m:t>𝒑</m:t>
                                  </m:r>
                                </m:e>
                                <m:sub>
                                  <m:r>
                                    <a:rPr lang="en-US" sz="1850" i="1">
                                      <a:latin typeface="Cambria Math" panose="02040503050406030204" pitchFamily="18" charset="0"/>
                                    </a:rPr>
                                    <m:t>1</m:t>
                                  </m:r>
                                </m:sub>
                                <m:sup>
                                  <m:r>
                                    <a:rPr lang="en-US" sz="1850" i="1">
                                      <a:latin typeface="Cambria Math" panose="02040503050406030204" pitchFamily="18" charset="0"/>
                                    </a:rPr>
                                    <m:t>𝑇</m:t>
                                  </m:r>
                                </m:sup>
                              </m:sSubSup>
                              <m:r>
                                <a:rPr lang="en-US" sz="1850" i="1">
                                  <a:latin typeface="Cambria Math" panose="02040503050406030204" pitchFamily="18" charset="0"/>
                                </a:rPr>
                                <m:t>,</m:t>
                              </m:r>
                              <m:sSubSup>
                                <m:sSubSupPr>
                                  <m:ctrlPr>
                                    <a:rPr lang="en-US" sz="1850" i="1">
                                      <a:latin typeface="Cambria Math" panose="02040503050406030204" pitchFamily="18" charset="0"/>
                                    </a:rPr>
                                  </m:ctrlPr>
                                </m:sSubSupPr>
                                <m:e>
                                  <m:r>
                                    <a:rPr lang="en-US" sz="1850" b="1" i="1">
                                      <a:latin typeface="Cambria Math" panose="02040503050406030204" pitchFamily="18" charset="0"/>
                                    </a:rPr>
                                    <m:t>𝒑</m:t>
                                  </m:r>
                                </m:e>
                                <m:sub>
                                  <m:r>
                                    <a:rPr lang="en-US" sz="1850" i="1">
                                      <a:latin typeface="Cambria Math" panose="02040503050406030204" pitchFamily="18" charset="0"/>
                                    </a:rPr>
                                    <m:t>2</m:t>
                                  </m:r>
                                </m:sub>
                                <m:sup>
                                  <m:r>
                                    <a:rPr lang="en-US" sz="1850" i="1">
                                      <a:latin typeface="Cambria Math" panose="02040503050406030204" pitchFamily="18" charset="0"/>
                                    </a:rPr>
                                    <m:t>𝑇</m:t>
                                  </m:r>
                                </m:sup>
                              </m:sSubSup>
                              <m:r>
                                <a:rPr lang="en-US" sz="1850" i="1">
                                  <a:latin typeface="Cambria Math" panose="02040503050406030204" pitchFamily="18" charset="0"/>
                                </a:rPr>
                                <m:t>,…,</m:t>
                              </m:r>
                              <m:sSubSup>
                                <m:sSubSupPr>
                                  <m:ctrlPr>
                                    <a:rPr lang="en-US" sz="1850" i="1">
                                      <a:latin typeface="Cambria Math" panose="02040503050406030204" pitchFamily="18" charset="0"/>
                                    </a:rPr>
                                  </m:ctrlPr>
                                </m:sSubSupPr>
                                <m:e>
                                  <m:r>
                                    <a:rPr lang="en-US" sz="1850" b="1" i="1">
                                      <a:latin typeface="Cambria Math" panose="02040503050406030204" pitchFamily="18" charset="0"/>
                                    </a:rPr>
                                    <m:t>𝒑</m:t>
                                  </m:r>
                                </m:e>
                                <m:sub>
                                  <m:r>
                                    <a:rPr lang="en-US" sz="1850" i="1">
                                      <a:latin typeface="Cambria Math" panose="02040503050406030204" pitchFamily="18" charset="0"/>
                                    </a:rPr>
                                    <m:t>𝑚</m:t>
                                  </m:r>
                                </m:sub>
                                <m:sup>
                                  <m:r>
                                    <a:rPr lang="en-US" sz="1850" i="1">
                                      <a:latin typeface="Cambria Math" panose="02040503050406030204" pitchFamily="18" charset="0"/>
                                    </a:rPr>
                                    <m:t>𝑇</m:t>
                                  </m:r>
                                </m:sup>
                              </m:sSubSup>
                            </m:e>
                          </m:d>
                        </m:e>
                        <m:sup>
                          <m:r>
                            <a:rPr lang="en-US" sz="1850" i="1">
                              <a:latin typeface="Cambria Math" panose="02040503050406030204" pitchFamily="18" charset="0"/>
                            </a:rPr>
                            <m:t>𝑇</m:t>
                          </m:r>
                        </m:sup>
                      </m:sSup>
                    </m:oMath>
                  </m:oMathPara>
                </a14:m>
                <a:endParaRPr lang="en-US" sz="1850" dirty="0" smtClean="0"/>
              </a:p>
              <a:p>
                <a:pPr marL="0" indent="0">
                  <a:buNone/>
                </a:pPr>
                <a14:m>
                  <m:oMathPara xmlns:m="http://schemas.openxmlformats.org/officeDocument/2006/math">
                    <m:oMathParaPr>
                      <m:jc m:val="left"/>
                    </m:oMathParaPr>
                    <m:oMath xmlns:m="http://schemas.openxmlformats.org/officeDocument/2006/math">
                      <m:r>
                        <a:rPr lang="en-US" sz="1850" i="1">
                          <a:latin typeface="Cambria Math" panose="02040503050406030204" pitchFamily="18" charset="0"/>
                        </a:rPr>
                        <m:t>𝑅</m:t>
                      </m:r>
                      <m:r>
                        <m:rPr>
                          <m:aln/>
                        </m:rPr>
                        <a:rPr lang="en-US" sz="1850">
                          <a:latin typeface="Cambria Math" panose="02040503050406030204" pitchFamily="18" charset="0"/>
                        </a:rPr>
                        <m:t>=</m:t>
                      </m:r>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b="1" i="1">
                                      <a:latin typeface="Cambria Math" panose="02040503050406030204" pitchFamily="18" charset="0"/>
                                    </a:rPr>
                                    <m:t>𝒓</m:t>
                                  </m:r>
                                </m:e>
                                <m:sub>
                                  <m:r>
                                    <a:rPr lang="en-US" sz="1850" i="1">
                                      <a:latin typeface="Cambria Math" panose="02040503050406030204" pitchFamily="18" charset="0"/>
                                    </a:rPr>
                                    <m:t>1</m:t>
                                  </m:r>
                                </m:sub>
                                <m:sup>
                                  <m:r>
                                    <a:rPr lang="en-US" sz="1850" i="1">
                                      <a:latin typeface="Cambria Math" panose="02040503050406030204" pitchFamily="18" charset="0"/>
                                    </a:rPr>
                                    <m:t>𝑇</m:t>
                                  </m:r>
                                </m:sup>
                              </m:sSubSup>
                              <m:r>
                                <a:rPr lang="en-US" sz="1850" i="1">
                                  <a:latin typeface="Cambria Math" panose="02040503050406030204" pitchFamily="18" charset="0"/>
                                </a:rPr>
                                <m:t>,</m:t>
                              </m:r>
                              <m:sSubSup>
                                <m:sSubSupPr>
                                  <m:ctrlPr>
                                    <a:rPr lang="en-US" sz="1850" i="1">
                                      <a:latin typeface="Cambria Math" panose="02040503050406030204" pitchFamily="18" charset="0"/>
                                    </a:rPr>
                                  </m:ctrlPr>
                                </m:sSubSupPr>
                                <m:e>
                                  <m:r>
                                    <a:rPr lang="en-US" sz="1850" b="1" i="1">
                                      <a:latin typeface="Cambria Math" panose="02040503050406030204" pitchFamily="18" charset="0"/>
                                    </a:rPr>
                                    <m:t>𝒓</m:t>
                                  </m:r>
                                </m:e>
                                <m:sub>
                                  <m:r>
                                    <a:rPr lang="en-US" sz="1850" i="1">
                                      <a:latin typeface="Cambria Math" panose="02040503050406030204" pitchFamily="18" charset="0"/>
                                    </a:rPr>
                                    <m:t>2</m:t>
                                  </m:r>
                                </m:sub>
                                <m:sup>
                                  <m:r>
                                    <a:rPr lang="en-US" sz="1850" i="1">
                                      <a:latin typeface="Cambria Math" panose="02040503050406030204" pitchFamily="18" charset="0"/>
                                    </a:rPr>
                                    <m:t>𝑇</m:t>
                                  </m:r>
                                </m:sup>
                              </m:sSubSup>
                              <m:r>
                                <a:rPr lang="en-US" sz="1850" i="1">
                                  <a:latin typeface="Cambria Math" panose="02040503050406030204" pitchFamily="18" charset="0"/>
                                </a:rPr>
                                <m:t>,…,</m:t>
                              </m:r>
                              <m:sSubSup>
                                <m:sSubSupPr>
                                  <m:ctrlPr>
                                    <a:rPr lang="en-US" sz="1850" i="1">
                                      <a:latin typeface="Cambria Math" panose="02040503050406030204" pitchFamily="18" charset="0"/>
                                    </a:rPr>
                                  </m:ctrlPr>
                                </m:sSubSupPr>
                                <m:e>
                                  <m:r>
                                    <a:rPr lang="en-US" sz="1850" b="1" i="1">
                                      <a:latin typeface="Cambria Math" panose="02040503050406030204" pitchFamily="18" charset="0"/>
                                    </a:rPr>
                                    <m:t>𝒓</m:t>
                                  </m:r>
                                </m:e>
                                <m:sub>
                                  <m:r>
                                    <a:rPr lang="en-US" sz="1850" i="1">
                                      <a:latin typeface="Cambria Math" panose="02040503050406030204" pitchFamily="18" charset="0"/>
                                    </a:rPr>
                                    <m:t>𝑚</m:t>
                                  </m:r>
                                </m:sub>
                                <m:sup>
                                  <m:r>
                                    <a:rPr lang="en-US" sz="1850" i="1">
                                      <a:latin typeface="Cambria Math" panose="02040503050406030204" pitchFamily="18" charset="0"/>
                                    </a:rPr>
                                    <m:t>𝑇</m:t>
                                  </m:r>
                                </m:sup>
                              </m:sSubSup>
                            </m:e>
                          </m:d>
                        </m:e>
                        <m:sup>
                          <m:r>
                            <a:rPr lang="en-US" sz="1850" i="1">
                              <a:latin typeface="Cambria Math" panose="02040503050406030204" pitchFamily="18" charset="0"/>
                            </a:rPr>
                            <m:t>𝑇</m:t>
                          </m:r>
                        </m:sup>
                      </m:sSup>
                      <m:r>
                        <a:rPr lang="en-US" sz="1850" i="1">
                          <a:latin typeface="Cambria Math" panose="02040503050406030204" pitchFamily="18" charset="0"/>
                        </a:rPr>
                        <m:t>=</m:t>
                      </m:r>
                      <m:r>
                        <a:rPr lang="en-US" sz="1850" i="1">
                          <a:latin typeface="Cambria Math" panose="02040503050406030204" pitchFamily="18" charset="0"/>
                        </a:rPr>
                        <m:t>𝑄</m:t>
                      </m:r>
                      <m:sSup>
                        <m:sSupPr>
                          <m:ctrlPr>
                            <a:rPr lang="en-US" sz="1850" i="1">
                              <a:latin typeface="Cambria Math" panose="02040503050406030204" pitchFamily="18" charset="0"/>
                            </a:rPr>
                          </m:ctrlPr>
                        </m:sSupPr>
                        <m:e>
                          <m:r>
                            <a:rPr lang="en-US" sz="1850" i="1">
                              <a:latin typeface="Cambria Math" panose="02040503050406030204" pitchFamily="18" charset="0"/>
                            </a:rPr>
                            <m:t>𝐾</m:t>
                          </m:r>
                        </m:e>
                        <m:sup>
                          <m:r>
                            <a:rPr lang="en-US" sz="1850" i="1">
                              <a:latin typeface="Cambria Math" panose="02040503050406030204" pitchFamily="18" charset="0"/>
                            </a:rPr>
                            <m:t>𝑇</m:t>
                          </m:r>
                        </m:sup>
                      </m:sSup>
                    </m:oMath>
                  </m:oMathPara>
                </a14:m>
                <a:endParaRPr lang="en-US" sz="1850" dirty="0" smtClean="0"/>
              </a:p>
              <a:p>
                <a:pPr marL="0" indent="0">
                  <a:buNone/>
                </a:pPr>
                <a14:m>
                  <m:oMathPara xmlns:m="http://schemas.openxmlformats.org/officeDocument/2006/math">
                    <m:oMathParaPr>
                      <m:jc m:val="left"/>
                    </m:oMathParaPr>
                    <m:oMath xmlns:m="http://schemas.openxmlformats.org/officeDocument/2006/math">
                      <m:sSub>
                        <m:sSubPr>
                          <m:ctrlPr>
                            <a:rPr lang="en-US" sz="1850" i="1">
                              <a:latin typeface="Cambria Math" panose="02040503050406030204" pitchFamily="18" charset="0"/>
                            </a:rPr>
                          </m:ctrlPr>
                        </m:sSubPr>
                        <m:e>
                          <m:r>
                            <a:rPr lang="en-US" sz="1850" b="1" i="1">
                              <a:latin typeface="Cambria Math" panose="02040503050406030204" pitchFamily="18" charset="0"/>
                            </a:rPr>
                            <m:t>𝒑</m:t>
                          </m:r>
                        </m:e>
                        <m:sub>
                          <m:r>
                            <a:rPr lang="en-US" sz="1850" i="1">
                              <a:latin typeface="Cambria Math" panose="02040503050406030204" pitchFamily="18" charset="0"/>
                            </a:rPr>
                            <m:t>𝑖</m:t>
                          </m:r>
                        </m:sub>
                      </m:sSub>
                      <m:r>
                        <m:rPr>
                          <m:aln/>
                        </m:rPr>
                        <a:rPr lang="en-US" sz="1850" i="1">
                          <a:latin typeface="Cambria Math" panose="02040503050406030204" pitchFamily="18" charset="0"/>
                        </a:rPr>
                        <m:t>=</m:t>
                      </m:r>
                      <m:r>
                        <m:rPr>
                          <m:sty m:val="p"/>
                        </m:rPr>
                        <a:rPr lang="en-US" sz="1850">
                          <a:latin typeface="Cambria Math" panose="02040503050406030204" pitchFamily="18" charset="0"/>
                        </a:rPr>
                        <m:t>softmax</m:t>
                      </m:r>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f>
                                <m:fPr>
                                  <m:ctrlPr>
                                    <a:rPr lang="en-US" sz="1850" i="1">
                                      <a:latin typeface="Cambria Math" panose="02040503050406030204" pitchFamily="18" charset="0"/>
                                    </a:rPr>
                                  </m:ctrlPr>
                                </m:fPr>
                                <m:num>
                                  <m:sSubSup>
                                    <m:sSubSupPr>
                                      <m:ctrlPr>
                                        <a:rPr lang="en-US" sz="1850" i="1">
                                          <a:latin typeface="Cambria Math" panose="02040503050406030204" pitchFamily="18" charset="0"/>
                                        </a:rPr>
                                      </m:ctrlPr>
                                    </m:sSubSupPr>
                                    <m:e>
                                      <m:r>
                                        <a:rPr lang="en-US" sz="1850" b="1" i="1">
                                          <a:latin typeface="Cambria Math" panose="02040503050406030204" pitchFamily="18" charset="0"/>
                                        </a:rPr>
                                        <m:t>𝒒</m:t>
                                      </m:r>
                                    </m:e>
                                    <m:sub>
                                      <m:r>
                                        <a:rPr lang="en-US" sz="1850" i="1">
                                          <a:latin typeface="Cambria Math" panose="02040503050406030204" pitchFamily="18" charset="0"/>
                                        </a:rPr>
                                        <m:t>𝑖</m:t>
                                      </m:r>
                                    </m:sub>
                                    <m:sup>
                                      <m:r>
                                        <a:rPr lang="en-US" sz="1850" i="1">
                                          <a:latin typeface="Cambria Math" panose="02040503050406030204" pitchFamily="18" charset="0"/>
                                        </a:rPr>
                                        <m:t>𝑇</m:t>
                                      </m:r>
                                    </m:sup>
                                  </m:sSubSup>
                                  <m:sSub>
                                    <m:sSubPr>
                                      <m:ctrlPr>
                                        <a:rPr lang="en-US" sz="1850" i="1">
                                          <a:latin typeface="Cambria Math" panose="02040503050406030204" pitchFamily="18" charset="0"/>
                                        </a:rPr>
                                      </m:ctrlPr>
                                    </m:sSubPr>
                                    <m:e>
                                      <m:r>
                                        <a:rPr lang="en-US" sz="1850" b="1" i="1">
                                          <a:latin typeface="Cambria Math" panose="02040503050406030204" pitchFamily="18" charset="0"/>
                                        </a:rPr>
                                        <m:t>𝒌</m:t>
                                      </m:r>
                                    </m:e>
                                    <m:sub>
                                      <m:r>
                                        <a:rPr lang="en-US" sz="1850" i="1">
                                          <a:latin typeface="Cambria Math" panose="02040503050406030204" pitchFamily="18" charset="0"/>
                                        </a:rPr>
                                        <m:t>1</m:t>
                                      </m:r>
                                    </m:sub>
                                  </m:sSub>
                                </m:num>
                                <m:den>
                                  <m:rad>
                                    <m:radPr>
                                      <m:degHide m:val="on"/>
                                      <m:ctrlPr>
                                        <a:rPr lang="en-US" sz="1850" i="1">
                                          <a:latin typeface="Cambria Math" panose="02040503050406030204" pitchFamily="18" charset="0"/>
                                        </a:rPr>
                                      </m:ctrlPr>
                                    </m:radPr>
                                    <m:deg/>
                                    <m:e>
                                      <m:sSub>
                                        <m:sSubPr>
                                          <m:ctrlPr>
                                            <a:rPr lang="en-US" sz="1850" i="1">
                                              <a:latin typeface="Cambria Math" panose="02040503050406030204" pitchFamily="18" charset="0"/>
                                            </a:rPr>
                                          </m:ctrlPr>
                                        </m:sSubPr>
                                        <m:e>
                                          <m:r>
                                            <a:rPr lang="en-US" sz="1850" i="1">
                                              <a:latin typeface="Cambria Math" panose="02040503050406030204" pitchFamily="18" charset="0"/>
                                            </a:rPr>
                                            <m:t>𝑑</m:t>
                                          </m:r>
                                        </m:e>
                                        <m:sub>
                                          <m:r>
                                            <a:rPr lang="en-US" sz="1850" i="1">
                                              <a:latin typeface="Cambria Math" panose="02040503050406030204" pitchFamily="18" charset="0"/>
                                            </a:rPr>
                                            <m:t>𝑘</m:t>
                                          </m:r>
                                        </m:sub>
                                      </m:sSub>
                                    </m:e>
                                  </m:rad>
                                </m:den>
                              </m:f>
                              <m:r>
                                <a:rPr lang="en-US" sz="1850" i="1">
                                  <a:latin typeface="Cambria Math" panose="02040503050406030204" pitchFamily="18" charset="0"/>
                                </a:rPr>
                                <m:t>,</m:t>
                              </m:r>
                              <m:f>
                                <m:fPr>
                                  <m:ctrlPr>
                                    <a:rPr lang="en-US" sz="1850" i="1">
                                      <a:latin typeface="Cambria Math" panose="02040503050406030204" pitchFamily="18" charset="0"/>
                                    </a:rPr>
                                  </m:ctrlPr>
                                </m:fPr>
                                <m:num>
                                  <m:sSubSup>
                                    <m:sSubSupPr>
                                      <m:ctrlPr>
                                        <a:rPr lang="en-US" sz="1850" i="1">
                                          <a:latin typeface="Cambria Math" panose="02040503050406030204" pitchFamily="18" charset="0"/>
                                        </a:rPr>
                                      </m:ctrlPr>
                                    </m:sSubSupPr>
                                    <m:e>
                                      <m:r>
                                        <a:rPr lang="en-US" sz="1850" b="1" i="1">
                                          <a:latin typeface="Cambria Math" panose="02040503050406030204" pitchFamily="18" charset="0"/>
                                        </a:rPr>
                                        <m:t>𝒒</m:t>
                                      </m:r>
                                    </m:e>
                                    <m:sub>
                                      <m:r>
                                        <a:rPr lang="en-US" sz="1850" i="1">
                                          <a:latin typeface="Cambria Math" panose="02040503050406030204" pitchFamily="18" charset="0"/>
                                        </a:rPr>
                                        <m:t>𝑖</m:t>
                                      </m:r>
                                    </m:sub>
                                    <m:sup>
                                      <m:r>
                                        <a:rPr lang="en-US" sz="1850" i="1">
                                          <a:latin typeface="Cambria Math" panose="02040503050406030204" pitchFamily="18" charset="0"/>
                                        </a:rPr>
                                        <m:t>𝑇</m:t>
                                      </m:r>
                                    </m:sup>
                                  </m:sSubSup>
                                  <m:sSub>
                                    <m:sSubPr>
                                      <m:ctrlPr>
                                        <a:rPr lang="en-US" sz="1850" i="1">
                                          <a:latin typeface="Cambria Math" panose="02040503050406030204" pitchFamily="18" charset="0"/>
                                        </a:rPr>
                                      </m:ctrlPr>
                                    </m:sSubPr>
                                    <m:e>
                                      <m:r>
                                        <a:rPr lang="en-US" sz="1850" b="1" i="1">
                                          <a:latin typeface="Cambria Math" panose="02040503050406030204" pitchFamily="18" charset="0"/>
                                        </a:rPr>
                                        <m:t>𝒌</m:t>
                                      </m:r>
                                    </m:e>
                                    <m:sub>
                                      <m:r>
                                        <a:rPr lang="en-US" sz="1850" i="1">
                                          <a:latin typeface="Cambria Math" panose="02040503050406030204" pitchFamily="18" charset="0"/>
                                        </a:rPr>
                                        <m:t>2</m:t>
                                      </m:r>
                                    </m:sub>
                                  </m:sSub>
                                </m:num>
                                <m:den>
                                  <m:rad>
                                    <m:radPr>
                                      <m:degHide m:val="on"/>
                                      <m:ctrlPr>
                                        <a:rPr lang="en-US" sz="1850" i="1">
                                          <a:latin typeface="Cambria Math" panose="02040503050406030204" pitchFamily="18" charset="0"/>
                                        </a:rPr>
                                      </m:ctrlPr>
                                    </m:radPr>
                                    <m:deg/>
                                    <m:e>
                                      <m:sSub>
                                        <m:sSubPr>
                                          <m:ctrlPr>
                                            <a:rPr lang="en-US" sz="1850" i="1">
                                              <a:latin typeface="Cambria Math" panose="02040503050406030204" pitchFamily="18" charset="0"/>
                                            </a:rPr>
                                          </m:ctrlPr>
                                        </m:sSubPr>
                                        <m:e>
                                          <m:r>
                                            <a:rPr lang="en-US" sz="1850" i="1">
                                              <a:latin typeface="Cambria Math" panose="02040503050406030204" pitchFamily="18" charset="0"/>
                                            </a:rPr>
                                            <m:t>𝑑</m:t>
                                          </m:r>
                                        </m:e>
                                        <m:sub>
                                          <m:r>
                                            <a:rPr lang="en-US" sz="1850" i="1">
                                              <a:latin typeface="Cambria Math" panose="02040503050406030204" pitchFamily="18" charset="0"/>
                                            </a:rPr>
                                            <m:t>𝑘</m:t>
                                          </m:r>
                                        </m:sub>
                                      </m:sSub>
                                    </m:e>
                                  </m:rad>
                                </m:den>
                              </m:f>
                              <m:r>
                                <a:rPr lang="en-US" sz="1850" i="1">
                                  <a:latin typeface="Cambria Math" panose="02040503050406030204" pitchFamily="18" charset="0"/>
                                </a:rPr>
                                <m:t>,…,</m:t>
                              </m:r>
                              <m:f>
                                <m:fPr>
                                  <m:ctrlPr>
                                    <a:rPr lang="en-US" sz="1850" i="1">
                                      <a:latin typeface="Cambria Math" panose="02040503050406030204" pitchFamily="18" charset="0"/>
                                    </a:rPr>
                                  </m:ctrlPr>
                                </m:fPr>
                                <m:num>
                                  <m:sSubSup>
                                    <m:sSubSupPr>
                                      <m:ctrlPr>
                                        <a:rPr lang="en-US" sz="1850" i="1">
                                          <a:latin typeface="Cambria Math" panose="02040503050406030204" pitchFamily="18" charset="0"/>
                                        </a:rPr>
                                      </m:ctrlPr>
                                    </m:sSubSupPr>
                                    <m:e>
                                      <m:r>
                                        <a:rPr lang="en-US" sz="1850" b="1" i="1">
                                          <a:latin typeface="Cambria Math" panose="02040503050406030204" pitchFamily="18" charset="0"/>
                                        </a:rPr>
                                        <m:t>𝒒</m:t>
                                      </m:r>
                                    </m:e>
                                    <m:sub>
                                      <m:r>
                                        <a:rPr lang="en-US" sz="1850" i="1">
                                          <a:latin typeface="Cambria Math" panose="02040503050406030204" pitchFamily="18" charset="0"/>
                                        </a:rPr>
                                        <m:t>𝑖</m:t>
                                      </m:r>
                                    </m:sub>
                                    <m:sup>
                                      <m:r>
                                        <a:rPr lang="en-US" sz="1850" i="1">
                                          <a:latin typeface="Cambria Math" panose="02040503050406030204" pitchFamily="18" charset="0"/>
                                        </a:rPr>
                                        <m:t>𝑇</m:t>
                                      </m:r>
                                    </m:sup>
                                  </m:sSubSup>
                                  <m:sSub>
                                    <m:sSubPr>
                                      <m:ctrlPr>
                                        <a:rPr lang="en-US" sz="1850" i="1">
                                          <a:latin typeface="Cambria Math" panose="02040503050406030204" pitchFamily="18" charset="0"/>
                                        </a:rPr>
                                      </m:ctrlPr>
                                    </m:sSubPr>
                                    <m:e>
                                      <m:r>
                                        <a:rPr lang="en-US" sz="1850" b="1" i="1">
                                          <a:latin typeface="Cambria Math" panose="02040503050406030204" pitchFamily="18" charset="0"/>
                                        </a:rPr>
                                        <m:t>𝒌</m:t>
                                      </m:r>
                                    </m:e>
                                    <m:sub>
                                      <m:r>
                                        <a:rPr lang="en-US" sz="1850" i="1">
                                          <a:latin typeface="Cambria Math" panose="02040503050406030204" pitchFamily="18" charset="0"/>
                                        </a:rPr>
                                        <m:t>𝑚</m:t>
                                      </m:r>
                                    </m:sub>
                                  </m:sSub>
                                </m:num>
                                <m:den>
                                  <m:rad>
                                    <m:radPr>
                                      <m:degHide m:val="on"/>
                                      <m:ctrlPr>
                                        <a:rPr lang="en-US" sz="1850" i="1">
                                          <a:latin typeface="Cambria Math" panose="02040503050406030204" pitchFamily="18" charset="0"/>
                                        </a:rPr>
                                      </m:ctrlPr>
                                    </m:radPr>
                                    <m:deg/>
                                    <m:e>
                                      <m:sSub>
                                        <m:sSubPr>
                                          <m:ctrlPr>
                                            <a:rPr lang="en-US" sz="1850" i="1">
                                              <a:latin typeface="Cambria Math" panose="02040503050406030204" pitchFamily="18" charset="0"/>
                                            </a:rPr>
                                          </m:ctrlPr>
                                        </m:sSubPr>
                                        <m:e>
                                          <m:r>
                                            <a:rPr lang="en-US" sz="1850" i="1">
                                              <a:latin typeface="Cambria Math" panose="02040503050406030204" pitchFamily="18" charset="0"/>
                                            </a:rPr>
                                            <m:t>𝑑</m:t>
                                          </m:r>
                                        </m:e>
                                        <m:sub>
                                          <m:r>
                                            <a:rPr lang="en-US" sz="1850" i="1">
                                              <a:latin typeface="Cambria Math" panose="02040503050406030204" pitchFamily="18" charset="0"/>
                                            </a:rPr>
                                            <m:t>𝑘</m:t>
                                          </m:r>
                                        </m:sub>
                                      </m:sSub>
                                    </m:e>
                                  </m:rad>
                                </m:den>
                              </m:f>
                            </m:e>
                          </m:d>
                        </m:e>
                        <m:sup>
                          <m:r>
                            <a:rPr lang="en-US" sz="1850" i="1">
                              <a:latin typeface="Cambria Math" panose="02040503050406030204" pitchFamily="18" charset="0"/>
                            </a:rPr>
                            <m:t>𝑇</m:t>
                          </m:r>
                        </m:sup>
                      </m:sSup>
                      <m:r>
                        <a:rPr lang="en-US" sz="1850" i="1">
                          <a:latin typeface="Cambria Math" panose="02040503050406030204" pitchFamily="18" charset="0"/>
                        </a:rPr>
                        <m:t>=</m:t>
                      </m:r>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i="1">
                                      <a:latin typeface="Cambria Math" panose="02040503050406030204" pitchFamily="18" charset="0"/>
                                    </a:rPr>
                                    <m:t>𝑝</m:t>
                                  </m:r>
                                </m:e>
                                <m:sub>
                                  <m:r>
                                    <a:rPr lang="en-US" sz="1850" i="1">
                                      <a:latin typeface="Cambria Math" panose="02040503050406030204" pitchFamily="18" charset="0"/>
                                    </a:rPr>
                                    <m:t>𝑖</m:t>
                                  </m:r>
                                  <m:r>
                                    <a:rPr lang="en-US" sz="1850" i="1">
                                      <a:latin typeface="Cambria Math" panose="02040503050406030204" pitchFamily="18" charset="0"/>
                                    </a:rPr>
                                    <m:t>1</m:t>
                                  </m:r>
                                </m:sub>
                              </m:sSub>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i="1">
                                      <a:latin typeface="Cambria Math" panose="02040503050406030204" pitchFamily="18" charset="0"/>
                                    </a:rPr>
                                    <m:t>𝑝</m:t>
                                  </m:r>
                                </m:e>
                                <m:sub>
                                  <m:r>
                                    <a:rPr lang="en-US" sz="1850" i="1">
                                      <a:latin typeface="Cambria Math" panose="02040503050406030204" pitchFamily="18" charset="0"/>
                                    </a:rPr>
                                    <m:t>𝑖</m:t>
                                  </m:r>
                                  <m:r>
                                    <a:rPr lang="en-US" sz="1850" i="1">
                                      <a:latin typeface="Cambria Math" panose="02040503050406030204" pitchFamily="18" charset="0"/>
                                    </a:rPr>
                                    <m:t>2</m:t>
                                  </m:r>
                                </m:sub>
                              </m:sSub>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i="1">
                                      <a:latin typeface="Cambria Math" panose="02040503050406030204" pitchFamily="18" charset="0"/>
                                    </a:rPr>
                                    <m:t>𝑝</m:t>
                                  </m:r>
                                </m:e>
                                <m:sub>
                                  <m:r>
                                    <a:rPr lang="en-US" sz="1850" i="1">
                                      <a:latin typeface="Cambria Math" panose="02040503050406030204" pitchFamily="18" charset="0"/>
                                    </a:rPr>
                                    <m:t>𝑖𝑚</m:t>
                                  </m:r>
                                </m:sub>
                              </m:sSub>
                            </m:e>
                          </m:d>
                        </m:e>
                        <m:sup>
                          <m:r>
                            <a:rPr lang="en-US" sz="1850" i="1">
                              <a:latin typeface="Cambria Math" panose="02040503050406030204" pitchFamily="18" charset="0"/>
                            </a:rPr>
                            <m:t>𝑇</m:t>
                          </m:r>
                        </m:sup>
                      </m:sSup>
                      <m:r>
                        <a:rPr lang="en-US" sz="1850" b="0" i="1" smtClean="0">
                          <a:latin typeface="Cambria Math" panose="02040503050406030204" pitchFamily="18" charset="0"/>
                        </a:rPr>
                        <m:t> </m:t>
                      </m:r>
                      <m:r>
                        <m:rPr>
                          <m:sty m:val="p"/>
                        </m:rPr>
                        <a:rPr lang="en-US" sz="1850" b="0" i="0" smtClean="0">
                          <a:latin typeface="Cambria Math" panose="02040503050406030204" pitchFamily="18" charset="0"/>
                        </a:rPr>
                        <m:t>where</m:t>
                      </m:r>
                      <m:r>
                        <a:rPr lang="en-US" sz="1850" b="0" i="1" smtClean="0">
                          <a:latin typeface="Cambria Math" panose="02040503050406030204" pitchFamily="18" charset="0"/>
                        </a:rPr>
                        <m:t> </m:t>
                      </m:r>
                      <m:sSub>
                        <m:sSubPr>
                          <m:ctrlPr>
                            <a:rPr lang="en-US" sz="1850" i="1">
                              <a:latin typeface="Cambria Math" panose="02040503050406030204" pitchFamily="18" charset="0"/>
                            </a:rPr>
                          </m:ctrlPr>
                        </m:sSubPr>
                        <m:e>
                          <m:r>
                            <a:rPr lang="en-US" sz="1850" i="1">
                              <a:latin typeface="Cambria Math" panose="02040503050406030204" pitchFamily="18" charset="0"/>
                            </a:rPr>
                            <m:t>𝑝</m:t>
                          </m:r>
                        </m:e>
                        <m:sub>
                          <m:r>
                            <a:rPr lang="en-US" sz="1850" i="1">
                              <a:latin typeface="Cambria Math" panose="02040503050406030204" pitchFamily="18" charset="0"/>
                            </a:rPr>
                            <m:t>𝑖𝑗</m:t>
                          </m:r>
                        </m:sub>
                      </m:sSub>
                      <m:r>
                        <m:rPr>
                          <m:aln/>
                        </m:rPr>
                        <a:rPr lang="en-US" sz="1850" i="1">
                          <a:latin typeface="Cambria Math" panose="02040503050406030204" pitchFamily="18" charset="0"/>
                        </a:rPr>
                        <m:t>=</m:t>
                      </m:r>
                      <m:f>
                        <m:fPr>
                          <m:ctrlPr>
                            <a:rPr lang="en-US" sz="1850" i="1">
                              <a:latin typeface="Cambria Math" panose="02040503050406030204" pitchFamily="18" charset="0"/>
                            </a:rPr>
                          </m:ctrlPr>
                        </m:fPr>
                        <m:num>
                          <m:r>
                            <m:rPr>
                              <m:sty m:val="p"/>
                            </m:rPr>
                            <a:rPr lang="en-US" sz="1850">
                              <a:latin typeface="Cambria Math" panose="02040503050406030204" pitchFamily="18" charset="0"/>
                            </a:rPr>
                            <m:t>exp</m:t>
                          </m:r>
                          <m:d>
                            <m:dPr>
                              <m:ctrlPr>
                                <a:rPr lang="en-US" sz="1850" i="1">
                                  <a:latin typeface="Cambria Math" panose="02040503050406030204" pitchFamily="18" charset="0"/>
                                </a:rPr>
                              </m:ctrlPr>
                            </m:dPr>
                            <m:e>
                              <m:f>
                                <m:fPr>
                                  <m:ctrlPr>
                                    <a:rPr lang="en-US" sz="1850" i="1">
                                      <a:latin typeface="Cambria Math" panose="02040503050406030204" pitchFamily="18" charset="0"/>
                                    </a:rPr>
                                  </m:ctrlPr>
                                </m:fPr>
                                <m:num>
                                  <m:sSubSup>
                                    <m:sSubSupPr>
                                      <m:ctrlPr>
                                        <a:rPr lang="en-US" sz="1850" i="1">
                                          <a:latin typeface="Cambria Math" panose="02040503050406030204" pitchFamily="18" charset="0"/>
                                        </a:rPr>
                                      </m:ctrlPr>
                                    </m:sSubSupPr>
                                    <m:e>
                                      <m:r>
                                        <a:rPr lang="en-US" sz="1850" b="1" i="1">
                                          <a:latin typeface="Cambria Math" panose="02040503050406030204" pitchFamily="18" charset="0"/>
                                        </a:rPr>
                                        <m:t>𝒒</m:t>
                                      </m:r>
                                    </m:e>
                                    <m:sub>
                                      <m:r>
                                        <a:rPr lang="en-US" sz="1850" i="1">
                                          <a:latin typeface="Cambria Math" panose="02040503050406030204" pitchFamily="18" charset="0"/>
                                        </a:rPr>
                                        <m:t>𝑖</m:t>
                                      </m:r>
                                    </m:sub>
                                    <m:sup>
                                      <m:r>
                                        <a:rPr lang="en-US" sz="1850" i="1">
                                          <a:latin typeface="Cambria Math" panose="02040503050406030204" pitchFamily="18" charset="0"/>
                                        </a:rPr>
                                        <m:t>𝑇</m:t>
                                      </m:r>
                                    </m:sup>
                                  </m:sSubSup>
                                  <m:sSub>
                                    <m:sSubPr>
                                      <m:ctrlPr>
                                        <a:rPr lang="en-US" sz="1850" i="1">
                                          <a:latin typeface="Cambria Math" panose="02040503050406030204" pitchFamily="18" charset="0"/>
                                        </a:rPr>
                                      </m:ctrlPr>
                                    </m:sSubPr>
                                    <m:e>
                                      <m:r>
                                        <a:rPr lang="en-US" sz="1850" b="1" i="1">
                                          <a:latin typeface="Cambria Math" panose="02040503050406030204" pitchFamily="18" charset="0"/>
                                        </a:rPr>
                                        <m:t>𝒌</m:t>
                                      </m:r>
                                    </m:e>
                                    <m:sub>
                                      <m:r>
                                        <a:rPr lang="en-US" sz="1850" i="1">
                                          <a:latin typeface="Cambria Math" panose="02040503050406030204" pitchFamily="18" charset="0"/>
                                        </a:rPr>
                                        <m:t>𝑗</m:t>
                                      </m:r>
                                    </m:sub>
                                  </m:sSub>
                                </m:num>
                                <m:den>
                                  <m:rad>
                                    <m:radPr>
                                      <m:degHide m:val="on"/>
                                      <m:ctrlPr>
                                        <a:rPr lang="en-US" sz="1850" i="1">
                                          <a:latin typeface="Cambria Math" panose="02040503050406030204" pitchFamily="18" charset="0"/>
                                        </a:rPr>
                                      </m:ctrlPr>
                                    </m:radPr>
                                    <m:deg/>
                                    <m:e>
                                      <m:sSub>
                                        <m:sSubPr>
                                          <m:ctrlPr>
                                            <a:rPr lang="en-US" sz="1850" i="1">
                                              <a:latin typeface="Cambria Math" panose="02040503050406030204" pitchFamily="18" charset="0"/>
                                            </a:rPr>
                                          </m:ctrlPr>
                                        </m:sSubPr>
                                        <m:e>
                                          <m:r>
                                            <a:rPr lang="en-US" sz="1850" i="1">
                                              <a:latin typeface="Cambria Math" panose="02040503050406030204" pitchFamily="18" charset="0"/>
                                            </a:rPr>
                                            <m:t>𝑑</m:t>
                                          </m:r>
                                        </m:e>
                                        <m:sub>
                                          <m:r>
                                            <a:rPr lang="en-US" sz="1850" i="1">
                                              <a:latin typeface="Cambria Math" panose="02040503050406030204" pitchFamily="18" charset="0"/>
                                            </a:rPr>
                                            <m:t>𝑘</m:t>
                                          </m:r>
                                        </m:sub>
                                      </m:sSub>
                                    </m:e>
                                  </m:rad>
                                </m:den>
                              </m:f>
                            </m:e>
                          </m:d>
                        </m:num>
                        <m:den>
                          <m:nary>
                            <m:naryPr>
                              <m:chr m:val="∑"/>
                              <m:limLoc m:val="undOvr"/>
                              <m:ctrlPr>
                                <a:rPr lang="en-US" sz="1850" i="1">
                                  <a:latin typeface="Cambria Math" panose="02040503050406030204" pitchFamily="18" charset="0"/>
                                </a:rPr>
                              </m:ctrlPr>
                            </m:naryPr>
                            <m:sub>
                              <m:r>
                                <a:rPr lang="en-US" sz="1850" i="1">
                                  <a:latin typeface="Cambria Math" panose="02040503050406030204" pitchFamily="18" charset="0"/>
                                </a:rPr>
                                <m:t>𝑙</m:t>
                              </m:r>
                              <m:r>
                                <a:rPr lang="en-US" sz="1850" i="1">
                                  <a:latin typeface="Cambria Math" panose="02040503050406030204" pitchFamily="18" charset="0"/>
                                </a:rPr>
                                <m:t>=1</m:t>
                              </m:r>
                            </m:sub>
                            <m:sup>
                              <m:r>
                                <a:rPr lang="en-US" sz="1850" i="1">
                                  <a:latin typeface="Cambria Math" panose="02040503050406030204" pitchFamily="18" charset="0"/>
                                </a:rPr>
                                <m:t>𝑚</m:t>
                              </m:r>
                            </m:sup>
                            <m:e>
                              <m:r>
                                <m:rPr>
                                  <m:sty m:val="p"/>
                                </m:rPr>
                                <a:rPr lang="en-US" sz="1850">
                                  <a:latin typeface="Cambria Math" panose="02040503050406030204" pitchFamily="18" charset="0"/>
                                </a:rPr>
                                <m:t>exp</m:t>
                              </m:r>
                              <m:d>
                                <m:dPr>
                                  <m:ctrlPr>
                                    <a:rPr lang="en-US" sz="1850" i="1">
                                      <a:latin typeface="Cambria Math" panose="02040503050406030204" pitchFamily="18" charset="0"/>
                                    </a:rPr>
                                  </m:ctrlPr>
                                </m:dPr>
                                <m:e>
                                  <m:f>
                                    <m:fPr>
                                      <m:ctrlPr>
                                        <a:rPr lang="en-US" sz="1850" i="1">
                                          <a:latin typeface="Cambria Math" panose="02040503050406030204" pitchFamily="18" charset="0"/>
                                        </a:rPr>
                                      </m:ctrlPr>
                                    </m:fPr>
                                    <m:num>
                                      <m:sSubSup>
                                        <m:sSubSupPr>
                                          <m:ctrlPr>
                                            <a:rPr lang="en-US" sz="1850" i="1">
                                              <a:latin typeface="Cambria Math" panose="02040503050406030204" pitchFamily="18" charset="0"/>
                                            </a:rPr>
                                          </m:ctrlPr>
                                        </m:sSubSupPr>
                                        <m:e>
                                          <m:r>
                                            <a:rPr lang="en-US" sz="1850" b="1" i="1">
                                              <a:latin typeface="Cambria Math" panose="02040503050406030204" pitchFamily="18" charset="0"/>
                                            </a:rPr>
                                            <m:t>𝒒</m:t>
                                          </m:r>
                                        </m:e>
                                        <m:sub>
                                          <m:r>
                                            <a:rPr lang="en-US" sz="1850" i="1">
                                              <a:latin typeface="Cambria Math" panose="02040503050406030204" pitchFamily="18" charset="0"/>
                                            </a:rPr>
                                            <m:t>𝑖</m:t>
                                          </m:r>
                                        </m:sub>
                                        <m:sup>
                                          <m:r>
                                            <a:rPr lang="en-US" sz="1850" i="1">
                                              <a:latin typeface="Cambria Math" panose="02040503050406030204" pitchFamily="18" charset="0"/>
                                            </a:rPr>
                                            <m:t>𝑇</m:t>
                                          </m:r>
                                        </m:sup>
                                      </m:sSubSup>
                                      <m:sSub>
                                        <m:sSubPr>
                                          <m:ctrlPr>
                                            <a:rPr lang="en-US" sz="1850" i="1">
                                              <a:latin typeface="Cambria Math" panose="02040503050406030204" pitchFamily="18" charset="0"/>
                                            </a:rPr>
                                          </m:ctrlPr>
                                        </m:sSubPr>
                                        <m:e>
                                          <m:r>
                                            <a:rPr lang="en-US" sz="1850" b="1" i="1">
                                              <a:latin typeface="Cambria Math" panose="02040503050406030204" pitchFamily="18" charset="0"/>
                                            </a:rPr>
                                            <m:t>𝒌</m:t>
                                          </m:r>
                                        </m:e>
                                        <m:sub>
                                          <m:r>
                                            <a:rPr lang="en-US" sz="1850" i="1">
                                              <a:latin typeface="Cambria Math" panose="02040503050406030204" pitchFamily="18" charset="0"/>
                                            </a:rPr>
                                            <m:t>𝑙</m:t>
                                          </m:r>
                                        </m:sub>
                                      </m:sSub>
                                    </m:num>
                                    <m:den>
                                      <m:rad>
                                        <m:radPr>
                                          <m:degHide m:val="on"/>
                                          <m:ctrlPr>
                                            <a:rPr lang="en-US" sz="1850" i="1">
                                              <a:latin typeface="Cambria Math" panose="02040503050406030204" pitchFamily="18" charset="0"/>
                                            </a:rPr>
                                          </m:ctrlPr>
                                        </m:radPr>
                                        <m:deg/>
                                        <m:e>
                                          <m:sSub>
                                            <m:sSubPr>
                                              <m:ctrlPr>
                                                <a:rPr lang="en-US" sz="1850" i="1">
                                                  <a:latin typeface="Cambria Math" panose="02040503050406030204" pitchFamily="18" charset="0"/>
                                                </a:rPr>
                                              </m:ctrlPr>
                                            </m:sSubPr>
                                            <m:e>
                                              <m:r>
                                                <a:rPr lang="en-US" sz="1850" i="1">
                                                  <a:latin typeface="Cambria Math" panose="02040503050406030204" pitchFamily="18" charset="0"/>
                                                </a:rPr>
                                                <m:t>𝑑</m:t>
                                              </m:r>
                                            </m:e>
                                            <m:sub>
                                              <m:r>
                                                <a:rPr lang="en-US" sz="1850" i="1">
                                                  <a:latin typeface="Cambria Math" panose="02040503050406030204" pitchFamily="18" charset="0"/>
                                                </a:rPr>
                                                <m:t>𝑘</m:t>
                                              </m:r>
                                            </m:sub>
                                          </m:sSub>
                                        </m:e>
                                      </m:rad>
                                    </m:den>
                                  </m:f>
                                </m:e>
                              </m:d>
                            </m:e>
                          </m:nary>
                        </m:den>
                      </m:f>
                    </m:oMath>
                  </m:oMathPara>
                </a14:m>
                <a:endParaRPr lang="en-US" sz="1850" dirty="0" smtClean="0"/>
              </a:p>
              <a:p>
                <a:pPr marL="0" indent="0">
                  <a:buNone/>
                </a:pPr>
                <a14:m>
                  <m:oMathPara xmlns:m="http://schemas.openxmlformats.org/officeDocument/2006/math">
                    <m:oMathParaPr>
                      <m:jc m:val="left"/>
                    </m:oMathParaPr>
                    <m:oMath xmlns:m="http://schemas.openxmlformats.org/officeDocument/2006/math">
                      <m:sSub>
                        <m:sSubPr>
                          <m:ctrlPr>
                            <a:rPr lang="en-US" sz="1850" i="1">
                              <a:latin typeface="Cambria Math" panose="02040503050406030204" pitchFamily="18" charset="0"/>
                            </a:rPr>
                          </m:ctrlPr>
                        </m:sSubPr>
                        <m:e>
                          <m:r>
                            <a:rPr lang="en-US" sz="1850" b="1" i="1">
                              <a:latin typeface="Cambria Math" panose="02040503050406030204" pitchFamily="18" charset="0"/>
                            </a:rPr>
                            <m:t>𝒓</m:t>
                          </m:r>
                        </m:e>
                        <m:sub>
                          <m:r>
                            <a:rPr lang="en-US" sz="1850" i="1">
                              <a:latin typeface="Cambria Math" panose="02040503050406030204" pitchFamily="18" charset="0"/>
                            </a:rPr>
                            <m:t>𝑖</m:t>
                          </m:r>
                        </m:sub>
                      </m:sSub>
                      <m:r>
                        <m:rPr>
                          <m:aln/>
                        </m:rPr>
                        <a:rPr lang="en-US" sz="1850" i="1">
                          <a:latin typeface="Cambria Math" panose="02040503050406030204" pitchFamily="18" charset="0"/>
                        </a:rPr>
                        <m:t>=</m:t>
                      </m:r>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i="1">
                                      <a:latin typeface="Cambria Math" panose="02040503050406030204" pitchFamily="18" charset="0"/>
                                    </a:rPr>
                                    <m:t>𝑟</m:t>
                                  </m:r>
                                </m:e>
                                <m:sub>
                                  <m:r>
                                    <a:rPr lang="en-US" sz="1850" i="1">
                                      <a:latin typeface="Cambria Math" panose="02040503050406030204" pitchFamily="18" charset="0"/>
                                    </a:rPr>
                                    <m:t>𝑖</m:t>
                                  </m:r>
                                  <m:r>
                                    <a:rPr lang="en-US" sz="1850" i="1">
                                      <a:latin typeface="Cambria Math" panose="02040503050406030204" pitchFamily="18" charset="0"/>
                                    </a:rPr>
                                    <m:t>1</m:t>
                                  </m:r>
                                </m:sub>
                              </m:sSub>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i="1">
                                      <a:latin typeface="Cambria Math" panose="02040503050406030204" pitchFamily="18" charset="0"/>
                                    </a:rPr>
                                    <m:t>𝑟</m:t>
                                  </m:r>
                                </m:e>
                                <m:sub>
                                  <m:r>
                                    <a:rPr lang="en-US" sz="1850" i="1">
                                      <a:latin typeface="Cambria Math" panose="02040503050406030204" pitchFamily="18" charset="0"/>
                                    </a:rPr>
                                    <m:t>𝑖</m:t>
                                  </m:r>
                                  <m:r>
                                    <a:rPr lang="en-US" sz="1850" i="1">
                                      <a:latin typeface="Cambria Math" panose="02040503050406030204" pitchFamily="18" charset="0"/>
                                    </a:rPr>
                                    <m:t>1</m:t>
                                  </m:r>
                                </m:sub>
                              </m:sSub>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i="1">
                                      <a:latin typeface="Cambria Math" panose="02040503050406030204" pitchFamily="18" charset="0"/>
                                    </a:rPr>
                                    <m:t>𝑟</m:t>
                                  </m:r>
                                </m:e>
                                <m:sub>
                                  <m:r>
                                    <a:rPr lang="en-US" sz="1850" i="1">
                                      <a:latin typeface="Cambria Math" panose="02040503050406030204" pitchFamily="18" charset="0"/>
                                    </a:rPr>
                                    <m:t>𝑖𝑚</m:t>
                                  </m:r>
                                </m:sub>
                              </m:sSub>
                            </m:e>
                          </m:d>
                        </m:e>
                        <m:sup>
                          <m:r>
                            <a:rPr lang="en-US" sz="1850" i="1">
                              <a:latin typeface="Cambria Math" panose="02040503050406030204" pitchFamily="18" charset="0"/>
                            </a:rPr>
                            <m:t>𝑇</m:t>
                          </m:r>
                        </m:sup>
                      </m:sSup>
                      <m:r>
                        <a:rPr lang="en-US" sz="1850" i="1">
                          <a:latin typeface="Cambria Math" panose="02040503050406030204" pitchFamily="18" charset="0"/>
                        </a:rPr>
                        <m:t>=</m:t>
                      </m:r>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f>
                                <m:fPr>
                                  <m:ctrlPr>
                                    <a:rPr lang="en-US" sz="1850" i="1">
                                      <a:latin typeface="Cambria Math" panose="02040503050406030204" pitchFamily="18" charset="0"/>
                                    </a:rPr>
                                  </m:ctrlPr>
                                </m:fPr>
                                <m:num>
                                  <m:sSub>
                                    <m:sSubPr>
                                      <m:ctrlPr>
                                        <a:rPr lang="en-US" sz="1850" i="1">
                                          <a:latin typeface="Cambria Math" panose="02040503050406030204" pitchFamily="18" charset="0"/>
                                        </a:rPr>
                                      </m:ctrlPr>
                                    </m:sSubPr>
                                    <m:e>
                                      <m:r>
                                        <a:rPr lang="en-US" sz="1850" b="1" i="1">
                                          <a:latin typeface="Cambria Math" panose="02040503050406030204" pitchFamily="18" charset="0"/>
                                        </a:rPr>
                                        <m:t>𝒒</m:t>
                                      </m:r>
                                    </m:e>
                                    <m:sub>
                                      <m:r>
                                        <a:rPr lang="en-US" sz="1850" i="1">
                                          <a:latin typeface="Cambria Math" panose="02040503050406030204" pitchFamily="18" charset="0"/>
                                        </a:rPr>
                                        <m:t>𝑖</m:t>
                                      </m:r>
                                    </m:sub>
                                  </m:sSub>
                                  <m:sSubSup>
                                    <m:sSubSupPr>
                                      <m:ctrlPr>
                                        <a:rPr lang="en-US" sz="1850" i="1">
                                          <a:latin typeface="Cambria Math" panose="02040503050406030204" pitchFamily="18" charset="0"/>
                                        </a:rPr>
                                      </m:ctrlPr>
                                    </m:sSubSupPr>
                                    <m:e>
                                      <m:r>
                                        <a:rPr lang="en-US" sz="1850" b="1" i="1">
                                          <a:latin typeface="Cambria Math" panose="02040503050406030204" pitchFamily="18" charset="0"/>
                                        </a:rPr>
                                        <m:t>𝒌</m:t>
                                      </m:r>
                                    </m:e>
                                    <m:sub>
                                      <m:r>
                                        <a:rPr lang="en-US" sz="1850" i="1">
                                          <a:latin typeface="Cambria Math" panose="02040503050406030204" pitchFamily="18" charset="0"/>
                                        </a:rPr>
                                        <m:t>1</m:t>
                                      </m:r>
                                    </m:sub>
                                    <m:sup>
                                      <m:r>
                                        <a:rPr lang="en-US" sz="1850" i="1">
                                          <a:latin typeface="Cambria Math" panose="02040503050406030204" pitchFamily="18" charset="0"/>
                                        </a:rPr>
                                        <m:t>𝑇</m:t>
                                      </m:r>
                                    </m:sup>
                                  </m:sSubSup>
                                </m:num>
                                <m:den>
                                  <m:rad>
                                    <m:radPr>
                                      <m:degHide m:val="on"/>
                                      <m:ctrlPr>
                                        <a:rPr lang="en-US" sz="1850" i="1">
                                          <a:latin typeface="Cambria Math" panose="02040503050406030204" pitchFamily="18" charset="0"/>
                                        </a:rPr>
                                      </m:ctrlPr>
                                    </m:radPr>
                                    <m:deg/>
                                    <m:e>
                                      <m:sSub>
                                        <m:sSubPr>
                                          <m:ctrlPr>
                                            <a:rPr lang="en-US" sz="1850" i="1">
                                              <a:latin typeface="Cambria Math" panose="02040503050406030204" pitchFamily="18" charset="0"/>
                                            </a:rPr>
                                          </m:ctrlPr>
                                        </m:sSubPr>
                                        <m:e>
                                          <m:r>
                                            <a:rPr lang="en-US" sz="1850" i="1">
                                              <a:latin typeface="Cambria Math" panose="02040503050406030204" pitchFamily="18" charset="0"/>
                                            </a:rPr>
                                            <m:t>𝑑</m:t>
                                          </m:r>
                                        </m:e>
                                        <m:sub>
                                          <m:r>
                                            <a:rPr lang="en-US" sz="1850" i="1">
                                              <a:latin typeface="Cambria Math" panose="02040503050406030204" pitchFamily="18" charset="0"/>
                                            </a:rPr>
                                            <m:t>𝑘</m:t>
                                          </m:r>
                                        </m:sub>
                                      </m:sSub>
                                    </m:e>
                                  </m:rad>
                                </m:den>
                              </m:f>
                              <m:r>
                                <a:rPr lang="en-US" sz="1850" i="1">
                                  <a:latin typeface="Cambria Math" panose="02040503050406030204" pitchFamily="18" charset="0"/>
                                </a:rPr>
                                <m:t>,</m:t>
                              </m:r>
                              <m:f>
                                <m:fPr>
                                  <m:ctrlPr>
                                    <a:rPr lang="en-US" sz="1850" i="1">
                                      <a:latin typeface="Cambria Math" panose="02040503050406030204" pitchFamily="18" charset="0"/>
                                    </a:rPr>
                                  </m:ctrlPr>
                                </m:fPr>
                                <m:num>
                                  <m:sSub>
                                    <m:sSubPr>
                                      <m:ctrlPr>
                                        <a:rPr lang="en-US" sz="1850" i="1">
                                          <a:latin typeface="Cambria Math" panose="02040503050406030204" pitchFamily="18" charset="0"/>
                                        </a:rPr>
                                      </m:ctrlPr>
                                    </m:sSubPr>
                                    <m:e>
                                      <m:r>
                                        <a:rPr lang="en-US" sz="1850" b="1" i="1">
                                          <a:latin typeface="Cambria Math" panose="02040503050406030204" pitchFamily="18" charset="0"/>
                                        </a:rPr>
                                        <m:t>𝒒</m:t>
                                      </m:r>
                                    </m:e>
                                    <m:sub>
                                      <m:r>
                                        <a:rPr lang="en-US" sz="1850" i="1">
                                          <a:latin typeface="Cambria Math" panose="02040503050406030204" pitchFamily="18" charset="0"/>
                                        </a:rPr>
                                        <m:t>𝑖</m:t>
                                      </m:r>
                                    </m:sub>
                                  </m:sSub>
                                  <m:sSubSup>
                                    <m:sSubSupPr>
                                      <m:ctrlPr>
                                        <a:rPr lang="en-US" sz="1850" i="1">
                                          <a:latin typeface="Cambria Math" panose="02040503050406030204" pitchFamily="18" charset="0"/>
                                        </a:rPr>
                                      </m:ctrlPr>
                                    </m:sSubSupPr>
                                    <m:e>
                                      <m:r>
                                        <a:rPr lang="en-US" sz="1850" b="1" i="1">
                                          <a:latin typeface="Cambria Math" panose="02040503050406030204" pitchFamily="18" charset="0"/>
                                        </a:rPr>
                                        <m:t>𝒌</m:t>
                                      </m:r>
                                    </m:e>
                                    <m:sub>
                                      <m:r>
                                        <a:rPr lang="en-US" sz="1850" i="1">
                                          <a:latin typeface="Cambria Math" panose="02040503050406030204" pitchFamily="18" charset="0"/>
                                        </a:rPr>
                                        <m:t>2</m:t>
                                      </m:r>
                                    </m:sub>
                                    <m:sup>
                                      <m:r>
                                        <a:rPr lang="en-US" sz="1850" i="1">
                                          <a:latin typeface="Cambria Math" panose="02040503050406030204" pitchFamily="18" charset="0"/>
                                        </a:rPr>
                                        <m:t>𝑇</m:t>
                                      </m:r>
                                    </m:sup>
                                  </m:sSubSup>
                                </m:num>
                                <m:den>
                                  <m:rad>
                                    <m:radPr>
                                      <m:degHide m:val="on"/>
                                      <m:ctrlPr>
                                        <a:rPr lang="en-US" sz="1850" i="1">
                                          <a:latin typeface="Cambria Math" panose="02040503050406030204" pitchFamily="18" charset="0"/>
                                        </a:rPr>
                                      </m:ctrlPr>
                                    </m:radPr>
                                    <m:deg/>
                                    <m:e>
                                      <m:sSub>
                                        <m:sSubPr>
                                          <m:ctrlPr>
                                            <a:rPr lang="en-US" sz="1850" i="1">
                                              <a:latin typeface="Cambria Math" panose="02040503050406030204" pitchFamily="18" charset="0"/>
                                            </a:rPr>
                                          </m:ctrlPr>
                                        </m:sSubPr>
                                        <m:e>
                                          <m:r>
                                            <a:rPr lang="en-US" sz="1850" i="1">
                                              <a:latin typeface="Cambria Math" panose="02040503050406030204" pitchFamily="18" charset="0"/>
                                            </a:rPr>
                                            <m:t>𝑑</m:t>
                                          </m:r>
                                        </m:e>
                                        <m:sub>
                                          <m:r>
                                            <a:rPr lang="en-US" sz="1850" i="1">
                                              <a:latin typeface="Cambria Math" panose="02040503050406030204" pitchFamily="18" charset="0"/>
                                            </a:rPr>
                                            <m:t>𝑘</m:t>
                                          </m:r>
                                        </m:sub>
                                      </m:sSub>
                                    </m:e>
                                  </m:rad>
                                </m:den>
                              </m:f>
                              <m:r>
                                <a:rPr lang="en-US" sz="1850" i="1">
                                  <a:latin typeface="Cambria Math" panose="02040503050406030204" pitchFamily="18" charset="0"/>
                                </a:rPr>
                                <m:t>,…,</m:t>
                              </m:r>
                              <m:f>
                                <m:fPr>
                                  <m:ctrlPr>
                                    <a:rPr lang="en-US" sz="1850" i="1">
                                      <a:latin typeface="Cambria Math" panose="02040503050406030204" pitchFamily="18" charset="0"/>
                                    </a:rPr>
                                  </m:ctrlPr>
                                </m:fPr>
                                <m:num>
                                  <m:sSub>
                                    <m:sSubPr>
                                      <m:ctrlPr>
                                        <a:rPr lang="en-US" sz="1850" i="1">
                                          <a:latin typeface="Cambria Math" panose="02040503050406030204" pitchFamily="18" charset="0"/>
                                        </a:rPr>
                                      </m:ctrlPr>
                                    </m:sSubPr>
                                    <m:e>
                                      <m:r>
                                        <a:rPr lang="en-US" sz="1850" b="1" i="1">
                                          <a:latin typeface="Cambria Math" panose="02040503050406030204" pitchFamily="18" charset="0"/>
                                        </a:rPr>
                                        <m:t>𝒒</m:t>
                                      </m:r>
                                    </m:e>
                                    <m:sub>
                                      <m:r>
                                        <a:rPr lang="en-US" sz="1850" i="1">
                                          <a:latin typeface="Cambria Math" panose="02040503050406030204" pitchFamily="18" charset="0"/>
                                        </a:rPr>
                                        <m:t>𝑖</m:t>
                                      </m:r>
                                    </m:sub>
                                  </m:sSub>
                                  <m:sSubSup>
                                    <m:sSubSupPr>
                                      <m:ctrlPr>
                                        <a:rPr lang="en-US" sz="1850" i="1">
                                          <a:latin typeface="Cambria Math" panose="02040503050406030204" pitchFamily="18" charset="0"/>
                                        </a:rPr>
                                      </m:ctrlPr>
                                    </m:sSubSupPr>
                                    <m:e>
                                      <m:r>
                                        <a:rPr lang="en-US" sz="1850" b="1" i="1">
                                          <a:latin typeface="Cambria Math" panose="02040503050406030204" pitchFamily="18" charset="0"/>
                                        </a:rPr>
                                        <m:t>𝒌</m:t>
                                      </m:r>
                                    </m:e>
                                    <m:sub>
                                      <m:r>
                                        <a:rPr lang="en-US" sz="1850" i="1">
                                          <a:latin typeface="Cambria Math" panose="02040503050406030204" pitchFamily="18" charset="0"/>
                                        </a:rPr>
                                        <m:t>𝑚</m:t>
                                      </m:r>
                                    </m:sub>
                                    <m:sup>
                                      <m:r>
                                        <a:rPr lang="en-US" sz="1850" i="1">
                                          <a:latin typeface="Cambria Math" panose="02040503050406030204" pitchFamily="18" charset="0"/>
                                        </a:rPr>
                                        <m:t>𝑇</m:t>
                                      </m:r>
                                    </m:sup>
                                  </m:sSubSup>
                                </m:num>
                                <m:den>
                                  <m:rad>
                                    <m:radPr>
                                      <m:degHide m:val="on"/>
                                      <m:ctrlPr>
                                        <a:rPr lang="en-US" sz="1850" i="1">
                                          <a:latin typeface="Cambria Math" panose="02040503050406030204" pitchFamily="18" charset="0"/>
                                        </a:rPr>
                                      </m:ctrlPr>
                                    </m:radPr>
                                    <m:deg/>
                                    <m:e>
                                      <m:sSub>
                                        <m:sSubPr>
                                          <m:ctrlPr>
                                            <a:rPr lang="en-US" sz="1850" i="1">
                                              <a:latin typeface="Cambria Math" panose="02040503050406030204" pitchFamily="18" charset="0"/>
                                            </a:rPr>
                                          </m:ctrlPr>
                                        </m:sSubPr>
                                        <m:e>
                                          <m:r>
                                            <a:rPr lang="en-US" sz="1850" i="1">
                                              <a:latin typeface="Cambria Math" panose="02040503050406030204" pitchFamily="18" charset="0"/>
                                            </a:rPr>
                                            <m:t>𝑑</m:t>
                                          </m:r>
                                        </m:e>
                                        <m:sub>
                                          <m:r>
                                            <a:rPr lang="en-US" sz="1850" i="1">
                                              <a:latin typeface="Cambria Math" panose="02040503050406030204" pitchFamily="18" charset="0"/>
                                            </a:rPr>
                                            <m:t>𝑘</m:t>
                                          </m:r>
                                        </m:sub>
                                      </m:sSub>
                                    </m:e>
                                  </m:rad>
                                </m:den>
                              </m:f>
                            </m:e>
                          </m:d>
                        </m:e>
                        <m:sup>
                          <m:r>
                            <a:rPr lang="en-US" sz="1850" i="1">
                              <a:latin typeface="Cambria Math" panose="02040503050406030204" pitchFamily="18" charset="0"/>
                            </a:rPr>
                            <m:t>𝑇</m:t>
                          </m:r>
                        </m:sup>
                      </m:sSup>
                      <m:r>
                        <m:rPr>
                          <m:sty m:val="p"/>
                        </m:rPr>
                        <a:rPr lang="en-US" sz="1850" b="0" i="0" smtClean="0">
                          <a:latin typeface="Cambria Math" panose="02040503050406030204" pitchFamily="18" charset="0"/>
                        </a:rPr>
                        <m:t>and</m:t>
                      </m:r>
                      <m:r>
                        <a:rPr lang="en-US" sz="1850" b="0" i="1" smtClean="0">
                          <a:latin typeface="Cambria Math" panose="02040503050406030204" pitchFamily="18" charset="0"/>
                        </a:rPr>
                        <m:t> </m:t>
                      </m:r>
                      <m:sSub>
                        <m:sSubPr>
                          <m:ctrlPr>
                            <a:rPr lang="en-US" sz="1850" i="1">
                              <a:latin typeface="Cambria Math" panose="02040503050406030204" pitchFamily="18" charset="0"/>
                            </a:rPr>
                          </m:ctrlPr>
                        </m:sSubPr>
                        <m:e>
                          <m:r>
                            <a:rPr lang="en-US" sz="1850" b="1" i="1">
                              <a:latin typeface="Cambria Math" panose="02040503050406030204" pitchFamily="18" charset="0"/>
                            </a:rPr>
                            <m:t>𝒂</m:t>
                          </m:r>
                        </m:e>
                        <m:sub>
                          <m:r>
                            <a:rPr lang="en-US" sz="1850" i="1">
                              <a:latin typeface="Cambria Math" panose="02040503050406030204" pitchFamily="18" charset="0"/>
                            </a:rPr>
                            <m:t>𝑖</m:t>
                          </m:r>
                        </m:sub>
                      </m:sSub>
                      <m:r>
                        <m:rPr>
                          <m:aln/>
                        </m:rPr>
                        <a:rPr lang="en-US" sz="1850" i="1">
                          <a:latin typeface="Cambria Math" panose="02040503050406030204" pitchFamily="18" charset="0"/>
                        </a:rPr>
                        <m:t>=</m:t>
                      </m:r>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i="1">
                                      <a:latin typeface="Cambria Math" panose="02040503050406030204" pitchFamily="18" charset="0"/>
                                    </a:rPr>
                                    <m:t>𝑎</m:t>
                                  </m:r>
                                </m:e>
                                <m:sub>
                                  <m:r>
                                    <a:rPr lang="en-US" sz="1850" i="1">
                                      <a:latin typeface="Cambria Math" panose="02040503050406030204" pitchFamily="18" charset="0"/>
                                    </a:rPr>
                                    <m:t>𝑖</m:t>
                                  </m:r>
                                  <m:r>
                                    <a:rPr lang="en-US" sz="1850" i="1">
                                      <a:latin typeface="Cambria Math" panose="02040503050406030204" pitchFamily="18" charset="0"/>
                                    </a:rPr>
                                    <m:t>1</m:t>
                                  </m:r>
                                </m:sub>
                              </m:sSub>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i="1">
                                      <a:latin typeface="Cambria Math" panose="02040503050406030204" pitchFamily="18" charset="0"/>
                                    </a:rPr>
                                    <m:t>𝑎</m:t>
                                  </m:r>
                                </m:e>
                                <m:sub>
                                  <m:r>
                                    <a:rPr lang="en-US" sz="1850" i="1">
                                      <a:latin typeface="Cambria Math" panose="02040503050406030204" pitchFamily="18" charset="0"/>
                                    </a:rPr>
                                    <m:t>𝑖</m:t>
                                  </m:r>
                                  <m:r>
                                    <a:rPr lang="en-US" sz="1850" i="1">
                                      <a:latin typeface="Cambria Math" panose="02040503050406030204" pitchFamily="18" charset="0"/>
                                    </a:rPr>
                                    <m:t>2</m:t>
                                  </m:r>
                                </m:sub>
                              </m:sSub>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i="1">
                                      <a:latin typeface="Cambria Math" panose="02040503050406030204" pitchFamily="18" charset="0"/>
                                    </a:rPr>
                                    <m:t>𝑎</m:t>
                                  </m:r>
                                </m:e>
                                <m:sub>
                                  <m:r>
                                    <a:rPr lang="en-US" sz="1850" i="1">
                                      <a:latin typeface="Cambria Math" panose="02040503050406030204" pitchFamily="18" charset="0"/>
                                    </a:rPr>
                                    <m:t>𝑖</m:t>
                                  </m:r>
                                  <m:sSub>
                                    <m:sSubPr>
                                      <m:ctrlPr>
                                        <a:rPr lang="en-US" sz="1850" i="1">
                                          <a:latin typeface="Cambria Math" panose="02040503050406030204" pitchFamily="18" charset="0"/>
                                        </a:rPr>
                                      </m:ctrlPr>
                                    </m:sSubPr>
                                    <m:e>
                                      <m:r>
                                        <a:rPr lang="en-US" sz="1850" i="1">
                                          <a:latin typeface="Cambria Math" panose="02040503050406030204" pitchFamily="18" charset="0"/>
                                        </a:rPr>
                                        <m:t>𝑑</m:t>
                                      </m:r>
                                    </m:e>
                                    <m:sub>
                                      <m:r>
                                        <a:rPr lang="en-US" sz="1850" i="1">
                                          <a:latin typeface="Cambria Math" panose="02040503050406030204" pitchFamily="18" charset="0"/>
                                        </a:rPr>
                                        <m:t>𝑣</m:t>
                                      </m:r>
                                    </m:sub>
                                  </m:sSub>
                                </m:sub>
                              </m:sSub>
                            </m:e>
                          </m:d>
                        </m:e>
                        <m:sup>
                          <m:r>
                            <a:rPr lang="en-US" sz="1850" i="1">
                              <a:latin typeface="Cambria Math" panose="02040503050406030204" pitchFamily="18" charset="0"/>
                            </a:rPr>
                            <m:t>𝑇</m:t>
                          </m:r>
                        </m:sup>
                      </m:sSup>
                    </m:oMath>
                  </m:oMathPara>
                </a14:m>
                <a:endParaRPr lang="en-US" sz="1850" dirty="0" smtClean="0"/>
              </a:p>
              <a:p>
                <a:pPr marL="0" indent="0">
                  <a:buNone/>
                </a:pPr>
                <a:r>
                  <a:rPr lang="en-US" sz="1850" dirty="0" smtClean="0"/>
                  <a:t>Given</a:t>
                </a:r>
                <a:endParaRPr lang="en-US" sz="1850" dirty="0"/>
              </a:p>
              <a:p>
                <a:pPr marL="0" indent="0">
                  <a:buNone/>
                </a:pPr>
                <a14:m>
                  <m:oMathPara xmlns:m="http://schemas.openxmlformats.org/officeDocument/2006/math">
                    <m:oMathParaPr>
                      <m:jc m:val="centerGroup"/>
                    </m:oMathParaPr>
                    <m:oMath xmlns:m="http://schemas.openxmlformats.org/officeDocument/2006/math">
                      <m:r>
                        <a:rPr lang="en-US" sz="1850" b="1" i="1">
                          <a:latin typeface="Cambria Math" panose="02040503050406030204" pitchFamily="18" charset="0"/>
                        </a:rPr>
                        <m:t>𝑿</m:t>
                      </m:r>
                      <m:r>
                        <m:rPr>
                          <m:aln/>
                        </m:rPr>
                        <a:rPr lang="en-US" sz="1850" i="1">
                          <a:latin typeface="Cambria Math" panose="02040503050406030204" pitchFamily="18" charset="0"/>
                        </a:rPr>
                        <m:t>=</m:t>
                      </m:r>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b="1" i="1">
                                      <a:latin typeface="Cambria Math" panose="02040503050406030204" pitchFamily="18" charset="0"/>
                                    </a:rPr>
                                    <m:t>𝒙</m:t>
                                  </m:r>
                                </m:e>
                                <m:sub>
                                  <m:r>
                                    <a:rPr lang="en-US" sz="1850" i="1">
                                      <a:latin typeface="Cambria Math" panose="02040503050406030204" pitchFamily="18" charset="0"/>
                                    </a:rPr>
                                    <m:t>1</m:t>
                                  </m:r>
                                </m:sub>
                                <m:sup>
                                  <m:r>
                                    <a:rPr lang="en-US" sz="1850" i="1">
                                      <a:latin typeface="Cambria Math" panose="02040503050406030204" pitchFamily="18" charset="0"/>
                                    </a:rPr>
                                    <m:t>𝑇</m:t>
                                  </m:r>
                                </m:sup>
                              </m:sSubSup>
                              <m:r>
                                <a:rPr lang="en-US" sz="1850" i="1">
                                  <a:latin typeface="Cambria Math" panose="02040503050406030204" pitchFamily="18" charset="0"/>
                                </a:rPr>
                                <m:t>,</m:t>
                              </m:r>
                              <m:sSubSup>
                                <m:sSubSupPr>
                                  <m:ctrlPr>
                                    <a:rPr lang="en-US" sz="1850" i="1">
                                      <a:latin typeface="Cambria Math" panose="02040503050406030204" pitchFamily="18" charset="0"/>
                                    </a:rPr>
                                  </m:ctrlPr>
                                </m:sSubSupPr>
                                <m:e>
                                  <m:r>
                                    <a:rPr lang="en-US" sz="1850" b="1" i="1">
                                      <a:latin typeface="Cambria Math" panose="02040503050406030204" pitchFamily="18" charset="0"/>
                                    </a:rPr>
                                    <m:t>𝒙</m:t>
                                  </m:r>
                                </m:e>
                                <m:sub>
                                  <m:r>
                                    <a:rPr lang="en-US" sz="1850" i="1">
                                      <a:latin typeface="Cambria Math" panose="02040503050406030204" pitchFamily="18" charset="0"/>
                                    </a:rPr>
                                    <m:t>2</m:t>
                                  </m:r>
                                </m:sub>
                                <m:sup>
                                  <m:r>
                                    <a:rPr lang="en-US" sz="1850" i="1">
                                      <a:latin typeface="Cambria Math" panose="02040503050406030204" pitchFamily="18" charset="0"/>
                                    </a:rPr>
                                    <m:t>𝑇</m:t>
                                  </m:r>
                                </m:sup>
                              </m:sSubSup>
                              <m:r>
                                <a:rPr lang="en-US" sz="1850" i="1">
                                  <a:latin typeface="Cambria Math" panose="02040503050406030204" pitchFamily="18" charset="0"/>
                                </a:rPr>
                                <m:t>,…,</m:t>
                              </m:r>
                              <m:sSubSup>
                                <m:sSubSupPr>
                                  <m:ctrlPr>
                                    <a:rPr lang="en-US" sz="1850" i="1">
                                      <a:latin typeface="Cambria Math" panose="02040503050406030204" pitchFamily="18" charset="0"/>
                                    </a:rPr>
                                  </m:ctrlPr>
                                </m:sSubSupPr>
                                <m:e>
                                  <m:r>
                                    <a:rPr lang="en-US" sz="1850" b="1" i="1">
                                      <a:latin typeface="Cambria Math" panose="02040503050406030204" pitchFamily="18" charset="0"/>
                                    </a:rPr>
                                    <m:t>𝒙</m:t>
                                  </m:r>
                                </m:e>
                                <m:sub>
                                  <m:r>
                                    <a:rPr lang="en-US" sz="1850" i="1">
                                      <a:latin typeface="Cambria Math" panose="02040503050406030204" pitchFamily="18" charset="0"/>
                                    </a:rPr>
                                    <m:t>𝑚</m:t>
                                  </m:r>
                                </m:sub>
                                <m:sup>
                                  <m:r>
                                    <a:rPr lang="en-US" sz="1850" i="1">
                                      <a:latin typeface="Cambria Math" panose="02040503050406030204" pitchFamily="18" charset="0"/>
                                    </a:rPr>
                                    <m:t>𝑇</m:t>
                                  </m:r>
                                </m:sup>
                              </m:sSubSup>
                            </m:e>
                          </m:d>
                        </m:e>
                        <m:sup>
                          <m:r>
                            <a:rPr lang="en-US" sz="1850" i="1">
                              <a:latin typeface="Cambria Math" panose="02040503050406030204" pitchFamily="18" charset="0"/>
                            </a:rPr>
                            <m:t>𝑇</m:t>
                          </m:r>
                        </m:sup>
                      </m:sSup>
                      <m:r>
                        <a:rPr lang="en-US" sz="1850" b="0" i="1" smtClean="0">
                          <a:latin typeface="Cambria Math" panose="02040503050406030204" pitchFamily="18" charset="0"/>
                        </a:rPr>
                        <m:t> </m:t>
                      </m:r>
                      <m:r>
                        <m:rPr>
                          <m:sty m:val="p"/>
                        </m:rPr>
                        <a:rPr lang="en-US" sz="1850" b="0" i="0" smtClean="0">
                          <a:latin typeface="Cambria Math" panose="02040503050406030204" pitchFamily="18" charset="0"/>
                        </a:rPr>
                        <m:t>and</m:t>
                      </m:r>
                      <m:r>
                        <a:rPr lang="en-US" sz="1850" b="0" i="0" smtClean="0">
                          <a:latin typeface="Cambria Math" panose="02040503050406030204" pitchFamily="18" charset="0"/>
                        </a:rPr>
                        <m:t> </m:t>
                      </m:r>
                      <m:sSub>
                        <m:sSubPr>
                          <m:ctrlPr>
                            <a:rPr lang="en-US" sz="1850" i="1">
                              <a:latin typeface="Cambria Math" panose="02040503050406030204" pitchFamily="18" charset="0"/>
                            </a:rPr>
                          </m:ctrlPr>
                        </m:sSubPr>
                        <m:e>
                          <m:r>
                            <a:rPr lang="en-US" sz="1850" b="1" i="1">
                              <a:latin typeface="Cambria Math" panose="02040503050406030204" pitchFamily="18" charset="0"/>
                            </a:rPr>
                            <m:t>𝒙</m:t>
                          </m:r>
                        </m:e>
                        <m:sub>
                          <m:r>
                            <a:rPr lang="en-US" sz="1850" i="1">
                              <a:latin typeface="Cambria Math" panose="02040503050406030204" pitchFamily="18" charset="0"/>
                            </a:rPr>
                            <m:t>𝑖</m:t>
                          </m:r>
                        </m:sub>
                      </m:sSub>
                      <m:r>
                        <m:rPr>
                          <m:aln/>
                        </m:rPr>
                        <a:rPr lang="en-US" sz="1850" i="1">
                          <a:latin typeface="Cambria Math" panose="02040503050406030204" pitchFamily="18" charset="0"/>
                        </a:rPr>
                        <m:t>=</m:t>
                      </m:r>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i="1">
                                      <a:latin typeface="Cambria Math" panose="02040503050406030204" pitchFamily="18" charset="0"/>
                                    </a:rPr>
                                    <m:t>𝑥</m:t>
                                  </m:r>
                                </m:e>
                                <m:sub>
                                  <m:r>
                                    <a:rPr lang="en-US" sz="1850" i="1">
                                      <a:latin typeface="Cambria Math" panose="02040503050406030204" pitchFamily="18" charset="0"/>
                                    </a:rPr>
                                    <m:t>𝑖</m:t>
                                  </m:r>
                                  <m:r>
                                    <a:rPr lang="en-US" sz="1850" i="1">
                                      <a:latin typeface="Cambria Math" panose="02040503050406030204" pitchFamily="18" charset="0"/>
                                    </a:rPr>
                                    <m:t>1</m:t>
                                  </m:r>
                                </m:sub>
                              </m:sSub>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i="1">
                                      <a:latin typeface="Cambria Math" panose="02040503050406030204" pitchFamily="18" charset="0"/>
                                    </a:rPr>
                                    <m:t>𝑥</m:t>
                                  </m:r>
                                </m:e>
                                <m:sub>
                                  <m:r>
                                    <a:rPr lang="en-US" sz="1850" i="1">
                                      <a:latin typeface="Cambria Math" panose="02040503050406030204" pitchFamily="18" charset="0"/>
                                    </a:rPr>
                                    <m:t>𝑖</m:t>
                                  </m:r>
                                  <m:r>
                                    <a:rPr lang="en-US" sz="1850" i="1">
                                      <a:latin typeface="Cambria Math" panose="02040503050406030204" pitchFamily="18" charset="0"/>
                                    </a:rPr>
                                    <m:t>2</m:t>
                                  </m:r>
                                </m:sub>
                              </m:sSub>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i="1">
                                      <a:latin typeface="Cambria Math" panose="02040503050406030204" pitchFamily="18" charset="0"/>
                                    </a:rPr>
                                    <m:t>𝑥</m:t>
                                  </m:r>
                                </m:e>
                                <m:sub>
                                  <m:r>
                                    <a:rPr lang="en-US" sz="1850" i="1">
                                      <a:latin typeface="Cambria Math" panose="02040503050406030204" pitchFamily="18" charset="0"/>
                                    </a:rPr>
                                    <m:t>𝑖</m:t>
                                  </m:r>
                                  <m:sSub>
                                    <m:sSubPr>
                                      <m:ctrlPr>
                                        <a:rPr lang="en-US" sz="1850" i="1">
                                          <a:latin typeface="Cambria Math" panose="02040503050406030204" pitchFamily="18" charset="0"/>
                                        </a:rPr>
                                      </m:ctrlPr>
                                    </m:sSubPr>
                                    <m:e>
                                      <m:r>
                                        <a:rPr lang="en-US" sz="1850" i="1">
                                          <a:latin typeface="Cambria Math" panose="02040503050406030204" pitchFamily="18" charset="0"/>
                                        </a:rPr>
                                        <m:t>𝑑</m:t>
                                      </m:r>
                                    </m:e>
                                    <m:sub>
                                      <m:r>
                                        <a:rPr lang="en-US" sz="1850" i="1">
                                          <a:latin typeface="Cambria Math" panose="02040503050406030204" pitchFamily="18" charset="0"/>
                                        </a:rPr>
                                        <m:t>𝑚</m:t>
                                      </m:r>
                                    </m:sub>
                                  </m:sSub>
                                </m:sub>
                              </m:sSub>
                            </m:e>
                          </m:d>
                        </m:e>
                        <m:sup>
                          <m:r>
                            <a:rPr lang="en-US" sz="1850" i="1">
                              <a:latin typeface="Cambria Math" panose="02040503050406030204" pitchFamily="18" charset="0"/>
                            </a:rPr>
                            <m:t>𝑇</m:t>
                          </m:r>
                        </m:sup>
                      </m:sSup>
                    </m:oMath>
                  </m:oMathPara>
                </a14:m>
                <a:endParaRPr lang="en-US" sz="1850" dirty="0" smtClean="0"/>
              </a:p>
              <a:p>
                <a:pPr marL="0" indent="0">
                  <a:buNone/>
                </a:pPr>
                <a:r>
                  <a:rPr lang="en-US" sz="1850" dirty="0" smtClean="0"/>
                  <a:t>Such </a:t>
                </a:r>
                <a:r>
                  <a:rPr lang="en-US" sz="1850" dirty="0"/>
                  <a:t>that:</a:t>
                </a:r>
              </a:p>
              <a:p>
                <a:pPr marL="0" indent="0">
                  <a:buNone/>
                </a:pPr>
                <a14:m>
                  <m:oMathPara xmlns:m="http://schemas.openxmlformats.org/officeDocument/2006/math">
                    <m:oMathParaPr>
                      <m:jc m:val="centerGroup"/>
                    </m:oMathParaPr>
                    <m:oMath xmlns:m="http://schemas.openxmlformats.org/officeDocument/2006/math">
                      <m:r>
                        <m:rPr>
                          <m:sty m:val="p"/>
                        </m:rPr>
                        <a:rPr lang="en-US" sz="1850">
                          <a:latin typeface="Cambria Math" panose="02040503050406030204" pitchFamily="18" charset="0"/>
                        </a:rPr>
                        <m:t>softmax</m:t>
                      </m:r>
                      <m:d>
                        <m:dPr>
                          <m:ctrlPr>
                            <a:rPr lang="en-US" sz="1850" i="1">
                              <a:latin typeface="Cambria Math" panose="02040503050406030204" pitchFamily="18" charset="0"/>
                            </a:rPr>
                          </m:ctrlPr>
                        </m:dPr>
                        <m:e>
                          <m:r>
                            <a:rPr lang="en-US" sz="1850" i="1">
                              <a:latin typeface="Cambria Math" panose="02040503050406030204" pitchFamily="18" charset="0"/>
                            </a:rPr>
                            <m:t>𝑅</m:t>
                          </m:r>
                        </m:e>
                      </m:d>
                      <m:r>
                        <m:rPr>
                          <m:aln/>
                        </m:rPr>
                        <a:rPr lang="en-US" sz="1850" i="1">
                          <a:latin typeface="Cambria Math" panose="02040503050406030204" pitchFamily="18" charset="0"/>
                        </a:rPr>
                        <m:t>=</m:t>
                      </m:r>
                      <m:r>
                        <m:rPr>
                          <m:sty m:val="p"/>
                        </m:rPr>
                        <a:rPr lang="en-US" sz="1850">
                          <a:latin typeface="Cambria Math" panose="02040503050406030204" pitchFamily="18" charset="0"/>
                        </a:rPr>
                        <m:t>softmax</m:t>
                      </m:r>
                      <m:d>
                        <m:dPr>
                          <m:ctrlPr>
                            <a:rPr lang="en-US" sz="1850" i="1">
                              <a:latin typeface="Cambria Math" panose="02040503050406030204" pitchFamily="18" charset="0"/>
                            </a:rPr>
                          </m:ctrlPr>
                        </m:dPr>
                        <m:e>
                          <m:f>
                            <m:fPr>
                              <m:ctrlPr>
                                <a:rPr lang="en-US" sz="1850" i="1">
                                  <a:latin typeface="Cambria Math" panose="02040503050406030204" pitchFamily="18" charset="0"/>
                                </a:rPr>
                              </m:ctrlPr>
                            </m:fPr>
                            <m:num>
                              <m:r>
                                <a:rPr lang="en-US" sz="1850" i="1">
                                  <a:latin typeface="Cambria Math" panose="02040503050406030204" pitchFamily="18" charset="0"/>
                                </a:rPr>
                                <m:t>𝑄</m:t>
                              </m:r>
                              <m:sSup>
                                <m:sSupPr>
                                  <m:ctrlPr>
                                    <a:rPr lang="en-US" sz="1850" i="1">
                                      <a:latin typeface="Cambria Math" panose="02040503050406030204" pitchFamily="18" charset="0"/>
                                    </a:rPr>
                                  </m:ctrlPr>
                                </m:sSupPr>
                                <m:e>
                                  <m:r>
                                    <a:rPr lang="en-US" sz="1850" i="1">
                                      <a:latin typeface="Cambria Math" panose="02040503050406030204" pitchFamily="18" charset="0"/>
                                    </a:rPr>
                                    <m:t>𝐾</m:t>
                                  </m:r>
                                </m:e>
                                <m:sup>
                                  <m:r>
                                    <a:rPr lang="en-US" sz="1850" i="1">
                                      <a:latin typeface="Cambria Math" panose="02040503050406030204" pitchFamily="18" charset="0"/>
                                    </a:rPr>
                                    <m:t>𝑇</m:t>
                                  </m:r>
                                </m:sup>
                              </m:sSup>
                            </m:num>
                            <m:den>
                              <m:rad>
                                <m:radPr>
                                  <m:degHide m:val="on"/>
                                  <m:ctrlPr>
                                    <a:rPr lang="en-US" sz="1850" i="1">
                                      <a:latin typeface="Cambria Math" panose="02040503050406030204" pitchFamily="18" charset="0"/>
                                    </a:rPr>
                                  </m:ctrlPr>
                                </m:radPr>
                                <m:deg/>
                                <m:e>
                                  <m:sSub>
                                    <m:sSubPr>
                                      <m:ctrlPr>
                                        <a:rPr lang="en-US" sz="1850" i="1">
                                          <a:latin typeface="Cambria Math" panose="02040503050406030204" pitchFamily="18" charset="0"/>
                                        </a:rPr>
                                      </m:ctrlPr>
                                    </m:sSubPr>
                                    <m:e>
                                      <m:r>
                                        <a:rPr lang="en-US" sz="1850" i="1">
                                          <a:latin typeface="Cambria Math" panose="02040503050406030204" pitchFamily="18" charset="0"/>
                                        </a:rPr>
                                        <m:t>𝑑</m:t>
                                      </m:r>
                                    </m:e>
                                    <m:sub>
                                      <m:r>
                                        <a:rPr lang="en-US" sz="1850" i="1">
                                          <a:latin typeface="Cambria Math" panose="02040503050406030204" pitchFamily="18" charset="0"/>
                                        </a:rPr>
                                        <m:t>𝑘</m:t>
                                      </m:r>
                                    </m:sub>
                                  </m:sSub>
                                </m:e>
                              </m:rad>
                            </m:den>
                          </m:f>
                        </m:e>
                      </m:d>
                      <m:r>
                        <a:rPr lang="en-US" sz="1850" b="0" i="1" smtClean="0">
                          <a:latin typeface="Cambria Math" panose="02040503050406030204" pitchFamily="18" charset="0"/>
                        </a:rPr>
                        <m:t> </m:t>
                      </m:r>
                      <m:r>
                        <m:rPr>
                          <m:sty m:val="p"/>
                        </m:rPr>
                        <a:rPr lang="en-US" sz="1850" b="0" i="0" smtClean="0">
                          <a:latin typeface="Cambria Math" panose="02040503050406030204" pitchFamily="18" charset="0"/>
                        </a:rPr>
                        <m:t>and</m:t>
                      </m:r>
                      <m:r>
                        <a:rPr lang="en-US" sz="1850" b="0" i="1" smtClean="0">
                          <a:latin typeface="Cambria Math" panose="02040503050406030204" pitchFamily="18" charset="0"/>
                        </a:rPr>
                        <m:t> </m:t>
                      </m:r>
                      <m:sSub>
                        <m:sSubPr>
                          <m:ctrlPr>
                            <a:rPr lang="en-US" sz="1850" i="1">
                              <a:latin typeface="Cambria Math" panose="02040503050406030204" pitchFamily="18" charset="0"/>
                            </a:rPr>
                          </m:ctrlPr>
                        </m:sSubPr>
                        <m:e>
                          <m:r>
                            <a:rPr lang="en-US" sz="1850" b="1" i="1">
                              <a:latin typeface="Cambria Math" panose="02040503050406030204" pitchFamily="18" charset="0"/>
                            </a:rPr>
                            <m:t>𝒑</m:t>
                          </m:r>
                        </m:e>
                        <m:sub>
                          <m:r>
                            <a:rPr lang="en-US" sz="1850" i="1">
                              <a:latin typeface="Cambria Math" panose="02040503050406030204" pitchFamily="18" charset="0"/>
                            </a:rPr>
                            <m:t>𝑖</m:t>
                          </m:r>
                        </m:sub>
                      </m:sSub>
                      <m:r>
                        <m:rPr>
                          <m:aln/>
                        </m:rPr>
                        <a:rPr lang="en-US" sz="1850" i="1">
                          <a:latin typeface="Cambria Math" panose="02040503050406030204" pitchFamily="18" charset="0"/>
                        </a:rPr>
                        <m:t>=</m:t>
                      </m:r>
                      <m:r>
                        <m:rPr>
                          <m:sty m:val="p"/>
                        </m:rPr>
                        <a:rPr lang="en-US" sz="1850">
                          <a:latin typeface="Cambria Math" panose="02040503050406030204" pitchFamily="18" charset="0"/>
                        </a:rPr>
                        <m:t>softmax</m:t>
                      </m:r>
                      <m:d>
                        <m:dPr>
                          <m:ctrlPr>
                            <a:rPr lang="en-US" sz="1850" i="1">
                              <a:latin typeface="Cambria Math" panose="02040503050406030204" pitchFamily="18" charset="0"/>
                            </a:rPr>
                          </m:ctrlPr>
                        </m:dPr>
                        <m:e>
                          <m:sSub>
                            <m:sSubPr>
                              <m:ctrlPr>
                                <a:rPr lang="en-US" sz="1850" i="1">
                                  <a:latin typeface="Cambria Math" panose="02040503050406030204" pitchFamily="18" charset="0"/>
                                </a:rPr>
                              </m:ctrlPr>
                            </m:sSubPr>
                            <m:e>
                              <m:r>
                                <a:rPr lang="en-US" sz="1850" b="1" i="1">
                                  <a:latin typeface="Cambria Math" panose="02040503050406030204" pitchFamily="18" charset="0"/>
                                </a:rPr>
                                <m:t>𝒓</m:t>
                              </m:r>
                            </m:e>
                            <m:sub>
                              <m:r>
                                <a:rPr lang="en-US" sz="1850" i="1">
                                  <a:latin typeface="Cambria Math" panose="02040503050406030204" pitchFamily="18" charset="0"/>
                                </a:rPr>
                                <m:t>𝑖</m:t>
                              </m:r>
                            </m:sub>
                          </m:sSub>
                        </m:e>
                      </m:d>
                    </m:oMath>
                  </m:oMathPara>
                </a14:m>
                <a:endParaRPr lang="en-US" sz="1850" dirty="0"/>
              </a:p>
              <a:p>
                <a:pPr marL="0" indent="0">
                  <a:buNone/>
                </a:pPr>
                <a:endParaRPr lang="en-US" sz="185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1280" y="914399"/>
                <a:ext cx="12029440" cy="5176066"/>
              </a:xfrm>
              <a:blipFill>
                <a:blip r:embed="rId2"/>
                <a:stretch>
                  <a:fillRect l="-456" t="-824" b="-259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27</a:t>
            </a:fld>
            <a:endParaRPr lang="en-US"/>
          </a:p>
        </p:txBody>
      </p:sp>
    </p:spTree>
    <p:extLst>
      <p:ext uri="{BB962C8B-B14F-4D97-AF65-F5344CB8AC3E}">
        <p14:creationId xmlns:p14="http://schemas.microsoft.com/office/powerpoint/2010/main" val="232029163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a:t>
            </a:r>
            <a:r>
              <a:rPr lang="en-US" dirty="0" smtClean="0"/>
              <a:t>network (skip)</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1280" y="914399"/>
                <a:ext cx="12019280" cy="5176066"/>
              </a:xfrm>
            </p:spPr>
            <p:txBody>
              <a:bodyPr>
                <a:noAutofit/>
              </a:bodyPr>
              <a:lstStyle/>
              <a:p>
                <a:pPr marL="0" indent="0">
                  <a:buNone/>
                </a:pPr>
                <a:r>
                  <a:rPr lang="en-US" sz="1950" dirty="0"/>
                  <a:t>By partitioning </a:t>
                </a:r>
                <a:r>
                  <a:rPr lang="en-US" sz="1950" i="1" dirty="0"/>
                  <a:t>L</a:t>
                </a:r>
                <a:r>
                  <a:rPr lang="en-US" sz="1950" dirty="0"/>
                  <a:t>(</a:t>
                </a:r>
                <a:r>
                  <a:rPr lang="en-US" sz="1950" i="1" dirty="0"/>
                  <a:t>A</a:t>
                </a:r>
                <a:r>
                  <a:rPr lang="en-US" sz="1950" dirty="0"/>
                  <a:t>) into many </a:t>
                </a:r>
                <a:r>
                  <a:rPr lang="en-US" sz="1950" i="1" dirty="0"/>
                  <a:t>l</a:t>
                </a:r>
                <a:r>
                  <a:rPr lang="en-US" sz="1950" i="1" baseline="-25000" dirty="0"/>
                  <a:t>i</a:t>
                </a:r>
                <a:r>
                  <a:rPr lang="en-US" sz="1950" dirty="0"/>
                  <a:t>(</a:t>
                </a:r>
                <a:r>
                  <a:rPr lang="en-US" sz="1950" b="1" i="1" dirty="0" err="1"/>
                  <a:t>a</a:t>
                </a:r>
                <a:r>
                  <a:rPr lang="en-US" sz="1950" i="1" baseline="-25000" dirty="0" err="1"/>
                  <a:t>i</a:t>
                </a:r>
                <a:r>
                  <a:rPr lang="en-US" sz="1950" dirty="0"/>
                  <a:t>), it is possible to calculate gradients </a:t>
                </a:r>
                <a14:m>
                  <m:oMath xmlns:m="http://schemas.openxmlformats.org/officeDocument/2006/math">
                    <m:f>
                      <m:fPr>
                        <m:ctrlPr>
                          <a:rPr lang="en-US" sz="1950" i="1">
                            <a:latin typeface="Cambria Math" panose="02040503050406030204" pitchFamily="18" charset="0"/>
                          </a:rPr>
                        </m:ctrlPr>
                      </m:fPr>
                      <m:num>
                        <m:r>
                          <a:rPr lang="en-US" sz="1950" i="1">
                            <a:latin typeface="Cambria Math" panose="02040503050406030204" pitchFamily="18" charset="0"/>
                          </a:rPr>
                          <m:t>𝐿</m:t>
                        </m:r>
                        <m:d>
                          <m:dPr>
                            <m:ctrlPr>
                              <a:rPr lang="en-US" sz="1950" i="1">
                                <a:latin typeface="Cambria Math" panose="02040503050406030204" pitchFamily="18" charset="0"/>
                              </a:rPr>
                            </m:ctrlPr>
                          </m:dPr>
                          <m:e>
                            <m:r>
                              <a:rPr lang="en-US" sz="1950" i="1">
                                <a:latin typeface="Cambria Math" panose="02040503050406030204" pitchFamily="18" charset="0"/>
                              </a:rPr>
                              <m:t>𝐴</m:t>
                            </m:r>
                          </m:e>
                        </m:d>
                      </m:num>
                      <m:den>
                        <m:r>
                          <a:rPr lang="en-US" sz="1950" i="1">
                            <a:latin typeface="Cambria Math" panose="02040503050406030204" pitchFamily="18" charset="0"/>
                          </a:rPr>
                          <m:t>𝜕</m:t>
                        </m:r>
                        <m:sSup>
                          <m:sSupPr>
                            <m:ctrlPr>
                              <a:rPr lang="en-US" sz="1950" i="1">
                                <a:latin typeface="Cambria Math" panose="02040503050406030204" pitchFamily="18" charset="0"/>
                              </a:rPr>
                            </m:ctrlPr>
                          </m:sSupPr>
                          <m:e>
                            <m:r>
                              <a:rPr lang="en-US" sz="1950" i="1">
                                <a:latin typeface="Cambria Math" panose="02040503050406030204" pitchFamily="18" charset="0"/>
                              </a:rPr>
                              <m:t>𝑊</m:t>
                            </m:r>
                          </m:e>
                          <m:sup>
                            <m:r>
                              <a:rPr lang="en-US" sz="1950" i="1">
                                <a:latin typeface="Cambria Math" panose="02040503050406030204" pitchFamily="18" charset="0"/>
                              </a:rPr>
                              <m:t>𝑄</m:t>
                            </m:r>
                          </m:sup>
                        </m:sSup>
                      </m:den>
                    </m:f>
                  </m:oMath>
                </a14:m>
                <a:r>
                  <a:rPr lang="en-US" sz="1950" dirty="0"/>
                  <a:t>, </a:t>
                </a:r>
                <a14:m>
                  <m:oMath xmlns:m="http://schemas.openxmlformats.org/officeDocument/2006/math">
                    <m:f>
                      <m:fPr>
                        <m:ctrlPr>
                          <a:rPr lang="en-US" sz="1950" i="1">
                            <a:latin typeface="Cambria Math" panose="02040503050406030204" pitchFamily="18" charset="0"/>
                          </a:rPr>
                        </m:ctrlPr>
                      </m:fPr>
                      <m:num>
                        <m:r>
                          <a:rPr lang="en-US" sz="1950" i="1">
                            <a:latin typeface="Cambria Math" panose="02040503050406030204" pitchFamily="18" charset="0"/>
                          </a:rPr>
                          <m:t>𝐿</m:t>
                        </m:r>
                        <m:d>
                          <m:dPr>
                            <m:ctrlPr>
                              <a:rPr lang="en-US" sz="1950" i="1">
                                <a:latin typeface="Cambria Math" panose="02040503050406030204" pitchFamily="18" charset="0"/>
                              </a:rPr>
                            </m:ctrlPr>
                          </m:dPr>
                          <m:e>
                            <m:r>
                              <a:rPr lang="en-US" sz="1950" i="1">
                                <a:latin typeface="Cambria Math" panose="02040503050406030204" pitchFamily="18" charset="0"/>
                              </a:rPr>
                              <m:t>𝐴</m:t>
                            </m:r>
                          </m:e>
                        </m:d>
                      </m:num>
                      <m:den>
                        <m:r>
                          <a:rPr lang="en-US" sz="1950" i="1">
                            <a:latin typeface="Cambria Math" panose="02040503050406030204" pitchFamily="18" charset="0"/>
                          </a:rPr>
                          <m:t>𝜕</m:t>
                        </m:r>
                        <m:sSup>
                          <m:sSupPr>
                            <m:ctrlPr>
                              <a:rPr lang="en-US" sz="1950" i="1">
                                <a:latin typeface="Cambria Math" panose="02040503050406030204" pitchFamily="18" charset="0"/>
                              </a:rPr>
                            </m:ctrlPr>
                          </m:sSupPr>
                          <m:e>
                            <m:r>
                              <a:rPr lang="en-US" sz="1950" i="1">
                                <a:latin typeface="Cambria Math" panose="02040503050406030204" pitchFamily="18" charset="0"/>
                              </a:rPr>
                              <m:t>𝑊</m:t>
                            </m:r>
                          </m:e>
                          <m:sup>
                            <m:r>
                              <a:rPr lang="en-US" sz="1950" i="1">
                                <a:latin typeface="Cambria Math" panose="02040503050406030204" pitchFamily="18" charset="0"/>
                              </a:rPr>
                              <m:t>𝐾</m:t>
                            </m:r>
                          </m:sup>
                        </m:sSup>
                      </m:den>
                    </m:f>
                  </m:oMath>
                </a14:m>
                <a:r>
                  <a:rPr lang="en-US" sz="1950" dirty="0"/>
                  <a:t>, and </a:t>
                </a:r>
                <a14:m>
                  <m:oMath xmlns:m="http://schemas.openxmlformats.org/officeDocument/2006/math">
                    <m:f>
                      <m:fPr>
                        <m:ctrlPr>
                          <a:rPr lang="en-US" sz="1950" i="1">
                            <a:latin typeface="Cambria Math" panose="02040503050406030204" pitchFamily="18" charset="0"/>
                          </a:rPr>
                        </m:ctrlPr>
                      </m:fPr>
                      <m:num>
                        <m:r>
                          <a:rPr lang="en-US" sz="1950" i="1">
                            <a:latin typeface="Cambria Math" panose="02040503050406030204" pitchFamily="18" charset="0"/>
                          </a:rPr>
                          <m:t>𝐿</m:t>
                        </m:r>
                        <m:d>
                          <m:dPr>
                            <m:ctrlPr>
                              <a:rPr lang="en-US" sz="1950" i="1">
                                <a:latin typeface="Cambria Math" panose="02040503050406030204" pitchFamily="18" charset="0"/>
                              </a:rPr>
                            </m:ctrlPr>
                          </m:dPr>
                          <m:e>
                            <m:r>
                              <a:rPr lang="en-US" sz="1950" i="1">
                                <a:latin typeface="Cambria Math" panose="02040503050406030204" pitchFamily="18" charset="0"/>
                              </a:rPr>
                              <m:t>𝐴</m:t>
                            </m:r>
                          </m:e>
                        </m:d>
                      </m:num>
                      <m:den>
                        <m:r>
                          <a:rPr lang="en-US" sz="1950" i="1">
                            <a:latin typeface="Cambria Math" panose="02040503050406030204" pitchFamily="18" charset="0"/>
                          </a:rPr>
                          <m:t>𝜕</m:t>
                        </m:r>
                        <m:sSup>
                          <m:sSupPr>
                            <m:ctrlPr>
                              <a:rPr lang="en-US" sz="1950" i="1">
                                <a:latin typeface="Cambria Math" panose="02040503050406030204" pitchFamily="18" charset="0"/>
                              </a:rPr>
                            </m:ctrlPr>
                          </m:sSupPr>
                          <m:e>
                            <m:r>
                              <a:rPr lang="en-US" sz="1950" i="1">
                                <a:latin typeface="Cambria Math" panose="02040503050406030204" pitchFamily="18" charset="0"/>
                              </a:rPr>
                              <m:t>𝑊</m:t>
                            </m:r>
                          </m:e>
                          <m:sup>
                            <m:r>
                              <a:rPr lang="en-US" sz="1950" i="1">
                                <a:latin typeface="Cambria Math" panose="02040503050406030204" pitchFamily="18" charset="0"/>
                              </a:rPr>
                              <m:t>𝑉</m:t>
                            </m:r>
                          </m:sup>
                        </m:sSup>
                      </m:den>
                    </m:f>
                  </m:oMath>
                </a14:m>
                <a:r>
                  <a:rPr lang="en-US" sz="1950" dirty="0"/>
                  <a:t>. Indeed, differential of </a:t>
                </a:r>
                <a:r>
                  <a:rPr lang="en-US" sz="1950" i="1" dirty="0"/>
                  <a:t>l</a:t>
                </a:r>
                <a:r>
                  <a:rPr lang="en-US" sz="1950" i="1" baseline="-25000" dirty="0"/>
                  <a:t>i</a:t>
                </a:r>
                <a:r>
                  <a:rPr lang="en-US" sz="1950" dirty="0"/>
                  <a:t>(</a:t>
                </a:r>
                <a:r>
                  <a:rPr lang="en-US" sz="1950" b="1" i="1" dirty="0" err="1"/>
                  <a:t>a</a:t>
                </a:r>
                <a:r>
                  <a:rPr lang="en-US" sz="1950" i="1" baseline="-25000" dirty="0" err="1"/>
                  <a:t>i</a:t>
                </a:r>
                <a:r>
                  <a:rPr lang="en-US" sz="1950" dirty="0"/>
                  <a:t>) with respect to </a:t>
                </a:r>
                <a:r>
                  <a:rPr lang="en-US" sz="1950" b="1" i="1" dirty="0"/>
                  <a:t>q</a:t>
                </a:r>
                <a:r>
                  <a:rPr lang="en-US" sz="1950" i="1" baseline="-25000" dirty="0"/>
                  <a:t>i</a:t>
                </a:r>
                <a:r>
                  <a:rPr lang="en-US" sz="1950" dirty="0"/>
                  <a:t> is</a:t>
                </a:r>
                <a:r>
                  <a:rPr lang="en-US" sz="1950" dirty="0" smtClean="0"/>
                  <a:t>:</a:t>
                </a:r>
              </a:p>
              <a:p>
                <a:pPr marL="0" indent="0">
                  <a:buNone/>
                </a:pPr>
                <a14:m>
                  <m:oMathPara xmlns:m="http://schemas.openxmlformats.org/officeDocument/2006/math">
                    <m:oMathParaPr>
                      <m:jc m:val="centerGroup"/>
                    </m:oMathParaPr>
                    <m:oMath xmlns:m="http://schemas.openxmlformats.org/officeDocument/2006/math">
                      <m:r>
                        <a:rPr lang="en-US" sz="1950" i="1">
                          <a:latin typeface="Cambria Math" panose="02040503050406030204" pitchFamily="18" charset="0"/>
                        </a:rPr>
                        <m:t>𝑑</m:t>
                      </m:r>
                      <m:sSub>
                        <m:sSubPr>
                          <m:ctrlPr>
                            <a:rPr lang="en-US" sz="1950" i="1">
                              <a:latin typeface="Cambria Math" panose="02040503050406030204" pitchFamily="18" charset="0"/>
                            </a:rPr>
                          </m:ctrlPr>
                        </m:sSubPr>
                        <m:e>
                          <m:r>
                            <a:rPr lang="en-US" sz="1950" i="1">
                              <a:latin typeface="Cambria Math" panose="02040503050406030204" pitchFamily="18" charset="0"/>
                            </a:rPr>
                            <m:t>𝑙</m:t>
                          </m:r>
                        </m:e>
                        <m:sub>
                          <m:r>
                            <a:rPr lang="en-US" sz="1950" i="1">
                              <a:latin typeface="Cambria Math" panose="02040503050406030204" pitchFamily="18" charset="0"/>
                            </a:rPr>
                            <m:t>𝑖</m:t>
                          </m:r>
                        </m:sub>
                      </m:sSub>
                      <m:r>
                        <a:rPr lang="en-US" sz="1950" i="1">
                          <a:latin typeface="Cambria Math" panose="02040503050406030204" pitchFamily="18" charset="0"/>
                        </a:rPr>
                        <m:t>=</m:t>
                      </m:r>
                      <m:f>
                        <m:fPr>
                          <m:ctrlPr>
                            <a:rPr lang="en-US" sz="1950" i="1">
                              <a:latin typeface="Cambria Math" panose="02040503050406030204" pitchFamily="18" charset="0"/>
                            </a:rPr>
                          </m:ctrlPr>
                        </m:fPr>
                        <m:num>
                          <m:r>
                            <a:rPr lang="en-US" sz="1950" i="1">
                              <a:latin typeface="Cambria Math" panose="02040503050406030204" pitchFamily="18" charset="0"/>
                            </a:rPr>
                            <m:t>1</m:t>
                          </m:r>
                        </m:num>
                        <m:den>
                          <m:rad>
                            <m:radPr>
                              <m:degHide m:val="on"/>
                              <m:ctrlPr>
                                <a:rPr lang="en-US" sz="1950" i="1">
                                  <a:latin typeface="Cambria Math" panose="02040503050406030204" pitchFamily="18" charset="0"/>
                                </a:rPr>
                              </m:ctrlPr>
                            </m:radPr>
                            <m:deg/>
                            <m:e>
                              <m:sSub>
                                <m:sSubPr>
                                  <m:ctrlPr>
                                    <a:rPr lang="en-US" sz="1950" i="1">
                                      <a:latin typeface="Cambria Math" panose="02040503050406030204" pitchFamily="18" charset="0"/>
                                    </a:rPr>
                                  </m:ctrlPr>
                                </m:sSubPr>
                                <m:e>
                                  <m:r>
                                    <a:rPr lang="en-US" sz="1950" i="1">
                                      <a:latin typeface="Cambria Math" panose="02040503050406030204" pitchFamily="18" charset="0"/>
                                    </a:rPr>
                                    <m:t>𝑑</m:t>
                                  </m:r>
                                </m:e>
                                <m:sub>
                                  <m:r>
                                    <a:rPr lang="en-US" sz="1950" i="1">
                                      <a:latin typeface="Cambria Math" panose="02040503050406030204" pitchFamily="18" charset="0"/>
                                    </a:rPr>
                                    <m:t>𝑘</m:t>
                                  </m:r>
                                </m:sub>
                              </m:sSub>
                            </m:e>
                          </m:rad>
                        </m:den>
                      </m:f>
                      <m:r>
                        <m:rPr>
                          <m:sty m:val="p"/>
                        </m:rPr>
                        <a:rPr lang="en-US" sz="1950">
                          <a:latin typeface="Cambria Math" panose="02040503050406030204" pitchFamily="18" charset="0"/>
                        </a:rPr>
                        <m:t>tr</m:t>
                      </m:r>
                      <m:d>
                        <m:dPr>
                          <m:ctrlPr>
                            <a:rPr lang="en-US" sz="1950" i="1">
                              <a:latin typeface="Cambria Math" panose="02040503050406030204" pitchFamily="18" charset="0"/>
                            </a:rPr>
                          </m:ctrlPr>
                        </m:dPr>
                        <m:e>
                          <m:sSup>
                            <m:sSupPr>
                              <m:ctrlPr>
                                <a:rPr lang="en-US" sz="1950" i="1">
                                  <a:latin typeface="Cambria Math" panose="02040503050406030204" pitchFamily="18" charset="0"/>
                                </a:rPr>
                              </m:ctrlPr>
                            </m:sSupPr>
                            <m:e>
                              <m:d>
                                <m:dPr>
                                  <m:ctrlPr>
                                    <a:rPr lang="en-US" sz="1950" i="1">
                                      <a:latin typeface="Cambria Math" panose="02040503050406030204" pitchFamily="18" charset="0"/>
                                    </a:rPr>
                                  </m:ctrlPr>
                                </m:dPr>
                                <m:e>
                                  <m:sSubSup>
                                    <m:sSubSupPr>
                                      <m:ctrlPr>
                                        <a:rPr lang="en-US" sz="1950" i="1">
                                          <a:latin typeface="Cambria Math" panose="02040503050406030204" pitchFamily="18" charset="0"/>
                                        </a:rPr>
                                      </m:ctrlPr>
                                    </m:sSubSupPr>
                                    <m:e>
                                      <m:r>
                                        <a:rPr lang="en-US" sz="1950" b="1" i="1">
                                          <a:latin typeface="Cambria Math" panose="02040503050406030204" pitchFamily="18" charset="0"/>
                                        </a:rPr>
                                        <m:t>𝒂</m:t>
                                      </m:r>
                                    </m:e>
                                    <m:sub>
                                      <m:r>
                                        <a:rPr lang="en-US" sz="1950" i="1">
                                          <a:latin typeface="Cambria Math" panose="02040503050406030204" pitchFamily="18" charset="0"/>
                                        </a:rPr>
                                        <m:t>𝑖</m:t>
                                      </m:r>
                                    </m:sub>
                                    <m:sup>
                                      <m:r>
                                        <a:rPr lang="en-US" sz="1950" i="1">
                                          <a:latin typeface="Cambria Math" panose="02040503050406030204" pitchFamily="18" charset="0"/>
                                        </a:rPr>
                                        <m:t>′</m:t>
                                      </m:r>
                                    </m:sup>
                                  </m:sSubSup>
                                  <m:r>
                                    <a:rPr lang="en-US" sz="1950" i="1">
                                      <a:latin typeface="Cambria Math" panose="02040503050406030204" pitchFamily="18" charset="0"/>
                                    </a:rPr>
                                    <m:t>−</m:t>
                                  </m:r>
                                  <m:sSub>
                                    <m:sSubPr>
                                      <m:ctrlPr>
                                        <a:rPr lang="en-US" sz="1950" i="1">
                                          <a:latin typeface="Cambria Math" panose="02040503050406030204" pitchFamily="18" charset="0"/>
                                        </a:rPr>
                                      </m:ctrlPr>
                                    </m:sSubPr>
                                    <m:e>
                                      <m:r>
                                        <a:rPr lang="en-US" sz="1950" b="1" i="1">
                                          <a:latin typeface="Cambria Math" panose="02040503050406030204" pitchFamily="18" charset="0"/>
                                        </a:rPr>
                                        <m:t>𝒂</m:t>
                                      </m:r>
                                    </m:e>
                                    <m:sub>
                                      <m:r>
                                        <a:rPr lang="en-US" sz="1950" i="1">
                                          <a:latin typeface="Cambria Math" panose="02040503050406030204" pitchFamily="18" charset="0"/>
                                        </a:rPr>
                                        <m:t>𝑖</m:t>
                                      </m:r>
                                    </m:sub>
                                  </m:sSub>
                                </m:e>
                              </m:d>
                            </m:e>
                            <m:sup>
                              <m:r>
                                <a:rPr lang="en-US" sz="1950" i="1">
                                  <a:latin typeface="Cambria Math" panose="02040503050406030204" pitchFamily="18" charset="0"/>
                                </a:rPr>
                                <m:t>𝑇</m:t>
                              </m:r>
                            </m:sup>
                          </m:sSup>
                          <m:sSup>
                            <m:sSupPr>
                              <m:ctrlPr>
                                <a:rPr lang="en-US" sz="1950" i="1">
                                  <a:latin typeface="Cambria Math" panose="02040503050406030204" pitchFamily="18" charset="0"/>
                                </a:rPr>
                              </m:ctrlPr>
                            </m:sSupPr>
                            <m:e>
                              <m:r>
                                <a:rPr lang="en-US" sz="1950" i="1">
                                  <a:latin typeface="Cambria Math" panose="02040503050406030204" pitchFamily="18" charset="0"/>
                                </a:rPr>
                                <m:t>𝑉</m:t>
                              </m:r>
                            </m:e>
                            <m:sup>
                              <m:r>
                                <a:rPr lang="en-US" sz="1950" i="1">
                                  <a:latin typeface="Cambria Math" panose="02040503050406030204" pitchFamily="18" charset="0"/>
                                </a:rPr>
                                <m:t>𝑇</m:t>
                              </m:r>
                            </m:sup>
                          </m:sSup>
                          <m:sSubSup>
                            <m:sSubSupPr>
                              <m:ctrlPr>
                                <a:rPr lang="en-US" sz="1950" i="1">
                                  <a:latin typeface="Cambria Math" panose="02040503050406030204" pitchFamily="18" charset="0"/>
                                </a:rPr>
                              </m:ctrlPr>
                            </m:sSubSupPr>
                            <m:e>
                              <m:r>
                                <a:rPr lang="en-US" sz="1950" b="1" i="1">
                                  <a:latin typeface="Cambria Math" panose="02040503050406030204" pitchFamily="18" charset="0"/>
                                </a:rPr>
                                <m:t>𝒑</m:t>
                              </m:r>
                            </m:e>
                            <m:sub>
                              <m:r>
                                <a:rPr lang="en-US" sz="1950" i="1">
                                  <a:latin typeface="Cambria Math" panose="02040503050406030204" pitchFamily="18" charset="0"/>
                                </a:rPr>
                                <m:t>𝑖</m:t>
                              </m:r>
                            </m:sub>
                            <m:sup>
                              <m:r>
                                <a:rPr lang="en-US" sz="1950" i="1">
                                  <a:latin typeface="Cambria Math" panose="02040503050406030204" pitchFamily="18" charset="0"/>
                                </a:rPr>
                                <m:t>′</m:t>
                              </m:r>
                            </m:sup>
                          </m:sSubSup>
                          <m:r>
                            <a:rPr lang="en-US" sz="1950" i="1">
                              <a:latin typeface="Cambria Math" panose="02040503050406030204" pitchFamily="18" charset="0"/>
                            </a:rPr>
                            <m:t>𝐾𝑑</m:t>
                          </m:r>
                          <m:sSub>
                            <m:sSubPr>
                              <m:ctrlPr>
                                <a:rPr lang="en-US" sz="1950" i="1">
                                  <a:latin typeface="Cambria Math" panose="02040503050406030204" pitchFamily="18" charset="0"/>
                                </a:rPr>
                              </m:ctrlPr>
                            </m:sSubPr>
                            <m:e>
                              <m:r>
                                <a:rPr lang="en-US" sz="1950" b="1" i="1">
                                  <a:latin typeface="Cambria Math" panose="02040503050406030204" pitchFamily="18" charset="0"/>
                                </a:rPr>
                                <m:t>𝒒</m:t>
                              </m:r>
                            </m:e>
                            <m:sub>
                              <m:r>
                                <a:rPr lang="en-US" sz="1950" i="1">
                                  <a:latin typeface="Cambria Math" panose="02040503050406030204" pitchFamily="18" charset="0"/>
                                </a:rPr>
                                <m:t>𝑖</m:t>
                              </m:r>
                            </m:sub>
                          </m:sSub>
                        </m:e>
                      </m:d>
                    </m:oMath>
                  </m:oMathPara>
                </a14:m>
                <a:endParaRPr lang="en-US" sz="1950" dirty="0"/>
              </a:p>
              <a:p>
                <a:pPr marL="0" indent="0">
                  <a:buNone/>
                </a:pPr>
                <a:r>
                  <a:rPr lang="en-US" sz="1950" dirty="0" smtClean="0"/>
                  <a:t>Due to </a:t>
                </a:r>
                <a14:m>
                  <m:oMath xmlns:m="http://schemas.openxmlformats.org/officeDocument/2006/math">
                    <m:sSubSup>
                      <m:sSubSupPr>
                        <m:ctrlPr>
                          <a:rPr lang="en-US" sz="1950" i="1">
                            <a:latin typeface="Cambria Math" panose="02040503050406030204" pitchFamily="18" charset="0"/>
                          </a:rPr>
                        </m:ctrlPr>
                      </m:sSubSupPr>
                      <m:e>
                        <m:r>
                          <a:rPr lang="en-US" sz="1950" b="1" i="1">
                            <a:latin typeface="Cambria Math" panose="02040503050406030204" pitchFamily="18" charset="0"/>
                          </a:rPr>
                          <m:t>𝒒</m:t>
                        </m:r>
                      </m:e>
                      <m:sub>
                        <m:r>
                          <a:rPr lang="en-US" sz="1950" i="1">
                            <a:latin typeface="Cambria Math" panose="02040503050406030204" pitchFamily="18" charset="0"/>
                          </a:rPr>
                          <m:t>𝑖</m:t>
                        </m:r>
                      </m:sub>
                      <m:sup>
                        <m:r>
                          <a:rPr lang="en-US" sz="1950" i="1">
                            <a:latin typeface="Cambria Math" panose="02040503050406030204" pitchFamily="18" charset="0"/>
                          </a:rPr>
                          <m:t>𝑇</m:t>
                        </m:r>
                      </m:sup>
                    </m:sSubSup>
                    <m:r>
                      <m:rPr>
                        <m:aln/>
                      </m:rPr>
                      <a:rPr lang="en-US" sz="1950" i="1">
                        <a:latin typeface="Cambria Math" panose="02040503050406030204" pitchFamily="18" charset="0"/>
                      </a:rPr>
                      <m:t>=</m:t>
                    </m:r>
                    <m:sSubSup>
                      <m:sSubSupPr>
                        <m:ctrlPr>
                          <a:rPr lang="en-US" sz="1950" i="1">
                            <a:latin typeface="Cambria Math" panose="02040503050406030204" pitchFamily="18" charset="0"/>
                          </a:rPr>
                        </m:ctrlPr>
                      </m:sSubSupPr>
                      <m:e>
                        <m:r>
                          <a:rPr lang="en-US" sz="1950" b="1" i="1">
                            <a:latin typeface="Cambria Math" panose="02040503050406030204" pitchFamily="18" charset="0"/>
                          </a:rPr>
                          <m:t>𝒙</m:t>
                        </m:r>
                      </m:e>
                      <m:sub>
                        <m:r>
                          <a:rPr lang="en-US" sz="1950" i="1">
                            <a:latin typeface="Cambria Math" panose="02040503050406030204" pitchFamily="18" charset="0"/>
                          </a:rPr>
                          <m:t>𝑖</m:t>
                        </m:r>
                      </m:sub>
                      <m:sup>
                        <m:r>
                          <a:rPr lang="en-US" sz="1950" i="1">
                            <a:latin typeface="Cambria Math" panose="02040503050406030204" pitchFamily="18" charset="0"/>
                          </a:rPr>
                          <m:t>𝑇</m:t>
                        </m:r>
                      </m:sup>
                    </m:sSubSup>
                    <m:sSup>
                      <m:sSupPr>
                        <m:ctrlPr>
                          <a:rPr lang="en-US" sz="1950" i="1">
                            <a:latin typeface="Cambria Math" panose="02040503050406030204" pitchFamily="18" charset="0"/>
                          </a:rPr>
                        </m:ctrlPr>
                      </m:sSupPr>
                      <m:e>
                        <m:r>
                          <a:rPr lang="en-US" sz="1950" i="1">
                            <a:latin typeface="Cambria Math" panose="02040503050406030204" pitchFamily="18" charset="0"/>
                          </a:rPr>
                          <m:t>𝑊</m:t>
                        </m:r>
                      </m:e>
                      <m:sup>
                        <m:r>
                          <a:rPr lang="en-US" sz="1950" i="1">
                            <a:latin typeface="Cambria Math" panose="02040503050406030204" pitchFamily="18" charset="0"/>
                          </a:rPr>
                          <m:t>𝑄</m:t>
                        </m:r>
                      </m:sup>
                    </m:sSup>
                  </m:oMath>
                </a14:m>
                <a:r>
                  <a:rPr lang="en-US" sz="1950" dirty="0" smtClean="0"/>
                  <a:t>, differential </a:t>
                </a:r>
                <a:r>
                  <a:rPr lang="en-US" sz="1950" dirty="0"/>
                  <a:t>of </a:t>
                </a:r>
                <a:r>
                  <a:rPr lang="en-US" sz="1950" i="1" dirty="0"/>
                  <a:t>l</a:t>
                </a:r>
                <a:r>
                  <a:rPr lang="en-US" sz="1950" i="1" baseline="-25000" dirty="0"/>
                  <a:t>i</a:t>
                </a:r>
                <a:r>
                  <a:rPr lang="en-US" sz="1950" dirty="0"/>
                  <a:t>(</a:t>
                </a:r>
                <a:r>
                  <a:rPr lang="en-US" sz="1950" b="1" i="1" dirty="0" err="1"/>
                  <a:t>a</a:t>
                </a:r>
                <a:r>
                  <a:rPr lang="en-US" sz="1950" i="1" baseline="-25000" dirty="0" err="1"/>
                  <a:t>i</a:t>
                </a:r>
                <a:r>
                  <a:rPr lang="en-US" sz="1950" dirty="0"/>
                  <a:t>) with respect to </a:t>
                </a:r>
                <a:r>
                  <a:rPr lang="en-US" sz="1950" i="1" dirty="0"/>
                  <a:t>W</a:t>
                </a:r>
                <a:r>
                  <a:rPr lang="en-US" sz="1950" i="1" baseline="30000" dirty="0"/>
                  <a:t>Q</a:t>
                </a:r>
                <a:r>
                  <a:rPr lang="en-US" sz="1950" dirty="0"/>
                  <a:t> </a:t>
                </a:r>
                <a:r>
                  <a:rPr lang="en-US" sz="1950" dirty="0" smtClean="0"/>
                  <a:t>is</a:t>
                </a:r>
                <a:r>
                  <a:rPr lang="en-US" sz="1950" dirty="0"/>
                  <a:t> </a:t>
                </a:r>
                <a14:m>
                  <m:oMath xmlns:m="http://schemas.openxmlformats.org/officeDocument/2006/math">
                    <m:r>
                      <a:rPr lang="en-US" sz="1950" i="1">
                        <a:latin typeface="Cambria Math" panose="02040503050406030204" pitchFamily="18" charset="0"/>
                      </a:rPr>
                      <m:t>𝑑</m:t>
                    </m:r>
                    <m:sSub>
                      <m:sSubPr>
                        <m:ctrlPr>
                          <a:rPr lang="en-US" sz="1950" i="1">
                            <a:latin typeface="Cambria Math" panose="02040503050406030204" pitchFamily="18" charset="0"/>
                          </a:rPr>
                        </m:ctrlPr>
                      </m:sSubPr>
                      <m:e>
                        <m:r>
                          <a:rPr lang="en-US" sz="1950" i="1">
                            <a:latin typeface="Cambria Math" panose="02040503050406030204" pitchFamily="18" charset="0"/>
                          </a:rPr>
                          <m:t>𝑙</m:t>
                        </m:r>
                      </m:e>
                      <m:sub>
                        <m:r>
                          <a:rPr lang="en-US" sz="1950" i="1">
                            <a:latin typeface="Cambria Math" panose="02040503050406030204" pitchFamily="18" charset="0"/>
                          </a:rPr>
                          <m:t>𝑖</m:t>
                        </m:r>
                      </m:sub>
                    </m:sSub>
                    <m:r>
                      <a:rPr lang="en-US" sz="1950" i="1">
                        <a:latin typeface="Cambria Math" panose="02040503050406030204" pitchFamily="18" charset="0"/>
                      </a:rPr>
                      <m:t>=</m:t>
                    </m:r>
                    <m:f>
                      <m:fPr>
                        <m:ctrlPr>
                          <a:rPr lang="en-US" sz="1950" i="1">
                            <a:latin typeface="Cambria Math" panose="02040503050406030204" pitchFamily="18" charset="0"/>
                          </a:rPr>
                        </m:ctrlPr>
                      </m:fPr>
                      <m:num>
                        <m:r>
                          <a:rPr lang="en-US" sz="1950" i="1">
                            <a:latin typeface="Cambria Math" panose="02040503050406030204" pitchFamily="18" charset="0"/>
                          </a:rPr>
                          <m:t>1</m:t>
                        </m:r>
                      </m:num>
                      <m:den>
                        <m:rad>
                          <m:radPr>
                            <m:degHide m:val="on"/>
                            <m:ctrlPr>
                              <a:rPr lang="en-US" sz="1950" i="1">
                                <a:latin typeface="Cambria Math" panose="02040503050406030204" pitchFamily="18" charset="0"/>
                              </a:rPr>
                            </m:ctrlPr>
                          </m:radPr>
                          <m:deg/>
                          <m:e>
                            <m:sSub>
                              <m:sSubPr>
                                <m:ctrlPr>
                                  <a:rPr lang="en-US" sz="1950" i="1">
                                    <a:latin typeface="Cambria Math" panose="02040503050406030204" pitchFamily="18" charset="0"/>
                                  </a:rPr>
                                </m:ctrlPr>
                              </m:sSubPr>
                              <m:e>
                                <m:r>
                                  <a:rPr lang="en-US" sz="1950" i="1">
                                    <a:latin typeface="Cambria Math" panose="02040503050406030204" pitchFamily="18" charset="0"/>
                                  </a:rPr>
                                  <m:t>𝑑</m:t>
                                </m:r>
                              </m:e>
                              <m:sub>
                                <m:r>
                                  <a:rPr lang="en-US" sz="1950" i="1">
                                    <a:latin typeface="Cambria Math" panose="02040503050406030204" pitchFamily="18" charset="0"/>
                                  </a:rPr>
                                  <m:t>𝑘</m:t>
                                </m:r>
                              </m:sub>
                            </m:sSub>
                          </m:e>
                        </m:rad>
                      </m:den>
                    </m:f>
                    <m:r>
                      <m:rPr>
                        <m:sty m:val="p"/>
                      </m:rPr>
                      <a:rPr lang="en-US" sz="1950">
                        <a:latin typeface="Cambria Math" panose="02040503050406030204" pitchFamily="18" charset="0"/>
                      </a:rPr>
                      <m:t>tr</m:t>
                    </m:r>
                    <m:d>
                      <m:dPr>
                        <m:ctrlPr>
                          <a:rPr lang="en-US" sz="1950" i="1">
                            <a:latin typeface="Cambria Math" panose="02040503050406030204" pitchFamily="18" charset="0"/>
                          </a:rPr>
                        </m:ctrlPr>
                      </m:dPr>
                      <m:e>
                        <m:sSup>
                          <m:sSupPr>
                            <m:ctrlPr>
                              <a:rPr lang="en-US" sz="1950" i="1">
                                <a:latin typeface="Cambria Math" panose="02040503050406030204" pitchFamily="18" charset="0"/>
                              </a:rPr>
                            </m:ctrlPr>
                          </m:sSupPr>
                          <m:e>
                            <m:sSub>
                              <m:sSubPr>
                                <m:ctrlPr>
                                  <a:rPr lang="en-US" sz="1950" i="1">
                                    <a:latin typeface="Cambria Math" panose="02040503050406030204" pitchFamily="18" charset="0"/>
                                  </a:rPr>
                                </m:ctrlPr>
                              </m:sSubPr>
                              <m:e>
                                <m:r>
                                  <a:rPr lang="en-US" sz="1950" b="1" i="1">
                                    <a:latin typeface="Cambria Math" panose="02040503050406030204" pitchFamily="18" charset="0"/>
                                  </a:rPr>
                                  <m:t>𝒙</m:t>
                                </m:r>
                              </m:e>
                              <m:sub>
                                <m:r>
                                  <a:rPr lang="en-US" sz="1950" i="1">
                                    <a:latin typeface="Cambria Math" panose="02040503050406030204" pitchFamily="18" charset="0"/>
                                  </a:rPr>
                                  <m:t>𝑖</m:t>
                                </m:r>
                              </m:sub>
                            </m:sSub>
                            <m:d>
                              <m:dPr>
                                <m:ctrlPr>
                                  <a:rPr lang="en-US" sz="1950" i="1">
                                    <a:latin typeface="Cambria Math" panose="02040503050406030204" pitchFamily="18" charset="0"/>
                                  </a:rPr>
                                </m:ctrlPr>
                              </m:dPr>
                              <m:e>
                                <m:sSubSup>
                                  <m:sSubSupPr>
                                    <m:ctrlPr>
                                      <a:rPr lang="en-US" sz="1950" i="1">
                                        <a:latin typeface="Cambria Math" panose="02040503050406030204" pitchFamily="18" charset="0"/>
                                      </a:rPr>
                                    </m:ctrlPr>
                                  </m:sSubSupPr>
                                  <m:e>
                                    <m:r>
                                      <a:rPr lang="en-US" sz="1950" b="1" i="1">
                                        <a:latin typeface="Cambria Math" panose="02040503050406030204" pitchFamily="18" charset="0"/>
                                      </a:rPr>
                                      <m:t>𝒂</m:t>
                                    </m:r>
                                  </m:e>
                                  <m:sub>
                                    <m:r>
                                      <a:rPr lang="en-US" sz="1950" i="1">
                                        <a:latin typeface="Cambria Math" panose="02040503050406030204" pitchFamily="18" charset="0"/>
                                      </a:rPr>
                                      <m:t>𝑖</m:t>
                                    </m:r>
                                  </m:sub>
                                  <m:sup>
                                    <m:r>
                                      <a:rPr lang="en-US" sz="1950" i="1">
                                        <a:latin typeface="Cambria Math" panose="02040503050406030204" pitchFamily="18" charset="0"/>
                                      </a:rPr>
                                      <m:t>′</m:t>
                                    </m:r>
                                  </m:sup>
                                </m:sSubSup>
                                <m:r>
                                  <a:rPr lang="en-US" sz="1950" i="1">
                                    <a:latin typeface="Cambria Math" panose="02040503050406030204" pitchFamily="18" charset="0"/>
                                  </a:rPr>
                                  <m:t>−</m:t>
                                </m:r>
                                <m:sSub>
                                  <m:sSubPr>
                                    <m:ctrlPr>
                                      <a:rPr lang="en-US" sz="1950" i="1">
                                        <a:latin typeface="Cambria Math" panose="02040503050406030204" pitchFamily="18" charset="0"/>
                                      </a:rPr>
                                    </m:ctrlPr>
                                  </m:sSubPr>
                                  <m:e>
                                    <m:r>
                                      <a:rPr lang="en-US" sz="1950" b="1" i="1">
                                        <a:latin typeface="Cambria Math" panose="02040503050406030204" pitchFamily="18" charset="0"/>
                                      </a:rPr>
                                      <m:t>𝒂</m:t>
                                    </m:r>
                                  </m:e>
                                  <m:sub>
                                    <m:r>
                                      <a:rPr lang="en-US" sz="1950" i="1">
                                        <a:latin typeface="Cambria Math" panose="02040503050406030204" pitchFamily="18" charset="0"/>
                                      </a:rPr>
                                      <m:t>𝑖</m:t>
                                    </m:r>
                                  </m:sub>
                                </m:sSub>
                              </m:e>
                            </m:d>
                          </m:e>
                          <m:sup>
                            <m:r>
                              <a:rPr lang="en-US" sz="1950" i="1">
                                <a:latin typeface="Cambria Math" panose="02040503050406030204" pitchFamily="18" charset="0"/>
                              </a:rPr>
                              <m:t>𝑇</m:t>
                            </m:r>
                          </m:sup>
                        </m:sSup>
                        <m:sSup>
                          <m:sSupPr>
                            <m:ctrlPr>
                              <a:rPr lang="en-US" sz="1950" i="1">
                                <a:latin typeface="Cambria Math" panose="02040503050406030204" pitchFamily="18" charset="0"/>
                              </a:rPr>
                            </m:ctrlPr>
                          </m:sSupPr>
                          <m:e>
                            <m:r>
                              <a:rPr lang="en-US" sz="1950" i="1">
                                <a:latin typeface="Cambria Math" panose="02040503050406030204" pitchFamily="18" charset="0"/>
                              </a:rPr>
                              <m:t>𝑉</m:t>
                            </m:r>
                          </m:e>
                          <m:sup>
                            <m:r>
                              <a:rPr lang="en-US" sz="1950" i="1">
                                <a:latin typeface="Cambria Math" panose="02040503050406030204" pitchFamily="18" charset="0"/>
                              </a:rPr>
                              <m:t>𝑇</m:t>
                            </m:r>
                          </m:sup>
                        </m:sSup>
                        <m:sSubSup>
                          <m:sSubSupPr>
                            <m:ctrlPr>
                              <a:rPr lang="en-US" sz="1950" i="1">
                                <a:latin typeface="Cambria Math" panose="02040503050406030204" pitchFamily="18" charset="0"/>
                              </a:rPr>
                            </m:ctrlPr>
                          </m:sSubSupPr>
                          <m:e>
                            <m:r>
                              <a:rPr lang="en-US" sz="1950" b="1" i="1">
                                <a:latin typeface="Cambria Math" panose="02040503050406030204" pitchFamily="18" charset="0"/>
                              </a:rPr>
                              <m:t>𝒑</m:t>
                            </m:r>
                          </m:e>
                          <m:sub>
                            <m:r>
                              <a:rPr lang="en-US" sz="1950" i="1">
                                <a:latin typeface="Cambria Math" panose="02040503050406030204" pitchFamily="18" charset="0"/>
                              </a:rPr>
                              <m:t>𝑖</m:t>
                            </m:r>
                          </m:sub>
                          <m:sup>
                            <m:r>
                              <a:rPr lang="en-US" sz="1950" i="1">
                                <a:latin typeface="Cambria Math" panose="02040503050406030204" pitchFamily="18" charset="0"/>
                              </a:rPr>
                              <m:t>′</m:t>
                            </m:r>
                          </m:sup>
                        </m:sSubSup>
                        <m:r>
                          <a:rPr lang="en-US" sz="1950" i="1">
                            <a:latin typeface="Cambria Math" panose="02040503050406030204" pitchFamily="18" charset="0"/>
                          </a:rPr>
                          <m:t>𝐾𝑑</m:t>
                        </m:r>
                        <m:sSup>
                          <m:sSupPr>
                            <m:ctrlPr>
                              <a:rPr lang="en-US" sz="1950" i="1">
                                <a:latin typeface="Cambria Math" panose="02040503050406030204" pitchFamily="18" charset="0"/>
                              </a:rPr>
                            </m:ctrlPr>
                          </m:sSupPr>
                          <m:e>
                            <m:d>
                              <m:dPr>
                                <m:ctrlPr>
                                  <a:rPr lang="en-US" sz="1950" i="1">
                                    <a:latin typeface="Cambria Math" panose="02040503050406030204" pitchFamily="18" charset="0"/>
                                  </a:rPr>
                                </m:ctrlPr>
                              </m:dPr>
                              <m:e>
                                <m:sSup>
                                  <m:sSupPr>
                                    <m:ctrlPr>
                                      <a:rPr lang="en-US" sz="1950" i="1">
                                        <a:latin typeface="Cambria Math" panose="02040503050406030204" pitchFamily="18" charset="0"/>
                                      </a:rPr>
                                    </m:ctrlPr>
                                  </m:sSupPr>
                                  <m:e>
                                    <m:r>
                                      <a:rPr lang="en-US" sz="1950" i="1">
                                        <a:latin typeface="Cambria Math" panose="02040503050406030204" pitchFamily="18" charset="0"/>
                                      </a:rPr>
                                      <m:t>𝑊</m:t>
                                    </m:r>
                                  </m:e>
                                  <m:sup>
                                    <m:r>
                                      <a:rPr lang="en-US" sz="1950" i="1">
                                        <a:latin typeface="Cambria Math" panose="02040503050406030204" pitchFamily="18" charset="0"/>
                                      </a:rPr>
                                      <m:t>𝑄</m:t>
                                    </m:r>
                                  </m:sup>
                                </m:sSup>
                              </m:e>
                            </m:d>
                          </m:e>
                          <m:sup>
                            <m:r>
                              <a:rPr lang="en-US" sz="1950" i="1">
                                <a:latin typeface="Cambria Math" panose="02040503050406030204" pitchFamily="18" charset="0"/>
                              </a:rPr>
                              <m:t>𝑇</m:t>
                            </m:r>
                          </m:sup>
                        </m:sSup>
                      </m:e>
                    </m:d>
                  </m:oMath>
                </a14:m>
                <a:r>
                  <a:rPr lang="en-US" sz="1950" dirty="0" smtClean="0"/>
                  <a:t>. </a:t>
                </a:r>
                <a:r>
                  <a:rPr lang="en-US" sz="1950" dirty="0"/>
                  <a:t>Therefore, gradient of </a:t>
                </a:r>
                <a:r>
                  <a:rPr lang="en-US" sz="1950" i="1" dirty="0"/>
                  <a:t>l</a:t>
                </a:r>
                <a:r>
                  <a:rPr lang="en-US" sz="1950" i="1" baseline="-25000" dirty="0"/>
                  <a:t>i</a:t>
                </a:r>
                <a:r>
                  <a:rPr lang="en-US" sz="1950" dirty="0"/>
                  <a:t>(</a:t>
                </a:r>
                <a:r>
                  <a:rPr lang="en-US" sz="1950" b="1" i="1" dirty="0" err="1"/>
                  <a:t>a</a:t>
                </a:r>
                <a:r>
                  <a:rPr lang="en-US" sz="1950" i="1" baseline="-25000" dirty="0" err="1"/>
                  <a:t>i</a:t>
                </a:r>
                <a:r>
                  <a:rPr lang="en-US" sz="1950" dirty="0"/>
                  <a:t>) with respect to </a:t>
                </a:r>
                <a:r>
                  <a:rPr lang="en-US" sz="1950" i="1" dirty="0"/>
                  <a:t>W</a:t>
                </a:r>
                <a:r>
                  <a:rPr lang="en-US" sz="1950" i="1" baseline="30000" dirty="0"/>
                  <a:t>Q</a:t>
                </a:r>
                <a:r>
                  <a:rPr lang="en-US" sz="1950" dirty="0"/>
                  <a:t> </a:t>
                </a:r>
                <a:r>
                  <a:rPr lang="en-US" sz="1950" dirty="0" smtClean="0"/>
                  <a:t>is </a:t>
                </a:r>
                <a14:m>
                  <m:oMath xmlns:m="http://schemas.openxmlformats.org/officeDocument/2006/math">
                    <m:f>
                      <m:fPr>
                        <m:ctrlPr>
                          <a:rPr lang="en-US" sz="1950" i="1">
                            <a:latin typeface="Cambria Math" panose="02040503050406030204" pitchFamily="18" charset="0"/>
                          </a:rPr>
                        </m:ctrlPr>
                      </m:fPr>
                      <m:num>
                        <m:r>
                          <a:rPr lang="en-US" sz="1950" i="1">
                            <a:latin typeface="Cambria Math" panose="02040503050406030204" pitchFamily="18" charset="0"/>
                          </a:rPr>
                          <m:t>𝜕</m:t>
                        </m:r>
                        <m:sSub>
                          <m:sSubPr>
                            <m:ctrlPr>
                              <a:rPr lang="en-US" sz="1950" i="1">
                                <a:latin typeface="Cambria Math" panose="02040503050406030204" pitchFamily="18" charset="0"/>
                              </a:rPr>
                            </m:ctrlPr>
                          </m:sSubPr>
                          <m:e>
                            <m:r>
                              <a:rPr lang="en-US" sz="1950" i="1">
                                <a:latin typeface="Cambria Math" panose="02040503050406030204" pitchFamily="18" charset="0"/>
                              </a:rPr>
                              <m:t>𝑙</m:t>
                            </m:r>
                          </m:e>
                          <m:sub>
                            <m:r>
                              <a:rPr lang="en-US" sz="1950" i="1">
                                <a:latin typeface="Cambria Math" panose="02040503050406030204" pitchFamily="18" charset="0"/>
                              </a:rPr>
                              <m:t>𝑖</m:t>
                            </m:r>
                          </m:sub>
                        </m:sSub>
                      </m:num>
                      <m:den>
                        <m:r>
                          <a:rPr lang="en-US" sz="1950" i="1">
                            <a:latin typeface="Cambria Math" panose="02040503050406030204" pitchFamily="18" charset="0"/>
                          </a:rPr>
                          <m:t>𝜕</m:t>
                        </m:r>
                        <m:sSup>
                          <m:sSupPr>
                            <m:ctrlPr>
                              <a:rPr lang="en-US" sz="1950" i="1">
                                <a:latin typeface="Cambria Math" panose="02040503050406030204" pitchFamily="18" charset="0"/>
                              </a:rPr>
                            </m:ctrlPr>
                          </m:sSupPr>
                          <m:e>
                            <m:r>
                              <a:rPr lang="en-US" sz="1950" i="1">
                                <a:latin typeface="Cambria Math" panose="02040503050406030204" pitchFamily="18" charset="0"/>
                              </a:rPr>
                              <m:t>𝑊</m:t>
                            </m:r>
                          </m:e>
                          <m:sup>
                            <m:r>
                              <a:rPr lang="en-US" sz="1950" i="1">
                                <a:latin typeface="Cambria Math" panose="02040503050406030204" pitchFamily="18" charset="0"/>
                              </a:rPr>
                              <m:t>𝑄</m:t>
                            </m:r>
                          </m:sup>
                        </m:sSup>
                      </m:den>
                    </m:f>
                    <m:r>
                      <a:rPr lang="en-US" sz="1950" i="1">
                        <a:latin typeface="Cambria Math" panose="02040503050406030204" pitchFamily="18" charset="0"/>
                      </a:rPr>
                      <m:t>=</m:t>
                    </m:r>
                    <m:f>
                      <m:fPr>
                        <m:ctrlPr>
                          <a:rPr lang="en-US" sz="1950" i="1">
                            <a:latin typeface="Cambria Math" panose="02040503050406030204" pitchFamily="18" charset="0"/>
                          </a:rPr>
                        </m:ctrlPr>
                      </m:fPr>
                      <m:num>
                        <m:r>
                          <a:rPr lang="en-US" sz="1950" i="1">
                            <a:latin typeface="Cambria Math" panose="02040503050406030204" pitchFamily="18" charset="0"/>
                          </a:rPr>
                          <m:t>1</m:t>
                        </m:r>
                      </m:num>
                      <m:den>
                        <m:rad>
                          <m:radPr>
                            <m:degHide m:val="on"/>
                            <m:ctrlPr>
                              <a:rPr lang="en-US" sz="1950" i="1">
                                <a:latin typeface="Cambria Math" panose="02040503050406030204" pitchFamily="18" charset="0"/>
                              </a:rPr>
                            </m:ctrlPr>
                          </m:radPr>
                          <m:deg/>
                          <m:e>
                            <m:sSub>
                              <m:sSubPr>
                                <m:ctrlPr>
                                  <a:rPr lang="en-US" sz="1950" i="1">
                                    <a:latin typeface="Cambria Math" panose="02040503050406030204" pitchFamily="18" charset="0"/>
                                  </a:rPr>
                                </m:ctrlPr>
                              </m:sSubPr>
                              <m:e>
                                <m:r>
                                  <a:rPr lang="en-US" sz="1950" i="1">
                                    <a:latin typeface="Cambria Math" panose="02040503050406030204" pitchFamily="18" charset="0"/>
                                  </a:rPr>
                                  <m:t>𝑑</m:t>
                                </m:r>
                              </m:e>
                              <m:sub>
                                <m:r>
                                  <a:rPr lang="en-US" sz="1950" i="1">
                                    <a:latin typeface="Cambria Math" panose="02040503050406030204" pitchFamily="18" charset="0"/>
                                  </a:rPr>
                                  <m:t>𝑘</m:t>
                                </m:r>
                              </m:sub>
                            </m:sSub>
                          </m:e>
                        </m:rad>
                      </m:den>
                    </m:f>
                    <m:sSup>
                      <m:sSupPr>
                        <m:ctrlPr>
                          <a:rPr lang="en-US" sz="1950" i="1">
                            <a:latin typeface="Cambria Math" panose="02040503050406030204" pitchFamily="18" charset="0"/>
                          </a:rPr>
                        </m:ctrlPr>
                      </m:sSupPr>
                      <m:e>
                        <m:sSub>
                          <m:sSubPr>
                            <m:ctrlPr>
                              <a:rPr lang="en-US" sz="1950" i="1">
                                <a:latin typeface="Cambria Math" panose="02040503050406030204" pitchFamily="18" charset="0"/>
                              </a:rPr>
                            </m:ctrlPr>
                          </m:sSubPr>
                          <m:e>
                            <m:r>
                              <a:rPr lang="en-US" sz="1950" b="1" i="1">
                                <a:latin typeface="Cambria Math" panose="02040503050406030204" pitchFamily="18" charset="0"/>
                              </a:rPr>
                              <m:t>𝒙</m:t>
                            </m:r>
                          </m:e>
                          <m:sub>
                            <m:r>
                              <a:rPr lang="en-US" sz="1950" i="1">
                                <a:latin typeface="Cambria Math" panose="02040503050406030204" pitchFamily="18" charset="0"/>
                              </a:rPr>
                              <m:t>𝑖</m:t>
                            </m:r>
                          </m:sub>
                        </m:sSub>
                        <m:d>
                          <m:dPr>
                            <m:ctrlPr>
                              <a:rPr lang="en-US" sz="1950" i="1">
                                <a:latin typeface="Cambria Math" panose="02040503050406030204" pitchFamily="18" charset="0"/>
                              </a:rPr>
                            </m:ctrlPr>
                          </m:dPr>
                          <m:e>
                            <m:sSubSup>
                              <m:sSubSupPr>
                                <m:ctrlPr>
                                  <a:rPr lang="en-US" sz="1950" i="1">
                                    <a:latin typeface="Cambria Math" panose="02040503050406030204" pitchFamily="18" charset="0"/>
                                  </a:rPr>
                                </m:ctrlPr>
                              </m:sSubSupPr>
                              <m:e>
                                <m:r>
                                  <a:rPr lang="en-US" sz="1950" b="1" i="1">
                                    <a:latin typeface="Cambria Math" panose="02040503050406030204" pitchFamily="18" charset="0"/>
                                  </a:rPr>
                                  <m:t>𝒂</m:t>
                                </m:r>
                              </m:e>
                              <m:sub>
                                <m:r>
                                  <a:rPr lang="en-US" sz="1950" i="1">
                                    <a:latin typeface="Cambria Math" panose="02040503050406030204" pitchFamily="18" charset="0"/>
                                  </a:rPr>
                                  <m:t>𝑖</m:t>
                                </m:r>
                              </m:sub>
                              <m:sup>
                                <m:r>
                                  <a:rPr lang="en-US" sz="1950" i="1">
                                    <a:latin typeface="Cambria Math" panose="02040503050406030204" pitchFamily="18" charset="0"/>
                                  </a:rPr>
                                  <m:t>′</m:t>
                                </m:r>
                              </m:sup>
                            </m:sSubSup>
                            <m:r>
                              <a:rPr lang="en-US" sz="1950" i="1">
                                <a:latin typeface="Cambria Math" panose="02040503050406030204" pitchFamily="18" charset="0"/>
                              </a:rPr>
                              <m:t>−</m:t>
                            </m:r>
                            <m:sSub>
                              <m:sSubPr>
                                <m:ctrlPr>
                                  <a:rPr lang="en-US" sz="1950" i="1">
                                    <a:latin typeface="Cambria Math" panose="02040503050406030204" pitchFamily="18" charset="0"/>
                                  </a:rPr>
                                </m:ctrlPr>
                              </m:sSubPr>
                              <m:e>
                                <m:r>
                                  <a:rPr lang="en-US" sz="1950" b="1" i="1">
                                    <a:latin typeface="Cambria Math" panose="02040503050406030204" pitchFamily="18" charset="0"/>
                                  </a:rPr>
                                  <m:t>𝒂</m:t>
                                </m:r>
                              </m:e>
                              <m:sub>
                                <m:r>
                                  <a:rPr lang="en-US" sz="1950" i="1">
                                    <a:latin typeface="Cambria Math" panose="02040503050406030204" pitchFamily="18" charset="0"/>
                                  </a:rPr>
                                  <m:t>𝑖</m:t>
                                </m:r>
                              </m:sub>
                            </m:sSub>
                          </m:e>
                        </m:d>
                      </m:e>
                      <m:sup>
                        <m:r>
                          <a:rPr lang="en-US" sz="1950" i="1">
                            <a:latin typeface="Cambria Math" panose="02040503050406030204" pitchFamily="18" charset="0"/>
                          </a:rPr>
                          <m:t>𝑇</m:t>
                        </m:r>
                      </m:sup>
                    </m:sSup>
                    <m:sSup>
                      <m:sSupPr>
                        <m:ctrlPr>
                          <a:rPr lang="en-US" sz="1950" i="1">
                            <a:latin typeface="Cambria Math" panose="02040503050406030204" pitchFamily="18" charset="0"/>
                          </a:rPr>
                        </m:ctrlPr>
                      </m:sSupPr>
                      <m:e>
                        <m:r>
                          <a:rPr lang="en-US" sz="1950" i="1">
                            <a:latin typeface="Cambria Math" panose="02040503050406030204" pitchFamily="18" charset="0"/>
                          </a:rPr>
                          <m:t>𝑉</m:t>
                        </m:r>
                      </m:e>
                      <m:sup>
                        <m:r>
                          <a:rPr lang="en-US" sz="1950" i="1">
                            <a:latin typeface="Cambria Math" panose="02040503050406030204" pitchFamily="18" charset="0"/>
                          </a:rPr>
                          <m:t>𝑇</m:t>
                        </m:r>
                      </m:sup>
                    </m:sSup>
                    <m:sSubSup>
                      <m:sSubSupPr>
                        <m:ctrlPr>
                          <a:rPr lang="en-US" sz="1950" i="1">
                            <a:latin typeface="Cambria Math" panose="02040503050406030204" pitchFamily="18" charset="0"/>
                          </a:rPr>
                        </m:ctrlPr>
                      </m:sSubSupPr>
                      <m:e>
                        <m:r>
                          <a:rPr lang="en-US" sz="1950" b="1" i="1">
                            <a:latin typeface="Cambria Math" panose="02040503050406030204" pitchFamily="18" charset="0"/>
                          </a:rPr>
                          <m:t>𝒑</m:t>
                        </m:r>
                      </m:e>
                      <m:sub>
                        <m:r>
                          <a:rPr lang="en-US" sz="1950" i="1">
                            <a:latin typeface="Cambria Math" panose="02040503050406030204" pitchFamily="18" charset="0"/>
                          </a:rPr>
                          <m:t>𝑖</m:t>
                        </m:r>
                      </m:sub>
                      <m:sup>
                        <m:r>
                          <a:rPr lang="en-US" sz="1950" i="1">
                            <a:latin typeface="Cambria Math" panose="02040503050406030204" pitchFamily="18" charset="0"/>
                          </a:rPr>
                          <m:t>′</m:t>
                        </m:r>
                      </m:sup>
                    </m:sSubSup>
                    <m:r>
                      <a:rPr lang="en-US" sz="1950" i="1">
                        <a:latin typeface="Cambria Math" panose="02040503050406030204" pitchFamily="18" charset="0"/>
                      </a:rPr>
                      <m:t>𝐾</m:t>
                    </m:r>
                  </m:oMath>
                </a14:m>
                <a:r>
                  <a:rPr lang="en-US" sz="1950" dirty="0" smtClean="0"/>
                  <a:t>.</a:t>
                </a:r>
                <a:r>
                  <a:rPr lang="en-US" sz="1950" dirty="0"/>
                  <a:t> Note, every partial real attention </a:t>
                </a:r>
                <a:r>
                  <a:rPr lang="en-US" sz="1950" b="1" i="1" dirty="0" err="1"/>
                  <a:t>a</a:t>
                </a:r>
                <a:r>
                  <a:rPr lang="en-US" sz="1950" dirty="0" err="1"/>
                  <a:t>’</a:t>
                </a:r>
                <a:r>
                  <a:rPr lang="en-US" sz="1950" i="1" baseline="-25000" dirty="0" err="1"/>
                  <a:t>i</a:t>
                </a:r>
                <a:r>
                  <a:rPr lang="en-US" sz="1950" dirty="0"/>
                  <a:t> is the column vector representing the </a:t>
                </a:r>
                <a:r>
                  <a:rPr lang="en-US" sz="1950" i="1" dirty="0" err="1"/>
                  <a:t>i</a:t>
                </a:r>
                <a:r>
                  <a:rPr lang="en-US" sz="1950" baseline="30000" dirty="0" err="1"/>
                  <a:t>th</a:t>
                </a:r>
                <a:r>
                  <a:rPr lang="en-US" sz="1950" dirty="0"/>
                  <a:t> row of the real attention </a:t>
                </a:r>
                <a:r>
                  <a:rPr lang="en-US" sz="1950" i="1" dirty="0"/>
                  <a:t>A</a:t>
                </a:r>
                <a:r>
                  <a:rPr lang="en-US" sz="1950" dirty="0"/>
                  <a:t>’. This means gradient of </a:t>
                </a:r>
                <a:r>
                  <a:rPr lang="en-US" sz="1950" i="1" dirty="0"/>
                  <a:t>L</a:t>
                </a:r>
                <a:r>
                  <a:rPr lang="en-US" sz="1950" dirty="0"/>
                  <a:t>(</a:t>
                </a:r>
                <a:r>
                  <a:rPr lang="en-US" sz="1950" i="1" dirty="0"/>
                  <a:t>A</a:t>
                </a:r>
                <a:r>
                  <a:rPr lang="en-US" sz="1950" dirty="0"/>
                  <a:t>) with respect to </a:t>
                </a:r>
                <a:r>
                  <a:rPr lang="en-US" sz="1950" i="1" dirty="0"/>
                  <a:t>W</a:t>
                </a:r>
                <a:r>
                  <a:rPr lang="en-US" sz="1950" i="1" baseline="30000" dirty="0"/>
                  <a:t>Q</a:t>
                </a:r>
                <a:r>
                  <a:rPr lang="en-US" sz="1950" dirty="0"/>
                  <a:t> is</a:t>
                </a:r>
                <a:r>
                  <a:rPr lang="en-US" sz="1950" dirty="0" smtClean="0"/>
                  <a:t>:</a:t>
                </a:r>
              </a:p>
              <a:p>
                <a:pPr marL="0" indent="0">
                  <a:buNone/>
                </a:pPr>
                <a14:m>
                  <m:oMathPara xmlns:m="http://schemas.openxmlformats.org/officeDocument/2006/math">
                    <m:oMathParaPr>
                      <m:jc m:val="centerGroup"/>
                    </m:oMathParaPr>
                    <m:oMath xmlns:m="http://schemas.openxmlformats.org/officeDocument/2006/math">
                      <m:f>
                        <m:fPr>
                          <m:ctrlPr>
                            <a:rPr lang="en-US" sz="1950" i="1">
                              <a:latin typeface="Cambria Math" panose="02040503050406030204" pitchFamily="18" charset="0"/>
                            </a:rPr>
                          </m:ctrlPr>
                        </m:fPr>
                        <m:num>
                          <m:r>
                            <a:rPr lang="en-US" sz="1950" i="1">
                              <a:latin typeface="Cambria Math" panose="02040503050406030204" pitchFamily="18" charset="0"/>
                            </a:rPr>
                            <m:t>𝜕</m:t>
                          </m:r>
                          <m:r>
                            <a:rPr lang="en-US" sz="1950" i="1">
                              <a:latin typeface="Cambria Math" panose="02040503050406030204" pitchFamily="18" charset="0"/>
                            </a:rPr>
                            <m:t>𝐿</m:t>
                          </m:r>
                          <m:d>
                            <m:dPr>
                              <m:ctrlPr>
                                <a:rPr lang="en-US" sz="1950" i="1">
                                  <a:latin typeface="Cambria Math" panose="02040503050406030204" pitchFamily="18" charset="0"/>
                                </a:rPr>
                              </m:ctrlPr>
                            </m:dPr>
                            <m:e>
                              <m:r>
                                <a:rPr lang="en-US" sz="1950" i="1">
                                  <a:latin typeface="Cambria Math" panose="02040503050406030204" pitchFamily="18" charset="0"/>
                                </a:rPr>
                                <m:t>𝐴</m:t>
                              </m:r>
                            </m:e>
                          </m:d>
                        </m:num>
                        <m:den>
                          <m:r>
                            <a:rPr lang="en-US" sz="1950" i="1">
                              <a:latin typeface="Cambria Math" panose="02040503050406030204" pitchFamily="18" charset="0"/>
                            </a:rPr>
                            <m:t>𝜕</m:t>
                          </m:r>
                          <m:sSup>
                            <m:sSupPr>
                              <m:ctrlPr>
                                <a:rPr lang="en-US" sz="1950" i="1">
                                  <a:latin typeface="Cambria Math" panose="02040503050406030204" pitchFamily="18" charset="0"/>
                                </a:rPr>
                              </m:ctrlPr>
                            </m:sSupPr>
                            <m:e>
                              <m:r>
                                <a:rPr lang="en-US" sz="1950" i="1">
                                  <a:latin typeface="Cambria Math" panose="02040503050406030204" pitchFamily="18" charset="0"/>
                                </a:rPr>
                                <m:t>𝑊</m:t>
                              </m:r>
                            </m:e>
                            <m:sup>
                              <m:r>
                                <a:rPr lang="en-US" sz="1950" i="1">
                                  <a:latin typeface="Cambria Math" panose="02040503050406030204" pitchFamily="18" charset="0"/>
                                </a:rPr>
                                <m:t>𝑄</m:t>
                              </m:r>
                            </m:sup>
                          </m:sSup>
                        </m:den>
                      </m:f>
                      <m:r>
                        <a:rPr lang="en-US" sz="1950" i="1">
                          <a:latin typeface="Cambria Math" panose="02040503050406030204" pitchFamily="18" charset="0"/>
                        </a:rPr>
                        <m:t>=</m:t>
                      </m:r>
                      <m:f>
                        <m:fPr>
                          <m:ctrlPr>
                            <a:rPr lang="en-US" sz="1950" i="1">
                              <a:latin typeface="Cambria Math" panose="02040503050406030204" pitchFamily="18" charset="0"/>
                            </a:rPr>
                          </m:ctrlPr>
                        </m:fPr>
                        <m:num>
                          <m:r>
                            <a:rPr lang="en-US" sz="1950" i="1">
                              <a:latin typeface="Cambria Math" panose="02040503050406030204" pitchFamily="18" charset="0"/>
                            </a:rPr>
                            <m:t>1</m:t>
                          </m:r>
                        </m:num>
                        <m:den>
                          <m:rad>
                            <m:radPr>
                              <m:degHide m:val="on"/>
                              <m:ctrlPr>
                                <a:rPr lang="en-US" sz="1950" i="1">
                                  <a:latin typeface="Cambria Math" panose="02040503050406030204" pitchFamily="18" charset="0"/>
                                </a:rPr>
                              </m:ctrlPr>
                            </m:radPr>
                            <m:deg/>
                            <m:e>
                              <m:sSub>
                                <m:sSubPr>
                                  <m:ctrlPr>
                                    <a:rPr lang="en-US" sz="1950" i="1">
                                      <a:latin typeface="Cambria Math" panose="02040503050406030204" pitchFamily="18" charset="0"/>
                                    </a:rPr>
                                  </m:ctrlPr>
                                </m:sSubPr>
                                <m:e>
                                  <m:r>
                                    <a:rPr lang="en-US" sz="1950" i="1">
                                      <a:latin typeface="Cambria Math" panose="02040503050406030204" pitchFamily="18" charset="0"/>
                                    </a:rPr>
                                    <m:t>𝑑</m:t>
                                  </m:r>
                                </m:e>
                                <m:sub>
                                  <m:r>
                                    <a:rPr lang="en-US" sz="1950" i="1">
                                      <a:latin typeface="Cambria Math" panose="02040503050406030204" pitchFamily="18" charset="0"/>
                                    </a:rPr>
                                    <m:t>𝑘</m:t>
                                  </m:r>
                                </m:sub>
                              </m:sSub>
                            </m:e>
                          </m:rad>
                        </m:den>
                      </m:f>
                      <m:nary>
                        <m:naryPr>
                          <m:chr m:val="∑"/>
                          <m:limLoc m:val="undOvr"/>
                          <m:ctrlPr>
                            <a:rPr lang="en-US" sz="1950" i="1">
                              <a:latin typeface="Cambria Math" panose="02040503050406030204" pitchFamily="18" charset="0"/>
                            </a:rPr>
                          </m:ctrlPr>
                        </m:naryPr>
                        <m:sub>
                          <m:r>
                            <a:rPr lang="en-US" sz="1950" i="1">
                              <a:latin typeface="Cambria Math" panose="02040503050406030204" pitchFamily="18" charset="0"/>
                            </a:rPr>
                            <m:t>𝑖</m:t>
                          </m:r>
                          <m:r>
                            <a:rPr lang="en-US" sz="1950" i="1">
                              <a:latin typeface="Cambria Math" panose="02040503050406030204" pitchFamily="18" charset="0"/>
                            </a:rPr>
                            <m:t>=1</m:t>
                          </m:r>
                        </m:sub>
                        <m:sup>
                          <m:r>
                            <a:rPr lang="en-US" sz="1950" i="1">
                              <a:latin typeface="Cambria Math" panose="02040503050406030204" pitchFamily="18" charset="0"/>
                            </a:rPr>
                            <m:t>𝑚</m:t>
                          </m:r>
                        </m:sup>
                        <m:e>
                          <m:sSup>
                            <m:sSupPr>
                              <m:ctrlPr>
                                <a:rPr lang="en-US" sz="1950" i="1">
                                  <a:latin typeface="Cambria Math" panose="02040503050406030204" pitchFamily="18" charset="0"/>
                                </a:rPr>
                              </m:ctrlPr>
                            </m:sSupPr>
                            <m:e>
                              <m:sSub>
                                <m:sSubPr>
                                  <m:ctrlPr>
                                    <a:rPr lang="en-US" sz="1950" i="1">
                                      <a:latin typeface="Cambria Math" panose="02040503050406030204" pitchFamily="18" charset="0"/>
                                    </a:rPr>
                                  </m:ctrlPr>
                                </m:sSubPr>
                                <m:e>
                                  <m:r>
                                    <a:rPr lang="en-US" sz="1950" b="1" i="1">
                                      <a:latin typeface="Cambria Math" panose="02040503050406030204" pitchFamily="18" charset="0"/>
                                    </a:rPr>
                                    <m:t>𝒙</m:t>
                                  </m:r>
                                </m:e>
                                <m:sub>
                                  <m:r>
                                    <a:rPr lang="en-US" sz="1950" i="1">
                                      <a:latin typeface="Cambria Math" panose="02040503050406030204" pitchFamily="18" charset="0"/>
                                    </a:rPr>
                                    <m:t>𝑖</m:t>
                                  </m:r>
                                </m:sub>
                              </m:sSub>
                              <m:d>
                                <m:dPr>
                                  <m:ctrlPr>
                                    <a:rPr lang="en-US" sz="1950" i="1">
                                      <a:latin typeface="Cambria Math" panose="02040503050406030204" pitchFamily="18" charset="0"/>
                                    </a:rPr>
                                  </m:ctrlPr>
                                </m:dPr>
                                <m:e>
                                  <m:sSubSup>
                                    <m:sSubSupPr>
                                      <m:ctrlPr>
                                        <a:rPr lang="en-US" sz="1950" i="1">
                                          <a:latin typeface="Cambria Math" panose="02040503050406030204" pitchFamily="18" charset="0"/>
                                        </a:rPr>
                                      </m:ctrlPr>
                                    </m:sSubSupPr>
                                    <m:e>
                                      <m:r>
                                        <a:rPr lang="en-US" sz="1950" b="1" i="1">
                                          <a:latin typeface="Cambria Math" panose="02040503050406030204" pitchFamily="18" charset="0"/>
                                        </a:rPr>
                                        <m:t>𝒂</m:t>
                                      </m:r>
                                    </m:e>
                                    <m:sub>
                                      <m:r>
                                        <a:rPr lang="en-US" sz="1950" i="1">
                                          <a:latin typeface="Cambria Math" panose="02040503050406030204" pitchFamily="18" charset="0"/>
                                        </a:rPr>
                                        <m:t>𝑖</m:t>
                                      </m:r>
                                    </m:sub>
                                    <m:sup>
                                      <m:r>
                                        <a:rPr lang="en-US" sz="1950" i="1">
                                          <a:latin typeface="Cambria Math" panose="02040503050406030204" pitchFamily="18" charset="0"/>
                                        </a:rPr>
                                        <m:t>′</m:t>
                                      </m:r>
                                    </m:sup>
                                  </m:sSubSup>
                                  <m:r>
                                    <a:rPr lang="en-US" sz="1950" i="1">
                                      <a:latin typeface="Cambria Math" panose="02040503050406030204" pitchFamily="18" charset="0"/>
                                    </a:rPr>
                                    <m:t>−</m:t>
                                  </m:r>
                                  <m:sSub>
                                    <m:sSubPr>
                                      <m:ctrlPr>
                                        <a:rPr lang="en-US" sz="1950" i="1">
                                          <a:latin typeface="Cambria Math" panose="02040503050406030204" pitchFamily="18" charset="0"/>
                                        </a:rPr>
                                      </m:ctrlPr>
                                    </m:sSubPr>
                                    <m:e>
                                      <m:r>
                                        <a:rPr lang="en-US" sz="1950" b="1" i="1">
                                          <a:latin typeface="Cambria Math" panose="02040503050406030204" pitchFamily="18" charset="0"/>
                                        </a:rPr>
                                        <m:t>𝒂</m:t>
                                      </m:r>
                                    </m:e>
                                    <m:sub>
                                      <m:r>
                                        <a:rPr lang="en-US" sz="1950" i="1">
                                          <a:latin typeface="Cambria Math" panose="02040503050406030204" pitchFamily="18" charset="0"/>
                                        </a:rPr>
                                        <m:t>𝑖</m:t>
                                      </m:r>
                                    </m:sub>
                                  </m:sSub>
                                </m:e>
                              </m:d>
                            </m:e>
                            <m:sup>
                              <m:r>
                                <a:rPr lang="en-US" sz="1950" i="1">
                                  <a:latin typeface="Cambria Math" panose="02040503050406030204" pitchFamily="18" charset="0"/>
                                </a:rPr>
                                <m:t>𝑇</m:t>
                              </m:r>
                            </m:sup>
                          </m:sSup>
                          <m:sSup>
                            <m:sSupPr>
                              <m:ctrlPr>
                                <a:rPr lang="en-US" sz="1950" i="1">
                                  <a:latin typeface="Cambria Math" panose="02040503050406030204" pitchFamily="18" charset="0"/>
                                </a:rPr>
                              </m:ctrlPr>
                            </m:sSupPr>
                            <m:e>
                              <m:r>
                                <a:rPr lang="en-US" sz="1950" i="1">
                                  <a:latin typeface="Cambria Math" panose="02040503050406030204" pitchFamily="18" charset="0"/>
                                </a:rPr>
                                <m:t>𝑉</m:t>
                              </m:r>
                            </m:e>
                            <m:sup>
                              <m:r>
                                <a:rPr lang="en-US" sz="1950" i="1">
                                  <a:latin typeface="Cambria Math" panose="02040503050406030204" pitchFamily="18" charset="0"/>
                                </a:rPr>
                                <m:t>𝑇</m:t>
                              </m:r>
                            </m:sup>
                          </m:sSup>
                          <m:sSubSup>
                            <m:sSubSupPr>
                              <m:ctrlPr>
                                <a:rPr lang="en-US" sz="1950" i="1">
                                  <a:latin typeface="Cambria Math" panose="02040503050406030204" pitchFamily="18" charset="0"/>
                                </a:rPr>
                              </m:ctrlPr>
                            </m:sSubSupPr>
                            <m:e>
                              <m:r>
                                <a:rPr lang="en-US" sz="1950" b="1" i="1">
                                  <a:latin typeface="Cambria Math" panose="02040503050406030204" pitchFamily="18" charset="0"/>
                                </a:rPr>
                                <m:t>𝒑</m:t>
                              </m:r>
                            </m:e>
                            <m:sub>
                              <m:r>
                                <a:rPr lang="en-US" sz="1950" i="1">
                                  <a:latin typeface="Cambria Math" panose="02040503050406030204" pitchFamily="18" charset="0"/>
                                </a:rPr>
                                <m:t>𝑖</m:t>
                              </m:r>
                            </m:sub>
                            <m:sup>
                              <m:r>
                                <a:rPr lang="en-US" sz="1950" i="1">
                                  <a:latin typeface="Cambria Math" panose="02040503050406030204" pitchFamily="18" charset="0"/>
                                </a:rPr>
                                <m:t>′</m:t>
                              </m:r>
                            </m:sup>
                          </m:sSubSup>
                          <m:r>
                            <a:rPr lang="en-US" sz="1950" i="1">
                              <a:latin typeface="Cambria Math" panose="02040503050406030204" pitchFamily="18" charset="0"/>
                            </a:rPr>
                            <m:t>𝐾</m:t>
                          </m:r>
                        </m:e>
                      </m:nary>
                    </m:oMath>
                  </m:oMathPara>
                </a14:m>
                <a:endParaRPr lang="en-US" sz="1950" dirty="0" smtClean="0"/>
              </a:p>
              <a:p>
                <a:pPr marL="0" indent="0">
                  <a:buNone/>
                </a:pPr>
                <a:r>
                  <a:rPr lang="en-US" sz="1950" dirty="0"/>
                  <a:t>Similarly, gradient of </a:t>
                </a:r>
                <a:r>
                  <a:rPr lang="en-US" sz="1950" i="1" dirty="0"/>
                  <a:t>L</a:t>
                </a:r>
                <a:r>
                  <a:rPr lang="en-US" sz="1950" dirty="0"/>
                  <a:t>(</a:t>
                </a:r>
                <a:r>
                  <a:rPr lang="en-US" sz="1950" i="1" dirty="0"/>
                  <a:t>A</a:t>
                </a:r>
                <a:r>
                  <a:rPr lang="en-US" sz="1950" dirty="0"/>
                  <a:t>) with respect to </a:t>
                </a:r>
                <a:r>
                  <a:rPr lang="en-US" sz="1950" i="1" dirty="0"/>
                  <a:t>W</a:t>
                </a:r>
                <a:r>
                  <a:rPr lang="en-US" sz="1950" i="1" baseline="30000" dirty="0"/>
                  <a:t>K</a:t>
                </a:r>
                <a:r>
                  <a:rPr lang="en-US" sz="1950" dirty="0"/>
                  <a:t> is</a:t>
                </a:r>
                <a:r>
                  <a:rPr lang="en-US" sz="1950" dirty="0" smtClean="0"/>
                  <a:t>:</a:t>
                </a:r>
              </a:p>
              <a:p>
                <a:pPr marL="0" indent="0">
                  <a:buNone/>
                </a:pPr>
                <a14:m>
                  <m:oMathPara xmlns:m="http://schemas.openxmlformats.org/officeDocument/2006/math">
                    <m:oMathParaPr>
                      <m:jc m:val="centerGroup"/>
                    </m:oMathParaPr>
                    <m:oMath xmlns:m="http://schemas.openxmlformats.org/officeDocument/2006/math">
                      <m:f>
                        <m:fPr>
                          <m:ctrlPr>
                            <a:rPr lang="en-US" sz="1950" i="1">
                              <a:latin typeface="Cambria Math" panose="02040503050406030204" pitchFamily="18" charset="0"/>
                            </a:rPr>
                          </m:ctrlPr>
                        </m:fPr>
                        <m:num>
                          <m:r>
                            <a:rPr lang="en-US" sz="1950" i="1">
                              <a:latin typeface="Cambria Math" panose="02040503050406030204" pitchFamily="18" charset="0"/>
                            </a:rPr>
                            <m:t>𝜕</m:t>
                          </m:r>
                          <m:r>
                            <a:rPr lang="en-US" sz="1950" i="1">
                              <a:latin typeface="Cambria Math" panose="02040503050406030204" pitchFamily="18" charset="0"/>
                            </a:rPr>
                            <m:t>𝐿</m:t>
                          </m:r>
                          <m:d>
                            <m:dPr>
                              <m:ctrlPr>
                                <a:rPr lang="en-US" sz="1950" i="1">
                                  <a:latin typeface="Cambria Math" panose="02040503050406030204" pitchFamily="18" charset="0"/>
                                </a:rPr>
                              </m:ctrlPr>
                            </m:dPr>
                            <m:e>
                              <m:r>
                                <a:rPr lang="en-US" sz="1950" i="1">
                                  <a:latin typeface="Cambria Math" panose="02040503050406030204" pitchFamily="18" charset="0"/>
                                </a:rPr>
                                <m:t>𝐴</m:t>
                              </m:r>
                            </m:e>
                          </m:d>
                        </m:num>
                        <m:den>
                          <m:r>
                            <a:rPr lang="en-US" sz="1950" i="1">
                              <a:latin typeface="Cambria Math" panose="02040503050406030204" pitchFamily="18" charset="0"/>
                            </a:rPr>
                            <m:t>𝜕</m:t>
                          </m:r>
                          <m:sSup>
                            <m:sSupPr>
                              <m:ctrlPr>
                                <a:rPr lang="en-US" sz="1950" i="1">
                                  <a:latin typeface="Cambria Math" panose="02040503050406030204" pitchFamily="18" charset="0"/>
                                </a:rPr>
                              </m:ctrlPr>
                            </m:sSupPr>
                            <m:e>
                              <m:r>
                                <a:rPr lang="en-US" sz="1950" i="1">
                                  <a:latin typeface="Cambria Math" panose="02040503050406030204" pitchFamily="18" charset="0"/>
                                </a:rPr>
                                <m:t>𝑊</m:t>
                              </m:r>
                            </m:e>
                            <m:sup>
                              <m:r>
                                <a:rPr lang="en-US" sz="1950" i="1">
                                  <a:latin typeface="Cambria Math" panose="02040503050406030204" pitchFamily="18" charset="0"/>
                                </a:rPr>
                                <m:t>𝐾</m:t>
                              </m:r>
                            </m:sup>
                          </m:sSup>
                        </m:den>
                      </m:f>
                      <m:r>
                        <a:rPr lang="en-US" sz="1950" i="1">
                          <a:latin typeface="Cambria Math" panose="02040503050406030204" pitchFamily="18" charset="0"/>
                        </a:rPr>
                        <m:t>=</m:t>
                      </m:r>
                      <m:f>
                        <m:fPr>
                          <m:ctrlPr>
                            <a:rPr lang="en-US" sz="1950" i="1">
                              <a:latin typeface="Cambria Math" panose="02040503050406030204" pitchFamily="18" charset="0"/>
                            </a:rPr>
                          </m:ctrlPr>
                        </m:fPr>
                        <m:num>
                          <m:r>
                            <a:rPr lang="en-US" sz="1950" i="1">
                              <a:latin typeface="Cambria Math" panose="02040503050406030204" pitchFamily="18" charset="0"/>
                            </a:rPr>
                            <m:t>1</m:t>
                          </m:r>
                        </m:num>
                        <m:den>
                          <m:rad>
                            <m:radPr>
                              <m:degHide m:val="on"/>
                              <m:ctrlPr>
                                <a:rPr lang="en-US" sz="1950" i="1">
                                  <a:latin typeface="Cambria Math" panose="02040503050406030204" pitchFamily="18" charset="0"/>
                                </a:rPr>
                              </m:ctrlPr>
                            </m:radPr>
                            <m:deg/>
                            <m:e>
                              <m:sSub>
                                <m:sSubPr>
                                  <m:ctrlPr>
                                    <a:rPr lang="en-US" sz="1950" i="1">
                                      <a:latin typeface="Cambria Math" panose="02040503050406030204" pitchFamily="18" charset="0"/>
                                    </a:rPr>
                                  </m:ctrlPr>
                                </m:sSubPr>
                                <m:e>
                                  <m:r>
                                    <a:rPr lang="en-US" sz="1950" i="1">
                                      <a:latin typeface="Cambria Math" panose="02040503050406030204" pitchFamily="18" charset="0"/>
                                    </a:rPr>
                                    <m:t>𝑑</m:t>
                                  </m:r>
                                </m:e>
                                <m:sub>
                                  <m:r>
                                    <a:rPr lang="en-US" sz="1950" i="1">
                                      <a:latin typeface="Cambria Math" panose="02040503050406030204" pitchFamily="18" charset="0"/>
                                    </a:rPr>
                                    <m:t>𝑘</m:t>
                                  </m:r>
                                </m:sub>
                              </m:sSub>
                            </m:e>
                          </m:rad>
                        </m:den>
                      </m:f>
                      <m:nary>
                        <m:naryPr>
                          <m:chr m:val="∑"/>
                          <m:limLoc m:val="undOvr"/>
                          <m:ctrlPr>
                            <a:rPr lang="en-US" sz="1950" i="1">
                              <a:latin typeface="Cambria Math" panose="02040503050406030204" pitchFamily="18" charset="0"/>
                            </a:rPr>
                          </m:ctrlPr>
                        </m:naryPr>
                        <m:sub>
                          <m:r>
                            <a:rPr lang="en-US" sz="1950" i="1">
                              <a:latin typeface="Cambria Math" panose="02040503050406030204" pitchFamily="18" charset="0"/>
                            </a:rPr>
                            <m:t>𝑖</m:t>
                          </m:r>
                          <m:r>
                            <a:rPr lang="en-US" sz="1950" i="1">
                              <a:latin typeface="Cambria Math" panose="02040503050406030204" pitchFamily="18" charset="0"/>
                            </a:rPr>
                            <m:t>=1</m:t>
                          </m:r>
                        </m:sub>
                        <m:sup>
                          <m:r>
                            <a:rPr lang="en-US" sz="1950" i="1">
                              <a:latin typeface="Cambria Math" panose="02040503050406030204" pitchFamily="18" charset="0"/>
                            </a:rPr>
                            <m:t>𝑚</m:t>
                          </m:r>
                        </m:sup>
                        <m:e>
                          <m:sSub>
                            <m:sSubPr>
                              <m:ctrlPr>
                                <a:rPr lang="en-US" sz="1950" i="1">
                                  <a:latin typeface="Cambria Math" panose="02040503050406030204" pitchFamily="18" charset="0"/>
                                </a:rPr>
                              </m:ctrlPr>
                            </m:sSubPr>
                            <m:e>
                              <m:r>
                                <a:rPr lang="en-US" sz="1950" b="1" i="1">
                                  <a:latin typeface="Cambria Math" panose="02040503050406030204" pitchFamily="18" charset="0"/>
                                </a:rPr>
                                <m:t>𝒙</m:t>
                              </m:r>
                            </m:e>
                            <m:sub>
                              <m:r>
                                <a:rPr lang="en-US" sz="1950" i="1">
                                  <a:latin typeface="Cambria Math" panose="02040503050406030204" pitchFamily="18" charset="0"/>
                                </a:rPr>
                                <m:t>𝑖</m:t>
                              </m:r>
                            </m:sub>
                          </m:sSub>
                          <m:sSup>
                            <m:sSupPr>
                              <m:ctrlPr>
                                <a:rPr lang="en-US" sz="1950" i="1">
                                  <a:latin typeface="Cambria Math" panose="02040503050406030204" pitchFamily="18" charset="0"/>
                                </a:rPr>
                              </m:ctrlPr>
                            </m:sSupPr>
                            <m:e>
                              <m:d>
                                <m:dPr>
                                  <m:ctrlPr>
                                    <a:rPr lang="en-US" sz="1950" i="1">
                                      <a:latin typeface="Cambria Math" panose="02040503050406030204" pitchFamily="18" charset="0"/>
                                    </a:rPr>
                                  </m:ctrlPr>
                                </m:dPr>
                                <m:e>
                                  <m:sSubSup>
                                    <m:sSubSupPr>
                                      <m:ctrlPr>
                                        <a:rPr lang="en-US" sz="1950" i="1">
                                          <a:latin typeface="Cambria Math" panose="02040503050406030204" pitchFamily="18" charset="0"/>
                                        </a:rPr>
                                      </m:ctrlPr>
                                    </m:sSubSupPr>
                                    <m:e>
                                      <m:r>
                                        <a:rPr lang="en-US" sz="1950" b="1" i="1">
                                          <a:latin typeface="Cambria Math" panose="02040503050406030204" pitchFamily="18" charset="0"/>
                                        </a:rPr>
                                        <m:t>𝒂</m:t>
                                      </m:r>
                                    </m:e>
                                    <m:sub>
                                      <m:r>
                                        <a:rPr lang="en-US" sz="1950" i="1">
                                          <a:latin typeface="Cambria Math" panose="02040503050406030204" pitchFamily="18" charset="0"/>
                                        </a:rPr>
                                        <m:t>𝑖</m:t>
                                      </m:r>
                                    </m:sub>
                                    <m:sup>
                                      <m:r>
                                        <a:rPr lang="en-US" sz="1950" i="1">
                                          <a:latin typeface="Cambria Math" panose="02040503050406030204" pitchFamily="18" charset="0"/>
                                        </a:rPr>
                                        <m:t>′</m:t>
                                      </m:r>
                                    </m:sup>
                                  </m:sSubSup>
                                  <m:r>
                                    <a:rPr lang="en-US" sz="1950" i="1">
                                      <a:latin typeface="Cambria Math" panose="02040503050406030204" pitchFamily="18" charset="0"/>
                                    </a:rPr>
                                    <m:t>−</m:t>
                                  </m:r>
                                  <m:sSub>
                                    <m:sSubPr>
                                      <m:ctrlPr>
                                        <a:rPr lang="en-US" sz="1950" i="1">
                                          <a:latin typeface="Cambria Math" panose="02040503050406030204" pitchFamily="18" charset="0"/>
                                        </a:rPr>
                                      </m:ctrlPr>
                                    </m:sSubPr>
                                    <m:e>
                                      <m:r>
                                        <a:rPr lang="en-US" sz="1950" b="1" i="1">
                                          <a:latin typeface="Cambria Math" panose="02040503050406030204" pitchFamily="18" charset="0"/>
                                        </a:rPr>
                                        <m:t>𝒂</m:t>
                                      </m:r>
                                    </m:e>
                                    <m:sub>
                                      <m:r>
                                        <a:rPr lang="en-US" sz="1950" i="1">
                                          <a:latin typeface="Cambria Math" panose="02040503050406030204" pitchFamily="18" charset="0"/>
                                        </a:rPr>
                                        <m:t>𝑖</m:t>
                                      </m:r>
                                    </m:sub>
                                  </m:sSub>
                                </m:e>
                              </m:d>
                            </m:e>
                            <m:sup>
                              <m:r>
                                <a:rPr lang="en-US" sz="1950" i="1">
                                  <a:latin typeface="Cambria Math" panose="02040503050406030204" pitchFamily="18" charset="0"/>
                                </a:rPr>
                                <m:t>𝑇</m:t>
                              </m:r>
                            </m:sup>
                          </m:sSup>
                          <m:sSup>
                            <m:sSupPr>
                              <m:ctrlPr>
                                <a:rPr lang="en-US" sz="1950" i="1">
                                  <a:latin typeface="Cambria Math" panose="02040503050406030204" pitchFamily="18" charset="0"/>
                                </a:rPr>
                              </m:ctrlPr>
                            </m:sSupPr>
                            <m:e>
                              <m:r>
                                <a:rPr lang="en-US" sz="1950" i="1">
                                  <a:latin typeface="Cambria Math" panose="02040503050406030204" pitchFamily="18" charset="0"/>
                                </a:rPr>
                                <m:t>𝑉</m:t>
                              </m:r>
                            </m:e>
                            <m:sup>
                              <m:r>
                                <a:rPr lang="en-US" sz="1950" i="1">
                                  <a:latin typeface="Cambria Math" panose="02040503050406030204" pitchFamily="18" charset="0"/>
                                </a:rPr>
                                <m:t>𝑇</m:t>
                              </m:r>
                            </m:sup>
                          </m:sSup>
                          <m:sSubSup>
                            <m:sSubSupPr>
                              <m:ctrlPr>
                                <a:rPr lang="en-US" sz="1950" i="1">
                                  <a:latin typeface="Cambria Math" panose="02040503050406030204" pitchFamily="18" charset="0"/>
                                </a:rPr>
                              </m:ctrlPr>
                            </m:sSubSupPr>
                            <m:e>
                              <m:r>
                                <a:rPr lang="en-US" sz="1950" b="1" i="1">
                                  <a:latin typeface="Cambria Math" panose="02040503050406030204" pitchFamily="18" charset="0"/>
                                </a:rPr>
                                <m:t>𝒑</m:t>
                              </m:r>
                            </m:e>
                            <m:sub>
                              <m:r>
                                <a:rPr lang="en-US" sz="1950" i="1">
                                  <a:latin typeface="Cambria Math" panose="02040503050406030204" pitchFamily="18" charset="0"/>
                                </a:rPr>
                                <m:t>𝑖</m:t>
                              </m:r>
                            </m:sub>
                            <m:sup>
                              <m:r>
                                <a:rPr lang="en-US" sz="1950" i="1">
                                  <a:latin typeface="Cambria Math" panose="02040503050406030204" pitchFamily="18" charset="0"/>
                                </a:rPr>
                                <m:t>′</m:t>
                              </m:r>
                            </m:sup>
                          </m:sSubSup>
                          <m:r>
                            <a:rPr lang="en-US" sz="1950" i="1">
                              <a:latin typeface="Cambria Math" panose="02040503050406030204" pitchFamily="18" charset="0"/>
                            </a:rPr>
                            <m:t>𝑄</m:t>
                          </m:r>
                        </m:e>
                      </m:nary>
                    </m:oMath>
                  </m:oMathPara>
                </a14:m>
                <a:endParaRPr lang="en-US" sz="1950" dirty="0" smtClean="0"/>
              </a:p>
              <a:p>
                <a:pPr marL="0" indent="0">
                  <a:buNone/>
                </a:pPr>
                <a:r>
                  <a:rPr lang="en-US" sz="1950" dirty="0"/>
                  <a:t>Where </a:t>
                </a:r>
                <a:r>
                  <a:rPr lang="en-US" sz="1950" b="1" i="1" dirty="0"/>
                  <a:t>p</a:t>
                </a:r>
                <a:r>
                  <a:rPr lang="en-US" sz="1950" i="1" baseline="-25000" dirty="0"/>
                  <a:t>i</a:t>
                </a:r>
                <a:r>
                  <a:rPr lang="en-US" sz="1950" dirty="0"/>
                  <a:t>’ is derivative of the soft-max function</a:t>
                </a:r>
                <a:r>
                  <a:rPr lang="en-US" sz="1950" b="1" i="1" dirty="0"/>
                  <a:t> p</a:t>
                </a:r>
                <a:r>
                  <a:rPr lang="en-US" sz="1950" i="1" baseline="-25000" dirty="0"/>
                  <a:t>i</a:t>
                </a:r>
                <a:r>
                  <a:rPr lang="en-US" sz="1950" dirty="0"/>
                  <a:t>, which is mentioned later.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1280" y="914399"/>
                <a:ext cx="12019280" cy="5176066"/>
              </a:xfrm>
              <a:blipFill>
                <a:blip r:embed="rId3"/>
                <a:stretch>
                  <a:fillRect l="-507" r="-507" b="-942"/>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28</a:t>
            </a:fld>
            <a:endParaRPr lang="en-US"/>
          </a:p>
        </p:txBody>
      </p:sp>
    </p:spTree>
    <p:extLst>
      <p:ext uri="{BB962C8B-B14F-4D97-AF65-F5344CB8AC3E}">
        <p14:creationId xmlns:p14="http://schemas.microsoft.com/office/powerpoint/2010/main" val="312703298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a:t>
            </a:r>
            <a:r>
              <a:rPr lang="en-US" dirty="0" smtClean="0"/>
              <a:t>network (main)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1120" y="914399"/>
                <a:ext cx="12049760" cy="5176066"/>
              </a:xfrm>
            </p:spPr>
            <p:txBody>
              <a:bodyPr>
                <a:noAutofit/>
              </a:bodyPr>
              <a:lstStyle/>
              <a:p>
                <a:pPr marL="0" indent="0">
                  <a:buNone/>
                </a:pPr>
                <a:r>
                  <a:rPr lang="en-US" sz="2000" dirty="0"/>
                  <a:t>Consequently, it is necessary to calculate gradient of </a:t>
                </a:r>
                <a:r>
                  <a:rPr lang="en-US" sz="2000" i="1" dirty="0"/>
                  <a:t>L</a:t>
                </a:r>
                <a:r>
                  <a:rPr lang="en-US" sz="2000" dirty="0"/>
                  <a:t>(</a:t>
                </a:r>
                <a:r>
                  <a:rPr lang="en-US" sz="2000" i="1" dirty="0"/>
                  <a:t>A</a:t>
                </a:r>
                <a:r>
                  <a:rPr lang="en-US" sz="2000" dirty="0"/>
                  <a:t>) with respect to </a:t>
                </a:r>
                <a:r>
                  <a:rPr lang="en-US" sz="2000" i="1" dirty="0"/>
                  <a:t>W</a:t>
                </a:r>
                <a:r>
                  <a:rPr lang="en-US" sz="2000" i="1" baseline="30000" dirty="0"/>
                  <a:t>V</a:t>
                </a:r>
                <a:r>
                  <a:rPr lang="en-US" sz="2000" dirty="0"/>
                  <a:t>. Indeed, differential of </a:t>
                </a:r>
                <a:r>
                  <a:rPr lang="en-US" sz="2000" i="1" dirty="0"/>
                  <a:t>L</a:t>
                </a:r>
                <a:r>
                  <a:rPr lang="en-US" sz="2000" dirty="0"/>
                  <a:t>(</a:t>
                </a:r>
                <a:r>
                  <a:rPr lang="en-US" sz="2000" i="1" dirty="0"/>
                  <a:t>A</a:t>
                </a:r>
                <a:r>
                  <a:rPr lang="en-US" sz="2000" dirty="0"/>
                  <a:t>) with respect to </a:t>
                </a:r>
                <a:r>
                  <a:rPr lang="en-US" sz="2000" i="1" dirty="0"/>
                  <a:t>W</a:t>
                </a:r>
                <a:r>
                  <a:rPr lang="en-US" sz="2000" i="1" baseline="30000" dirty="0"/>
                  <a:t>V</a:t>
                </a:r>
                <a:r>
                  <a:rPr lang="en-US" sz="2000" dirty="0"/>
                  <a:t> </a:t>
                </a:r>
                <a:r>
                  <a:rPr lang="en-US" sz="2000" dirty="0" smtClean="0"/>
                  <a:t>is</a:t>
                </a:r>
                <a:r>
                  <a:rPr lang="en-US" sz="2000" dirty="0"/>
                  <a:t> </a:t>
                </a:r>
                <a14:m>
                  <m:oMath xmlns:m="http://schemas.openxmlformats.org/officeDocument/2006/math">
                    <m:r>
                      <a:rPr lang="en-US" sz="2000" i="1">
                        <a:latin typeface="Cambria Math" panose="02040503050406030204" pitchFamily="18" charset="0"/>
                      </a:rPr>
                      <m:t>𝑑𝐿</m:t>
                    </m:r>
                    <m:r>
                      <a:rPr lang="en-US" sz="2000" i="1">
                        <a:latin typeface="Cambria Math" panose="02040503050406030204" pitchFamily="18" charset="0"/>
                      </a:rPr>
                      <m:t>=</m:t>
                    </m:r>
                    <m:r>
                      <m:rPr>
                        <m:sty m:val="p"/>
                      </m:rPr>
                      <a:rPr lang="en-US" sz="2000">
                        <a:latin typeface="Cambria Math" panose="02040503050406030204" pitchFamily="18" charset="0"/>
                      </a:rPr>
                      <m:t>tr</m:t>
                    </m:r>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𝐴</m:t>
                                    </m:r>
                                  </m:e>
                                  <m:sup>
                                    <m:r>
                                      <a:rPr lang="en-US" sz="2000" i="1">
                                        <a:latin typeface="Cambria Math" panose="02040503050406030204" pitchFamily="18" charset="0"/>
                                      </a:rPr>
                                      <m:t>′</m:t>
                                    </m:r>
                                  </m:sup>
                                </m:sSup>
                                <m:r>
                                  <a:rPr lang="en-US" sz="2000" i="1">
                                    <a:latin typeface="Cambria Math" panose="02040503050406030204" pitchFamily="18" charset="0"/>
                                  </a:rPr>
                                  <m:t>−</m:t>
                                </m:r>
                                <m:r>
                                  <a:rPr lang="en-US" sz="2000" i="1">
                                    <a:latin typeface="Cambria Math" panose="02040503050406030204" pitchFamily="18" charset="0"/>
                                  </a:rPr>
                                  <m:t>𝐴</m:t>
                                </m:r>
                              </m:e>
                            </m:d>
                          </m:e>
                          <m:sup>
                            <m:r>
                              <a:rPr lang="en-US" sz="2000" i="1">
                                <a:latin typeface="Cambria Math" panose="02040503050406030204" pitchFamily="18" charset="0"/>
                              </a:rPr>
                              <m:t>𝑇</m:t>
                            </m:r>
                          </m:sup>
                        </m:sSup>
                        <m:r>
                          <m:rPr>
                            <m:sty m:val="p"/>
                          </m:rPr>
                          <a:rPr lang="en-US" sz="2000">
                            <a:latin typeface="Cambria Math" panose="02040503050406030204" pitchFamily="18" charset="0"/>
                          </a:rPr>
                          <m:t>softmax</m:t>
                        </m:r>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𝑄</m:t>
                                </m:r>
                                <m:sSup>
                                  <m:sSupPr>
                                    <m:ctrlPr>
                                      <a:rPr lang="en-US" sz="2000" i="1">
                                        <a:latin typeface="Cambria Math" panose="02040503050406030204" pitchFamily="18" charset="0"/>
                                      </a:rPr>
                                    </m:ctrlPr>
                                  </m:sSupPr>
                                  <m:e>
                                    <m:r>
                                      <a:rPr lang="en-US" sz="2000" i="1">
                                        <a:latin typeface="Cambria Math" panose="02040503050406030204" pitchFamily="18" charset="0"/>
                                      </a:rPr>
                                      <m:t>𝐾</m:t>
                                    </m:r>
                                  </m:e>
                                  <m:sup>
                                    <m:r>
                                      <a:rPr lang="en-US" sz="2000" i="1">
                                        <a:latin typeface="Cambria Math" panose="02040503050406030204" pitchFamily="18" charset="0"/>
                                      </a:rPr>
                                      <m:t>𝑇</m:t>
                                    </m:r>
                                  </m:sup>
                                </m:sSup>
                              </m:num>
                              <m:den>
                                <m:rad>
                                  <m:radPr>
                                    <m:degHide m:val="on"/>
                                    <m:ctrlPr>
                                      <a:rPr lang="en-US" sz="2000" i="1">
                                        <a:latin typeface="Cambria Math" panose="02040503050406030204" pitchFamily="18" charset="0"/>
                                      </a:rPr>
                                    </m:ctrlPr>
                                  </m:radPr>
                                  <m:deg/>
                                  <m:e>
                                    <m:sSub>
                                      <m:sSubPr>
                                        <m:ctrlPr>
                                          <a:rPr lang="en-US" sz="2000" i="1">
                                            <a:latin typeface="Cambria Math" panose="02040503050406030204" pitchFamily="18" charset="0"/>
                                          </a:rPr>
                                        </m:ctrlPr>
                                      </m:sSubPr>
                                      <m:e>
                                        <m:r>
                                          <a:rPr lang="en-US" sz="2000" i="1">
                                            <a:latin typeface="Cambria Math" panose="02040503050406030204" pitchFamily="18" charset="0"/>
                                          </a:rPr>
                                          <m:t>𝑑</m:t>
                                        </m:r>
                                      </m:e>
                                      <m:sub>
                                        <m:r>
                                          <a:rPr lang="en-US" sz="2000" i="1">
                                            <a:latin typeface="Cambria Math" panose="02040503050406030204" pitchFamily="18" charset="0"/>
                                          </a:rPr>
                                          <m:t>𝑘</m:t>
                                        </m:r>
                                      </m:sub>
                                    </m:sSub>
                                  </m:e>
                                </m:rad>
                              </m:den>
                            </m:f>
                          </m:e>
                        </m:d>
                        <m:r>
                          <a:rPr lang="en-US" sz="2000" b="1" i="1">
                            <a:latin typeface="Cambria Math" panose="02040503050406030204" pitchFamily="18" charset="0"/>
                          </a:rPr>
                          <m:t>𝑿</m:t>
                        </m:r>
                        <m:r>
                          <a:rPr lang="en-US" sz="2000" i="1">
                            <a:latin typeface="Cambria Math" panose="02040503050406030204" pitchFamily="18" charset="0"/>
                          </a:rPr>
                          <m:t>𝑑</m:t>
                        </m:r>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𝑊</m:t>
                                </m:r>
                              </m:e>
                              <m:sup>
                                <m:r>
                                  <a:rPr lang="en-US" sz="2000" i="1">
                                    <a:latin typeface="Cambria Math" panose="02040503050406030204" pitchFamily="18" charset="0"/>
                                  </a:rPr>
                                  <m:t>𝑉</m:t>
                                </m:r>
                              </m:sup>
                            </m:sSup>
                          </m:e>
                        </m:d>
                      </m:e>
                    </m:d>
                  </m:oMath>
                </a14:m>
                <a:r>
                  <a:rPr lang="en-US" sz="2000" dirty="0" smtClean="0"/>
                  <a:t>. Therefore, gradient of </a:t>
                </a:r>
                <a:r>
                  <a:rPr lang="en-US" sz="2000" i="1" dirty="0" smtClean="0"/>
                  <a:t>L</a:t>
                </a:r>
                <a:r>
                  <a:rPr lang="en-US" sz="2000" dirty="0" smtClean="0"/>
                  <a:t>(</a:t>
                </a:r>
                <a:r>
                  <a:rPr lang="en-US" sz="2000" i="1" dirty="0" smtClean="0"/>
                  <a:t>A</a:t>
                </a:r>
                <a:r>
                  <a:rPr lang="en-US" sz="2000" dirty="0" smtClean="0"/>
                  <a:t>) with respect to </a:t>
                </a:r>
                <a:r>
                  <a:rPr lang="en-US" sz="2000" i="1" dirty="0" smtClean="0"/>
                  <a:t>W</a:t>
                </a:r>
                <a:r>
                  <a:rPr lang="en-US" sz="2000" i="1" baseline="30000" dirty="0" smtClean="0"/>
                  <a:t>V</a:t>
                </a:r>
                <a:r>
                  <a:rPr lang="en-US" sz="2000" dirty="0" smtClean="0"/>
                  <a:t> is:</a:t>
                </a:r>
              </a:p>
              <a:p>
                <a:pPr marL="0" indent="0">
                  <a:buNone/>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i="1">
                              <a:latin typeface="Cambria Math" panose="02040503050406030204" pitchFamily="18" charset="0"/>
                            </a:rPr>
                            <m:t>𝐿</m:t>
                          </m:r>
                          <m:d>
                            <m:dPr>
                              <m:ctrlPr>
                                <a:rPr lang="en-US" sz="2000" i="1">
                                  <a:latin typeface="Cambria Math" panose="02040503050406030204" pitchFamily="18" charset="0"/>
                                </a:rPr>
                              </m:ctrlPr>
                            </m:dPr>
                            <m:e>
                              <m:r>
                                <a:rPr lang="en-US" sz="2000" i="1">
                                  <a:latin typeface="Cambria Math" panose="02040503050406030204" pitchFamily="18" charset="0"/>
                                </a:rPr>
                                <m:t>𝐴</m:t>
                              </m:r>
                            </m:e>
                          </m:d>
                        </m:num>
                        <m:den>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𝑊</m:t>
                              </m:r>
                            </m:e>
                            <m:sup>
                              <m:r>
                                <a:rPr lang="en-US" sz="2000" i="1">
                                  <a:latin typeface="Cambria Math" panose="02040503050406030204" pitchFamily="18" charset="0"/>
                                </a:rPr>
                                <m:t>𝑉</m:t>
                              </m:r>
                            </m:sup>
                          </m:sSup>
                        </m:den>
                      </m:f>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b="1" i="1">
                              <a:latin typeface="Cambria Math" panose="02040503050406030204" pitchFamily="18" charset="0"/>
                            </a:rPr>
                            <m:t>𝑿</m:t>
                          </m:r>
                        </m:e>
                        <m:sup>
                          <m:r>
                            <a:rPr lang="en-US" sz="2000" i="1">
                              <a:latin typeface="Cambria Math" panose="02040503050406030204" pitchFamily="18" charset="0"/>
                            </a:rPr>
                            <m:t>𝑇</m:t>
                          </m:r>
                        </m:sup>
                      </m:sSup>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m:rPr>
                                  <m:sty m:val="p"/>
                                </m:rPr>
                                <a:rPr lang="en-US" sz="2000">
                                  <a:latin typeface="Cambria Math" panose="02040503050406030204" pitchFamily="18" charset="0"/>
                                </a:rPr>
                                <m:t>softmax</m:t>
                              </m:r>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𝑄</m:t>
                                      </m:r>
                                      <m:sSup>
                                        <m:sSupPr>
                                          <m:ctrlPr>
                                            <a:rPr lang="en-US" sz="2000" i="1">
                                              <a:latin typeface="Cambria Math" panose="02040503050406030204" pitchFamily="18" charset="0"/>
                                            </a:rPr>
                                          </m:ctrlPr>
                                        </m:sSupPr>
                                        <m:e>
                                          <m:r>
                                            <a:rPr lang="en-US" sz="2000" i="1">
                                              <a:latin typeface="Cambria Math" panose="02040503050406030204" pitchFamily="18" charset="0"/>
                                            </a:rPr>
                                            <m:t>𝐾</m:t>
                                          </m:r>
                                        </m:e>
                                        <m:sup>
                                          <m:r>
                                            <a:rPr lang="en-US" sz="2000" i="1">
                                              <a:latin typeface="Cambria Math" panose="02040503050406030204" pitchFamily="18" charset="0"/>
                                            </a:rPr>
                                            <m:t>𝑇</m:t>
                                          </m:r>
                                        </m:sup>
                                      </m:sSup>
                                    </m:num>
                                    <m:den>
                                      <m:rad>
                                        <m:radPr>
                                          <m:degHide m:val="on"/>
                                          <m:ctrlPr>
                                            <a:rPr lang="en-US" sz="2000" i="1">
                                              <a:latin typeface="Cambria Math" panose="02040503050406030204" pitchFamily="18" charset="0"/>
                                            </a:rPr>
                                          </m:ctrlPr>
                                        </m:radPr>
                                        <m:deg/>
                                        <m:e>
                                          <m:sSub>
                                            <m:sSubPr>
                                              <m:ctrlPr>
                                                <a:rPr lang="en-US" sz="2000" i="1">
                                                  <a:latin typeface="Cambria Math" panose="02040503050406030204" pitchFamily="18" charset="0"/>
                                                </a:rPr>
                                              </m:ctrlPr>
                                            </m:sSubPr>
                                            <m:e>
                                              <m:r>
                                                <a:rPr lang="en-US" sz="2000" i="1">
                                                  <a:latin typeface="Cambria Math" panose="02040503050406030204" pitchFamily="18" charset="0"/>
                                                </a:rPr>
                                                <m:t>𝑑</m:t>
                                              </m:r>
                                            </m:e>
                                            <m:sub>
                                              <m:r>
                                                <a:rPr lang="en-US" sz="2000" i="1">
                                                  <a:latin typeface="Cambria Math" panose="02040503050406030204" pitchFamily="18" charset="0"/>
                                                </a:rPr>
                                                <m:t>𝑘</m:t>
                                              </m:r>
                                            </m:sub>
                                          </m:sSub>
                                        </m:e>
                                      </m:rad>
                                    </m:den>
                                  </m:f>
                                </m:e>
                              </m:d>
                            </m:e>
                          </m:d>
                        </m:e>
                        <m:sup>
                          <m:r>
                            <a:rPr lang="en-US" sz="2000" i="1">
                              <a:latin typeface="Cambria Math" panose="02040503050406030204" pitchFamily="18" charset="0"/>
                            </a:rPr>
                            <m:t>𝑇</m:t>
                          </m:r>
                        </m:sup>
                      </m:sSup>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𝐴</m:t>
                              </m:r>
                            </m:e>
                            <m:sup>
                              <m:r>
                                <a:rPr lang="en-US" sz="2000" i="1">
                                  <a:latin typeface="Cambria Math" panose="02040503050406030204" pitchFamily="18" charset="0"/>
                                </a:rPr>
                                <m:t>′</m:t>
                              </m:r>
                            </m:sup>
                          </m:sSup>
                          <m:r>
                            <a:rPr lang="en-US" sz="2000" i="1">
                              <a:latin typeface="Cambria Math" panose="02040503050406030204" pitchFamily="18" charset="0"/>
                            </a:rPr>
                            <m:t>−</m:t>
                          </m:r>
                          <m:r>
                            <a:rPr lang="en-US" sz="2000" i="1">
                              <a:latin typeface="Cambria Math" panose="02040503050406030204" pitchFamily="18" charset="0"/>
                            </a:rPr>
                            <m:t>𝐴</m:t>
                          </m:r>
                        </m:e>
                      </m:d>
                    </m:oMath>
                  </m:oMathPara>
                </a14:m>
                <a:endParaRPr lang="en-US" sz="2000" dirty="0" smtClean="0"/>
              </a:p>
              <a:p>
                <a:pPr marL="0" indent="0">
                  <a:buNone/>
                </a:pPr>
                <a:r>
                  <a:rPr lang="en-US" sz="2000" dirty="0" smtClean="0">
                    <a:effectLst>
                      <a:outerShdw blurRad="38100" dist="38100" dir="2700000" algn="tl">
                        <a:srgbClr val="000000">
                          <a:alpha val="43137"/>
                        </a:srgbClr>
                      </a:outerShdw>
                    </a:effectLst>
                  </a:rPr>
                  <a:t>Parametric </a:t>
                </a:r>
                <a:r>
                  <a:rPr lang="en-US" sz="2000" dirty="0">
                    <a:effectLst>
                      <a:outerShdw blurRad="38100" dist="38100" dir="2700000" algn="tl">
                        <a:srgbClr val="000000">
                          <a:alpha val="43137"/>
                        </a:srgbClr>
                      </a:outerShdw>
                    </a:effectLst>
                  </a:rPr>
                  <a:t>weight matrices of transformer-based self-attention are totally estimated by SGD algorithm as follows:</a:t>
                </a:r>
              </a:p>
              <a:p>
                <a:pPr marL="0" indent="0">
                  <a:buNone/>
                </a:pPr>
                <a14:m>
                  <m:oMathPara xmlns:m="http://schemas.openxmlformats.org/officeDocument/2006/math">
                    <m:oMathParaPr>
                      <m:jc m:val="centerGroup"/>
                    </m:oMathParaPr>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𝑊</m:t>
                          </m:r>
                        </m:e>
                        <m:sup>
                          <m:r>
                            <a:rPr lang="en-US" sz="2000" i="1">
                              <a:latin typeface="Cambria Math" panose="02040503050406030204" pitchFamily="18" charset="0"/>
                            </a:rPr>
                            <m:t>𝑄</m:t>
                          </m:r>
                        </m:sup>
                      </m:sSup>
                      <m:r>
                        <m:rPr>
                          <m:aln/>
                        </m:rP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𝑊</m:t>
                          </m:r>
                        </m:e>
                        <m:sup>
                          <m:r>
                            <a:rPr lang="en-US" sz="2000" i="1">
                              <a:latin typeface="Cambria Math" panose="02040503050406030204" pitchFamily="18" charset="0"/>
                            </a:rPr>
                            <m:t>𝑄</m:t>
                          </m:r>
                        </m:sup>
                      </m:sSup>
                      <m:r>
                        <a:rPr lang="en-US" sz="2000" i="1">
                          <a:latin typeface="Cambria Math" panose="02040503050406030204" pitchFamily="18" charset="0"/>
                        </a:rPr>
                        <m:t>+</m:t>
                      </m:r>
                      <m:r>
                        <a:rPr lang="en-US" sz="2000" i="1">
                          <a:latin typeface="Cambria Math" panose="02040503050406030204" pitchFamily="18" charset="0"/>
                        </a:rPr>
                        <m:t>𝛾</m:t>
                      </m:r>
                      <m:f>
                        <m:fPr>
                          <m:ctrlPr>
                            <a:rPr lang="en-US" sz="2000" i="1">
                              <a:latin typeface="Cambria Math" panose="02040503050406030204" pitchFamily="18" charset="0"/>
                            </a:rPr>
                          </m:ctrlPr>
                        </m:fPr>
                        <m:num>
                          <m:r>
                            <a:rPr lang="en-US" sz="2000" i="1">
                              <a:latin typeface="Cambria Math" panose="02040503050406030204" pitchFamily="18" charset="0"/>
                            </a:rPr>
                            <m:t>1</m:t>
                          </m:r>
                        </m:num>
                        <m:den>
                          <m:rad>
                            <m:radPr>
                              <m:degHide m:val="on"/>
                              <m:ctrlPr>
                                <a:rPr lang="en-US" sz="2000" i="1">
                                  <a:latin typeface="Cambria Math" panose="02040503050406030204" pitchFamily="18" charset="0"/>
                                </a:rPr>
                              </m:ctrlPr>
                            </m:radPr>
                            <m:deg/>
                            <m:e>
                              <m:sSub>
                                <m:sSubPr>
                                  <m:ctrlPr>
                                    <a:rPr lang="en-US" sz="2000" i="1">
                                      <a:latin typeface="Cambria Math" panose="02040503050406030204" pitchFamily="18" charset="0"/>
                                    </a:rPr>
                                  </m:ctrlPr>
                                </m:sSubPr>
                                <m:e>
                                  <m:r>
                                    <a:rPr lang="en-US" sz="2000" i="1">
                                      <a:latin typeface="Cambria Math" panose="02040503050406030204" pitchFamily="18" charset="0"/>
                                    </a:rPr>
                                    <m:t>𝑑</m:t>
                                  </m:r>
                                </m:e>
                                <m:sub>
                                  <m:r>
                                    <a:rPr lang="en-US" sz="2000" i="1">
                                      <a:latin typeface="Cambria Math" panose="02040503050406030204" pitchFamily="18" charset="0"/>
                                    </a:rPr>
                                    <m:t>𝑘</m:t>
                                  </m:r>
                                </m:sub>
                              </m:sSub>
                            </m:e>
                          </m:rad>
                        </m:den>
                      </m:f>
                      <m:nary>
                        <m:naryPr>
                          <m:chr m:val="∑"/>
                          <m:limLoc m:val="undOvr"/>
                          <m:ctrlPr>
                            <a:rPr lang="en-US" sz="2000" i="1">
                              <a:latin typeface="Cambria Math" panose="02040503050406030204" pitchFamily="18" charset="0"/>
                            </a:rPr>
                          </m:ctrlPr>
                        </m:naryPr>
                        <m:sub>
                          <m:r>
                            <a:rPr lang="en-US" sz="2000" i="1">
                              <a:latin typeface="Cambria Math" panose="02040503050406030204" pitchFamily="18" charset="0"/>
                            </a:rPr>
                            <m:t>𝑖</m:t>
                          </m:r>
                          <m:r>
                            <a:rPr lang="en-US" sz="2000" i="1">
                              <a:latin typeface="Cambria Math" panose="02040503050406030204" pitchFamily="18" charset="0"/>
                            </a:rPr>
                            <m:t>=1</m:t>
                          </m:r>
                        </m:sub>
                        <m:sup>
                          <m:r>
                            <a:rPr lang="en-US" sz="2000" i="1">
                              <a:latin typeface="Cambria Math" panose="02040503050406030204" pitchFamily="18" charset="0"/>
                            </a:rPr>
                            <m:t>𝑚</m:t>
                          </m:r>
                        </m:sup>
                        <m:e>
                          <m:sSup>
                            <m:sSupPr>
                              <m:ctrlPr>
                                <a:rPr lang="en-US" sz="2000" i="1">
                                  <a:latin typeface="Cambria Math" panose="02040503050406030204" pitchFamily="18" charset="0"/>
                                </a:rPr>
                              </m:ctrlPr>
                            </m:sSupPr>
                            <m:e>
                              <m:sSub>
                                <m:sSubPr>
                                  <m:ctrlPr>
                                    <a:rPr lang="en-US" sz="2000" i="1">
                                      <a:latin typeface="Cambria Math" panose="02040503050406030204" pitchFamily="18" charset="0"/>
                                    </a:rPr>
                                  </m:ctrlPr>
                                </m:sSubPr>
                                <m:e>
                                  <m:r>
                                    <a:rPr lang="en-US" sz="2000" b="1" i="1">
                                      <a:latin typeface="Cambria Math" panose="02040503050406030204" pitchFamily="18" charset="0"/>
                                    </a:rPr>
                                    <m:t>𝒙</m:t>
                                  </m:r>
                                </m:e>
                                <m:sub>
                                  <m:r>
                                    <a:rPr lang="en-US" sz="2000" i="1">
                                      <a:latin typeface="Cambria Math" panose="02040503050406030204" pitchFamily="18" charset="0"/>
                                    </a:rPr>
                                    <m:t>𝑖</m:t>
                                  </m:r>
                                </m:sub>
                              </m:sSub>
                              <m:d>
                                <m:dPr>
                                  <m:ctrlPr>
                                    <a:rPr lang="en-US" sz="2000" i="1">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b="1" i="1">
                                          <a:latin typeface="Cambria Math" panose="02040503050406030204" pitchFamily="18" charset="0"/>
                                        </a:rPr>
                                        <m:t>𝒂</m:t>
                                      </m:r>
                                    </m:e>
                                    <m:sub>
                                      <m:r>
                                        <a:rPr lang="en-US" sz="2000" i="1">
                                          <a:latin typeface="Cambria Math" panose="02040503050406030204" pitchFamily="18" charset="0"/>
                                        </a:rPr>
                                        <m:t>𝑖</m:t>
                                      </m:r>
                                    </m:sub>
                                    <m:sup>
                                      <m:r>
                                        <a:rPr lang="en-US" sz="2000" i="1">
                                          <a:latin typeface="Cambria Math" panose="02040503050406030204" pitchFamily="18" charset="0"/>
                                        </a:rPr>
                                        <m:t>′</m:t>
                                      </m:r>
                                    </m:sup>
                                  </m:sSubSup>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1" i="1">
                                          <a:latin typeface="Cambria Math" panose="02040503050406030204" pitchFamily="18" charset="0"/>
                                        </a:rPr>
                                        <m:t>𝒂</m:t>
                                      </m:r>
                                    </m:e>
                                    <m:sub>
                                      <m:r>
                                        <a:rPr lang="en-US" sz="2000" i="1">
                                          <a:latin typeface="Cambria Math" panose="02040503050406030204" pitchFamily="18" charset="0"/>
                                        </a:rPr>
                                        <m:t>𝑖</m:t>
                                      </m:r>
                                    </m:sub>
                                  </m:sSub>
                                </m:e>
                              </m:d>
                            </m:e>
                            <m:sup>
                              <m:r>
                                <a:rPr lang="en-US" sz="2000" i="1">
                                  <a:latin typeface="Cambria Math" panose="02040503050406030204" pitchFamily="18" charset="0"/>
                                </a:rPr>
                                <m:t>𝑇</m:t>
                              </m:r>
                            </m:sup>
                          </m:sSup>
                          <m:sSup>
                            <m:sSupPr>
                              <m:ctrlPr>
                                <a:rPr lang="en-US" sz="2000" i="1">
                                  <a:latin typeface="Cambria Math" panose="02040503050406030204" pitchFamily="18" charset="0"/>
                                </a:rPr>
                              </m:ctrlPr>
                            </m:sSupPr>
                            <m:e>
                              <m:r>
                                <a:rPr lang="en-US" sz="2000" i="1">
                                  <a:latin typeface="Cambria Math" panose="02040503050406030204" pitchFamily="18" charset="0"/>
                                </a:rPr>
                                <m:t>𝑉</m:t>
                              </m:r>
                            </m:e>
                            <m:sup>
                              <m:r>
                                <a:rPr lang="en-US" sz="2000" i="1">
                                  <a:latin typeface="Cambria Math" panose="02040503050406030204" pitchFamily="18" charset="0"/>
                                </a:rPr>
                                <m:t>𝑇</m:t>
                              </m:r>
                            </m:sup>
                          </m:sSup>
                          <m:sSubSup>
                            <m:sSubSupPr>
                              <m:ctrlPr>
                                <a:rPr lang="en-US" sz="2000" i="1">
                                  <a:latin typeface="Cambria Math" panose="02040503050406030204" pitchFamily="18" charset="0"/>
                                </a:rPr>
                              </m:ctrlPr>
                            </m:sSubSupPr>
                            <m:e>
                              <m:r>
                                <a:rPr lang="en-US" sz="2000" b="1" i="1">
                                  <a:latin typeface="Cambria Math" panose="02040503050406030204" pitchFamily="18" charset="0"/>
                                </a:rPr>
                                <m:t>𝒑</m:t>
                              </m:r>
                            </m:e>
                            <m:sub>
                              <m:r>
                                <a:rPr lang="en-US" sz="2000" i="1">
                                  <a:latin typeface="Cambria Math" panose="02040503050406030204" pitchFamily="18" charset="0"/>
                                </a:rPr>
                                <m:t>𝑖</m:t>
                              </m:r>
                            </m:sub>
                            <m:sup>
                              <m:r>
                                <a:rPr lang="en-US" sz="2000" i="1">
                                  <a:latin typeface="Cambria Math" panose="02040503050406030204" pitchFamily="18" charset="0"/>
                                </a:rPr>
                                <m:t>′</m:t>
                              </m:r>
                            </m:sup>
                          </m:sSubSup>
                          <m:r>
                            <a:rPr lang="en-US" sz="2000" i="1">
                              <a:latin typeface="Cambria Math" panose="02040503050406030204" pitchFamily="18" charset="0"/>
                            </a:rPr>
                            <m:t>𝐾</m:t>
                          </m:r>
                        </m:e>
                      </m:nary>
                    </m:oMath>
                  </m:oMathPara>
                </a14:m>
                <a:endParaRPr lang="en-US" sz="2000" dirty="0" smtClean="0"/>
              </a:p>
              <a:p>
                <a:pPr marL="0" indent="0">
                  <a:buNone/>
                </a:pPr>
                <a14:m>
                  <m:oMathPara xmlns:m="http://schemas.openxmlformats.org/officeDocument/2006/math">
                    <m:oMathParaPr>
                      <m:jc m:val="centerGroup"/>
                    </m:oMathParaPr>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𝑊</m:t>
                          </m:r>
                        </m:e>
                        <m:sup>
                          <m:r>
                            <a:rPr lang="en-US" sz="2000" i="1">
                              <a:latin typeface="Cambria Math" panose="02040503050406030204" pitchFamily="18" charset="0"/>
                            </a:rPr>
                            <m:t>𝐾</m:t>
                          </m:r>
                        </m:sup>
                      </m:sSup>
                      <m:r>
                        <m:rPr>
                          <m:aln/>
                        </m:rP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𝑊</m:t>
                          </m:r>
                        </m:e>
                        <m:sup>
                          <m:r>
                            <a:rPr lang="en-US" sz="2000" i="1">
                              <a:latin typeface="Cambria Math" panose="02040503050406030204" pitchFamily="18" charset="0"/>
                            </a:rPr>
                            <m:t>𝐾</m:t>
                          </m:r>
                        </m:sup>
                      </m:sSup>
                      <m:r>
                        <a:rPr lang="en-US" sz="2000" i="1">
                          <a:latin typeface="Cambria Math" panose="02040503050406030204" pitchFamily="18" charset="0"/>
                        </a:rPr>
                        <m:t>+</m:t>
                      </m:r>
                      <m:r>
                        <a:rPr lang="en-US" sz="2000" i="1">
                          <a:latin typeface="Cambria Math" panose="02040503050406030204" pitchFamily="18" charset="0"/>
                        </a:rPr>
                        <m:t>𝛾</m:t>
                      </m:r>
                      <m:f>
                        <m:fPr>
                          <m:ctrlPr>
                            <a:rPr lang="en-US" sz="2000" i="1">
                              <a:latin typeface="Cambria Math" panose="02040503050406030204" pitchFamily="18" charset="0"/>
                            </a:rPr>
                          </m:ctrlPr>
                        </m:fPr>
                        <m:num>
                          <m:r>
                            <a:rPr lang="en-US" sz="2000" i="1" smtClean="0">
                              <a:latin typeface="Cambria Math" panose="02040503050406030204" pitchFamily="18" charset="0"/>
                            </a:rPr>
                            <m:t>1</m:t>
                          </m:r>
                        </m:num>
                        <m:den>
                          <m:rad>
                            <m:radPr>
                              <m:degHide m:val="on"/>
                              <m:ctrlPr>
                                <a:rPr lang="en-US" sz="2000" i="1">
                                  <a:latin typeface="Cambria Math" panose="02040503050406030204" pitchFamily="18" charset="0"/>
                                </a:rPr>
                              </m:ctrlPr>
                            </m:radPr>
                            <m:deg/>
                            <m:e>
                              <m:sSub>
                                <m:sSubPr>
                                  <m:ctrlPr>
                                    <a:rPr lang="en-US" sz="2000" i="1">
                                      <a:latin typeface="Cambria Math" panose="02040503050406030204" pitchFamily="18" charset="0"/>
                                    </a:rPr>
                                  </m:ctrlPr>
                                </m:sSubPr>
                                <m:e>
                                  <m:r>
                                    <a:rPr lang="en-US" sz="2000" i="1">
                                      <a:latin typeface="Cambria Math" panose="02040503050406030204" pitchFamily="18" charset="0"/>
                                    </a:rPr>
                                    <m:t>𝑑</m:t>
                                  </m:r>
                                </m:e>
                                <m:sub>
                                  <m:r>
                                    <a:rPr lang="en-US" sz="2000" i="1">
                                      <a:latin typeface="Cambria Math" panose="02040503050406030204" pitchFamily="18" charset="0"/>
                                    </a:rPr>
                                    <m:t>𝑘</m:t>
                                  </m:r>
                                </m:sub>
                              </m:sSub>
                            </m:e>
                          </m:rad>
                        </m:den>
                      </m:f>
                      <m:nary>
                        <m:naryPr>
                          <m:chr m:val="∑"/>
                          <m:limLoc m:val="undOvr"/>
                          <m:ctrlPr>
                            <a:rPr lang="en-US" sz="2000" i="1">
                              <a:latin typeface="Cambria Math" panose="02040503050406030204" pitchFamily="18" charset="0"/>
                            </a:rPr>
                          </m:ctrlPr>
                        </m:naryPr>
                        <m:sub>
                          <m:r>
                            <a:rPr lang="en-US" sz="2000" i="1">
                              <a:latin typeface="Cambria Math" panose="02040503050406030204" pitchFamily="18" charset="0"/>
                            </a:rPr>
                            <m:t>𝑖</m:t>
                          </m:r>
                          <m:r>
                            <a:rPr lang="en-US" sz="2000" i="1">
                              <a:latin typeface="Cambria Math" panose="02040503050406030204" pitchFamily="18" charset="0"/>
                            </a:rPr>
                            <m:t>=1</m:t>
                          </m:r>
                        </m:sub>
                        <m:sup>
                          <m:r>
                            <a:rPr lang="en-US" sz="2000" i="1">
                              <a:latin typeface="Cambria Math" panose="02040503050406030204" pitchFamily="18" charset="0"/>
                            </a:rPr>
                            <m:t>𝑚</m:t>
                          </m:r>
                        </m:sup>
                        <m:e>
                          <m:sSup>
                            <m:sSupPr>
                              <m:ctrlPr>
                                <a:rPr lang="en-US" sz="2000" i="1">
                                  <a:latin typeface="Cambria Math" panose="02040503050406030204" pitchFamily="18" charset="0"/>
                                </a:rPr>
                              </m:ctrlPr>
                            </m:sSupPr>
                            <m:e>
                              <m:sSub>
                                <m:sSubPr>
                                  <m:ctrlPr>
                                    <a:rPr lang="en-US" sz="2000" i="1">
                                      <a:latin typeface="Cambria Math" panose="02040503050406030204" pitchFamily="18" charset="0"/>
                                    </a:rPr>
                                  </m:ctrlPr>
                                </m:sSubPr>
                                <m:e>
                                  <m:r>
                                    <a:rPr lang="en-US" sz="2000" b="1" i="1">
                                      <a:latin typeface="Cambria Math" panose="02040503050406030204" pitchFamily="18" charset="0"/>
                                    </a:rPr>
                                    <m:t>𝒙</m:t>
                                  </m:r>
                                </m:e>
                                <m:sub>
                                  <m:r>
                                    <a:rPr lang="en-US" sz="2000" i="1">
                                      <a:latin typeface="Cambria Math" panose="02040503050406030204" pitchFamily="18" charset="0"/>
                                    </a:rPr>
                                    <m:t>𝑖</m:t>
                                  </m:r>
                                </m:sub>
                              </m:sSub>
                              <m:d>
                                <m:dPr>
                                  <m:ctrlPr>
                                    <a:rPr lang="en-US" sz="2000" i="1">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b="1" i="1">
                                          <a:latin typeface="Cambria Math" panose="02040503050406030204" pitchFamily="18" charset="0"/>
                                        </a:rPr>
                                        <m:t>𝒂</m:t>
                                      </m:r>
                                    </m:e>
                                    <m:sub>
                                      <m:r>
                                        <a:rPr lang="en-US" sz="2000" i="1">
                                          <a:latin typeface="Cambria Math" panose="02040503050406030204" pitchFamily="18" charset="0"/>
                                        </a:rPr>
                                        <m:t>𝑖</m:t>
                                      </m:r>
                                    </m:sub>
                                    <m:sup>
                                      <m:r>
                                        <a:rPr lang="en-US" sz="2000" i="1">
                                          <a:latin typeface="Cambria Math" panose="02040503050406030204" pitchFamily="18" charset="0"/>
                                        </a:rPr>
                                        <m:t>′</m:t>
                                      </m:r>
                                    </m:sup>
                                  </m:sSubSup>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1" i="1">
                                          <a:latin typeface="Cambria Math" panose="02040503050406030204" pitchFamily="18" charset="0"/>
                                        </a:rPr>
                                        <m:t>𝒂</m:t>
                                      </m:r>
                                    </m:e>
                                    <m:sub>
                                      <m:r>
                                        <a:rPr lang="en-US" sz="2000" i="1">
                                          <a:latin typeface="Cambria Math" panose="02040503050406030204" pitchFamily="18" charset="0"/>
                                        </a:rPr>
                                        <m:t>𝑖</m:t>
                                      </m:r>
                                    </m:sub>
                                  </m:sSub>
                                </m:e>
                              </m:d>
                            </m:e>
                            <m:sup>
                              <m:r>
                                <a:rPr lang="en-US" sz="2000" i="1">
                                  <a:latin typeface="Cambria Math" panose="02040503050406030204" pitchFamily="18" charset="0"/>
                                </a:rPr>
                                <m:t>𝑇</m:t>
                              </m:r>
                            </m:sup>
                          </m:sSup>
                          <m:sSup>
                            <m:sSupPr>
                              <m:ctrlPr>
                                <a:rPr lang="en-US" sz="2000" i="1">
                                  <a:latin typeface="Cambria Math" panose="02040503050406030204" pitchFamily="18" charset="0"/>
                                </a:rPr>
                              </m:ctrlPr>
                            </m:sSupPr>
                            <m:e>
                              <m:r>
                                <a:rPr lang="en-US" sz="2000" i="1">
                                  <a:latin typeface="Cambria Math" panose="02040503050406030204" pitchFamily="18" charset="0"/>
                                </a:rPr>
                                <m:t>𝑉</m:t>
                              </m:r>
                            </m:e>
                            <m:sup>
                              <m:r>
                                <a:rPr lang="en-US" sz="2000" i="1">
                                  <a:latin typeface="Cambria Math" panose="02040503050406030204" pitchFamily="18" charset="0"/>
                                </a:rPr>
                                <m:t>𝑇</m:t>
                              </m:r>
                            </m:sup>
                          </m:sSup>
                          <m:sSubSup>
                            <m:sSubSupPr>
                              <m:ctrlPr>
                                <a:rPr lang="en-US" sz="2000" i="1">
                                  <a:latin typeface="Cambria Math" panose="02040503050406030204" pitchFamily="18" charset="0"/>
                                </a:rPr>
                              </m:ctrlPr>
                            </m:sSubSupPr>
                            <m:e>
                              <m:r>
                                <a:rPr lang="en-US" sz="2000" b="1" i="1">
                                  <a:latin typeface="Cambria Math" panose="02040503050406030204" pitchFamily="18" charset="0"/>
                                </a:rPr>
                                <m:t>𝒑</m:t>
                              </m:r>
                            </m:e>
                            <m:sub>
                              <m:r>
                                <a:rPr lang="en-US" sz="2000" i="1">
                                  <a:latin typeface="Cambria Math" panose="02040503050406030204" pitchFamily="18" charset="0"/>
                                </a:rPr>
                                <m:t>𝑖</m:t>
                              </m:r>
                            </m:sub>
                            <m:sup>
                              <m:r>
                                <a:rPr lang="en-US" sz="2000" i="1">
                                  <a:latin typeface="Cambria Math" panose="02040503050406030204" pitchFamily="18" charset="0"/>
                                </a:rPr>
                                <m:t>′</m:t>
                              </m:r>
                            </m:sup>
                          </m:sSubSup>
                          <m:r>
                            <a:rPr lang="en-US" sz="2000" i="1">
                              <a:latin typeface="Cambria Math" panose="02040503050406030204" pitchFamily="18" charset="0"/>
                            </a:rPr>
                            <m:t>𝑄</m:t>
                          </m:r>
                        </m:e>
                      </m:nary>
                    </m:oMath>
                  </m:oMathPara>
                </a14:m>
                <a:endParaRPr lang="en-US" sz="2000" dirty="0" smtClean="0"/>
              </a:p>
              <a:p>
                <a:pPr marL="0" indent="0">
                  <a:buNone/>
                </a:pPr>
                <a14:m>
                  <m:oMathPara xmlns:m="http://schemas.openxmlformats.org/officeDocument/2006/math">
                    <m:oMathParaPr>
                      <m:jc m:val="centerGroup"/>
                    </m:oMathParaPr>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𝑊</m:t>
                          </m:r>
                        </m:e>
                        <m:sup>
                          <m:r>
                            <a:rPr lang="en-US" sz="2000" i="1">
                              <a:latin typeface="Cambria Math" panose="02040503050406030204" pitchFamily="18" charset="0"/>
                            </a:rPr>
                            <m:t>𝑉</m:t>
                          </m:r>
                        </m:sup>
                      </m:sSup>
                      <m:r>
                        <m:rPr>
                          <m:aln/>
                        </m:rP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𝑊</m:t>
                          </m:r>
                        </m:e>
                        <m:sup>
                          <m:r>
                            <a:rPr lang="en-US" sz="2000" i="1">
                              <a:latin typeface="Cambria Math" panose="02040503050406030204" pitchFamily="18" charset="0"/>
                            </a:rPr>
                            <m:t>𝑉</m:t>
                          </m:r>
                        </m:sup>
                      </m:sSup>
                      <m:r>
                        <a:rPr lang="en-US" sz="2000" i="1">
                          <a:latin typeface="Cambria Math" panose="02040503050406030204" pitchFamily="18" charset="0"/>
                        </a:rPr>
                        <m:t>+</m:t>
                      </m:r>
                      <m:r>
                        <a:rPr lang="en-US" sz="2000" i="1">
                          <a:latin typeface="Cambria Math" panose="02040503050406030204" pitchFamily="18" charset="0"/>
                        </a:rPr>
                        <m:t>𝛾</m:t>
                      </m:r>
                      <m:sSup>
                        <m:sSupPr>
                          <m:ctrlPr>
                            <a:rPr lang="en-US" sz="2000" i="1">
                              <a:latin typeface="Cambria Math" panose="02040503050406030204" pitchFamily="18" charset="0"/>
                            </a:rPr>
                          </m:ctrlPr>
                        </m:sSupPr>
                        <m:e>
                          <m:r>
                            <a:rPr lang="en-US" sz="2000" b="1" i="1">
                              <a:latin typeface="Cambria Math" panose="02040503050406030204" pitchFamily="18" charset="0"/>
                            </a:rPr>
                            <m:t>𝑿</m:t>
                          </m:r>
                        </m:e>
                        <m:sup>
                          <m:r>
                            <a:rPr lang="en-US" sz="2000" i="1">
                              <a:latin typeface="Cambria Math" panose="02040503050406030204" pitchFamily="18" charset="0"/>
                            </a:rPr>
                            <m:t>𝑇</m:t>
                          </m:r>
                        </m:sup>
                      </m:sSup>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m:rPr>
                                  <m:sty m:val="p"/>
                                </m:rPr>
                                <a:rPr lang="en-US" sz="2000">
                                  <a:latin typeface="Cambria Math" panose="02040503050406030204" pitchFamily="18" charset="0"/>
                                </a:rPr>
                                <m:t>softmax</m:t>
                              </m:r>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𝑄</m:t>
                                      </m:r>
                                      <m:sSup>
                                        <m:sSupPr>
                                          <m:ctrlPr>
                                            <a:rPr lang="en-US" sz="2000" i="1">
                                              <a:latin typeface="Cambria Math" panose="02040503050406030204" pitchFamily="18" charset="0"/>
                                            </a:rPr>
                                          </m:ctrlPr>
                                        </m:sSupPr>
                                        <m:e>
                                          <m:r>
                                            <a:rPr lang="en-US" sz="2000" i="1">
                                              <a:latin typeface="Cambria Math" panose="02040503050406030204" pitchFamily="18" charset="0"/>
                                            </a:rPr>
                                            <m:t>𝐾</m:t>
                                          </m:r>
                                        </m:e>
                                        <m:sup>
                                          <m:r>
                                            <a:rPr lang="en-US" sz="2000" i="1">
                                              <a:latin typeface="Cambria Math" panose="02040503050406030204" pitchFamily="18" charset="0"/>
                                            </a:rPr>
                                            <m:t>𝑇</m:t>
                                          </m:r>
                                        </m:sup>
                                      </m:sSup>
                                    </m:num>
                                    <m:den>
                                      <m:rad>
                                        <m:radPr>
                                          <m:degHide m:val="on"/>
                                          <m:ctrlPr>
                                            <a:rPr lang="en-US" sz="2000" i="1">
                                              <a:latin typeface="Cambria Math" panose="02040503050406030204" pitchFamily="18" charset="0"/>
                                            </a:rPr>
                                          </m:ctrlPr>
                                        </m:radPr>
                                        <m:deg/>
                                        <m:e>
                                          <m:sSub>
                                            <m:sSubPr>
                                              <m:ctrlPr>
                                                <a:rPr lang="en-US" sz="2000" i="1">
                                                  <a:latin typeface="Cambria Math" panose="02040503050406030204" pitchFamily="18" charset="0"/>
                                                </a:rPr>
                                              </m:ctrlPr>
                                            </m:sSubPr>
                                            <m:e>
                                              <m:r>
                                                <a:rPr lang="en-US" sz="2000" i="1">
                                                  <a:latin typeface="Cambria Math" panose="02040503050406030204" pitchFamily="18" charset="0"/>
                                                </a:rPr>
                                                <m:t>𝑑</m:t>
                                              </m:r>
                                            </m:e>
                                            <m:sub>
                                              <m:r>
                                                <a:rPr lang="en-US" sz="2000" i="1">
                                                  <a:latin typeface="Cambria Math" panose="02040503050406030204" pitchFamily="18" charset="0"/>
                                                </a:rPr>
                                                <m:t>𝑘</m:t>
                                              </m:r>
                                            </m:sub>
                                          </m:sSub>
                                        </m:e>
                                      </m:rad>
                                    </m:den>
                                  </m:f>
                                </m:e>
                              </m:d>
                            </m:e>
                          </m:d>
                        </m:e>
                        <m:sup>
                          <m:r>
                            <a:rPr lang="en-US" sz="2000" i="1">
                              <a:latin typeface="Cambria Math" panose="02040503050406030204" pitchFamily="18" charset="0"/>
                            </a:rPr>
                            <m:t>𝑇</m:t>
                          </m:r>
                        </m:sup>
                      </m:sSup>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𝐴</m:t>
                              </m:r>
                            </m:e>
                            <m:sup>
                              <m:r>
                                <a:rPr lang="en-US" sz="2000" i="1">
                                  <a:latin typeface="Cambria Math" panose="02040503050406030204" pitchFamily="18" charset="0"/>
                                </a:rPr>
                                <m:t>′</m:t>
                              </m:r>
                            </m:sup>
                          </m:sSup>
                          <m:r>
                            <a:rPr lang="en-US" sz="2000" i="1">
                              <a:latin typeface="Cambria Math" panose="02040503050406030204" pitchFamily="18" charset="0"/>
                            </a:rPr>
                            <m:t>−</m:t>
                          </m:r>
                          <m:r>
                            <a:rPr lang="en-US" sz="2000" i="1">
                              <a:latin typeface="Cambria Math" panose="02040503050406030204" pitchFamily="18" charset="0"/>
                            </a:rPr>
                            <m:t>𝐴</m:t>
                          </m:r>
                        </m:e>
                      </m:d>
                    </m:oMath>
                  </m:oMathPara>
                </a14:m>
                <a:endParaRPr lang="en-US" sz="2000" dirty="0"/>
              </a:p>
              <a:p>
                <a:pPr marL="0" indent="0">
                  <a:buNone/>
                </a:pPr>
                <a:endParaRPr lang="en-US" sz="2000" dirty="0" smtClean="0"/>
              </a:p>
              <a:p>
                <a:pPr marL="0" indent="0">
                  <a:buNone/>
                </a:pPr>
                <a:endParaRPr lang="en-US" sz="2000" dirty="0" smtClean="0"/>
              </a:p>
              <a:p>
                <a:pPr marL="0"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1120" y="914399"/>
                <a:ext cx="12049760" cy="5176066"/>
              </a:xfrm>
              <a:blipFill>
                <a:blip r:embed="rId2"/>
                <a:stretch>
                  <a:fillRect l="-607" t="-589" r="-557"/>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29</a:t>
            </a:fld>
            <a:endParaRPr lang="en-US"/>
          </a:p>
        </p:txBody>
      </p:sp>
    </p:spTree>
    <p:extLst>
      <p:ext uri="{BB962C8B-B14F-4D97-AF65-F5344CB8AC3E}">
        <p14:creationId xmlns:p14="http://schemas.microsoft.com/office/powerpoint/2010/main" val="396238437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network</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1280" y="914399"/>
                <a:ext cx="12029440" cy="5176066"/>
              </a:xfrm>
            </p:spPr>
            <p:txBody>
              <a:bodyPr>
                <a:noAutofit/>
              </a:bodyPr>
              <a:lstStyle/>
              <a:p>
                <a:pPr marL="0" indent="0">
                  <a:buNone/>
                </a:pPr>
                <a:r>
                  <a:rPr lang="en-US" sz="1900" dirty="0" smtClean="0">
                    <a:effectLst>
                      <a:outerShdw blurRad="38100" dist="38100" dir="2700000" algn="tl">
                        <a:srgbClr val="000000">
                          <a:alpha val="43137"/>
                        </a:srgbClr>
                      </a:outerShdw>
                    </a:effectLst>
                  </a:rPr>
                  <a:t>The most important thing to estimate parametric matrices </a:t>
                </a:r>
                <a:r>
                  <a:rPr lang="en-US" sz="1900" i="1" dirty="0">
                    <a:effectLst>
                      <a:outerShdw blurRad="38100" dist="38100" dir="2700000" algn="tl">
                        <a:srgbClr val="000000">
                          <a:alpha val="43137"/>
                        </a:srgbClr>
                      </a:outerShdw>
                    </a:effectLst>
                  </a:rPr>
                  <a:t>W</a:t>
                </a:r>
                <a:r>
                  <a:rPr lang="en-US" sz="1900" i="1" baseline="30000" dirty="0">
                    <a:effectLst>
                      <a:outerShdw blurRad="38100" dist="38100" dir="2700000" algn="tl">
                        <a:srgbClr val="000000">
                          <a:alpha val="43137"/>
                        </a:srgbClr>
                      </a:outerShdw>
                    </a:effectLst>
                  </a:rPr>
                  <a:t>Q</a:t>
                </a:r>
                <a:r>
                  <a:rPr lang="en-US" sz="1900" dirty="0">
                    <a:effectLst>
                      <a:outerShdw blurRad="38100" dist="38100" dir="2700000" algn="tl">
                        <a:srgbClr val="000000">
                          <a:alpha val="43137"/>
                        </a:srgbClr>
                      </a:outerShdw>
                    </a:effectLst>
                  </a:rPr>
                  <a:t> and </a:t>
                </a:r>
                <a:r>
                  <a:rPr lang="en-US" sz="1900" i="1" dirty="0">
                    <a:effectLst>
                      <a:outerShdw blurRad="38100" dist="38100" dir="2700000" algn="tl">
                        <a:srgbClr val="000000">
                          <a:alpha val="43137"/>
                        </a:srgbClr>
                      </a:outerShdw>
                    </a:effectLst>
                  </a:rPr>
                  <a:t>W</a:t>
                </a:r>
                <a:r>
                  <a:rPr lang="en-US" sz="1900" i="1" baseline="30000" dirty="0">
                    <a:effectLst>
                      <a:outerShdw blurRad="38100" dist="38100" dir="2700000" algn="tl">
                        <a:srgbClr val="000000">
                          <a:alpha val="43137"/>
                        </a:srgbClr>
                      </a:outerShdw>
                    </a:effectLst>
                  </a:rPr>
                  <a:t>K</a:t>
                </a:r>
                <a:r>
                  <a:rPr lang="en-US" sz="1900" dirty="0">
                    <a:effectLst>
                      <a:outerShdw blurRad="38100" dist="38100" dir="2700000" algn="tl">
                        <a:srgbClr val="000000">
                          <a:alpha val="43137"/>
                        </a:srgbClr>
                      </a:outerShdw>
                    </a:effectLst>
                  </a:rPr>
                  <a:t> is to calculate the derivative </a:t>
                </a:r>
                <a:r>
                  <a:rPr lang="en-US" sz="1900" b="1" i="1" dirty="0">
                    <a:effectLst>
                      <a:outerShdw blurRad="38100" dist="38100" dir="2700000" algn="tl">
                        <a:srgbClr val="000000">
                          <a:alpha val="43137"/>
                        </a:srgbClr>
                      </a:outerShdw>
                    </a:effectLst>
                  </a:rPr>
                  <a:t>p</a:t>
                </a:r>
                <a:r>
                  <a:rPr lang="en-US" sz="1900" i="1" baseline="-25000" dirty="0">
                    <a:effectLst>
                      <a:outerShdw blurRad="38100" dist="38100" dir="2700000" algn="tl">
                        <a:srgbClr val="000000">
                          <a:alpha val="43137"/>
                        </a:srgbClr>
                      </a:outerShdw>
                    </a:effectLst>
                  </a:rPr>
                  <a:t>i</a:t>
                </a:r>
                <a:r>
                  <a:rPr lang="en-US" sz="1900" dirty="0">
                    <a:effectLst>
                      <a:outerShdw blurRad="38100" dist="38100" dir="2700000" algn="tl">
                        <a:srgbClr val="000000">
                          <a:alpha val="43137"/>
                        </a:srgbClr>
                      </a:outerShdw>
                    </a:effectLst>
                  </a:rPr>
                  <a:t>’ of the probability </a:t>
                </a:r>
                <a:r>
                  <a:rPr lang="en-US" sz="1900" b="1" i="1" dirty="0">
                    <a:effectLst>
                      <a:outerShdw blurRad="38100" dist="38100" dir="2700000" algn="tl">
                        <a:srgbClr val="000000">
                          <a:alpha val="43137"/>
                        </a:srgbClr>
                      </a:outerShdw>
                    </a:effectLst>
                  </a:rPr>
                  <a:t>p</a:t>
                </a:r>
                <a:r>
                  <a:rPr lang="en-US" sz="1900" i="1" baseline="-25000" dirty="0">
                    <a:effectLst>
                      <a:outerShdw blurRad="38100" dist="38100" dir="2700000" algn="tl">
                        <a:srgbClr val="000000">
                          <a:alpha val="43137"/>
                        </a:srgbClr>
                      </a:outerShdw>
                    </a:effectLst>
                  </a:rPr>
                  <a:t>i</a:t>
                </a:r>
                <a:r>
                  <a:rPr lang="en-US" sz="1900" dirty="0">
                    <a:effectLst>
                      <a:outerShdw blurRad="38100" dist="38100" dir="2700000" algn="tl">
                        <a:srgbClr val="000000">
                          <a:alpha val="43137"/>
                        </a:srgbClr>
                      </a:outerShdw>
                    </a:effectLst>
                  </a:rPr>
                  <a:t> of soft-max function.</a:t>
                </a:r>
              </a:p>
              <a:p>
                <a:pPr marL="0" indent="0">
                  <a:buNone/>
                </a:pPr>
                <a14:m>
                  <m:oMathPara xmlns:m="http://schemas.openxmlformats.org/officeDocument/2006/math">
                    <m:oMathParaPr>
                      <m:jc m:val="centerGroup"/>
                    </m:oMathParaPr>
                    <m:oMath xmlns:m="http://schemas.openxmlformats.org/officeDocument/2006/math">
                      <m:sSubSup>
                        <m:sSubSupPr>
                          <m:ctrlPr>
                            <a:rPr lang="en-US" sz="1900" i="1">
                              <a:latin typeface="Cambria Math" panose="02040503050406030204" pitchFamily="18" charset="0"/>
                            </a:rPr>
                          </m:ctrlPr>
                        </m:sSubSupPr>
                        <m:e>
                          <m:r>
                            <a:rPr lang="en-US" sz="1900" b="1" i="1">
                              <a:latin typeface="Cambria Math" panose="02040503050406030204" pitchFamily="18" charset="0"/>
                            </a:rPr>
                            <m:t>𝒑</m:t>
                          </m:r>
                        </m:e>
                        <m:sub>
                          <m:r>
                            <a:rPr lang="en-US" sz="1900" i="1">
                              <a:latin typeface="Cambria Math" panose="02040503050406030204" pitchFamily="18" charset="0"/>
                            </a:rPr>
                            <m:t>𝑖</m:t>
                          </m:r>
                        </m:sub>
                        <m:sup>
                          <m:r>
                            <a:rPr lang="en-US" sz="1900" i="1">
                              <a:latin typeface="Cambria Math" panose="02040503050406030204" pitchFamily="18" charset="0"/>
                            </a:rPr>
                            <m:t>′</m:t>
                          </m:r>
                        </m:sup>
                      </m:sSubSup>
                      <m:r>
                        <m:rPr>
                          <m:aln/>
                        </m:rPr>
                        <a:rPr lang="en-US" sz="1900" i="1">
                          <a:latin typeface="Cambria Math" panose="02040503050406030204" pitchFamily="18" charset="0"/>
                        </a:rPr>
                        <m:t>=</m:t>
                      </m:r>
                      <m:sSup>
                        <m:sSupPr>
                          <m:ctrlPr>
                            <a:rPr lang="en-US" sz="1900" i="1">
                              <a:latin typeface="Cambria Math" panose="02040503050406030204" pitchFamily="18" charset="0"/>
                            </a:rPr>
                          </m:ctrlPr>
                        </m:sSupPr>
                        <m:e>
                          <m:r>
                            <m:rPr>
                              <m:sty m:val="p"/>
                            </m:rPr>
                            <a:rPr lang="en-US" sz="1900">
                              <a:latin typeface="Cambria Math" panose="02040503050406030204" pitchFamily="18" charset="0"/>
                            </a:rPr>
                            <m:t>softmax</m:t>
                          </m:r>
                        </m:e>
                        <m:sup>
                          <m:r>
                            <a:rPr lang="en-US" sz="1900" i="1">
                              <a:latin typeface="Cambria Math" panose="02040503050406030204" pitchFamily="18" charset="0"/>
                            </a:rPr>
                            <m:t>′</m:t>
                          </m:r>
                        </m:sup>
                      </m:sSup>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r>
                                <a:rPr lang="en-US" sz="1900" b="1" i="1">
                                  <a:latin typeface="Cambria Math" panose="02040503050406030204" pitchFamily="18" charset="0"/>
                                </a:rPr>
                                <m:t>𝒓</m:t>
                              </m:r>
                            </m:e>
                            <m:sub>
                              <m:r>
                                <a:rPr lang="en-US" sz="1900" i="1">
                                  <a:latin typeface="Cambria Math" panose="02040503050406030204" pitchFamily="18" charset="0"/>
                                </a:rPr>
                                <m:t>𝑖</m:t>
                              </m:r>
                            </m:sub>
                          </m:sSub>
                        </m:e>
                      </m:d>
                      <m:r>
                        <a:rPr lang="en-US" sz="1900" i="1">
                          <a:latin typeface="Cambria Math" panose="02040503050406030204" pitchFamily="18" charset="0"/>
                        </a:rPr>
                        <m:t>=</m:t>
                      </m:r>
                      <m:f>
                        <m:fPr>
                          <m:ctrlPr>
                            <a:rPr lang="en-US" sz="1900" i="1">
                              <a:latin typeface="Cambria Math" panose="02040503050406030204" pitchFamily="18" charset="0"/>
                            </a:rPr>
                          </m:ctrlPr>
                        </m:fPr>
                        <m:num>
                          <m:r>
                            <a:rPr lang="en-US" sz="1900" i="1">
                              <a:latin typeface="Cambria Math" panose="02040503050406030204" pitchFamily="18" charset="0"/>
                            </a:rPr>
                            <m:t>𝑑</m:t>
                          </m:r>
                          <m:r>
                            <m:rPr>
                              <m:sty m:val="p"/>
                            </m:rPr>
                            <a:rPr lang="en-US" sz="1900">
                              <a:latin typeface="Cambria Math" panose="02040503050406030204" pitchFamily="18" charset="0"/>
                            </a:rPr>
                            <m:t>softmax</m:t>
                          </m:r>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r>
                                    <a:rPr lang="en-US" sz="1900" b="1" i="1">
                                      <a:latin typeface="Cambria Math" panose="02040503050406030204" pitchFamily="18" charset="0"/>
                                    </a:rPr>
                                    <m:t>𝒓</m:t>
                                  </m:r>
                                </m:e>
                                <m:sub>
                                  <m:r>
                                    <a:rPr lang="en-US" sz="1900" i="1">
                                      <a:latin typeface="Cambria Math" panose="02040503050406030204" pitchFamily="18" charset="0"/>
                                    </a:rPr>
                                    <m:t>𝑖</m:t>
                                  </m:r>
                                </m:sub>
                              </m:sSub>
                            </m:e>
                          </m:d>
                        </m:num>
                        <m:den>
                          <m:r>
                            <a:rPr lang="en-US" sz="1900" i="1">
                              <a:latin typeface="Cambria Math" panose="02040503050406030204" pitchFamily="18" charset="0"/>
                            </a:rPr>
                            <m:t>𝑑</m:t>
                          </m:r>
                          <m:sSub>
                            <m:sSubPr>
                              <m:ctrlPr>
                                <a:rPr lang="en-US" sz="1900" i="1">
                                  <a:latin typeface="Cambria Math" panose="02040503050406030204" pitchFamily="18" charset="0"/>
                                </a:rPr>
                              </m:ctrlPr>
                            </m:sSubPr>
                            <m:e>
                              <m:r>
                                <a:rPr lang="en-US" sz="1900" b="1" i="1">
                                  <a:latin typeface="Cambria Math" panose="02040503050406030204" pitchFamily="18" charset="0"/>
                                </a:rPr>
                                <m:t>𝒓</m:t>
                              </m:r>
                            </m:e>
                            <m:sub>
                              <m:r>
                                <a:rPr lang="en-US" sz="1900" i="1">
                                  <a:latin typeface="Cambria Math" panose="02040503050406030204" pitchFamily="18" charset="0"/>
                                </a:rPr>
                                <m:t>𝑖</m:t>
                              </m:r>
                            </m:sub>
                          </m:sSub>
                        </m:den>
                      </m:f>
                      <m:r>
                        <a:rPr lang="en-US" sz="1900" b="0" i="1" smtClean="0">
                          <a:latin typeface="Cambria Math" panose="02040503050406030204" pitchFamily="18" charset="0"/>
                        </a:rPr>
                        <m:t> </m:t>
                      </m:r>
                      <m:r>
                        <m:rPr>
                          <m:sty m:val="p"/>
                        </m:rPr>
                        <a:rPr lang="en-US" sz="1900" b="0" i="0" smtClean="0">
                          <a:latin typeface="Cambria Math" panose="02040503050406030204" pitchFamily="18" charset="0"/>
                        </a:rPr>
                        <m:t>where</m:t>
                      </m:r>
                      <m:r>
                        <a:rPr lang="en-US" sz="1900" b="0" i="0" smtClean="0">
                          <a:latin typeface="Cambria Math" panose="02040503050406030204" pitchFamily="18" charset="0"/>
                        </a:rPr>
                        <m:t> </m:t>
                      </m:r>
                      <m:sSub>
                        <m:sSubPr>
                          <m:ctrlPr>
                            <a:rPr lang="en-US" sz="1900" i="1">
                              <a:latin typeface="Cambria Math" panose="02040503050406030204" pitchFamily="18" charset="0"/>
                            </a:rPr>
                          </m:ctrlPr>
                        </m:sSubPr>
                        <m:e>
                          <m:r>
                            <a:rPr lang="en-US" sz="1900" b="1" i="1">
                              <a:latin typeface="Cambria Math" panose="02040503050406030204" pitchFamily="18" charset="0"/>
                            </a:rPr>
                            <m:t>𝒑</m:t>
                          </m:r>
                        </m:e>
                        <m:sub>
                          <m:r>
                            <a:rPr lang="en-US" sz="1900" i="1">
                              <a:latin typeface="Cambria Math" panose="02040503050406030204" pitchFamily="18" charset="0"/>
                            </a:rPr>
                            <m:t>𝑖</m:t>
                          </m:r>
                        </m:sub>
                      </m:sSub>
                      <m:r>
                        <a:rPr lang="en-US" sz="1900" i="1">
                          <a:latin typeface="Cambria Math" panose="02040503050406030204" pitchFamily="18" charset="0"/>
                        </a:rPr>
                        <m:t>=</m:t>
                      </m:r>
                      <m:r>
                        <m:rPr>
                          <m:sty m:val="p"/>
                        </m:rPr>
                        <a:rPr lang="en-US" sz="1900">
                          <a:latin typeface="Cambria Math" panose="02040503050406030204" pitchFamily="18" charset="0"/>
                        </a:rPr>
                        <m:t>softmax</m:t>
                      </m:r>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r>
                                <a:rPr lang="en-US" sz="1900" b="1" i="1">
                                  <a:latin typeface="Cambria Math" panose="02040503050406030204" pitchFamily="18" charset="0"/>
                                </a:rPr>
                                <m:t>𝒓</m:t>
                              </m:r>
                            </m:e>
                            <m:sub>
                              <m:r>
                                <a:rPr lang="en-US" sz="1900" i="1">
                                  <a:latin typeface="Cambria Math" panose="02040503050406030204" pitchFamily="18" charset="0"/>
                                </a:rPr>
                                <m:t>𝑖</m:t>
                              </m:r>
                            </m:sub>
                          </m:sSub>
                        </m:e>
                      </m:d>
                      <m:r>
                        <a:rPr lang="en-US" sz="1900" i="1">
                          <a:latin typeface="Cambria Math" panose="02040503050406030204" pitchFamily="18" charset="0"/>
                        </a:rPr>
                        <m:t>=</m:t>
                      </m:r>
                      <m:sSup>
                        <m:sSupPr>
                          <m:ctrlPr>
                            <a:rPr lang="en-US" sz="1900" i="1">
                              <a:latin typeface="Cambria Math" panose="02040503050406030204" pitchFamily="18" charset="0"/>
                            </a:rPr>
                          </m:ctrlPr>
                        </m:sSupPr>
                        <m:e>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r>
                                    <a:rPr lang="en-US" sz="1900" i="1">
                                      <a:latin typeface="Cambria Math" panose="02040503050406030204" pitchFamily="18" charset="0"/>
                                    </a:rPr>
                                    <m:t>𝑝</m:t>
                                  </m:r>
                                </m:e>
                                <m:sub>
                                  <m:r>
                                    <a:rPr lang="en-US" sz="1900" i="1">
                                      <a:latin typeface="Cambria Math" panose="02040503050406030204" pitchFamily="18" charset="0"/>
                                    </a:rPr>
                                    <m:t>𝑖</m:t>
                                  </m:r>
                                  <m:r>
                                    <a:rPr lang="en-US" sz="1900" i="1">
                                      <a:latin typeface="Cambria Math" panose="02040503050406030204" pitchFamily="18" charset="0"/>
                                    </a:rPr>
                                    <m:t>1</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𝑝</m:t>
                                  </m:r>
                                </m:e>
                                <m:sub>
                                  <m:r>
                                    <a:rPr lang="en-US" sz="1900" i="1">
                                      <a:latin typeface="Cambria Math" panose="02040503050406030204" pitchFamily="18" charset="0"/>
                                    </a:rPr>
                                    <m:t>𝑖</m:t>
                                  </m:r>
                                  <m:r>
                                    <a:rPr lang="en-US" sz="1900" i="1">
                                      <a:latin typeface="Cambria Math" panose="02040503050406030204" pitchFamily="18" charset="0"/>
                                    </a:rPr>
                                    <m:t>2</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𝑝</m:t>
                                  </m:r>
                                </m:e>
                                <m:sub>
                                  <m:r>
                                    <a:rPr lang="en-US" sz="1900" i="1">
                                      <a:latin typeface="Cambria Math" panose="02040503050406030204" pitchFamily="18" charset="0"/>
                                    </a:rPr>
                                    <m:t>𝑖𝑚</m:t>
                                  </m:r>
                                </m:sub>
                              </m:sSub>
                            </m:e>
                          </m:d>
                        </m:e>
                        <m:sup>
                          <m:r>
                            <a:rPr lang="en-US" sz="1900" i="1">
                              <a:latin typeface="Cambria Math" panose="02040503050406030204" pitchFamily="18" charset="0"/>
                            </a:rPr>
                            <m:t>𝑇</m:t>
                          </m:r>
                        </m:sup>
                      </m:sSup>
                    </m:oMath>
                  </m:oMathPara>
                </a14:m>
                <a:endParaRPr lang="en-US" sz="1900" dirty="0" smtClean="0"/>
              </a:p>
              <a:p>
                <a:pPr marL="0" indent="0">
                  <a:buNone/>
                </a:pPr>
                <a14:m>
                  <m:oMathPara xmlns:m="http://schemas.openxmlformats.org/officeDocument/2006/math">
                    <m:oMathParaPr>
                      <m:jc m:val="centerGroup"/>
                    </m:oMathParaPr>
                    <m:oMath xmlns:m="http://schemas.openxmlformats.org/officeDocument/2006/math">
                      <m:sSub>
                        <m:sSubPr>
                          <m:ctrlPr>
                            <a:rPr lang="en-US" sz="1900" i="1">
                              <a:latin typeface="Cambria Math" panose="02040503050406030204" pitchFamily="18" charset="0"/>
                            </a:rPr>
                          </m:ctrlPr>
                        </m:sSubPr>
                        <m:e>
                          <m:r>
                            <a:rPr lang="en-US" sz="1900" b="1" i="1">
                              <a:latin typeface="Cambria Math" panose="02040503050406030204" pitchFamily="18" charset="0"/>
                            </a:rPr>
                            <m:t>𝒓</m:t>
                          </m:r>
                        </m:e>
                        <m:sub>
                          <m:r>
                            <a:rPr lang="en-US" sz="1900" i="1">
                              <a:latin typeface="Cambria Math" panose="02040503050406030204" pitchFamily="18" charset="0"/>
                            </a:rPr>
                            <m:t>𝑖</m:t>
                          </m:r>
                        </m:sub>
                      </m:sSub>
                      <m:r>
                        <m:rPr>
                          <m:aln/>
                        </m:rPr>
                        <a:rPr lang="en-US" sz="1900" i="1">
                          <a:latin typeface="Cambria Math" panose="02040503050406030204" pitchFamily="18" charset="0"/>
                        </a:rPr>
                        <m:t>=</m:t>
                      </m:r>
                      <m:sSup>
                        <m:sSupPr>
                          <m:ctrlPr>
                            <a:rPr lang="en-US" sz="1900" i="1">
                              <a:latin typeface="Cambria Math" panose="02040503050406030204" pitchFamily="18" charset="0"/>
                            </a:rPr>
                          </m:ctrlPr>
                        </m:sSupPr>
                        <m:e>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r>
                                    <a:rPr lang="en-US" sz="1900" i="1">
                                      <a:latin typeface="Cambria Math" panose="02040503050406030204" pitchFamily="18" charset="0"/>
                                    </a:rPr>
                                    <m:t>𝑟</m:t>
                                  </m:r>
                                </m:e>
                                <m:sub>
                                  <m:r>
                                    <a:rPr lang="en-US" sz="1900" i="1">
                                      <a:latin typeface="Cambria Math" panose="02040503050406030204" pitchFamily="18" charset="0"/>
                                    </a:rPr>
                                    <m:t>𝑖</m:t>
                                  </m:r>
                                  <m:r>
                                    <a:rPr lang="en-US" sz="1900" i="1">
                                      <a:latin typeface="Cambria Math" panose="02040503050406030204" pitchFamily="18" charset="0"/>
                                    </a:rPr>
                                    <m:t>1</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𝑟</m:t>
                                  </m:r>
                                </m:e>
                                <m:sub>
                                  <m:r>
                                    <a:rPr lang="en-US" sz="1900" i="1">
                                      <a:latin typeface="Cambria Math" panose="02040503050406030204" pitchFamily="18" charset="0"/>
                                    </a:rPr>
                                    <m:t>𝑖</m:t>
                                  </m:r>
                                  <m:r>
                                    <a:rPr lang="en-US" sz="1900" i="1">
                                      <a:latin typeface="Cambria Math" panose="02040503050406030204" pitchFamily="18" charset="0"/>
                                    </a:rPr>
                                    <m:t>1</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𝑟</m:t>
                                  </m:r>
                                </m:e>
                                <m:sub>
                                  <m:r>
                                    <a:rPr lang="en-US" sz="1900" i="1">
                                      <a:latin typeface="Cambria Math" panose="02040503050406030204" pitchFamily="18" charset="0"/>
                                    </a:rPr>
                                    <m:t>𝑖𝑚</m:t>
                                  </m:r>
                                </m:sub>
                              </m:sSub>
                            </m:e>
                          </m:d>
                        </m:e>
                        <m:sup>
                          <m:r>
                            <a:rPr lang="en-US" sz="1900" i="1">
                              <a:latin typeface="Cambria Math" panose="02040503050406030204" pitchFamily="18" charset="0"/>
                            </a:rPr>
                            <m:t>𝑇</m:t>
                          </m:r>
                        </m:sup>
                      </m:sSup>
                      <m:r>
                        <a:rPr lang="en-US" sz="1900" i="1">
                          <a:latin typeface="Cambria Math" panose="02040503050406030204" pitchFamily="18" charset="0"/>
                        </a:rPr>
                        <m:t>=</m:t>
                      </m:r>
                      <m:sSup>
                        <m:sSupPr>
                          <m:ctrlPr>
                            <a:rPr lang="en-US" sz="1900" i="1">
                              <a:latin typeface="Cambria Math" panose="02040503050406030204" pitchFamily="18" charset="0"/>
                            </a:rPr>
                          </m:ctrlPr>
                        </m:sSupPr>
                        <m:e>
                          <m:d>
                            <m:dPr>
                              <m:ctrlPr>
                                <a:rPr lang="en-US" sz="1900" i="1">
                                  <a:latin typeface="Cambria Math" panose="02040503050406030204" pitchFamily="18" charset="0"/>
                                </a:rPr>
                              </m:ctrlPr>
                            </m:dPr>
                            <m:e>
                              <m:f>
                                <m:fPr>
                                  <m:ctrlPr>
                                    <a:rPr lang="en-US" sz="1900" i="1">
                                      <a:latin typeface="Cambria Math" panose="02040503050406030204" pitchFamily="18" charset="0"/>
                                    </a:rPr>
                                  </m:ctrlPr>
                                </m:fPr>
                                <m:num>
                                  <m:sSub>
                                    <m:sSubPr>
                                      <m:ctrlPr>
                                        <a:rPr lang="en-US" sz="1900" i="1">
                                          <a:latin typeface="Cambria Math" panose="02040503050406030204" pitchFamily="18" charset="0"/>
                                        </a:rPr>
                                      </m:ctrlPr>
                                    </m:sSubPr>
                                    <m:e>
                                      <m:r>
                                        <a:rPr lang="en-US" sz="1900" b="1" i="1">
                                          <a:latin typeface="Cambria Math" panose="02040503050406030204" pitchFamily="18" charset="0"/>
                                        </a:rPr>
                                        <m:t>𝒒</m:t>
                                      </m:r>
                                    </m:e>
                                    <m:sub>
                                      <m:r>
                                        <a:rPr lang="en-US" sz="1900" i="1">
                                          <a:latin typeface="Cambria Math" panose="02040503050406030204" pitchFamily="18" charset="0"/>
                                        </a:rPr>
                                        <m:t>𝑖</m:t>
                                      </m:r>
                                    </m:sub>
                                  </m:sSub>
                                  <m:sSubSup>
                                    <m:sSubSupPr>
                                      <m:ctrlPr>
                                        <a:rPr lang="en-US" sz="1900" i="1">
                                          <a:latin typeface="Cambria Math" panose="02040503050406030204" pitchFamily="18" charset="0"/>
                                        </a:rPr>
                                      </m:ctrlPr>
                                    </m:sSubSupPr>
                                    <m:e>
                                      <m:r>
                                        <a:rPr lang="en-US" sz="1900" b="1" i="1">
                                          <a:latin typeface="Cambria Math" panose="02040503050406030204" pitchFamily="18" charset="0"/>
                                        </a:rPr>
                                        <m:t>𝒌</m:t>
                                      </m:r>
                                    </m:e>
                                    <m:sub>
                                      <m:r>
                                        <a:rPr lang="en-US" sz="1900" i="1">
                                          <a:latin typeface="Cambria Math" panose="02040503050406030204" pitchFamily="18" charset="0"/>
                                        </a:rPr>
                                        <m:t>1</m:t>
                                      </m:r>
                                    </m:sub>
                                    <m:sup>
                                      <m:r>
                                        <a:rPr lang="en-US" sz="1900" i="1">
                                          <a:latin typeface="Cambria Math" panose="02040503050406030204" pitchFamily="18" charset="0"/>
                                        </a:rPr>
                                        <m:t>𝑇</m:t>
                                      </m:r>
                                    </m:sup>
                                  </m:sSubSup>
                                </m:num>
                                <m:den>
                                  <m:rad>
                                    <m:radPr>
                                      <m:degHide m:val="on"/>
                                      <m:ctrlPr>
                                        <a:rPr lang="en-US" sz="1900" i="1">
                                          <a:latin typeface="Cambria Math" panose="02040503050406030204" pitchFamily="18" charset="0"/>
                                        </a:rPr>
                                      </m:ctrlPr>
                                    </m:radPr>
                                    <m:deg/>
                                    <m:e>
                                      <m:sSub>
                                        <m:sSubPr>
                                          <m:ctrlPr>
                                            <a:rPr lang="en-US" sz="1900" i="1">
                                              <a:latin typeface="Cambria Math" panose="02040503050406030204" pitchFamily="18" charset="0"/>
                                            </a:rPr>
                                          </m:ctrlPr>
                                        </m:sSubPr>
                                        <m:e>
                                          <m:r>
                                            <a:rPr lang="en-US" sz="1900" i="1">
                                              <a:latin typeface="Cambria Math" panose="02040503050406030204" pitchFamily="18" charset="0"/>
                                            </a:rPr>
                                            <m:t>𝑑</m:t>
                                          </m:r>
                                        </m:e>
                                        <m:sub>
                                          <m:r>
                                            <a:rPr lang="en-US" sz="1900" i="1">
                                              <a:latin typeface="Cambria Math" panose="02040503050406030204" pitchFamily="18" charset="0"/>
                                            </a:rPr>
                                            <m:t>𝑘</m:t>
                                          </m:r>
                                        </m:sub>
                                      </m:sSub>
                                    </m:e>
                                  </m:rad>
                                </m:den>
                              </m:f>
                              <m:r>
                                <a:rPr lang="en-US" sz="1900" i="1">
                                  <a:latin typeface="Cambria Math" panose="02040503050406030204" pitchFamily="18" charset="0"/>
                                </a:rPr>
                                <m:t>,</m:t>
                              </m:r>
                              <m:f>
                                <m:fPr>
                                  <m:ctrlPr>
                                    <a:rPr lang="en-US" sz="1900" i="1">
                                      <a:latin typeface="Cambria Math" panose="02040503050406030204" pitchFamily="18" charset="0"/>
                                    </a:rPr>
                                  </m:ctrlPr>
                                </m:fPr>
                                <m:num>
                                  <m:sSub>
                                    <m:sSubPr>
                                      <m:ctrlPr>
                                        <a:rPr lang="en-US" sz="1900" i="1">
                                          <a:latin typeface="Cambria Math" panose="02040503050406030204" pitchFamily="18" charset="0"/>
                                        </a:rPr>
                                      </m:ctrlPr>
                                    </m:sSubPr>
                                    <m:e>
                                      <m:r>
                                        <a:rPr lang="en-US" sz="1900" b="1" i="1">
                                          <a:latin typeface="Cambria Math" panose="02040503050406030204" pitchFamily="18" charset="0"/>
                                        </a:rPr>
                                        <m:t>𝒒</m:t>
                                      </m:r>
                                    </m:e>
                                    <m:sub>
                                      <m:r>
                                        <a:rPr lang="en-US" sz="1900" i="1">
                                          <a:latin typeface="Cambria Math" panose="02040503050406030204" pitchFamily="18" charset="0"/>
                                        </a:rPr>
                                        <m:t>𝑖</m:t>
                                      </m:r>
                                    </m:sub>
                                  </m:sSub>
                                  <m:sSubSup>
                                    <m:sSubSupPr>
                                      <m:ctrlPr>
                                        <a:rPr lang="en-US" sz="1900" i="1">
                                          <a:latin typeface="Cambria Math" panose="02040503050406030204" pitchFamily="18" charset="0"/>
                                        </a:rPr>
                                      </m:ctrlPr>
                                    </m:sSubSupPr>
                                    <m:e>
                                      <m:r>
                                        <a:rPr lang="en-US" sz="1900" b="1" i="1">
                                          <a:latin typeface="Cambria Math" panose="02040503050406030204" pitchFamily="18" charset="0"/>
                                        </a:rPr>
                                        <m:t>𝒌</m:t>
                                      </m:r>
                                    </m:e>
                                    <m:sub>
                                      <m:r>
                                        <a:rPr lang="en-US" sz="1900" i="1">
                                          <a:latin typeface="Cambria Math" panose="02040503050406030204" pitchFamily="18" charset="0"/>
                                        </a:rPr>
                                        <m:t>2</m:t>
                                      </m:r>
                                    </m:sub>
                                    <m:sup>
                                      <m:r>
                                        <a:rPr lang="en-US" sz="1900" i="1">
                                          <a:latin typeface="Cambria Math" panose="02040503050406030204" pitchFamily="18" charset="0"/>
                                        </a:rPr>
                                        <m:t>𝑇</m:t>
                                      </m:r>
                                    </m:sup>
                                  </m:sSubSup>
                                </m:num>
                                <m:den>
                                  <m:rad>
                                    <m:radPr>
                                      <m:degHide m:val="on"/>
                                      <m:ctrlPr>
                                        <a:rPr lang="en-US" sz="1900" i="1">
                                          <a:latin typeface="Cambria Math" panose="02040503050406030204" pitchFamily="18" charset="0"/>
                                        </a:rPr>
                                      </m:ctrlPr>
                                    </m:radPr>
                                    <m:deg/>
                                    <m:e>
                                      <m:sSub>
                                        <m:sSubPr>
                                          <m:ctrlPr>
                                            <a:rPr lang="en-US" sz="1900" i="1">
                                              <a:latin typeface="Cambria Math" panose="02040503050406030204" pitchFamily="18" charset="0"/>
                                            </a:rPr>
                                          </m:ctrlPr>
                                        </m:sSubPr>
                                        <m:e>
                                          <m:r>
                                            <a:rPr lang="en-US" sz="1900" i="1">
                                              <a:latin typeface="Cambria Math" panose="02040503050406030204" pitchFamily="18" charset="0"/>
                                            </a:rPr>
                                            <m:t>𝑑</m:t>
                                          </m:r>
                                        </m:e>
                                        <m:sub>
                                          <m:r>
                                            <a:rPr lang="en-US" sz="1900" i="1">
                                              <a:latin typeface="Cambria Math" panose="02040503050406030204" pitchFamily="18" charset="0"/>
                                            </a:rPr>
                                            <m:t>𝑘</m:t>
                                          </m:r>
                                        </m:sub>
                                      </m:sSub>
                                    </m:e>
                                  </m:rad>
                                </m:den>
                              </m:f>
                              <m:r>
                                <a:rPr lang="en-US" sz="1900" i="1">
                                  <a:latin typeface="Cambria Math" panose="02040503050406030204" pitchFamily="18" charset="0"/>
                                </a:rPr>
                                <m:t>,…,</m:t>
                              </m:r>
                              <m:f>
                                <m:fPr>
                                  <m:ctrlPr>
                                    <a:rPr lang="en-US" sz="1900" i="1">
                                      <a:latin typeface="Cambria Math" panose="02040503050406030204" pitchFamily="18" charset="0"/>
                                    </a:rPr>
                                  </m:ctrlPr>
                                </m:fPr>
                                <m:num>
                                  <m:sSub>
                                    <m:sSubPr>
                                      <m:ctrlPr>
                                        <a:rPr lang="en-US" sz="1900" i="1">
                                          <a:latin typeface="Cambria Math" panose="02040503050406030204" pitchFamily="18" charset="0"/>
                                        </a:rPr>
                                      </m:ctrlPr>
                                    </m:sSubPr>
                                    <m:e>
                                      <m:r>
                                        <a:rPr lang="en-US" sz="1900" b="1" i="1">
                                          <a:latin typeface="Cambria Math" panose="02040503050406030204" pitchFamily="18" charset="0"/>
                                        </a:rPr>
                                        <m:t>𝒒</m:t>
                                      </m:r>
                                    </m:e>
                                    <m:sub>
                                      <m:r>
                                        <a:rPr lang="en-US" sz="1900" i="1">
                                          <a:latin typeface="Cambria Math" panose="02040503050406030204" pitchFamily="18" charset="0"/>
                                        </a:rPr>
                                        <m:t>𝑖</m:t>
                                      </m:r>
                                    </m:sub>
                                  </m:sSub>
                                  <m:sSubSup>
                                    <m:sSubSupPr>
                                      <m:ctrlPr>
                                        <a:rPr lang="en-US" sz="1900" i="1">
                                          <a:latin typeface="Cambria Math" panose="02040503050406030204" pitchFamily="18" charset="0"/>
                                        </a:rPr>
                                      </m:ctrlPr>
                                    </m:sSubSupPr>
                                    <m:e>
                                      <m:r>
                                        <a:rPr lang="en-US" sz="1900" b="1" i="1">
                                          <a:latin typeface="Cambria Math" panose="02040503050406030204" pitchFamily="18" charset="0"/>
                                        </a:rPr>
                                        <m:t>𝒌</m:t>
                                      </m:r>
                                    </m:e>
                                    <m:sub>
                                      <m:r>
                                        <a:rPr lang="en-US" sz="1900" i="1">
                                          <a:latin typeface="Cambria Math" panose="02040503050406030204" pitchFamily="18" charset="0"/>
                                        </a:rPr>
                                        <m:t>𝑚</m:t>
                                      </m:r>
                                    </m:sub>
                                    <m:sup>
                                      <m:r>
                                        <a:rPr lang="en-US" sz="1900" i="1">
                                          <a:latin typeface="Cambria Math" panose="02040503050406030204" pitchFamily="18" charset="0"/>
                                        </a:rPr>
                                        <m:t>𝑇</m:t>
                                      </m:r>
                                    </m:sup>
                                  </m:sSubSup>
                                </m:num>
                                <m:den>
                                  <m:rad>
                                    <m:radPr>
                                      <m:degHide m:val="on"/>
                                      <m:ctrlPr>
                                        <a:rPr lang="en-US" sz="1900" i="1">
                                          <a:latin typeface="Cambria Math" panose="02040503050406030204" pitchFamily="18" charset="0"/>
                                        </a:rPr>
                                      </m:ctrlPr>
                                    </m:radPr>
                                    <m:deg/>
                                    <m:e>
                                      <m:sSub>
                                        <m:sSubPr>
                                          <m:ctrlPr>
                                            <a:rPr lang="en-US" sz="1900" i="1">
                                              <a:latin typeface="Cambria Math" panose="02040503050406030204" pitchFamily="18" charset="0"/>
                                            </a:rPr>
                                          </m:ctrlPr>
                                        </m:sSubPr>
                                        <m:e>
                                          <m:r>
                                            <a:rPr lang="en-US" sz="1900" i="1">
                                              <a:latin typeface="Cambria Math" panose="02040503050406030204" pitchFamily="18" charset="0"/>
                                            </a:rPr>
                                            <m:t>𝑑</m:t>
                                          </m:r>
                                        </m:e>
                                        <m:sub>
                                          <m:r>
                                            <a:rPr lang="en-US" sz="1900" i="1">
                                              <a:latin typeface="Cambria Math" panose="02040503050406030204" pitchFamily="18" charset="0"/>
                                            </a:rPr>
                                            <m:t>𝑘</m:t>
                                          </m:r>
                                        </m:sub>
                                      </m:sSub>
                                    </m:e>
                                  </m:rad>
                                </m:den>
                              </m:f>
                            </m:e>
                          </m:d>
                        </m:e>
                        <m:sup>
                          <m:r>
                            <a:rPr lang="en-US" sz="1900" i="1">
                              <a:latin typeface="Cambria Math" panose="02040503050406030204" pitchFamily="18" charset="0"/>
                            </a:rPr>
                            <m:t>𝑇</m:t>
                          </m:r>
                        </m:sup>
                      </m:sSup>
                    </m:oMath>
                  </m:oMathPara>
                </a14:m>
                <a:endParaRPr lang="en-US" sz="1900" dirty="0"/>
              </a:p>
              <a:p>
                <a:pPr marL="0" indent="0">
                  <a:buNone/>
                </a:pPr>
                <a:r>
                  <a:rPr lang="en-US" sz="1900" dirty="0"/>
                  <a:t>Indeed, we have:</a:t>
                </a:r>
              </a:p>
              <a:p>
                <a:pPr marL="0" indent="0">
                  <a:buNone/>
                </a:pPr>
                <a14:m>
                  <m:oMathPara xmlns:m="http://schemas.openxmlformats.org/officeDocument/2006/math">
                    <m:oMathParaPr>
                      <m:jc m:val="centerGroup"/>
                    </m:oMathParaPr>
                    <m:oMath xmlns:m="http://schemas.openxmlformats.org/officeDocument/2006/math">
                      <m:sSubSup>
                        <m:sSubSupPr>
                          <m:ctrlPr>
                            <a:rPr lang="en-US" sz="1900" i="1">
                              <a:latin typeface="Cambria Math" panose="02040503050406030204" pitchFamily="18" charset="0"/>
                            </a:rPr>
                          </m:ctrlPr>
                        </m:sSubSupPr>
                        <m:e>
                          <m:r>
                            <a:rPr lang="en-US" sz="1900" b="1" i="1">
                              <a:latin typeface="Cambria Math" panose="02040503050406030204" pitchFamily="18" charset="0"/>
                            </a:rPr>
                            <m:t>𝒑</m:t>
                          </m:r>
                        </m:e>
                        <m:sub>
                          <m:r>
                            <a:rPr lang="en-US" sz="1900" i="1">
                              <a:latin typeface="Cambria Math" panose="02040503050406030204" pitchFamily="18" charset="0"/>
                            </a:rPr>
                            <m:t>𝑖</m:t>
                          </m:r>
                        </m:sub>
                        <m:sup>
                          <m:r>
                            <a:rPr lang="en-US" sz="1900" i="1">
                              <a:latin typeface="Cambria Math" panose="02040503050406030204" pitchFamily="18" charset="0"/>
                            </a:rPr>
                            <m:t>′</m:t>
                          </m:r>
                        </m:sup>
                      </m:sSubSup>
                      <m:r>
                        <a:rPr lang="en-US" sz="1900" i="1">
                          <a:latin typeface="Cambria Math" panose="02040503050406030204" pitchFamily="18" charset="0"/>
                        </a:rPr>
                        <m:t>=</m:t>
                      </m:r>
                      <m:sSup>
                        <m:sSupPr>
                          <m:ctrlPr>
                            <a:rPr lang="en-US" sz="1900" i="1">
                              <a:latin typeface="Cambria Math" panose="02040503050406030204" pitchFamily="18" charset="0"/>
                            </a:rPr>
                          </m:ctrlPr>
                        </m:sSupPr>
                        <m:e>
                          <m:r>
                            <m:rPr>
                              <m:sty m:val="p"/>
                            </m:rPr>
                            <a:rPr lang="en-US" sz="1900">
                              <a:latin typeface="Cambria Math" panose="02040503050406030204" pitchFamily="18" charset="0"/>
                            </a:rPr>
                            <m:t>softmax</m:t>
                          </m:r>
                        </m:e>
                        <m:sup>
                          <m:r>
                            <a:rPr lang="en-US" sz="1900" i="1">
                              <a:latin typeface="Cambria Math" panose="02040503050406030204" pitchFamily="18" charset="0"/>
                            </a:rPr>
                            <m:t>′</m:t>
                          </m:r>
                        </m:sup>
                      </m:sSup>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r>
                                <a:rPr lang="en-US" sz="1900" b="1" i="1">
                                  <a:latin typeface="Cambria Math" panose="02040503050406030204" pitchFamily="18" charset="0"/>
                                </a:rPr>
                                <m:t>𝒓</m:t>
                              </m:r>
                            </m:e>
                            <m:sub>
                              <m:r>
                                <a:rPr lang="en-US" sz="1900" i="1">
                                  <a:latin typeface="Cambria Math" panose="02040503050406030204" pitchFamily="18" charset="0"/>
                                </a:rPr>
                                <m:t>𝑖</m:t>
                              </m:r>
                            </m:sub>
                          </m:sSub>
                        </m:e>
                      </m:d>
                      <m:r>
                        <a:rPr lang="en-US" sz="1900" i="1">
                          <a:latin typeface="Cambria Math" panose="02040503050406030204" pitchFamily="18" charset="0"/>
                        </a:rPr>
                        <m:t>=</m:t>
                      </m:r>
                      <m:d>
                        <m:dPr>
                          <m:ctrlPr>
                            <a:rPr lang="en-US" sz="1900" i="1">
                              <a:latin typeface="Cambria Math" panose="02040503050406030204" pitchFamily="18" charset="0"/>
                            </a:rPr>
                          </m:ctrlPr>
                        </m:dPr>
                        <m:e>
                          <m:m>
                            <m:mPr>
                              <m:mcs>
                                <m:mc>
                                  <m:mcPr>
                                    <m:count m:val="4"/>
                                    <m:mcJc m:val="center"/>
                                  </m:mcPr>
                                </m:mc>
                              </m:mcs>
                              <m:ctrlPr>
                                <a:rPr lang="en-US" sz="1900" i="1">
                                  <a:latin typeface="Cambria Math" panose="02040503050406030204" pitchFamily="18" charset="0"/>
                                </a:rPr>
                              </m:ctrlPr>
                            </m:mPr>
                            <m:mr>
                              <m:e>
                                <m:f>
                                  <m:fPr>
                                    <m:ctrlPr>
                                      <a:rPr lang="en-US" sz="1900" i="1">
                                        <a:latin typeface="Cambria Math" panose="02040503050406030204" pitchFamily="18" charset="0"/>
                                      </a:rPr>
                                    </m:ctrlPr>
                                  </m:fPr>
                                  <m:num>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𝑝</m:t>
                                        </m:r>
                                      </m:e>
                                      <m:sub>
                                        <m:r>
                                          <a:rPr lang="en-US" sz="1900" i="1">
                                            <a:latin typeface="Cambria Math" panose="02040503050406030204" pitchFamily="18" charset="0"/>
                                          </a:rPr>
                                          <m:t>𝑖</m:t>
                                        </m:r>
                                        <m:r>
                                          <a:rPr lang="en-US" sz="1900" i="1">
                                            <a:latin typeface="Cambria Math" panose="02040503050406030204" pitchFamily="18" charset="0"/>
                                          </a:rPr>
                                          <m:t>1</m:t>
                                        </m:r>
                                      </m:sub>
                                    </m:sSub>
                                  </m:num>
                                  <m:den>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𝑟</m:t>
                                        </m:r>
                                      </m:e>
                                      <m:sub>
                                        <m:r>
                                          <a:rPr lang="en-US" sz="1900" i="1">
                                            <a:latin typeface="Cambria Math" panose="02040503050406030204" pitchFamily="18" charset="0"/>
                                          </a:rPr>
                                          <m:t>𝑖</m:t>
                                        </m:r>
                                        <m:r>
                                          <a:rPr lang="en-US" sz="1900" i="1">
                                            <a:latin typeface="Cambria Math" panose="02040503050406030204" pitchFamily="18" charset="0"/>
                                          </a:rPr>
                                          <m:t>1</m:t>
                                        </m:r>
                                      </m:sub>
                                    </m:sSub>
                                  </m:den>
                                </m:f>
                              </m:e>
                              <m:e>
                                <m:f>
                                  <m:fPr>
                                    <m:ctrlPr>
                                      <a:rPr lang="en-US" sz="1900" i="1">
                                        <a:latin typeface="Cambria Math" panose="02040503050406030204" pitchFamily="18" charset="0"/>
                                      </a:rPr>
                                    </m:ctrlPr>
                                  </m:fPr>
                                  <m:num>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𝑝</m:t>
                                        </m:r>
                                      </m:e>
                                      <m:sub>
                                        <m:r>
                                          <a:rPr lang="en-US" sz="1900" i="1">
                                            <a:latin typeface="Cambria Math" panose="02040503050406030204" pitchFamily="18" charset="0"/>
                                          </a:rPr>
                                          <m:t>𝑖</m:t>
                                        </m:r>
                                        <m:r>
                                          <a:rPr lang="en-US" sz="1900" i="1">
                                            <a:latin typeface="Cambria Math" panose="02040503050406030204" pitchFamily="18" charset="0"/>
                                          </a:rPr>
                                          <m:t>1</m:t>
                                        </m:r>
                                      </m:sub>
                                    </m:sSub>
                                  </m:num>
                                  <m:den>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𝑟</m:t>
                                        </m:r>
                                      </m:e>
                                      <m:sub>
                                        <m:r>
                                          <a:rPr lang="en-US" sz="1900" i="1">
                                            <a:latin typeface="Cambria Math" panose="02040503050406030204" pitchFamily="18" charset="0"/>
                                          </a:rPr>
                                          <m:t>𝑖</m:t>
                                        </m:r>
                                        <m:r>
                                          <a:rPr lang="en-US" sz="1900" i="1">
                                            <a:latin typeface="Cambria Math" panose="02040503050406030204" pitchFamily="18" charset="0"/>
                                          </a:rPr>
                                          <m:t>2</m:t>
                                        </m:r>
                                      </m:sub>
                                    </m:sSub>
                                  </m:den>
                                </m:f>
                              </m:e>
                              <m:e>
                                <m:r>
                                  <a:rPr lang="en-US" sz="1900" i="1">
                                    <a:latin typeface="Cambria Math" panose="02040503050406030204" pitchFamily="18" charset="0"/>
                                  </a:rPr>
                                  <m:t>⋯</m:t>
                                </m:r>
                              </m:e>
                              <m:e>
                                <m:f>
                                  <m:fPr>
                                    <m:ctrlPr>
                                      <a:rPr lang="en-US" sz="1900" i="1">
                                        <a:latin typeface="Cambria Math" panose="02040503050406030204" pitchFamily="18" charset="0"/>
                                      </a:rPr>
                                    </m:ctrlPr>
                                  </m:fPr>
                                  <m:num>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𝑝</m:t>
                                        </m:r>
                                      </m:e>
                                      <m:sub>
                                        <m:r>
                                          <a:rPr lang="en-US" sz="1900" i="1">
                                            <a:latin typeface="Cambria Math" panose="02040503050406030204" pitchFamily="18" charset="0"/>
                                          </a:rPr>
                                          <m:t>𝑖</m:t>
                                        </m:r>
                                        <m:r>
                                          <a:rPr lang="en-US" sz="1900" i="1">
                                            <a:latin typeface="Cambria Math" panose="02040503050406030204" pitchFamily="18" charset="0"/>
                                          </a:rPr>
                                          <m:t>1</m:t>
                                        </m:r>
                                      </m:sub>
                                    </m:sSub>
                                  </m:num>
                                  <m:den>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𝑟</m:t>
                                        </m:r>
                                      </m:e>
                                      <m:sub>
                                        <m:r>
                                          <a:rPr lang="en-US" sz="1900" i="1">
                                            <a:latin typeface="Cambria Math" panose="02040503050406030204" pitchFamily="18" charset="0"/>
                                          </a:rPr>
                                          <m:t>𝑖𝑚</m:t>
                                        </m:r>
                                      </m:sub>
                                    </m:sSub>
                                  </m:den>
                                </m:f>
                              </m:e>
                            </m:mr>
                            <m:mr>
                              <m:e>
                                <m:f>
                                  <m:fPr>
                                    <m:ctrlPr>
                                      <a:rPr lang="en-US" sz="1900" i="1">
                                        <a:latin typeface="Cambria Math" panose="02040503050406030204" pitchFamily="18" charset="0"/>
                                      </a:rPr>
                                    </m:ctrlPr>
                                  </m:fPr>
                                  <m:num>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𝑝</m:t>
                                        </m:r>
                                      </m:e>
                                      <m:sub>
                                        <m:r>
                                          <a:rPr lang="en-US" sz="1900" i="1">
                                            <a:latin typeface="Cambria Math" panose="02040503050406030204" pitchFamily="18" charset="0"/>
                                          </a:rPr>
                                          <m:t>𝑖</m:t>
                                        </m:r>
                                        <m:r>
                                          <a:rPr lang="en-US" sz="1900" i="1">
                                            <a:latin typeface="Cambria Math" panose="02040503050406030204" pitchFamily="18" charset="0"/>
                                          </a:rPr>
                                          <m:t>2</m:t>
                                        </m:r>
                                      </m:sub>
                                    </m:sSub>
                                  </m:num>
                                  <m:den>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𝑟</m:t>
                                        </m:r>
                                      </m:e>
                                      <m:sub>
                                        <m:r>
                                          <a:rPr lang="en-US" sz="1900" i="1">
                                            <a:latin typeface="Cambria Math" panose="02040503050406030204" pitchFamily="18" charset="0"/>
                                          </a:rPr>
                                          <m:t>𝑖</m:t>
                                        </m:r>
                                        <m:r>
                                          <a:rPr lang="en-US" sz="1900" i="1">
                                            <a:latin typeface="Cambria Math" panose="02040503050406030204" pitchFamily="18" charset="0"/>
                                          </a:rPr>
                                          <m:t>1</m:t>
                                        </m:r>
                                      </m:sub>
                                    </m:sSub>
                                  </m:den>
                                </m:f>
                              </m:e>
                              <m:e>
                                <m:f>
                                  <m:fPr>
                                    <m:ctrlPr>
                                      <a:rPr lang="en-US" sz="1900" i="1">
                                        <a:latin typeface="Cambria Math" panose="02040503050406030204" pitchFamily="18" charset="0"/>
                                      </a:rPr>
                                    </m:ctrlPr>
                                  </m:fPr>
                                  <m:num>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𝑝</m:t>
                                        </m:r>
                                      </m:e>
                                      <m:sub>
                                        <m:r>
                                          <a:rPr lang="en-US" sz="1900" i="1">
                                            <a:latin typeface="Cambria Math" panose="02040503050406030204" pitchFamily="18" charset="0"/>
                                          </a:rPr>
                                          <m:t>𝑖</m:t>
                                        </m:r>
                                        <m:r>
                                          <a:rPr lang="en-US" sz="1900" i="1">
                                            <a:latin typeface="Cambria Math" panose="02040503050406030204" pitchFamily="18" charset="0"/>
                                          </a:rPr>
                                          <m:t>2</m:t>
                                        </m:r>
                                      </m:sub>
                                    </m:sSub>
                                  </m:num>
                                  <m:den>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𝑟</m:t>
                                        </m:r>
                                      </m:e>
                                      <m:sub>
                                        <m:r>
                                          <a:rPr lang="en-US" sz="1900" i="1">
                                            <a:latin typeface="Cambria Math" panose="02040503050406030204" pitchFamily="18" charset="0"/>
                                          </a:rPr>
                                          <m:t>𝑖</m:t>
                                        </m:r>
                                        <m:r>
                                          <a:rPr lang="en-US" sz="1900" i="1">
                                            <a:latin typeface="Cambria Math" panose="02040503050406030204" pitchFamily="18" charset="0"/>
                                          </a:rPr>
                                          <m:t>2</m:t>
                                        </m:r>
                                      </m:sub>
                                    </m:sSub>
                                  </m:den>
                                </m:f>
                              </m:e>
                              <m:e>
                                <m:r>
                                  <a:rPr lang="en-US" sz="1900" i="1">
                                    <a:latin typeface="Cambria Math" panose="02040503050406030204" pitchFamily="18" charset="0"/>
                                  </a:rPr>
                                  <m:t>⋯</m:t>
                                </m:r>
                              </m:e>
                              <m:e>
                                <m:f>
                                  <m:fPr>
                                    <m:ctrlPr>
                                      <a:rPr lang="en-US" sz="1900" i="1">
                                        <a:latin typeface="Cambria Math" panose="02040503050406030204" pitchFamily="18" charset="0"/>
                                      </a:rPr>
                                    </m:ctrlPr>
                                  </m:fPr>
                                  <m:num>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𝑝</m:t>
                                        </m:r>
                                      </m:e>
                                      <m:sub>
                                        <m:r>
                                          <a:rPr lang="en-US" sz="1900" i="1">
                                            <a:latin typeface="Cambria Math" panose="02040503050406030204" pitchFamily="18" charset="0"/>
                                          </a:rPr>
                                          <m:t>𝑖</m:t>
                                        </m:r>
                                        <m:r>
                                          <a:rPr lang="en-US" sz="1900" i="1">
                                            <a:latin typeface="Cambria Math" panose="02040503050406030204" pitchFamily="18" charset="0"/>
                                          </a:rPr>
                                          <m:t>2</m:t>
                                        </m:r>
                                      </m:sub>
                                    </m:sSub>
                                  </m:num>
                                  <m:den>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𝑟</m:t>
                                        </m:r>
                                      </m:e>
                                      <m:sub>
                                        <m:r>
                                          <a:rPr lang="en-US" sz="1900" i="1">
                                            <a:latin typeface="Cambria Math" panose="02040503050406030204" pitchFamily="18" charset="0"/>
                                          </a:rPr>
                                          <m:t>𝑖𝑚</m:t>
                                        </m:r>
                                      </m:sub>
                                    </m:sSub>
                                  </m:den>
                                </m:f>
                              </m:e>
                            </m:mr>
                            <m:mr>
                              <m:e>
                                <m:r>
                                  <a:rPr lang="en-US" sz="1900" i="1">
                                    <a:latin typeface="Cambria Math" panose="02040503050406030204" pitchFamily="18" charset="0"/>
                                  </a:rPr>
                                  <m:t>⋮</m:t>
                                </m:r>
                              </m:e>
                              <m:e>
                                <m:r>
                                  <a:rPr lang="en-US" sz="1900" i="1">
                                    <a:latin typeface="Cambria Math" panose="02040503050406030204" pitchFamily="18" charset="0"/>
                                  </a:rPr>
                                  <m:t>⋮</m:t>
                                </m:r>
                              </m:e>
                              <m:e>
                                <m:r>
                                  <a:rPr lang="en-US" sz="1900" i="1">
                                    <a:latin typeface="Cambria Math" panose="02040503050406030204" pitchFamily="18" charset="0"/>
                                  </a:rPr>
                                  <m:t>⋱</m:t>
                                </m:r>
                              </m:e>
                              <m:e>
                                <m:r>
                                  <a:rPr lang="en-US" sz="1900" i="1">
                                    <a:latin typeface="Cambria Math" panose="02040503050406030204" pitchFamily="18" charset="0"/>
                                  </a:rPr>
                                  <m:t>⋮</m:t>
                                </m:r>
                              </m:e>
                            </m:mr>
                            <m:mr>
                              <m:e>
                                <m:f>
                                  <m:fPr>
                                    <m:ctrlPr>
                                      <a:rPr lang="en-US" sz="1900" i="1">
                                        <a:latin typeface="Cambria Math" panose="02040503050406030204" pitchFamily="18" charset="0"/>
                                      </a:rPr>
                                    </m:ctrlPr>
                                  </m:fPr>
                                  <m:num>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𝑝</m:t>
                                        </m:r>
                                      </m:e>
                                      <m:sub>
                                        <m:r>
                                          <a:rPr lang="en-US" sz="1900" i="1">
                                            <a:latin typeface="Cambria Math" panose="02040503050406030204" pitchFamily="18" charset="0"/>
                                          </a:rPr>
                                          <m:t>𝑖𝑚</m:t>
                                        </m:r>
                                      </m:sub>
                                    </m:sSub>
                                  </m:num>
                                  <m:den>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𝑟</m:t>
                                        </m:r>
                                      </m:e>
                                      <m:sub>
                                        <m:r>
                                          <a:rPr lang="en-US" sz="1900" i="1">
                                            <a:latin typeface="Cambria Math" panose="02040503050406030204" pitchFamily="18" charset="0"/>
                                          </a:rPr>
                                          <m:t>𝑖</m:t>
                                        </m:r>
                                        <m:r>
                                          <a:rPr lang="en-US" sz="1900" i="1">
                                            <a:latin typeface="Cambria Math" panose="02040503050406030204" pitchFamily="18" charset="0"/>
                                          </a:rPr>
                                          <m:t>1</m:t>
                                        </m:r>
                                      </m:sub>
                                    </m:sSub>
                                  </m:den>
                                </m:f>
                              </m:e>
                              <m:e>
                                <m:f>
                                  <m:fPr>
                                    <m:ctrlPr>
                                      <a:rPr lang="en-US" sz="1900" i="1">
                                        <a:latin typeface="Cambria Math" panose="02040503050406030204" pitchFamily="18" charset="0"/>
                                      </a:rPr>
                                    </m:ctrlPr>
                                  </m:fPr>
                                  <m:num>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𝑝</m:t>
                                        </m:r>
                                      </m:e>
                                      <m:sub>
                                        <m:r>
                                          <a:rPr lang="en-US" sz="1900" i="1">
                                            <a:latin typeface="Cambria Math" panose="02040503050406030204" pitchFamily="18" charset="0"/>
                                          </a:rPr>
                                          <m:t>𝑖𝑚</m:t>
                                        </m:r>
                                      </m:sub>
                                    </m:sSub>
                                  </m:num>
                                  <m:den>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𝑟</m:t>
                                        </m:r>
                                      </m:e>
                                      <m:sub>
                                        <m:r>
                                          <a:rPr lang="en-US" sz="1900" i="1">
                                            <a:latin typeface="Cambria Math" panose="02040503050406030204" pitchFamily="18" charset="0"/>
                                          </a:rPr>
                                          <m:t>𝑖</m:t>
                                        </m:r>
                                        <m:r>
                                          <a:rPr lang="en-US" sz="1900" i="1">
                                            <a:latin typeface="Cambria Math" panose="02040503050406030204" pitchFamily="18" charset="0"/>
                                          </a:rPr>
                                          <m:t>2</m:t>
                                        </m:r>
                                      </m:sub>
                                    </m:sSub>
                                  </m:den>
                                </m:f>
                              </m:e>
                              <m:e>
                                <m:r>
                                  <a:rPr lang="en-US" sz="1900" i="1">
                                    <a:latin typeface="Cambria Math" panose="02040503050406030204" pitchFamily="18" charset="0"/>
                                  </a:rPr>
                                  <m:t>⋯</m:t>
                                </m:r>
                              </m:e>
                              <m:e>
                                <m:f>
                                  <m:fPr>
                                    <m:ctrlPr>
                                      <a:rPr lang="en-US" sz="1900" i="1">
                                        <a:latin typeface="Cambria Math" panose="02040503050406030204" pitchFamily="18" charset="0"/>
                                      </a:rPr>
                                    </m:ctrlPr>
                                  </m:fPr>
                                  <m:num>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𝑝</m:t>
                                        </m:r>
                                      </m:e>
                                      <m:sub>
                                        <m:r>
                                          <a:rPr lang="en-US" sz="1900" i="1">
                                            <a:latin typeface="Cambria Math" panose="02040503050406030204" pitchFamily="18" charset="0"/>
                                          </a:rPr>
                                          <m:t>𝑖𝑚</m:t>
                                        </m:r>
                                      </m:sub>
                                    </m:sSub>
                                  </m:num>
                                  <m:den>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𝑟</m:t>
                                        </m:r>
                                      </m:e>
                                      <m:sub>
                                        <m:r>
                                          <a:rPr lang="en-US" sz="1900" i="1">
                                            <a:latin typeface="Cambria Math" panose="02040503050406030204" pitchFamily="18" charset="0"/>
                                          </a:rPr>
                                          <m:t>𝑖𝑚</m:t>
                                        </m:r>
                                      </m:sub>
                                    </m:sSub>
                                  </m:den>
                                </m:f>
                              </m:e>
                            </m:mr>
                          </m:m>
                        </m:e>
                      </m:d>
                    </m:oMath>
                  </m:oMathPara>
                </a14:m>
                <a:endParaRPr lang="en-US" sz="1900" dirty="0"/>
              </a:p>
              <a:p>
                <a:pPr marL="0" indent="0">
                  <a:buNone/>
                </a:pPr>
                <a:r>
                  <a:rPr lang="en-US" sz="1900" dirty="0"/>
                  <a:t>Where,</a:t>
                </a:r>
              </a:p>
              <a:p>
                <a:pPr marL="0" indent="0">
                  <a:buNone/>
                </a:pPr>
                <a14:m>
                  <m:oMathPara xmlns:m="http://schemas.openxmlformats.org/officeDocument/2006/math">
                    <m:oMathParaPr>
                      <m:jc m:val="centerGroup"/>
                    </m:oMathParaPr>
                    <m:oMath xmlns:m="http://schemas.openxmlformats.org/officeDocument/2006/math">
                      <m:f>
                        <m:fPr>
                          <m:ctrlPr>
                            <a:rPr lang="en-US" sz="1900" i="1">
                              <a:latin typeface="Cambria Math" panose="02040503050406030204" pitchFamily="18" charset="0"/>
                            </a:rPr>
                          </m:ctrlPr>
                        </m:fPr>
                        <m:num>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𝑝</m:t>
                              </m:r>
                            </m:e>
                            <m:sub>
                              <m:r>
                                <a:rPr lang="en-US" sz="1900" i="1">
                                  <a:latin typeface="Cambria Math" panose="02040503050406030204" pitchFamily="18" charset="0"/>
                                </a:rPr>
                                <m:t>𝑖𝑗</m:t>
                              </m:r>
                            </m:sub>
                          </m:sSub>
                        </m:num>
                        <m:den>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𝑟</m:t>
                              </m:r>
                            </m:e>
                            <m:sub>
                              <m:r>
                                <a:rPr lang="en-US" sz="1900" i="1">
                                  <a:latin typeface="Cambria Math" panose="02040503050406030204" pitchFamily="18" charset="0"/>
                                </a:rPr>
                                <m:t>𝑖𝑘</m:t>
                              </m:r>
                            </m:sub>
                          </m:sSub>
                        </m:den>
                      </m:f>
                      <m:r>
                        <m:rPr>
                          <m:aln/>
                        </m:rP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𝑝</m:t>
                          </m:r>
                        </m:e>
                        <m:sub>
                          <m:r>
                            <a:rPr lang="en-US" sz="1900" i="1">
                              <a:latin typeface="Cambria Math" panose="02040503050406030204" pitchFamily="18" charset="0"/>
                            </a:rPr>
                            <m:t>𝑖𝑗</m:t>
                          </m:r>
                        </m:sub>
                      </m:sSub>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r>
                                <a:rPr lang="en-US" sz="1900" i="1">
                                  <a:latin typeface="Cambria Math" panose="02040503050406030204" pitchFamily="18" charset="0"/>
                                </a:rPr>
                                <m:t>𝛿</m:t>
                              </m:r>
                            </m:e>
                            <m:sub>
                              <m:r>
                                <a:rPr lang="en-US" sz="1900" i="1">
                                  <a:latin typeface="Cambria Math" panose="02040503050406030204" pitchFamily="18" charset="0"/>
                                </a:rPr>
                                <m:t>𝑗𝑘</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𝑝</m:t>
                              </m:r>
                            </m:e>
                            <m:sub>
                              <m:r>
                                <a:rPr lang="en-US" sz="1900" i="1">
                                  <a:latin typeface="Cambria Math" panose="02040503050406030204" pitchFamily="18" charset="0"/>
                                </a:rPr>
                                <m:t>𝑖𝑘</m:t>
                              </m:r>
                            </m:sub>
                          </m:sSub>
                        </m:e>
                      </m:d>
                      <m:r>
                        <a:rPr lang="en-US" sz="1900" b="0" i="1" smtClean="0">
                          <a:latin typeface="Cambria Math" panose="02040503050406030204" pitchFamily="18" charset="0"/>
                        </a:rPr>
                        <m:t> </m:t>
                      </m:r>
                      <m:r>
                        <m:rPr>
                          <m:sty m:val="p"/>
                        </m:rPr>
                        <a:rPr lang="en-US" sz="1900" b="0" i="0" smtClean="0">
                          <a:latin typeface="Cambria Math" panose="02040503050406030204" pitchFamily="18" charset="0"/>
                        </a:rPr>
                        <m:t>and</m:t>
                      </m:r>
                      <m:r>
                        <a:rPr lang="en-US" sz="1900" b="0" i="1" smtClean="0">
                          <a:latin typeface="Cambria Math" panose="02040503050406030204" pitchFamily="18" charset="0"/>
                        </a:rPr>
                        <m:t> </m:t>
                      </m:r>
                      <m:sSub>
                        <m:sSubPr>
                          <m:ctrlPr>
                            <a:rPr lang="en-US" sz="1900" i="1">
                              <a:latin typeface="Cambria Math" panose="02040503050406030204" pitchFamily="18" charset="0"/>
                            </a:rPr>
                          </m:ctrlPr>
                        </m:sSubPr>
                        <m:e>
                          <m:r>
                            <a:rPr lang="en-US" sz="1900" i="1">
                              <a:latin typeface="Cambria Math" panose="02040503050406030204" pitchFamily="18" charset="0"/>
                            </a:rPr>
                            <m:t>𝛿</m:t>
                          </m:r>
                        </m:e>
                        <m:sub>
                          <m:r>
                            <a:rPr lang="en-US" sz="1900" i="1">
                              <a:latin typeface="Cambria Math" panose="02040503050406030204" pitchFamily="18" charset="0"/>
                            </a:rPr>
                            <m:t>𝑗𝑘</m:t>
                          </m:r>
                        </m:sub>
                      </m:sSub>
                      <m:r>
                        <m:rPr>
                          <m:aln/>
                        </m:rPr>
                        <a:rPr lang="en-US" sz="1900" i="1">
                          <a:latin typeface="Cambria Math" panose="02040503050406030204" pitchFamily="18" charset="0"/>
                        </a:rPr>
                        <m:t>=</m:t>
                      </m:r>
                      <m:d>
                        <m:dPr>
                          <m:begChr m:val="{"/>
                          <m:endChr m:val=""/>
                          <m:ctrlPr>
                            <a:rPr lang="en-US" sz="1900" i="1">
                              <a:latin typeface="Cambria Math" panose="02040503050406030204" pitchFamily="18" charset="0"/>
                            </a:rPr>
                          </m:ctrlPr>
                        </m:dPr>
                        <m:e>
                          <m:m>
                            <m:mPr>
                              <m:mcs>
                                <m:mc>
                                  <m:mcPr>
                                    <m:count m:val="1"/>
                                    <m:mcJc m:val="center"/>
                                  </m:mcPr>
                                </m:mc>
                              </m:mcs>
                              <m:ctrlPr>
                                <a:rPr lang="en-US" sz="1900" i="1">
                                  <a:latin typeface="Cambria Math" panose="02040503050406030204" pitchFamily="18" charset="0"/>
                                </a:rPr>
                              </m:ctrlPr>
                            </m:mPr>
                            <m:mr>
                              <m:e>
                                <m:r>
                                  <a:rPr lang="en-US" sz="1900" i="1">
                                    <a:latin typeface="Cambria Math" panose="02040503050406030204" pitchFamily="18" charset="0"/>
                                  </a:rPr>
                                  <m:t>1 </m:t>
                                </m:r>
                                <m:r>
                                  <m:rPr>
                                    <m:sty m:val="p"/>
                                  </m:rPr>
                                  <a:rPr lang="en-US" sz="1900">
                                    <a:latin typeface="Cambria Math" panose="02040503050406030204" pitchFamily="18" charset="0"/>
                                  </a:rPr>
                                  <m:t>if</m:t>
                                </m:r>
                                <m:r>
                                  <a:rPr lang="en-US" sz="1900" i="1">
                                    <a:latin typeface="Cambria Math" panose="02040503050406030204" pitchFamily="18" charset="0"/>
                                  </a:rPr>
                                  <m:t> </m:t>
                                </m:r>
                                <m:r>
                                  <a:rPr lang="en-US" sz="1900" i="1">
                                    <a:latin typeface="Cambria Math" panose="02040503050406030204" pitchFamily="18" charset="0"/>
                                  </a:rPr>
                                  <m:t>𝑗</m:t>
                                </m:r>
                                <m:r>
                                  <a:rPr lang="en-US" sz="1900" i="1">
                                    <a:latin typeface="Cambria Math" panose="02040503050406030204" pitchFamily="18" charset="0"/>
                                  </a:rPr>
                                  <m:t>=</m:t>
                                </m:r>
                                <m:r>
                                  <a:rPr lang="en-US" sz="1900" i="1">
                                    <a:latin typeface="Cambria Math" panose="02040503050406030204" pitchFamily="18" charset="0"/>
                                  </a:rPr>
                                  <m:t>𝑘</m:t>
                                </m:r>
                              </m:e>
                            </m:mr>
                            <m:mr>
                              <m:e>
                                <m:r>
                                  <a:rPr lang="en-US" sz="1900" i="1">
                                    <a:latin typeface="Cambria Math" panose="02040503050406030204" pitchFamily="18" charset="0"/>
                                  </a:rPr>
                                  <m:t>0 </m:t>
                                </m:r>
                                <m:r>
                                  <m:rPr>
                                    <m:sty m:val="p"/>
                                  </m:rPr>
                                  <a:rPr lang="en-US" sz="1900">
                                    <a:latin typeface="Cambria Math" panose="02040503050406030204" pitchFamily="18" charset="0"/>
                                  </a:rPr>
                                  <m:t>if</m:t>
                                </m:r>
                                <m:r>
                                  <a:rPr lang="en-US" sz="1900" i="1">
                                    <a:latin typeface="Cambria Math" panose="02040503050406030204" pitchFamily="18" charset="0"/>
                                  </a:rPr>
                                  <m:t> </m:t>
                                </m:r>
                                <m:r>
                                  <a:rPr lang="en-US" sz="1900" i="1">
                                    <a:latin typeface="Cambria Math" panose="02040503050406030204" pitchFamily="18" charset="0"/>
                                  </a:rPr>
                                  <m:t>𝑗</m:t>
                                </m:r>
                                <m:r>
                                  <a:rPr lang="en-US" sz="1900" i="1">
                                    <a:latin typeface="Cambria Math" panose="02040503050406030204" pitchFamily="18" charset="0"/>
                                  </a:rPr>
                                  <m:t>≠</m:t>
                                </m:r>
                                <m:r>
                                  <a:rPr lang="en-US" sz="1900" i="1">
                                    <a:latin typeface="Cambria Math" panose="02040503050406030204" pitchFamily="18" charset="0"/>
                                  </a:rPr>
                                  <m:t>𝑘</m:t>
                                </m:r>
                              </m:e>
                            </m:mr>
                          </m:m>
                        </m:e>
                      </m:d>
                    </m:oMath>
                  </m:oMathPara>
                </a14:m>
                <a:endParaRPr lang="en-US" sz="1900" dirty="0"/>
              </a:p>
              <a:p>
                <a:pPr marL="0" indent="0">
                  <a:buNone/>
                </a:pPr>
                <a:endParaRPr lang="en-US" sz="19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1280" y="914399"/>
                <a:ext cx="12029440" cy="5176066"/>
              </a:xfrm>
              <a:blipFill>
                <a:blip r:embed="rId2"/>
                <a:stretch>
                  <a:fillRect l="-507" t="-707" r="-253" b="-4122"/>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30</a:t>
            </a:fld>
            <a:endParaRPr lang="en-US"/>
          </a:p>
        </p:txBody>
      </p:sp>
    </p:spTree>
    <p:extLst>
      <p:ext uri="{BB962C8B-B14F-4D97-AF65-F5344CB8AC3E}">
        <p14:creationId xmlns:p14="http://schemas.microsoft.com/office/powerpoint/2010/main" val="3646226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network</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1280" y="914399"/>
                <a:ext cx="12019280" cy="5176066"/>
              </a:xfrm>
            </p:spPr>
            <p:txBody>
              <a:bodyPr>
                <a:noAutofit/>
              </a:bodyPr>
              <a:lstStyle/>
              <a:p>
                <a:pPr marL="0" indent="0">
                  <a:buNone/>
                </a:pPr>
                <a:r>
                  <a:rPr lang="en-US" sz="1850" dirty="0" smtClean="0"/>
                  <a:t>Because transformer is here estimated by association of SGD </a:t>
                </a:r>
                <a:r>
                  <a:rPr lang="en-US" sz="1850" dirty="0"/>
                  <a:t>algorithm and backpropagation algorithm, </a:t>
                </a:r>
                <a:r>
                  <a:rPr lang="en-US" sz="1850" dirty="0">
                    <a:effectLst>
                      <a:outerShdw blurRad="38100" dist="38100" dir="2700000" algn="tl">
                        <a:srgbClr val="000000">
                          <a:alpha val="43137"/>
                        </a:srgbClr>
                      </a:outerShdw>
                    </a:effectLst>
                  </a:rPr>
                  <a:t>it is necessary to calculate the backward bias </a:t>
                </a:r>
                <a:r>
                  <a:rPr lang="en-US" sz="1850" dirty="0" smtClean="0">
                    <a:effectLst>
                      <a:outerShdw blurRad="38100" dist="38100" dir="2700000" algn="tl">
                        <a:srgbClr val="000000">
                          <a:alpha val="43137"/>
                        </a:srgbClr>
                      </a:outerShdw>
                    </a:effectLst>
                  </a:rPr>
                  <a:t>(backward error) </a:t>
                </a:r>
                <a:r>
                  <a:rPr lang="en-US" sz="1850" dirty="0">
                    <a:effectLst>
                      <a:outerShdw blurRad="38100" dist="38100" dir="2700000" algn="tl">
                        <a:srgbClr val="000000">
                          <a:alpha val="43137"/>
                        </a:srgbClr>
                      </a:outerShdw>
                    </a:effectLst>
                  </a:rPr>
                  <a:t>which is the gradient of the likelihood </a:t>
                </a:r>
                <a:r>
                  <a:rPr lang="en-US" sz="1850" i="1" dirty="0">
                    <a:effectLst>
                      <a:outerShdw blurRad="38100" dist="38100" dir="2700000" algn="tl">
                        <a:srgbClr val="000000">
                          <a:alpha val="43137"/>
                        </a:srgbClr>
                      </a:outerShdw>
                    </a:effectLst>
                  </a:rPr>
                  <a:t>L</a:t>
                </a:r>
                <a:r>
                  <a:rPr lang="en-US" sz="1850" dirty="0">
                    <a:effectLst>
                      <a:outerShdw blurRad="38100" dist="38100" dir="2700000" algn="tl">
                        <a:srgbClr val="000000">
                          <a:alpha val="43137"/>
                        </a:srgbClr>
                      </a:outerShdw>
                    </a:effectLst>
                  </a:rPr>
                  <a:t>(</a:t>
                </a:r>
                <a:r>
                  <a:rPr lang="en-US" sz="1850" i="1" dirty="0">
                    <a:effectLst>
                      <a:outerShdw blurRad="38100" dist="38100" dir="2700000" algn="tl">
                        <a:srgbClr val="000000">
                          <a:alpha val="43137"/>
                        </a:srgbClr>
                      </a:outerShdw>
                    </a:effectLst>
                  </a:rPr>
                  <a:t>A</a:t>
                </a:r>
                <a:r>
                  <a:rPr lang="en-US" sz="1850" dirty="0">
                    <a:effectLst>
                      <a:outerShdw blurRad="38100" dist="38100" dir="2700000" algn="tl">
                        <a:srgbClr val="000000">
                          <a:alpha val="43137"/>
                        </a:srgbClr>
                      </a:outerShdw>
                    </a:effectLst>
                  </a:rPr>
                  <a:t>) with respect to input data </a:t>
                </a:r>
                <a:r>
                  <a:rPr lang="en-US" sz="1850" b="1" i="1" dirty="0">
                    <a:effectLst>
                      <a:outerShdw blurRad="38100" dist="38100" dir="2700000" algn="tl">
                        <a:srgbClr val="000000">
                          <a:alpha val="43137"/>
                        </a:srgbClr>
                      </a:outerShdw>
                    </a:effectLst>
                  </a:rPr>
                  <a:t>X</a:t>
                </a:r>
                <a:r>
                  <a:rPr lang="en-US" sz="1850" dirty="0" smtClean="0">
                    <a:effectLst>
                      <a:outerShdw blurRad="38100" dist="38100" dir="2700000" algn="tl">
                        <a:srgbClr val="000000">
                          <a:alpha val="43137"/>
                        </a:srgbClr>
                      </a:outerShdw>
                    </a:effectLst>
                  </a:rPr>
                  <a:t>:</a:t>
                </a:r>
              </a:p>
              <a:p>
                <a:pPr marL="0" indent="0">
                  <a:buNone/>
                </a:pPr>
                <a14:m>
                  <m:oMathPara xmlns:m="http://schemas.openxmlformats.org/officeDocument/2006/math">
                    <m:oMathParaPr>
                      <m:jc m:val="centerGroup"/>
                    </m:oMathParaPr>
                    <m:oMath xmlns:m="http://schemas.openxmlformats.org/officeDocument/2006/math">
                      <m:r>
                        <a:rPr lang="en-US" sz="1850" i="1">
                          <a:latin typeface="Cambria Math" panose="02040503050406030204" pitchFamily="18" charset="0"/>
                        </a:rPr>
                        <m:t>𝑏</m:t>
                      </m:r>
                      <m:d>
                        <m:dPr>
                          <m:ctrlPr>
                            <a:rPr lang="en-US" sz="1850" i="1">
                              <a:latin typeface="Cambria Math" panose="02040503050406030204" pitchFamily="18" charset="0"/>
                            </a:rPr>
                          </m:ctrlPr>
                        </m:dPr>
                        <m:e>
                          <m:r>
                            <a:rPr lang="en-US" sz="1850" b="1" i="1">
                              <a:latin typeface="Cambria Math" panose="02040503050406030204" pitchFamily="18" charset="0"/>
                            </a:rPr>
                            <m:t>𝑿</m:t>
                          </m:r>
                        </m:e>
                      </m:d>
                      <m:r>
                        <a:rPr lang="en-US" sz="1850" i="1">
                          <a:latin typeface="Cambria Math" panose="02040503050406030204" pitchFamily="18" charset="0"/>
                        </a:rPr>
                        <m:t>=</m:t>
                      </m:r>
                      <m:f>
                        <m:fPr>
                          <m:ctrlPr>
                            <a:rPr lang="en-US" sz="1850" i="1">
                              <a:latin typeface="Cambria Math" panose="02040503050406030204" pitchFamily="18" charset="0"/>
                            </a:rPr>
                          </m:ctrlPr>
                        </m:fPr>
                        <m:num>
                          <m:r>
                            <a:rPr lang="en-US" sz="1850" i="1">
                              <a:latin typeface="Cambria Math" panose="02040503050406030204" pitchFamily="18" charset="0"/>
                            </a:rPr>
                            <m:t>𝑑𝐿</m:t>
                          </m:r>
                          <m:d>
                            <m:dPr>
                              <m:ctrlPr>
                                <a:rPr lang="en-US" sz="1850" i="1">
                                  <a:latin typeface="Cambria Math" panose="02040503050406030204" pitchFamily="18" charset="0"/>
                                </a:rPr>
                              </m:ctrlPr>
                            </m:dPr>
                            <m:e>
                              <m:r>
                                <a:rPr lang="en-US" sz="1850" b="1" i="1">
                                  <a:latin typeface="Cambria Math" panose="02040503050406030204" pitchFamily="18" charset="0"/>
                                </a:rPr>
                                <m:t>𝑿</m:t>
                              </m:r>
                            </m:e>
                          </m:d>
                        </m:num>
                        <m:den>
                          <m:r>
                            <a:rPr lang="en-US" sz="1850" i="1">
                              <a:latin typeface="Cambria Math" panose="02040503050406030204" pitchFamily="18" charset="0"/>
                            </a:rPr>
                            <m:t>𝑑</m:t>
                          </m:r>
                          <m:r>
                            <a:rPr lang="en-US" sz="1850" b="1" i="1">
                              <a:latin typeface="Cambria Math" panose="02040503050406030204" pitchFamily="18" charset="0"/>
                            </a:rPr>
                            <m:t>𝑿</m:t>
                          </m:r>
                        </m:den>
                      </m:f>
                    </m:oMath>
                  </m:oMathPara>
                </a14:m>
                <a:endParaRPr lang="en-US" sz="1850" dirty="0"/>
              </a:p>
              <a:p>
                <a:pPr marL="0" indent="0">
                  <a:buNone/>
                </a:pPr>
                <a:r>
                  <a:rPr lang="en-US" sz="1850" dirty="0" smtClean="0"/>
                  <a:t>Due to attention </a:t>
                </a:r>
                <a14:m>
                  <m:oMath xmlns:m="http://schemas.openxmlformats.org/officeDocument/2006/math">
                    <m:r>
                      <a:rPr lang="en-US" sz="1850" i="1">
                        <a:latin typeface="Cambria Math" panose="02040503050406030204" pitchFamily="18" charset="0"/>
                      </a:rPr>
                      <m:t>𝐴</m:t>
                    </m:r>
                    <m:r>
                      <a:rPr lang="en-US" sz="1850" i="1">
                        <a:latin typeface="Cambria Math" panose="02040503050406030204" pitchFamily="18" charset="0"/>
                      </a:rPr>
                      <m:t>=</m:t>
                    </m:r>
                    <m:r>
                      <m:rPr>
                        <m:sty m:val="p"/>
                      </m:rPr>
                      <a:rPr lang="en-US" sz="1850">
                        <a:latin typeface="Cambria Math" panose="02040503050406030204" pitchFamily="18" charset="0"/>
                      </a:rPr>
                      <m:t>softmax</m:t>
                    </m:r>
                    <m:d>
                      <m:dPr>
                        <m:ctrlPr>
                          <a:rPr lang="en-US" sz="1850" i="1">
                            <a:latin typeface="Cambria Math" panose="02040503050406030204" pitchFamily="18" charset="0"/>
                          </a:rPr>
                        </m:ctrlPr>
                      </m:dPr>
                      <m:e>
                        <m:f>
                          <m:fPr>
                            <m:ctrlPr>
                              <a:rPr lang="en-US" sz="1850" i="1">
                                <a:latin typeface="Cambria Math" panose="02040503050406030204" pitchFamily="18" charset="0"/>
                              </a:rPr>
                            </m:ctrlPr>
                          </m:fPr>
                          <m:num>
                            <m:r>
                              <a:rPr lang="en-US" sz="1850" i="1">
                                <a:latin typeface="Cambria Math" panose="02040503050406030204" pitchFamily="18" charset="0"/>
                              </a:rPr>
                              <m:t>𝑄</m:t>
                            </m:r>
                            <m:sSup>
                              <m:sSupPr>
                                <m:ctrlPr>
                                  <a:rPr lang="en-US" sz="1850" i="1">
                                    <a:latin typeface="Cambria Math" panose="02040503050406030204" pitchFamily="18" charset="0"/>
                                  </a:rPr>
                                </m:ctrlPr>
                              </m:sSupPr>
                              <m:e>
                                <m:r>
                                  <a:rPr lang="en-US" sz="1850" i="1">
                                    <a:latin typeface="Cambria Math" panose="02040503050406030204" pitchFamily="18" charset="0"/>
                                  </a:rPr>
                                  <m:t>𝐾</m:t>
                                </m:r>
                              </m:e>
                              <m:sup>
                                <m:r>
                                  <a:rPr lang="en-US" sz="1850" i="1">
                                    <a:latin typeface="Cambria Math" panose="02040503050406030204" pitchFamily="18" charset="0"/>
                                  </a:rPr>
                                  <m:t>𝑇</m:t>
                                </m:r>
                              </m:sup>
                            </m:sSup>
                          </m:num>
                          <m:den>
                            <m:rad>
                              <m:radPr>
                                <m:degHide m:val="on"/>
                                <m:ctrlPr>
                                  <a:rPr lang="en-US" sz="1850" i="1">
                                    <a:latin typeface="Cambria Math" panose="02040503050406030204" pitchFamily="18" charset="0"/>
                                  </a:rPr>
                                </m:ctrlPr>
                              </m:radPr>
                              <m:deg/>
                              <m:e>
                                <m:sSub>
                                  <m:sSubPr>
                                    <m:ctrlPr>
                                      <a:rPr lang="en-US" sz="1850" i="1">
                                        <a:latin typeface="Cambria Math" panose="02040503050406030204" pitchFamily="18" charset="0"/>
                                      </a:rPr>
                                    </m:ctrlPr>
                                  </m:sSubPr>
                                  <m:e>
                                    <m:r>
                                      <a:rPr lang="en-US" sz="1850" i="1">
                                        <a:latin typeface="Cambria Math" panose="02040503050406030204" pitchFamily="18" charset="0"/>
                                      </a:rPr>
                                      <m:t>𝑑</m:t>
                                    </m:r>
                                  </m:e>
                                  <m:sub>
                                    <m:r>
                                      <a:rPr lang="en-US" sz="1850" i="1">
                                        <a:latin typeface="Cambria Math" panose="02040503050406030204" pitchFamily="18" charset="0"/>
                                      </a:rPr>
                                      <m:t>𝑘</m:t>
                                    </m:r>
                                  </m:sub>
                                </m:sSub>
                              </m:e>
                            </m:rad>
                          </m:den>
                        </m:f>
                      </m:e>
                    </m:d>
                    <m:r>
                      <a:rPr lang="en-US" sz="1850" i="1">
                        <a:latin typeface="Cambria Math" panose="02040503050406030204" pitchFamily="18" charset="0"/>
                      </a:rPr>
                      <m:t>𝑉</m:t>
                    </m:r>
                    <m:r>
                      <a:rPr lang="en-US" sz="1850" b="0" i="0" smtClean="0">
                        <a:latin typeface="Cambria Math" panose="02040503050406030204" pitchFamily="18" charset="0"/>
                      </a:rPr>
                      <m:t>, </m:t>
                    </m:r>
                  </m:oMath>
                </a14:m>
                <a:r>
                  <a:rPr lang="en-US" sz="1850" dirty="0" smtClean="0"/>
                  <a:t>let </a:t>
                </a:r>
                <a:r>
                  <a:rPr lang="en-US" sz="1850" i="1" dirty="0" err="1"/>
                  <a:t>dL</a:t>
                </a:r>
                <a:r>
                  <a:rPr lang="en-US" sz="1850" dirty="0"/>
                  <a:t>(</a:t>
                </a:r>
                <a:r>
                  <a:rPr lang="en-US" sz="1850" b="1" i="1" dirty="0"/>
                  <a:t>X</a:t>
                </a:r>
                <a:r>
                  <a:rPr lang="en-US" sz="1850" dirty="0"/>
                  <a:t>) be the differential of likelihood </a:t>
                </a:r>
                <a:r>
                  <a:rPr lang="en-US" sz="1850" i="1" dirty="0"/>
                  <a:t>L</a:t>
                </a:r>
                <a:r>
                  <a:rPr lang="en-US" sz="1850" dirty="0"/>
                  <a:t>(</a:t>
                </a:r>
                <a:r>
                  <a:rPr lang="en-US" sz="1850" i="1" dirty="0"/>
                  <a:t>A</a:t>
                </a:r>
                <a:r>
                  <a:rPr lang="en-US" sz="1850" dirty="0"/>
                  <a:t>) with respect to input data </a:t>
                </a:r>
                <a:r>
                  <a:rPr lang="en-US" sz="1850" b="1" i="1" dirty="0" smtClean="0"/>
                  <a:t>X</a:t>
                </a:r>
                <a:r>
                  <a:rPr lang="en-US" sz="1850" dirty="0"/>
                  <a:t> </a:t>
                </a:r>
                <a:r>
                  <a:rPr lang="en-US" sz="1850" dirty="0" smtClean="0"/>
                  <a:t>as </a:t>
                </a:r>
                <a:r>
                  <a:rPr lang="en-US" sz="1850" i="1" dirty="0" err="1" smtClean="0"/>
                  <a:t>dL</a:t>
                </a:r>
                <a:r>
                  <a:rPr lang="en-US" sz="1850" dirty="0" smtClean="0"/>
                  <a:t>(</a:t>
                </a:r>
                <a:r>
                  <a:rPr lang="en-US" sz="1850" b="1" i="1" dirty="0" smtClean="0"/>
                  <a:t>X</a:t>
                </a:r>
                <a:r>
                  <a:rPr lang="en-US" sz="1850" dirty="0" smtClean="0"/>
                  <a:t>) = </a:t>
                </a:r>
                <a:r>
                  <a:rPr lang="en-US" sz="1850" i="1" dirty="0" err="1"/>
                  <a:t>dL</a:t>
                </a:r>
                <a:r>
                  <a:rPr lang="en-US" sz="1850" dirty="0"/>
                  <a:t>(</a:t>
                </a:r>
                <a:r>
                  <a:rPr lang="en-US" sz="1850" i="1" dirty="0"/>
                  <a:t>QK</a:t>
                </a:r>
                <a:r>
                  <a:rPr lang="en-US" sz="1850" i="1" baseline="30000" dirty="0"/>
                  <a:t>T</a:t>
                </a:r>
                <a:r>
                  <a:rPr lang="en-US" sz="1850" dirty="0"/>
                  <a:t>) </a:t>
                </a:r>
                <a:r>
                  <a:rPr lang="en-US" sz="1850" dirty="0" smtClean="0"/>
                  <a:t>+ </a:t>
                </a:r>
                <a:r>
                  <a:rPr lang="en-US" sz="1850" i="1" dirty="0" err="1" smtClean="0"/>
                  <a:t>dL</a:t>
                </a:r>
                <a:r>
                  <a:rPr lang="en-US" sz="1850" dirty="0" smtClean="0"/>
                  <a:t>(</a:t>
                </a:r>
                <a:r>
                  <a:rPr lang="en-US" sz="1850" i="1" dirty="0" smtClean="0"/>
                  <a:t>V</a:t>
                </a:r>
                <a:r>
                  <a:rPr lang="en-US" sz="1850" dirty="0" smtClean="0"/>
                  <a:t>). By </a:t>
                </a:r>
                <a:r>
                  <a:rPr lang="en-US" sz="1850" dirty="0"/>
                  <a:t>the technique of likelihood </a:t>
                </a:r>
                <a:r>
                  <a:rPr lang="en-US" sz="1850" dirty="0" smtClean="0"/>
                  <a:t>partition aforementioned, it is possible to calculate differentials </a:t>
                </a:r>
                <a:r>
                  <a:rPr lang="en-US" sz="1850" i="1" dirty="0" err="1"/>
                  <a:t>dL</a:t>
                </a:r>
                <a:r>
                  <a:rPr lang="en-US" sz="1850" dirty="0"/>
                  <a:t>(</a:t>
                </a:r>
                <a:r>
                  <a:rPr lang="en-US" sz="1850" i="1" dirty="0"/>
                  <a:t>QK</a:t>
                </a:r>
                <a:r>
                  <a:rPr lang="en-US" sz="1850" i="1" baseline="30000" dirty="0"/>
                  <a:t>T</a:t>
                </a:r>
                <a:r>
                  <a:rPr lang="en-US" sz="1850" dirty="0" smtClean="0"/>
                  <a:t>) and </a:t>
                </a:r>
                <a:r>
                  <a:rPr lang="en-US" sz="1850" i="1" dirty="0" err="1"/>
                  <a:t>dL</a:t>
                </a:r>
                <a:r>
                  <a:rPr lang="en-US" sz="1850" dirty="0"/>
                  <a:t>(</a:t>
                </a:r>
                <a:r>
                  <a:rPr lang="en-US" sz="1850" i="1" dirty="0"/>
                  <a:t>V</a:t>
                </a:r>
                <a:r>
                  <a:rPr lang="en-US" sz="1850" dirty="0" smtClean="0"/>
                  <a:t>). </a:t>
                </a:r>
                <a:r>
                  <a:rPr lang="en-US" sz="1850" dirty="0"/>
                  <a:t>The backward bias/error </a:t>
                </a:r>
                <a:r>
                  <a:rPr lang="en-US" sz="1850" i="1" dirty="0"/>
                  <a:t>b</a:t>
                </a:r>
                <a:r>
                  <a:rPr lang="en-US" sz="1850" dirty="0"/>
                  <a:t>(</a:t>
                </a:r>
                <a:r>
                  <a:rPr lang="en-US" sz="1850" b="1" i="1" dirty="0"/>
                  <a:t>X</a:t>
                </a:r>
                <a:r>
                  <a:rPr lang="en-US" sz="1850" dirty="0"/>
                  <a:t>) </a:t>
                </a:r>
                <a:r>
                  <a:rPr lang="en-US" sz="1850" dirty="0" smtClean="0"/>
                  <a:t>is </a:t>
                </a:r>
                <a:r>
                  <a:rPr lang="en-US" sz="1850" dirty="0"/>
                  <a:t>determined as following sum</a:t>
                </a:r>
                <a:r>
                  <a:rPr lang="en-US" sz="1850" dirty="0" smtClean="0"/>
                  <a:t>:</a:t>
                </a:r>
              </a:p>
              <a:p>
                <a:pPr marL="0" indent="0">
                  <a:buNone/>
                </a:pPr>
                <a14:m>
                  <m:oMathPara xmlns:m="http://schemas.openxmlformats.org/officeDocument/2006/math">
                    <m:oMathParaPr>
                      <m:jc m:val="centerGroup"/>
                    </m:oMathParaPr>
                    <m:oMath xmlns:m="http://schemas.openxmlformats.org/officeDocument/2006/math">
                      <m:r>
                        <a:rPr lang="en-US" sz="1850" i="1">
                          <a:latin typeface="Cambria Math" panose="02040503050406030204" pitchFamily="18" charset="0"/>
                        </a:rPr>
                        <m:t>𝑏</m:t>
                      </m:r>
                      <m:d>
                        <m:dPr>
                          <m:ctrlPr>
                            <a:rPr lang="en-US" sz="1850" i="1">
                              <a:latin typeface="Cambria Math" panose="02040503050406030204" pitchFamily="18" charset="0"/>
                            </a:rPr>
                          </m:ctrlPr>
                        </m:dPr>
                        <m:e>
                          <m:r>
                            <a:rPr lang="en-US" sz="1850" b="1" i="1">
                              <a:latin typeface="Cambria Math" panose="02040503050406030204" pitchFamily="18" charset="0"/>
                            </a:rPr>
                            <m:t>𝑿</m:t>
                          </m:r>
                        </m:e>
                      </m:d>
                      <m:r>
                        <a:rPr lang="en-US" sz="1850" i="1">
                          <a:latin typeface="Cambria Math" panose="02040503050406030204" pitchFamily="18" charset="0"/>
                        </a:rPr>
                        <m:t>=</m:t>
                      </m:r>
                      <m:f>
                        <m:fPr>
                          <m:ctrlPr>
                            <a:rPr lang="en-US" sz="1850" i="1">
                              <a:latin typeface="Cambria Math" panose="02040503050406030204" pitchFamily="18" charset="0"/>
                            </a:rPr>
                          </m:ctrlPr>
                        </m:fPr>
                        <m:num>
                          <m:r>
                            <a:rPr lang="en-US" sz="1850" i="1">
                              <a:latin typeface="Cambria Math" panose="02040503050406030204" pitchFamily="18" charset="0"/>
                            </a:rPr>
                            <m:t>𝑑𝐿</m:t>
                          </m:r>
                          <m:d>
                            <m:dPr>
                              <m:ctrlPr>
                                <a:rPr lang="en-US" sz="1850" i="1">
                                  <a:latin typeface="Cambria Math" panose="02040503050406030204" pitchFamily="18" charset="0"/>
                                </a:rPr>
                              </m:ctrlPr>
                            </m:dPr>
                            <m:e>
                              <m:r>
                                <a:rPr lang="en-US" sz="1850" b="1" i="1">
                                  <a:latin typeface="Cambria Math" panose="02040503050406030204" pitchFamily="18" charset="0"/>
                                </a:rPr>
                                <m:t>𝑿</m:t>
                              </m:r>
                            </m:e>
                          </m:d>
                        </m:num>
                        <m:den>
                          <m:r>
                            <a:rPr lang="en-US" sz="1850" i="1">
                              <a:latin typeface="Cambria Math" panose="02040503050406030204" pitchFamily="18" charset="0"/>
                            </a:rPr>
                            <m:t>𝑑</m:t>
                          </m:r>
                          <m:r>
                            <a:rPr lang="en-US" sz="1850" b="1" i="1">
                              <a:latin typeface="Cambria Math" panose="02040503050406030204" pitchFamily="18" charset="0"/>
                            </a:rPr>
                            <m:t>𝑿</m:t>
                          </m:r>
                        </m:den>
                      </m:f>
                      <m:r>
                        <a:rPr lang="en-US" sz="1850" i="1">
                          <a:latin typeface="Cambria Math" panose="02040503050406030204" pitchFamily="18" charset="0"/>
                        </a:rPr>
                        <m:t>=</m:t>
                      </m:r>
                      <m:f>
                        <m:fPr>
                          <m:ctrlPr>
                            <a:rPr lang="en-US" sz="1850" i="1">
                              <a:latin typeface="Cambria Math" panose="02040503050406030204" pitchFamily="18" charset="0"/>
                            </a:rPr>
                          </m:ctrlPr>
                        </m:fPr>
                        <m:num>
                          <m:r>
                            <a:rPr lang="en-US" sz="1850" i="1">
                              <a:latin typeface="Cambria Math" panose="02040503050406030204" pitchFamily="18" charset="0"/>
                            </a:rPr>
                            <m:t>𝑑𝐿</m:t>
                          </m:r>
                          <m:d>
                            <m:dPr>
                              <m:ctrlPr>
                                <a:rPr lang="en-US" sz="1850" i="1">
                                  <a:latin typeface="Cambria Math" panose="02040503050406030204" pitchFamily="18" charset="0"/>
                                </a:rPr>
                              </m:ctrlPr>
                            </m:dPr>
                            <m:e>
                              <m:r>
                                <a:rPr lang="en-US" sz="1850" i="1">
                                  <a:latin typeface="Cambria Math" panose="02040503050406030204" pitchFamily="18" charset="0"/>
                                </a:rPr>
                                <m:t>𝑄</m:t>
                              </m:r>
                              <m:sSup>
                                <m:sSupPr>
                                  <m:ctrlPr>
                                    <a:rPr lang="en-US" sz="1850" i="1">
                                      <a:latin typeface="Cambria Math" panose="02040503050406030204" pitchFamily="18" charset="0"/>
                                    </a:rPr>
                                  </m:ctrlPr>
                                </m:sSupPr>
                                <m:e>
                                  <m:r>
                                    <a:rPr lang="en-US" sz="1850" i="1">
                                      <a:latin typeface="Cambria Math" panose="02040503050406030204" pitchFamily="18" charset="0"/>
                                    </a:rPr>
                                    <m:t>𝐾</m:t>
                                  </m:r>
                                </m:e>
                                <m:sup>
                                  <m:r>
                                    <a:rPr lang="en-US" sz="1850" i="1">
                                      <a:latin typeface="Cambria Math" panose="02040503050406030204" pitchFamily="18" charset="0"/>
                                    </a:rPr>
                                    <m:t>𝑇</m:t>
                                  </m:r>
                                </m:sup>
                              </m:sSup>
                            </m:e>
                          </m:d>
                        </m:num>
                        <m:den>
                          <m:r>
                            <a:rPr lang="en-US" sz="1850" i="1">
                              <a:latin typeface="Cambria Math" panose="02040503050406030204" pitchFamily="18" charset="0"/>
                            </a:rPr>
                            <m:t>𝑑</m:t>
                          </m:r>
                          <m:r>
                            <a:rPr lang="en-US" sz="1850" b="1" i="1">
                              <a:latin typeface="Cambria Math" panose="02040503050406030204" pitchFamily="18" charset="0"/>
                            </a:rPr>
                            <m:t>𝑿</m:t>
                          </m:r>
                        </m:den>
                      </m:f>
                      <m:r>
                        <a:rPr lang="en-US" sz="1850" i="1">
                          <a:latin typeface="Cambria Math" panose="02040503050406030204" pitchFamily="18" charset="0"/>
                        </a:rPr>
                        <m:t>+</m:t>
                      </m:r>
                      <m:f>
                        <m:fPr>
                          <m:ctrlPr>
                            <a:rPr lang="en-US" sz="1850" i="1">
                              <a:latin typeface="Cambria Math" panose="02040503050406030204" pitchFamily="18" charset="0"/>
                            </a:rPr>
                          </m:ctrlPr>
                        </m:fPr>
                        <m:num>
                          <m:r>
                            <a:rPr lang="en-US" sz="1850" i="1">
                              <a:latin typeface="Cambria Math" panose="02040503050406030204" pitchFamily="18" charset="0"/>
                            </a:rPr>
                            <m:t>𝑑𝐿</m:t>
                          </m:r>
                          <m:d>
                            <m:dPr>
                              <m:ctrlPr>
                                <a:rPr lang="en-US" sz="1850" i="1">
                                  <a:latin typeface="Cambria Math" panose="02040503050406030204" pitchFamily="18" charset="0"/>
                                </a:rPr>
                              </m:ctrlPr>
                            </m:dPr>
                            <m:e>
                              <m:r>
                                <a:rPr lang="en-US" sz="1850" i="1">
                                  <a:latin typeface="Cambria Math" panose="02040503050406030204" pitchFamily="18" charset="0"/>
                                </a:rPr>
                                <m:t>𝐴</m:t>
                              </m:r>
                            </m:e>
                          </m:d>
                        </m:num>
                        <m:den>
                          <m:r>
                            <a:rPr lang="en-US" sz="1850" i="1">
                              <a:latin typeface="Cambria Math" panose="02040503050406030204" pitchFamily="18" charset="0"/>
                            </a:rPr>
                            <m:t>𝑑</m:t>
                          </m:r>
                          <m:r>
                            <a:rPr lang="en-US" sz="1850" b="1" i="1">
                              <a:latin typeface="Cambria Math" panose="02040503050406030204" pitchFamily="18" charset="0"/>
                            </a:rPr>
                            <m:t>𝑿</m:t>
                          </m:r>
                        </m:den>
                      </m:f>
                      <m:r>
                        <a:rPr lang="en-US" sz="1850" i="1">
                          <a:latin typeface="Cambria Math" panose="02040503050406030204" pitchFamily="18" charset="0"/>
                        </a:rPr>
                        <m:t>=</m:t>
                      </m:r>
                      <m:d>
                        <m:dPr>
                          <m:ctrlPr>
                            <a:rPr lang="en-US" sz="1850" i="1">
                              <a:latin typeface="Cambria Math" panose="02040503050406030204" pitchFamily="18" charset="0"/>
                            </a:rPr>
                          </m:ctrlPr>
                        </m:dPr>
                        <m:e>
                          <m:m>
                            <m:mPr>
                              <m:mcs>
                                <m:mc>
                                  <m:mcPr>
                                    <m:count m:val="1"/>
                                    <m:mcJc m:val="center"/>
                                  </m:mcPr>
                                </m:mc>
                              </m:mcs>
                              <m:ctrlPr>
                                <a:rPr lang="en-US" sz="1850" i="1">
                                  <a:latin typeface="Cambria Math" panose="02040503050406030204" pitchFamily="18" charset="0"/>
                                </a:rPr>
                              </m:ctrlPr>
                            </m:mPr>
                            <m:mr>
                              <m:e>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f>
                                          <m:fPr>
                                            <m:ctrlPr>
                                              <a:rPr lang="en-US" sz="1850" i="1">
                                                <a:latin typeface="Cambria Math" panose="02040503050406030204" pitchFamily="18" charset="0"/>
                                              </a:rPr>
                                            </m:ctrlPr>
                                          </m:fPr>
                                          <m:num>
                                            <m:r>
                                              <a:rPr lang="en-US" sz="1850" i="1">
                                                <a:latin typeface="Cambria Math" panose="02040503050406030204" pitchFamily="18" charset="0"/>
                                              </a:rPr>
                                              <m:t>𝑑</m:t>
                                            </m:r>
                                            <m:sSub>
                                              <m:sSubPr>
                                                <m:ctrlPr>
                                                  <a:rPr lang="en-US" sz="1850" i="1">
                                                    <a:latin typeface="Cambria Math" panose="02040503050406030204" pitchFamily="18" charset="0"/>
                                                  </a:rPr>
                                                </m:ctrlPr>
                                              </m:sSubPr>
                                              <m:e>
                                                <m:r>
                                                  <a:rPr lang="en-US" sz="1850" i="1">
                                                    <a:latin typeface="Cambria Math" panose="02040503050406030204" pitchFamily="18" charset="0"/>
                                                  </a:rPr>
                                                  <m:t>𝑙</m:t>
                                                </m:r>
                                              </m:e>
                                              <m:sub>
                                                <m:r>
                                                  <a:rPr lang="en-US" sz="1850" i="1">
                                                    <a:latin typeface="Cambria Math" panose="02040503050406030204" pitchFamily="18" charset="0"/>
                                                  </a:rPr>
                                                  <m:t>1</m:t>
                                                </m:r>
                                              </m:sub>
                                            </m:sSub>
                                          </m:num>
                                          <m:den>
                                            <m:r>
                                              <a:rPr lang="en-US" sz="1850" i="1">
                                                <a:latin typeface="Cambria Math" panose="02040503050406030204" pitchFamily="18" charset="0"/>
                                              </a:rPr>
                                              <m:t>𝑑</m:t>
                                            </m:r>
                                            <m:sSub>
                                              <m:sSubPr>
                                                <m:ctrlPr>
                                                  <a:rPr lang="en-US" sz="1850" i="1">
                                                    <a:latin typeface="Cambria Math" panose="02040503050406030204" pitchFamily="18" charset="0"/>
                                                  </a:rPr>
                                                </m:ctrlPr>
                                              </m:sSubPr>
                                              <m:e>
                                                <m:r>
                                                  <a:rPr lang="en-US" sz="1850" b="1" i="1">
                                                    <a:latin typeface="Cambria Math" panose="02040503050406030204" pitchFamily="18" charset="0"/>
                                                  </a:rPr>
                                                  <m:t>𝒙</m:t>
                                                </m:r>
                                              </m:e>
                                              <m:sub>
                                                <m:r>
                                                  <a:rPr lang="en-US" sz="1850" i="1">
                                                    <a:latin typeface="Cambria Math" panose="02040503050406030204" pitchFamily="18" charset="0"/>
                                                  </a:rPr>
                                                  <m:t>1</m:t>
                                                </m:r>
                                              </m:sub>
                                            </m:sSub>
                                          </m:den>
                                        </m:f>
                                      </m:e>
                                    </m:d>
                                  </m:e>
                                  <m:sup>
                                    <m:r>
                                      <a:rPr lang="en-US" sz="1850" i="1">
                                        <a:latin typeface="Cambria Math" panose="02040503050406030204" pitchFamily="18" charset="0"/>
                                      </a:rPr>
                                      <m:t>𝑇</m:t>
                                    </m:r>
                                  </m:sup>
                                </m:sSup>
                              </m:e>
                            </m:mr>
                            <m:mr>
                              <m:e>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f>
                                          <m:fPr>
                                            <m:ctrlPr>
                                              <a:rPr lang="en-US" sz="1850" i="1">
                                                <a:latin typeface="Cambria Math" panose="02040503050406030204" pitchFamily="18" charset="0"/>
                                              </a:rPr>
                                            </m:ctrlPr>
                                          </m:fPr>
                                          <m:num>
                                            <m:r>
                                              <a:rPr lang="en-US" sz="1850" i="1">
                                                <a:latin typeface="Cambria Math" panose="02040503050406030204" pitchFamily="18" charset="0"/>
                                              </a:rPr>
                                              <m:t>𝑑</m:t>
                                            </m:r>
                                            <m:sSub>
                                              <m:sSubPr>
                                                <m:ctrlPr>
                                                  <a:rPr lang="en-US" sz="1850" i="1">
                                                    <a:latin typeface="Cambria Math" panose="02040503050406030204" pitchFamily="18" charset="0"/>
                                                  </a:rPr>
                                                </m:ctrlPr>
                                              </m:sSubPr>
                                              <m:e>
                                                <m:r>
                                                  <a:rPr lang="en-US" sz="1850" i="1">
                                                    <a:latin typeface="Cambria Math" panose="02040503050406030204" pitchFamily="18" charset="0"/>
                                                  </a:rPr>
                                                  <m:t>𝑙</m:t>
                                                </m:r>
                                              </m:e>
                                              <m:sub>
                                                <m:r>
                                                  <a:rPr lang="en-US" sz="1850" i="1">
                                                    <a:latin typeface="Cambria Math" panose="02040503050406030204" pitchFamily="18" charset="0"/>
                                                  </a:rPr>
                                                  <m:t>2</m:t>
                                                </m:r>
                                              </m:sub>
                                            </m:sSub>
                                          </m:num>
                                          <m:den>
                                            <m:r>
                                              <a:rPr lang="en-US" sz="1850" i="1">
                                                <a:latin typeface="Cambria Math" panose="02040503050406030204" pitchFamily="18" charset="0"/>
                                              </a:rPr>
                                              <m:t>𝑑</m:t>
                                            </m:r>
                                            <m:sSub>
                                              <m:sSubPr>
                                                <m:ctrlPr>
                                                  <a:rPr lang="en-US" sz="1850" i="1">
                                                    <a:latin typeface="Cambria Math" panose="02040503050406030204" pitchFamily="18" charset="0"/>
                                                  </a:rPr>
                                                </m:ctrlPr>
                                              </m:sSubPr>
                                              <m:e>
                                                <m:r>
                                                  <a:rPr lang="en-US" sz="1850" b="1" i="1">
                                                    <a:latin typeface="Cambria Math" panose="02040503050406030204" pitchFamily="18" charset="0"/>
                                                  </a:rPr>
                                                  <m:t>𝒙</m:t>
                                                </m:r>
                                              </m:e>
                                              <m:sub>
                                                <m:r>
                                                  <a:rPr lang="en-US" sz="1850" i="1">
                                                    <a:latin typeface="Cambria Math" panose="02040503050406030204" pitchFamily="18" charset="0"/>
                                                  </a:rPr>
                                                  <m:t>2</m:t>
                                                </m:r>
                                              </m:sub>
                                            </m:sSub>
                                          </m:den>
                                        </m:f>
                                      </m:e>
                                    </m:d>
                                  </m:e>
                                  <m:sup>
                                    <m:r>
                                      <a:rPr lang="en-US" sz="1850" i="1">
                                        <a:latin typeface="Cambria Math" panose="02040503050406030204" pitchFamily="18" charset="0"/>
                                      </a:rPr>
                                      <m:t>𝑇</m:t>
                                    </m:r>
                                  </m:sup>
                                </m:sSup>
                              </m:e>
                            </m:mr>
                            <m:mr>
                              <m:e>
                                <m:r>
                                  <a:rPr lang="en-US" sz="1850" i="1">
                                    <a:latin typeface="Cambria Math" panose="02040503050406030204" pitchFamily="18" charset="0"/>
                                  </a:rPr>
                                  <m:t>⋮</m:t>
                                </m:r>
                              </m:e>
                            </m:mr>
                            <m:mr>
                              <m:e>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f>
                                          <m:fPr>
                                            <m:ctrlPr>
                                              <a:rPr lang="en-US" sz="1850" i="1">
                                                <a:latin typeface="Cambria Math" panose="02040503050406030204" pitchFamily="18" charset="0"/>
                                              </a:rPr>
                                            </m:ctrlPr>
                                          </m:fPr>
                                          <m:num>
                                            <m:r>
                                              <a:rPr lang="en-US" sz="1850" i="1">
                                                <a:latin typeface="Cambria Math" panose="02040503050406030204" pitchFamily="18" charset="0"/>
                                              </a:rPr>
                                              <m:t>𝑑</m:t>
                                            </m:r>
                                            <m:sSub>
                                              <m:sSubPr>
                                                <m:ctrlPr>
                                                  <a:rPr lang="en-US" sz="1850" i="1">
                                                    <a:latin typeface="Cambria Math" panose="02040503050406030204" pitchFamily="18" charset="0"/>
                                                  </a:rPr>
                                                </m:ctrlPr>
                                              </m:sSubPr>
                                              <m:e>
                                                <m:r>
                                                  <a:rPr lang="en-US" sz="1850" i="1">
                                                    <a:latin typeface="Cambria Math" panose="02040503050406030204" pitchFamily="18" charset="0"/>
                                                  </a:rPr>
                                                  <m:t>𝑙</m:t>
                                                </m:r>
                                              </m:e>
                                              <m:sub>
                                                <m:r>
                                                  <a:rPr lang="en-US" sz="1850" i="1">
                                                    <a:latin typeface="Cambria Math" panose="02040503050406030204" pitchFamily="18" charset="0"/>
                                                  </a:rPr>
                                                  <m:t>𝑚</m:t>
                                                </m:r>
                                              </m:sub>
                                            </m:sSub>
                                          </m:num>
                                          <m:den>
                                            <m:r>
                                              <a:rPr lang="en-US" sz="1850" i="1">
                                                <a:latin typeface="Cambria Math" panose="02040503050406030204" pitchFamily="18" charset="0"/>
                                              </a:rPr>
                                              <m:t>𝑑</m:t>
                                            </m:r>
                                            <m:sSub>
                                              <m:sSubPr>
                                                <m:ctrlPr>
                                                  <a:rPr lang="en-US" sz="1850" i="1">
                                                    <a:latin typeface="Cambria Math" panose="02040503050406030204" pitchFamily="18" charset="0"/>
                                                  </a:rPr>
                                                </m:ctrlPr>
                                              </m:sSubPr>
                                              <m:e>
                                                <m:r>
                                                  <a:rPr lang="en-US" sz="1850" b="1" i="1">
                                                    <a:latin typeface="Cambria Math" panose="02040503050406030204" pitchFamily="18" charset="0"/>
                                                  </a:rPr>
                                                  <m:t>𝒙</m:t>
                                                </m:r>
                                              </m:e>
                                              <m:sub>
                                                <m:r>
                                                  <a:rPr lang="en-US" sz="1850" i="1">
                                                    <a:latin typeface="Cambria Math" panose="02040503050406030204" pitchFamily="18" charset="0"/>
                                                  </a:rPr>
                                                  <m:t>𝑚</m:t>
                                                </m:r>
                                              </m:sub>
                                            </m:sSub>
                                          </m:den>
                                        </m:f>
                                      </m:e>
                                    </m:d>
                                  </m:e>
                                  <m:sup>
                                    <m:r>
                                      <a:rPr lang="en-US" sz="1850" i="1">
                                        <a:latin typeface="Cambria Math" panose="02040503050406030204" pitchFamily="18" charset="0"/>
                                      </a:rPr>
                                      <m:t>𝑇</m:t>
                                    </m:r>
                                  </m:sup>
                                </m:sSup>
                              </m:e>
                            </m:mr>
                          </m:m>
                        </m:e>
                      </m:d>
                      <m:r>
                        <a:rPr lang="en-US" sz="1850" i="1">
                          <a:latin typeface="Cambria Math" panose="02040503050406030204" pitchFamily="18" charset="0"/>
                        </a:rPr>
                        <m:t>+</m:t>
                      </m:r>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r>
                                <m:rPr>
                                  <m:sty m:val="p"/>
                                </m:rPr>
                                <a:rPr lang="en-US" sz="1850">
                                  <a:latin typeface="Cambria Math" panose="02040503050406030204" pitchFamily="18" charset="0"/>
                                </a:rPr>
                                <m:t>softmax</m:t>
                              </m:r>
                              <m:d>
                                <m:dPr>
                                  <m:ctrlPr>
                                    <a:rPr lang="en-US" sz="1850" i="1">
                                      <a:latin typeface="Cambria Math" panose="02040503050406030204" pitchFamily="18" charset="0"/>
                                    </a:rPr>
                                  </m:ctrlPr>
                                </m:dPr>
                                <m:e>
                                  <m:f>
                                    <m:fPr>
                                      <m:ctrlPr>
                                        <a:rPr lang="en-US" sz="1850" i="1">
                                          <a:latin typeface="Cambria Math" panose="02040503050406030204" pitchFamily="18" charset="0"/>
                                        </a:rPr>
                                      </m:ctrlPr>
                                    </m:fPr>
                                    <m:num>
                                      <m:r>
                                        <a:rPr lang="en-US" sz="1850" i="1">
                                          <a:latin typeface="Cambria Math" panose="02040503050406030204" pitchFamily="18" charset="0"/>
                                        </a:rPr>
                                        <m:t>𝑄</m:t>
                                      </m:r>
                                      <m:sSup>
                                        <m:sSupPr>
                                          <m:ctrlPr>
                                            <a:rPr lang="en-US" sz="1850" i="1">
                                              <a:latin typeface="Cambria Math" panose="02040503050406030204" pitchFamily="18" charset="0"/>
                                            </a:rPr>
                                          </m:ctrlPr>
                                        </m:sSupPr>
                                        <m:e>
                                          <m:r>
                                            <a:rPr lang="en-US" sz="1850" i="1">
                                              <a:latin typeface="Cambria Math" panose="02040503050406030204" pitchFamily="18" charset="0"/>
                                            </a:rPr>
                                            <m:t>𝐾</m:t>
                                          </m:r>
                                        </m:e>
                                        <m:sup>
                                          <m:r>
                                            <a:rPr lang="en-US" sz="1850" i="1">
                                              <a:latin typeface="Cambria Math" panose="02040503050406030204" pitchFamily="18" charset="0"/>
                                            </a:rPr>
                                            <m:t>𝑇</m:t>
                                          </m:r>
                                        </m:sup>
                                      </m:sSup>
                                    </m:num>
                                    <m:den>
                                      <m:rad>
                                        <m:radPr>
                                          <m:degHide m:val="on"/>
                                          <m:ctrlPr>
                                            <a:rPr lang="en-US" sz="1850" i="1">
                                              <a:latin typeface="Cambria Math" panose="02040503050406030204" pitchFamily="18" charset="0"/>
                                            </a:rPr>
                                          </m:ctrlPr>
                                        </m:radPr>
                                        <m:deg/>
                                        <m:e>
                                          <m:sSub>
                                            <m:sSubPr>
                                              <m:ctrlPr>
                                                <a:rPr lang="en-US" sz="1850" i="1">
                                                  <a:latin typeface="Cambria Math" panose="02040503050406030204" pitchFamily="18" charset="0"/>
                                                </a:rPr>
                                              </m:ctrlPr>
                                            </m:sSubPr>
                                            <m:e>
                                              <m:r>
                                                <a:rPr lang="en-US" sz="1850" i="1">
                                                  <a:latin typeface="Cambria Math" panose="02040503050406030204" pitchFamily="18" charset="0"/>
                                                </a:rPr>
                                                <m:t>𝑑</m:t>
                                              </m:r>
                                            </m:e>
                                            <m:sub>
                                              <m:r>
                                                <a:rPr lang="en-US" sz="1850" i="1">
                                                  <a:latin typeface="Cambria Math" panose="02040503050406030204" pitchFamily="18" charset="0"/>
                                                </a:rPr>
                                                <m:t>𝑘</m:t>
                                              </m:r>
                                            </m:sub>
                                          </m:sSub>
                                        </m:e>
                                      </m:rad>
                                    </m:den>
                                  </m:f>
                                </m:e>
                              </m:d>
                            </m:e>
                          </m:d>
                        </m:e>
                        <m:sup>
                          <m:r>
                            <a:rPr lang="en-US" sz="1850" i="1">
                              <a:latin typeface="Cambria Math" panose="02040503050406030204" pitchFamily="18" charset="0"/>
                            </a:rPr>
                            <m:t>𝑇</m:t>
                          </m:r>
                        </m:sup>
                      </m:sSup>
                      <m:d>
                        <m:dPr>
                          <m:ctrlPr>
                            <a:rPr lang="en-US" sz="1850" i="1">
                              <a:latin typeface="Cambria Math" panose="02040503050406030204" pitchFamily="18" charset="0"/>
                            </a:rPr>
                          </m:ctrlPr>
                        </m:dPr>
                        <m:e>
                          <m:sSup>
                            <m:sSupPr>
                              <m:ctrlPr>
                                <a:rPr lang="en-US" sz="1850" i="1">
                                  <a:latin typeface="Cambria Math" panose="02040503050406030204" pitchFamily="18" charset="0"/>
                                </a:rPr>
                              </m:ctrlPr>
                            </m:sSupPr>
                            <m:e>
                              <m:r>
                                <a:rPr lang="en-US" sz="1850" i="1">
                                  <a:latin typeface="Cambria Math" panose="02040503050406030204" pitchFamily="18" charset="0"/>
                                </a:rPr>
                                <m:t>𝐴</m:t>
                              </m:r>
                            </m:e>
                            <m:sup>
                              <m:r>
                                <a:rPr lang="en-US" sz="1850" i="1">
                                  <a:latin typeface="Cambria Math" panose="02040503050406030204" pitchFamily="18" charset="0"/>
                                </a:rPr>
                                <m:t>′</m:t>
                              </m:r>
                            </m:sup>
                          </m:sSup>
                          <m:r>
                            <a:rPr lang="en-US" sz="1850" i="1">
                              <a:latin typeface="Cambria Math" panose="02040503050406030204" pitchFamily="18" charset="0"/>
                            </a:rPr>
                            <m:t>−</m:t>
                          </m:r>
                          <m:r>
                            <a:rPr lang="en-US" sz="1850" i="1">
                              <a:latin typeface="Cambria Math" panose="02040503050406030204" pitchFamily="18" charset="0"/>
                            </a:rPr>
                            <m:t>𝐴</m:t>
                          </m:r>
                        </m:e>
                      </m:d>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p>
                                <m:sSupPr>
                                  <m:ctrlPr>
                                    <a:rPr lang="en-US" sz="1850" i="1">
                                      <a:latin typeface="Cambria Math" panose="02040503050406030204" pitchFamily="18" charset="0"/>
                                    </a:rPr>
                                  </m:ctrlPr>
                                </m:sSupPr>
                                <m:e>
                                  <m:r>
                                    <a:rPr lang="en-US" sz="1850" i="1">
                                      <a:latin typeface="Cambria Math" panose="02040503050406030204" pitchFamily="18" charset="0"/>
                                    </a:rPr>
                                    <m:t>𝑊</m:t>
                                  </m:r>
                                </m:e>
                                <m:sup>
                                  <m:r>
                                    <a:rPr lang="en-US" sz="1850" i="1">
                                      <a:latin typeface="Cambria Math" panose="02040503050406030204" pitchFamily="18" charset="0"/>
                                    </a:rPr>
                                    <m:t>𝑉</m:t>
                                  </m:r>
                                </m:sup>
                              </m:sSup>
                            </m:e>
                          </m:d>
                        </m:e>
                        <m:sup>
                          <m:r>
                            <a:rPr lang="en-US" sz="1850" i="1">
                              <a:latin typeface="Cambria Math" panose="02040503050406030204" pitchFamily="18" charset="0"/>
                            </a:rPr>
                            <m:t>𝑇</m:t>
                          </m:r>
                        </m:sup>
                      </m:sSup>
                    </m:oMath>
                  </m:oMathPara>
                </a14:m>
                <a:endParaRPr lang="en-US" sz="1850" dirty="0" smtClean="0"/>
              </a:p>
              <a:p>
                <a:pPr marL="0" indent="0">
                  <a:buNone/>
                </a:pPr>
                <a:r>
                  <a:rPr lang="en-US" sz="1850" dirty="0" smtClean="0"/>
                  <a:t>Where </a:t>
                </a:r>
                <a14:m>
                  <m:oMath xmlns:m="http://schemas.openxmlformats.org/officeDocument/2006/math">
                    <m:f>
                      <m:fPr>
                        <m:ctrlPr>
                          <a:rPr lang="en-US" sz="1850" i="1">
                            <a:latin typeface="Cambria Math" panose="02040503050406030204" pitchFamily="18" charset="0"/>
                          </a:rPr>
                        </m:ctrlPr>
                      </m:fPr>
                      <m:num>
                        <m:r>
                          <a:rPr lang="en-US" sz="1850" i="1">
                            <a:latin typeface="Cambria Math" panose="02040503050406030204" pitchFamily="18" charset="0"/>
                          </a:rPr>
                          <m:t>𝑑</m:t>
                        </m:r>
                        <m:sSub>
                          <m:sSubPr>
                            <m:ctrlPr>
                              <a:rPr lang="en-US" sz="1850" i="1">
                                <a:latin typeface="Cambria Math" panose="02040503050406030204" pitchFamily="18" charset="0"/>
                              </a:rPr>
                            </m:ctrlPr>
                          </m:sSubPr>
                          <m:e>
                            <m:r>
                              <a:rPr lang="en-US" sz="1850" i="1">
                                <a:latin typeface="Cambria Math" panose="02040503050406030204" pitchFamily="18" charset="0"/>
                              </a:rPr>
                              <m:t>𝑙</m:t>
                            </m:r>
                          </m:e>
                          <m:sub>
                            <m:r>
                              <a:rPr lang="en-US" sz="1850" i="1">
                                <a:latin typeface="Cambria Math" panose="02040503050406030204" pitchFamily="18" charset="0"/>
                              </a:rPr>
                              <m:t>𝑖</m:t>
                            </m:r>
                          </m:sub>
                        </m:sSub>
                      </m:num>
                      <m:den>
                        <m:r>
                          <a:rPr lang="en-US" sz="1850" i="1">
                            <a:latin typeface="Cambria Math" panose="02040503050406030204" pitchFamily="18" charset="0"/>
                          </a:rPr>
                          <m:t>𝑑</m:t>
                        </m:r>
                        <m:sSub>
                          <m:sSubPr>
                            <m:ctrlPr>
                              <a:rPr lang="en-US" sz="1850" i="1">
                                <a:latin typeface="Cambria Math" panose="02040503050406030204" pitchFamily="18" charset="0"/>
                              </a:rPr>
                            </m:ctrlPr>
                          </m:sSubPr>
                          <m:e>
                            <m:r>
                              <a:rPr lang="en-US" sz="1850" b="1" i="1">
                                <a:latin typeface="Cambria Math" panose="02040503050406030204" pitchFamily="18" charset="0"/>
                              </a:rPr>
                              <m:t>𝒙</m:t>
                            </m:r>
                          </m:e>
                          <m:sub>
                            <m:r>
                              <a:rPr lang="en-US" sz="1850" i="1">
                                <a:latin typeface="Cambria Math" panose="02040503050406030204" pitchFamily="18" charset="0"/>
                              </a:rPr>
                              <m:t>𝑖</m:t>
                            </m:r>
                          </m:sub>
                        </m:sSub>
                      </m:den>
                    </m:f>
                    <m:r>
                      <a:rPr lang="en-US" sz="1850" i="1">
                        <a:latin typeface="Cambria Math" panose="02040503050406030204" pitchFamily="18" charset="0"/>
                      </a:rPr>
                      <m:t>=</m:t>
                    </m:r>
                    <m:f>
                      <m:fPr>
                        <m:ctrlPr>
                          <a:rPr lang="en-US" sz="1850" i="1">
                            <a:latin typeface="Cambria Math" panose="02040503050406030204" pitchFamily="18" charset="0"/>
                          </a:rPr>
                        </m:ctrlPr>
                      </m:fPr>
                      <m:num>
                        <m:r>
                          <a:rPr lang="en-US" sz="1850" i="1">
                            <a:latin typeface="Cambria Math" panose="02040503050406030204" pitchFamily="18" charset="0"/>
                          </a:rPr>
                          <m:t>1</m:t>
                        </m:r>
                      </m:num>
                      <m:den>
                        <m:rad>
                          <m:radPr>
                            <m:degHide m:val="on"/>
                            <m:ctrlPr>
                              <a:rPr lang="en-US" sz="1850" i="1">
                                <a:latin typeface="Cambria Math" panose="02040503050406030204" pitchFamily="18" charset="0"/>
                              </a:rPr>
                            </m:ctrlPr>
                          </m:radPr>
                          <m:deg/>
                          <m:e>
                            <m:sSub>
                              <m:sSubPr>
                                <m:ctrlPr>
                                  <a:rPr lang="en-US" sz="1850" i="1">
                                    <a:latin typeface="Cambria Math" panose="02040503050406030204" pitchFamily="18" charset="0"/>
                                  </a:rPr>
                                </m:ctrlPr>
                              </m:sSubPr>
                              <m:e>
                                <m:r>
                                  <a:rPr lang="en-US" sz="1850" i="1">
                                    <a:latin typeface="Cambria Math" panose="02040503050406030204" pitchFamily="18" charset="0"/>
                                  </a:rPr>
                                  <m:t>𝑑</m:t>
                                </m:r>
                              </m:e>
                              <m:sub>
                                <m:r>
                                  <a:rPr lang="en-US" sz="1850" i="1">
                                    <a:latin typeface="Cambria Math" panose="02040503050406030204" pitchFamily="18" charset="0"/>
                                  </a:rPr>
                                  <m:t>𝑘</m:t>
                                </m:r>
                              </m:sub>
                            </m:sSub>
                          </m:e>
                        </m:rad>
                      </m:den>
                    </m:f>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bSup>
                                      <m:sSubSupPr>
                                        <m:ctrlPr>
                                          <a:rPr lang="en-US" sz="1850" i="1">
                                            <a:latin typeface="Cambria Math" panose="02040503050406030204" pitchFamily="18" charset="0"/>
                                          </a:rPr>
                                        </m:ctrlPr>
                                      </m:sSubSupPr>
                                      <m:e>
                                        <m:r>
                                          <a:rPr lang="en-US" sz="1850" b="1" i="1">
                                            <a:latin typeface="Cambria Math" panose="02040503050406030204" pitchFamily="18" charset="0"/>
                                          </a:rPr>
                                          <m:t>𝒂</m:t>
                                        </m:r>
                                      </m:e>
                                      <m:sub>
                                        <m:r>
                                          <a:rPr lang="en-US" sz="1850" i="1">
                                            <a:latin typeface="Cambria Math" panose="02040503050406030204" pitchFamily="18" charset="0"/>
                                          </a:rPr>
                                          <m:t>𝑖</m:t>
                                        </m:r>
                                      </m:sub>
                                      <m:sup>
                                        <m:r>
                                          <a:rPr lang="en-US" sz="1850" i="1">
                                            <a:latin typeface="Cambria Math" panose="02040503050406030204" pitchFamily="18" charset="0"/>
                                          </a:rPr>
                                          <m:t>′</m:t>
                                        </m:r>
                                      </m:sup>
                                    </m:sSubSup>
                                    <m:r>
                                      <a:rPr lang="en-US" sz="1850" i="1">
                                        <a:latin typeface="Cambria Math" panose="02040503050406030204" pitchFamily="18" charset="0"/>
                                      </a:rPr>
                                      <m:t>−</m:t>
                                    </m:r>
                                    <m:sSub>
                                      <m:sSubPr>
                                        <m:ctrlPr>
                                          <a:rPr lang="en-US" sz="1850" i="1">
                                            <a:latin typeface="Cambria Math" panose="02040503050406030204" pitchFamily="18" charset="0"/>
                                          </a:rPr>
                                        </m:ctrlPr>
                                      </m:sSubPr>
                                      <m:e>
                                        <m:r>
                                          <a:rPr lang="en-US" sz="1850" b="1" i="1">
                                            <a:latin typeface="Cambria Math" panose="02040503050406030204" pitchFamily="18" charset="0"/>
                                          </a:rPr>
                                          <m:t>𝒂</m:t>
                                        </m:r>
                                      </m:e>
                                      <m:sub>
                                        <m:r>
                                          <a:rPr lang="en-US" sz="1850" i="1">
                                            <a:latin typeface="Cambria Math" panose="02040503050406030204" pitchFamily="18" charset="0"/>
                                          </a:rPr>
                                          <m:t>𝑖</m:t>
                                        </m:r>
                                      </m:sub>
                                    </m:sSub>
                                  </m:e>
                                </m:d>
                              </m:e>
                              <m:sup>
                                <m:r>
                                  <a:rPr lang="en-US" sz="1850" i="1">
                                    <a:latin typeface="Cambria Math" panose="02040503050406030204" pitchFamily="18" charset="0"/>
                                  </a:rPr>
                                  <m:t>𝑇</m:t>
                                </m:r>
                              </m:sup>
                            </m:sSup>
                            <m:sSup>
                              <m:sSupPr>
                                <m:ctrlPr>
                                  <a:rPr lang="en-US" sz="1850" i="1">
                                    <a:latin typeface="Cambria Math" panose="02040503050406030204" pitchFamily="18" charset="0"/>
                                  </a:rPr>
                                </m:ctrlPr>
                              </m:sSupPr>
                              <m:e>
                                <m:r>
                                  <a:rPr lang="en-US" sz="1850" i="1">
                                    <a:latin typeface="Cambria Math" panose="02040503050406030204" pitchFamily="18" charset="0"/>
                                  </a:rPr>
                                  <m:t>𝑉</m:t>
                                </m:r>
                              </m:e>
                              <m:sup>
                                <m:r>
                                  <a:rPr lang="en-US" sz="1850" i="1">
                                    <a:latin typeface="Cambria Math" panose="02040503050406030204" pitchFamily="18" charset="0"/>
                                  </a:rPr>
                                  <m:t>𝑇</m:t>
                                </m:r>
                              </m:sup>
                            </m:sSup>
                            <m:sSubSup>
                              <m:sSubSupPr>
                                <m:ctrlPr>
                                  <a:rPr lang="en-US" sz="1850" i="1">
                                    <a:latin typeface="Cambria Math" panose="02040503050406030204" pitchFamily="18" charset="0"/>
                                  </a:rPr>
                                </m:ctrlPr>
                              </m:sSubSupPr>
                              <m:e>
                                <m:r>
                                  <a:rPr lang="en-US" sz="1850" b="1" i="1">
                                    <a:latin typeface="Cambria Math" panose="02040503050406030204" pitchFamily="18" charset="0"/>
                                  </a:rPr>
                                  <m:t>𝒑</m:t>
                                </m:r>
                              </m:e>
                              <m:sub>
                                <m:r>
                                  <a:rPr lang="en-US" sz="1850" i="1">
                                    <a:latin typeface="Cambria Math" panose="02040503050406030204" pitchFamily="18" charset="0"/>
                                  </a:rPr>
                                  <m:t>𝑖</m:t>
                                </m:r>
                              </m:sub>
                              <m:sup>
                                <m:r>
                                  <a:rPr lang="en-US" sz="1850" i="1">
                                    <a:latin typeface="Cambria Math" panose="02040503050406030204" pitchFamily="18" charset="0"/>
                                  </a:rPr>
                                  <m:t>′</m:t>
                                </m:r>
                              </m:sup>
                            </m:sSubSup>
                            <m:d>
                              <m:dPr>
                                <m:ctrlPr>
                                  <a:rPr lang="en-US" sz="1850" i="1">
                                    <a:latin typeface="Cambria Math" panose="02040503050406030204" pitchFamily="18" charset="0"/>
                                  </a:rPr>
                                </m:ctrlPr>
                              </m:dPr>
                              <m:e>
                                <m:r>
                                  <a:rPr lang="en-US" sz="1850" i="1">
                                    <a:latin typeface="Cambria Math" panose="02040503050406030204" pitchFamily="18" charset="0"/>
                                  </a:rPr>
                                  <m:t>𝐾</m:t>
                                </m:r>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p>
                                          <m:sSupPr>
                                            <m:ctrlPr>
                                              <a:rPr lang="en-US" sz="1850" i="1">
                                                <a:latin typeface="Cambria Math" panose="02040503050406030204" pitchFamily="18" charset="0"/>
                                              </a:rPr>
                                            </m:ctrlPr>
                                          </m:sSupPr>
                                          <m:e>
                                            <m:r>
                                              <a:rPr lang="en-US" sz="1850" i="1">
                                                <a:latin typeface="Cambria Math" panose="02040503050406030204" pitchFamily="18" charset="0"/>
                                              </a:rPr>
                                              <m:t>𝑊</m:t>
                                            </m:r>
                                          </m:e>
                                          <m:sup>
                                            <m:r>
                                              <a:rPr lang="en-US" sz="1850" i="1">
                                                <a:latin typeface="Cambria Math" panose="02040503050406030204" pitchFamily="18" charset="0"/>
                                              </a:rPr>
                                              <m:t>𝑄</m:t>
                                            </m:r>
                                          </m:sup>
                                        </m:sSup>
                                      </m:e>
                                    </m:d>
                                  </m:e>
                                  <m:sup>
                                    <m:r>
                                      <a:rPr lang="en-US" sz="1850" i="1">
                                        <a:latin typeface="Cambria Math" panose="02040503050406030204" pitchFamily="18" charset="0"/>
                                      </a:rPr>
                                      <m:t>𝑇</m:t>
                                    </m:r>
                                  </m:sup>
                                </m:sSup>
                                <m:r>
                                  <a:rPr lang="en-US" sz="1850" i="1">
                                    <a:latin typeface="Cambria Math" panose="02040503050406030204" pitchFamily="18" charset="0"/>
                                  </a:rPr>
                                  <m:t>+</m:t>
                                </m:r>
                                <m:r>
                                  <a:rPr lang="en-US" sz="1850" i="1">
                                    <a:latin typeface="Cambria Math" panose="02040503050406030204" pitchFamily="18" charset="0"/>
                                  </a:rPr>
                                  <m:t>𝑄</m:t>
                                </m:r>
                                <m:sSup>
                                  <m:sSupPr>
                                    <m:ctrlPr>
                                      <a:rPr lang="en-US" sz="1850" i="1">
                                        <a:latin typeface="Cambria Math" panose="02040503050406030204" pitchFamily="18" charset="0"/>
                                      </a:rPr>
                                    </m:ctrlPr>
                                  </m:sSupPr>
                                  <m:e>
                                    <m:d>
                                      <m:dPr>
                                        <m:ctrlPr>
                                          <a:rPr lang="en-US" sz="1850" i="1">
                                            <a:latin typeface="Cambria Math" panose="02040503050406030204" pitchFamily="18" charset="0"/>
                                          </a:rPr>
                                        </m:ctrlPr>
                                      </m:dPr>
                                      <m:e>
                                        <m:sSup>
                                          <m:sSupPr>
                                            <m:ctrlPr>
                                              <a:rPr lang="en-US" sz="1850" i="1">
                                                <a:latin typeface="Cambria Math" panose="02040503050406030204" pitchFamily="18" charset="0"/>
                                              </a:rPr>
                                            </m:ctrlPr>
                                          </m:sSupPr>
                                          <m:e>
                                            <m:r>
                                              <a:rPr lang="en-US" sz="1850" i="1">
                                                <a:latin typeface="Cambria Math" panose="02040503050406030204" pitchFamily="18" charset="0"/>
                                              </a:rPr>
                                              <m:t>𝑊</m:t>
                                            </m:r>
                                          </m:e>
                                          <m:sup>
                                            <m:r>
                                              <a:rPr lang="en-US" sz="1850" i="1">
                                                <a:latin typeface="Cambria Math" panose="02040503050406030204" pitchFamily="18" charset="0"/>
                                              </a:rPr>
                                              <m:t>𝐾</m:t>
                                            </m:r>
                                          </m:sup>
                                        </m:sSup>
                                      </m:e>
                                    </m:d>
                                  </m:e>
                                  <m:sup>
                                    <m:r>
                                      <a:rPr lang="en-US" sz="1850" i="1">
                                        <a:latin typeface="Cambria Math" panose="02040503050406030204" pitchFamily="18" charset="0"/>
                                      </a:rPr>
                                      <m:t>𝑇</m:t>
                                    </m:r>
                                  </m:sup>
                                </m:sSup>
                              </m:e>
                            </m:d>
                          </m:e>
                        </m:d>
                      </m:e>
                      <m:sup>
                        <m:r>
                          <a:rPr lang="en-US" sz="1850" i="1">
                            <a:latin typeface="Cambria Math" panose="02040503050406030204" pitchFamily="18" charset="0"/>
                          </a:rPr>
                          <m:t>𝑇</m:t>
                        </m:r>
                      </m:sup>
                    </m:sSup>
                  </m:oMath>
                </a14:m>
                <a:endParaRPr lang="en-US" sz="1850" dirty="0"/>
              </a:p>
              <a:p>
                <a:pPr marL="0" indent="0">
                  <a:buNone/>
                </a:pPr>
                <a:endParaRPr lang="en-US" sz="1850" dirty="0"/>
              </a:p>
              <a:p>
                <a:pPr marL="0" indent="0">
                  <a:buNone/>
                </a:pPr>
                <a:endParaRPr lang="en-US" sz="185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1280" y="914399"/>
                <a:ext cx="12019280" cy="5176066"/>
              </a:xfrm>
              <a:blipFill>
                <a:blip r:embed="rId2"/>
                <a:stretch>
                  <a:fillRect l="-456" t="-824" r="-710"/>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31</a:t>
            </a:fld>
            <a:endParaRPr lang="en-US"/>
          </a:p>
        </p:txBody>
      </p:sp>
    </p:spTree>
    <p:extLst>
      <p:ext uri="{BB962C8B-B14F-4D97-AF65-F5344CB8AC3E}">
        <p14:creationId xmlns:p14="http://schemas.microsoft.com/office/powerpoint/2010/main" val="73231419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a:t>
            </a:r>
            <a:r>
              <a:rPr lang="en-US" dirty="0" smtClean="0"/>
              <a:t>network (main)</a:t>
            </a:r>
            <a:endParaRPr lang="en-US" dirty="0"/>
          </a:p>
        </p:txBody>
      </p:sp>
      <p:sp>
        <p:nvSpPr>
          <p:cNvPr id="3" name="Content Placeholder 2"/>
          <p:cNvSpPr>
            <a:spLocks noGrp="1"/>
          </p:cNvSpPr>
          <p:nvPr>
            <p:ph idx="1"/>
          </p:nvPr>
        </p:nvSpPr>
        <p:spPr>
          <a:xfrm>
            <a:off x="91440" y="914399"/>
            <a:ext cx="12019280" cy="5176066"/>
          </a:xfrm>
        </p:spPr>
        <p:txBody>
          <a:bodyPr>
            <a:noAutofit/>
          </a:bodyPr>
          <a:lstStyle/>
          <a:p>
            <a:r>
              <a:rPr lang="en-US" sz="2050" dirty="0"/>
              <a:t>Recall that this research focuses on evaluating the hypothesis “whether matrix neural network is the alternative of convolutional neural network”, which means to test the preeminence of matrix neural network (MNN) in comparison with convolutional neural network (CNN). Moreover, the hypothesis in this research relates to transformer too because attention, which is the first part of transformer, is totally based on matrix although the second part of transformer, which is feed-forward network (FFN), can be matrix artificial neural network called MNN or vector artificial neural network called vector ANN. As a convention, the transformer whose FFN is MNN is called matrix transformer and the transformer whose FFN is vector ANN is called vector </a:t>
            </a:r>
            <a:r>
              <a:rPr lang="en-US" sz="2050" dirty="0" smtClean="0"/>
              <a:t>transformer. Among </a:t>
            </a:r>
            <a:r>
              <a:rPr lang="en-US" sz="2050" dirty="0"/>
              <a:t>many applications related to CNN and transformer, this research focuses on application of image classification and thus, image classification is tested with ANN, MNN, matrix transformer and vector transformer. Therefore, </a:t>
            </a:r>
            <a:r>
              <a:rPr lang="en-US" sz="2050" dirty="0">
                <a:effectLst>
                  <a:outerShdw blurRad="38100" dist="38100" dir="2700000" algn="tl">
                    <a:srgbClr val="000000">
                      <a:alpha val="43137"/>
                    </a:srgbClr>
                  </a:outerShdw>
                </a:effectLst>
              </a:rPr>
              <a:t>the main hypothesis “</a:t>
            </a:r>
            <a:r>
              <a:rPr lang="en-US" sz="2050" i="1" dirty="0">
                <a:effectLst>
                  <a:outerShdw blurRad="38100" dist="38100" dir="2700000" algn="tl">
                    <a:srgbClr val="000000">
                      <a:alpha val="43137"/>
                    </a:srgbClr>
                  </a:outerShdw>
                </a:effectLst>
              </a:rPr>
              <a:t>whether MNN is the alternative of CNN</a:t>
            </a:r>
            <a:r>
              <a:rPr lang="en-US" sz="2050" dirty="0">
                <a:effectLst>
                  <a:outerShdw blurRad="38100" dist="38100" dir="2700000" algn="tl">
                    <a:srgbClr val="000000">
                      <a:alpha val="43137"/>
                    </a:srgbClr>
                  </a:outerShdw>
                </a:effectLst>
              </a:rPr>
              <a:t>” will lead to the first auxiliary hypothesis “</a:t>
            </a:r>
            <a:r>
              <a:rPr lang="en-US" sz="2050" i="1" dirty="0">
                <a:effectLst>
                  <a:outerShdw blurRad="38100" dist="38100" dir="2700000" algn="tl">
                    <a:srgbClr val="000000">
                      <a:alpha val="43137"/>
                    </a:srgbClr>
                  </a:outerShdw>
                </a:effectLst>
              </a:rPr>
              <a:t>whether attention is the alternative of CNN too</a:t>
            </a:r>
            <a:r>
              <a:rPr lang="en-US" sz="2050" dirty="0">
                <a:effectLst>
                  <a:outerShdw blurRad="38100" dist="38100" dir="2700000" algn="tl">
                    <a:srgbClr val="000000">
                      <a:alpha val="43137"/>
                    </a:srgbClr>
                  </a:outerShdw>
                </a:effectLst>
              </a:rPr>
              <a:t>” when attention plays the role of feature like convolutional layer</a:t>
            </a:r>
            <a:r>
              <a:rPr lang="en-US" sz="2050" dirty="0"/>
              <a:t> although the attention-based feature is self-structure or internal structure, </a:t>
            </a:r>
            <a:r>
              <a:rPr lang="en-US" sz="2050" dirty="0" smtClean="0"/>
              <a:t>actually.</a:t>
            </a:r>
          </a:p>
          <a:p>
            <a:r>
              <a:rPr lang="en-US" sz="2050" dirty="0" smtClean="0"/>
              <a:t>Besides</a:t>
            </a:r>
            <a:r>
              <a:rPr lang="en-US" sz="2050" dirty="0"/>
              <a:t>, if both MNN and attention are good enough in comparison with CNN although both of them cannot totally replace CNN, then FFN of transformer should be MNN because of the harmonization of both computational cost and accuracy. In other words, </a:t>
            </a:r>
            <a:r>
              <a:rPr lang="en-US" sz="2050" dirty="0">
                <a:effectLst>
                  <a:outerShdw blurRad="38100" dist="38100" dir="2700000" algn="tl">
                    <a:srgbClr val="000000">
                      <a:alpha val="43137"/>
                    </a:srgbClr>
                  </a:outerShdw>
                </a:effectLst>
              </a:rPr>
              <a:t>the second auxiliary hypothesis “</a:t>
            </a:r>
            <a:r>
              <a:rPr lang="en-US" sz="2050" i="1" dirty="0">
                <a:effectLst>
                  <a:outerShdw blurRad="38100" dist="38100" dir="2700000" algn="tl">
                    <a:srgbClr val="000000">
                      <a:alpha val="43137"/>
                    </a:srgbClr>
                  </a:outerShdw>
                </a:effectLst>
              </a:rPr>
              <a:t>whether</a:t>
            </a:r>
            <a:r>
              <a:rPr lang="en-US" sz="2050" dirty="0">
                <a:effectLst>
                  <a:outerShdw blurRad="38100" dist="38100" dir="2700000" algn="tl">
                    <a:srgbClr val="000000">
                      <a:alpha val="43137"/>
                    </a:srgbClr>
                  </a:outerShdw>
                </a:effectLst>
              </a:rPr>
              <a:t> </a:t>
            </a:r>
            <a:r>
              <a:rPr lang="en-US" sz="2050" i="1" dirty="0">
                <a:effectLst>
                  <a:outerShdw blurRad="38100" dist="38100" dir="2700000" algn="tl">
                    <a:srgbClr val="000000">
                      <a:alpha val="43137"/>
                    </a:srgbClr>
                  </a:outerShdw>
                </a:effectLst>
              </a:rPr>
              <a:t>FFN of transformer should be MNN</a:t>
            </a:r>
            <a:r>
              <a:rPr lang="en-US" sz="2050" dirty="0">
                <a:effectLst>
                  <a:outerShdw blurRad="38100" dist="38100" dir="2700000" algn="tl">
                    <a:srgbClr val="000000">
                      <a:alpha val="43137"/>
                    </a:srgbClr>
                  </a:outerShdw>
                </a:effectLst>
              </a:rPr>
              <a:t>” (whether matrix transformer is preferred to vector transformer) is tested</a:t>
            </a:r>
            <a:r>
              <a:rPr lang="en-US" sz="2050" dirty="0"/>
              <a:t>.</a:t>
            </a:r>
          </a:p>
          <a:p>
            <a:endParaRPr lang="en-US" sz="2050" dirty="0"/>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32</a:t>
            </a:fld>
            <a:endParaRPr lang="en-US"/>
          </a:p>
        </p:txBody>
      </p:sp>
    </p:spTree>
    <p:extLst>
      <p:ext uri="{BB962C8B-B14F-4D97-AF65-F5344CB8AC3E}">
        <p14:creationId xmlns:p14="http://schemas.microsoft.com/office/powerpoint/2010/main" val="140893938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a:t>
            </a:r>
            <a:r>
              <a:rPr lang="en-US" dirty="0" smtClean="0"/>
              <a:t>network (main)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 y="914399"/>
                <a:ext cx="11998960" cy="5176066"/>
              </a:xfrm>
            </p:spPr>
            <p:txBody>
              <a:bodyPr>
                <a:noAutofit/>
              </a:bodyPr>
              <a:lstStyle/>
              <a:p>
                <a:pPr marL="0" indent="0">
                  <a:buNone/>
                </a:pPr>
                <a:r>
                  <a:rPr lang="en-US" sz="2050" dirty="0"/>
                  <a:t>An auxiliary problem needs to be solved in this research, which relates to convergence of ANN is to keep the accuracy stable when such accuracy in image classification decreases due to the ANN convergence. Indeed, although high convergence is a significantly strong point of ANN, it becomes inversely drawback of ANN because image input of ANN classifier is too highly dimensional data whereas class output of ANN classifier is too lowly </a:t>
                </a:r>
                <a:r>
                  <a:rPr lang="en-US" sz="2050" dirty="0" smtClean="0"/>
                  <a:t>dimensional data, </a:t>
                </a:r>
                <a:r>
                  <a:rPr lang="en-US" sz="2050" dirty="0"/>
                  <a:t>which causes the side-effect that ANN classifier will </a:t>
                </a:r>
                <a:r>
                  <a:rPr lang="en-US" sz="2050" dirty="0" smtClean="0"/>
                  <a:t>focus/converge </a:t>
                </a:r>
                <a:r>
                  <a:rPr lang="en-US" sz="2050" dirty="0"/>
                  <a:t>to a very few of classes. To overcome this drawback, </a:t>
                </a:r>
                <a:r>
                  <a:rPr lang="en-US" sz="2050" dirty="0">
                    <a:effectLst>
                      <a:outerShdw blurRad="38100" dist="38100" dir="2700000" algn="tl">
                        <a:srgbClr val="000000">
                          <a:alpha val="43137"/>
                        </a:srgbClr>
                      </a:outerShdw>
                    </a:effectLst>
                  </a:rPr>
                  <a:t>this research proposes a so-called concept of </a:t>
                </a:r>
                <a:r>
                  <a:rPr lang="en-US" sz="2050" i="1" dirty="0">
                    <a:effectLst>
                      <a:outerShdw blurRad="38100" dist="38100" dir="2700000" algn="tl">
                        <a:srgbClr val="000000">
                          <a:alpha val="43137"/>
                        </a:srgbClr>
                      </a:outerShdw>
                    </a:effectLst>
                  </a:rPr>
                  <a:t>baseline</a:t>
                </a:r>
                <a:r>
                  <a:rPr lang="en-US" sz="2050" dirty="0">
                    <a:effectLst>
                      <a:outerShdw blurRad="38100" dist="38100" dir="2700000" algn="tl">
                        <a:srgbClr val="000000">
                          <a:alpha val="43137"/>
                        </a:srgbClr>
                      </a:outerShdw>
                    </a:effectLst>
                  </a:rPr>
                  <a:t> where baseline </a:t>
                </a:r>
                <a:r>
                  <a:rPr lang="en-US" sz="2050" b="1" i="1" dirty="0">
                    <a:effectLst>
                      <a:outerShdw blurRad="38100" dist="38100" dir="2700000" algn="tl">
                        <a:srgbClr val="000000">
                          <a:alpha val="43137"/>
                        </a:srgbClr>
                      </a:outerShdw>
                    </a:effectLst>
                  </a:rPr>
                  <a:t>b</a:t>
                </a:r>
                <a:r>
                  <a:rPr lang="en-US" sz="2050" dirty="0">
                    <a:effectLst>
                      <a:outerShdw blurRad="38100" dist="38100" dir="2700000" algn="tl">
                        <a:srgbClr val="000000">
                          <a:alpha val="43137"/>
                        </a:srgbClr>
                      </a:outerShdw>
                    </a:effectLst>
                  </a:rPr>
                  <a:t> consists of </a:t>
                </a:r>
                <a:r>
                  <a:rPr lang="en-US" sz="2050" i="1" dirty="0">
                    <a:effectLst>
                      <a:outerShdw blurRad="38100" dist="38100" dir="2700000" algn="tl">
                        <a:srgbClr val="000000">
                          <a:alpha val="43137"/>
                        </a:srgbClr>
                      </a:outerShdw>
                    </a:effectLst>
                  </a:rPr>
                  <a:t>n</a:t>
                </a:r>
                <a:r>
                  <a:rPr lang="en-US" sz="2050" dirty="0">
                    <a:effectLst>
                      <a:outerShdw blurRad="38100" dist="38100" dir="2700000" algn="tl">
                        <a:srgbClr val="000000">
                          <a:alpha val="43137"/>
                        </a:srgbClr>
                      </a:outerShdw>
                    </a:effectLst>
                  </a:rPr>
                  <a:t> basepoints corresponding to </a:t>
                </a:r>
                <a:r>
                  <a:rPr lang="en-US" sz="2050" i="1" dirty="0">
                    <a:effectLst>
                      <a:outerShdw blurRad="38100" dist="38100" dir="2700000" algn="tl">
                        <a:srgbClr val="000000">
                          <a:alpha val="43137"/>
                        </a:srgbClr>
                      </a:outerShdw>
                    </a:effectLst>
                  </a:rPr>
                  <a:t>n</a:t>
                </a:r>
                <a:r>
                  <a:rPr lang="en-US" sz="2050" dirty="0">
                    <a:effectLst>
                      <a:outerShdw blurRad="38100" dist="38100" dir="2700000" algn="tl">
                        <a:srgbClr val="000000">
                          <a:alpha val="43137"/>
                        </a:srgbClr>
                      </a:outerShdw>
                    </a:effectLst>
                  </a:rPr>
                  <a:t> classes</a:t>
                </a:r>
                <a:r>
                  <a:rPr lang="en-US" sz="2050" dirty="0"/>
                  <a:t>. Each basepoint </a:t>
                </a:r>
                <a:r>
                  <a:rPr lang="en-US" sz="2050" i="1" dirty="0"/>
                  <a:t>b</a:t>
                </a:r>
                <a:r>
                  <a:rPr lang="en-US" sz="2050" i="1" baseline="-25000" dirty="0"/>
                  <a:t>i</a:t>
                </a:r>
                <a:r>
                  <a:rPr lang="en-US" sz="2050" dirty="0"/>
                  <a:t> is the average probability that images belong to class </a:t>
                </a:r>
                <a:r>
                  <a:rPr lang="en-US" sz="2050" i="1" dirty="0" err="1"/>
                  <a:t>i</a:t>
                </a:r>
                <a:r>
                  <a:rPr lang="en-US" sz="2050" dirty="0" smtClean="0"/>
                  <a:t>.</a:t>
                </a:r>
              </a:p>
              <a:p>
                <a:pPr marL="0" indent="0" algn="ctr">
                  <a:buNone/>
                </a:pPr>
                <a14:m>
                  <m:oMath xmlns:m="http://schemas.openxmlformats.org/officeDocument/2006/math">
                    <m:sSub>
                      <m:sSubPr>
                        <m:ctrlPr>
                          <a:rPr lang="en-US" sz="2050" i="1">
                            <a:latin typeface="Cambria Math" panose="02040503050406030204" pitchFamily="18" charset="0"/>
                          </a:rPr>
                        </m:ctrlPr>
                      </m:sSubPr>
                      <m:e>
                        <m:r>
                          <a:rPr lang="en-US" sz="2050" i="1">
                            <a:latin typeface="Cambria Math" panose="02040503050406030204" pitchFamily="18" charset="0"/>
                          </a:rPr>
                          <m:t>𝑏</m:t>
                        </m:r>
                      </m:e>
                      <m:sub>
                        <m:r>
                          <a:rPr lang="en-US" sz="2050" i="1">
                            <a:latin typeface="Cambria Math" panose="02040503050406030204" pitchFamily="18" charset="0"/>
                          </a:rPr>
                          <m:t>𝑖</m:t>
                        </m:r>
                      </m:sub>
                    </m:sSub>
                    <m:r>
                      <a:rPr lang="en-US" sz="2050" i="1">
                        <a:latin typeface="Cambria Math" panose="02040503050406030204" pitchFamily="18" charset="0"/>
                      </a:rPr>
                      <m:t>=</m:t>
                    </m:r>
                    <m:f>
                      <m:fPr>
                        <m:ctrlPr>
                          <a:rPr lang="en-US" sz="2050" i="1">
                            <a:latin typeface="Cambria Math" panose="02040503050406030204" pitchFamily="18" charset="0"/>
                          </a:rPr>
                        </m:ctrlPr>
                      </m:fPr>
                      <m:num>
                        <m:r>
                          <a:rPr lang="en-US" sz="2050" i="1">
                            <a:latin typeface="Cambria Math" panose="02040503050406030204" pitchFamily="18" charset="0"/>
                          </a:rPr>
                          <m:t>1</m:t>
                        </m:r>
                      </m:num>
                      <m:den>
                        <m:sSub>
                          <m:sSubPr>
                            <m:ctrlPr>
                              <a:rPr lang="en-US" sz="2050" i="1">
                                <a:latin typeface="Cambria Math" panose="02040503050406030204" pitchFamily="18" charset="0"/>
                              </a:rPr>
                            </m:ctrlPr>
                          </m:sSubPr>
                          <m:e>
                            <m:r>
                              <a:rPr lang="en-US" sz="2050" i="1">
                                <a:latin typeface="Cambria Math" panose="02040503050406030204" pitchFamily="18" charset="0"/>
                              </a:rPr>
                              <m:t>𝑁</m:t>
                            </m:r>
                          </m:e>
                          <m:sub>
                            <m:r>
                              <a:rPr lang="en-US" sz="2050" i="1">
                                <a:latin typeface="Cambria Math" panose="02040503050406030204" pitchFamily="18" charset="0"/>
                              </a:rPr>
                              <m:t>𝑖</m:t>
                            </m:r>
                          </m:sub>
                        </m:sSub>
                      </m:den>
                    </m:f>
                    <m:nary>
                      <m:naryPr>
                        <m:chr m:val="∑"/>
                        <m:limLoc m:val="undOvr"/>
                        <m:ctrlPr>
                          <a:rPr lang="en-US" sz="2050" i="1">
                            <a:latin typeface="Cambria Math" panose="02040503050406030204" pitchFamily="18" charset="0"/>
                          </a:rPr>
                        </m:ctrlPr>
                      </m:naryPr>
                      <m:sub>
                        <m:r>
                          <a:rPr lang="en-US" sz="2050" i="1">
                            <a:latin typeface="Cambria Math" panose="02040503050406030204" pitchFamily="18" charset="0"/>
                          </a:rPr>
                          <m:t>𝑘</m:t>
                        </m:r>
                        <m:r>
                          <a:rPr lang="en-US" sz="2050" i="1">
                            <a:latin typeface="Cambria Math" panose="02040503050406030204" pitchFamily="18" charset="0"/>
                          </a:rPr>
                          <m:t>=1</m:t>
                        </m:r>
                      </m:sub>
                      <m:sup>
                        <m:sSub>
                          <m:sSubPr>
                            <m:ctrlPr>
                              <a:rPr lang="en-US" sz="2050" i="1">
                                <a:latin typeface="Cambria Math" panose="02040503050406030204" pitchFamily="18" charset="0"/>
                              </a:rPr>
                            </m:ctrlPr>
                          </m:sSubPr>
                          <m:e>
                            <m:r>
                              <a:rPr lang="en-US" sz="2050" i="1">
                                <a:latin typeface="Cambria Math" panose="02040503050406030204" pitchFamily="18" charset="0"/>
                              </a:rPr>
                              <m:t>𝑁</m:t>
                            </m:r>
                          </m:e>
                          <m:sub>
                            <m:r>
                              <a:rPr lang="en-US" sz="2050" i="1">
                                <a:latin typeface="Cambria Math" panose="02040503050406030204" pitchFamily="18" charset="0"/>
                              </a:rPr>
                              <m:t>𝑖</m:t>
                            </m:r>
                          </m:sub>
                        </m:sSub>
                      </m:sup>
                      <m:e>
                        <m:sSub>
                          <m:sSubPr>
                            <m:ctrlPr>
                              <a:rPr lang="en-US" sz="2050" i="1">
                                <a:latin typeface="Cambria Math" panose="02040503050406030204" pitchFamily="18" charset="0"/>
                              </a:rPr>
                            </m:ctrlPr>
                          </m:sSubPr>
                          <m:e>
                            <m:r>
                              <a:rPr lang="en-US" sz="2050" i="1">
                                <a:latin typeface="Cambria Math" panose="02040503050406030204" pitchFamily="18" charset="0"/>
                              </a:rPr>
                              <m:t>𝑝</m:t>
                            </m:r>
                          </m:e>
                          <m:sub>
                            <m:r>
                              <a:rPr lang="en-US" sz="2050" i="1">
                                <a:latin typeface="Cambria Math" panose="02040503050406030204" pitchFamily="18" charset="0"/>
                              </a:rPr>
                              <m:t>𝑖</m:t>
                            </m:r>
                          </m:sub>
                        </m:sSub>
                        <m:d>
                          <m:dPr>
                            <m:ctrlPr>
                              <a:rPr lang="en-US" sz="2050" i="1">
                                <a:latin typeface="Cambria Math" panose="02040503050406030204" pitchFamily="18" charset="0"/>
                              </a:rPr>
                            </m:ctrlPr>
                          </m:dPr>
                          <m:e>
                            <m:r>
                              <a:rPr lang="en-US" sz="2050" i="1">
                                <a:latin typeface="Cambria Math" panose="02040503050406030204" pitchFamily="18" charset="0"/>
                              </a:rPr>
                              <m:t>𝑘</m:t>
                            </m:r>
                          </m:e>
                        </m:d>
                      </m:e>
                    </m:nary>
                  </m:oMath>
                </a14:m>
                <a:r>
                  <a:rPr lang="en-US" sz="2050" dirty="0"/>
                  <a:t> where </a:t>
                </a:r>
                <a:r>
                  <a:rPr lang="en-US" sz="2050" i="1" dirty="0"/>
                  <a:t>p</a:t>
                </a:r>
                <a:r>
                  <a:rPr lang="en-US" sz="2050" i="1" baseline="-25000" dirty="0"/>
                  <a:t>i</a:t>
                </a:r>
                <a:r>
                  <a:rPr lang="en-US" sz="2050" dirty="0"/>
                  <a:t>(</a:t>
                </a:r>
                <a:r>
                  <a:rPr lang="en-US" sz="2050" i="1" dirty="0"/>
                  <a:t>k</a:t>
                </a:r>
                <a:r>
                  <a:rPr lang="en-US" sz="2050" dirty="0"/>
                  <a:t>) is the output probability of the classified image </a:t>
                </a:r>
                <a:r>
                  <a:rPr lang="en-US" sz="2050" i="1" dirty="0"/>
                  <a:t>k</a:t>
                </a:r>
                <a:r>
                  <a:rPr lang="en-US" sz="2050" dirty="0"/>
                  <a:t> on class </a:t>
                </a:r>
                <a:r>
                  <a:rPr lang="en-US" sz="2050" i="1" dirty="0" err="1"/>
                  <a:t>i</a:t>
                </a:r>
                <a:r>
                  <a:rPr lang="en-US" sz="2050" dirty="0"/>
                  <a:t> and such image </a:t>
                </a:r>
                <a:r>
                  <a:rPr lang="en-US" sz="2050" i="1" dirty="0"/>
                  <a:t>k</a:t>
                </a:r>
                <a:r>
                  <a:rPr lang="en-US" sz="2050" dirty="0"/>
                  <a:t> really belongs to class </a:t>
                </a:r>
                <a:r>
                  <a:rPr lang="en-US" sz="2050" i="1" dirty="0" err="1" smtClean="0"/>
                  <a:t>i</a:t>
                </a:r>
                <a:endParaRPr lang="en-US" sz="2050" i="1" dirty="0" smtClean="0"/>
              </a:p>
              <a:p>
                <a:pPr marL="0" indent="0">
                  <a:buNone/>
                </a:pPr>
                <a:r>
                  <a:rPr lang="en-US" sz="2050" dirty="0"/>
                  <a:t>Where </a:t>
                </a:r>
                <a:r>
                  <a:rPr lang="en-US" sz="2050" i="1" dirty="0"/>
                  <a:t>N</a:t>
                </a:r>
                <a:r>
                  <a:rPr lang="en-US" sz="2050" i="1" baseline="-25000" dirty="0"/>
                  <a:t>i</a:t>
                </a:r>
                <a:r>
                  <a:rPr lang="en-US" sz="2050" dirty="0"/>
                  <a:t> is the total number of images that really belong to class </a:t>
                </a:r>
                <a:r>
                  <a:rPr lang="en-US" sz="2050" i="1" dirty="0" err="1"/>
                  <a:t>i</a:t>
                </a:r>
                <a:r>
                  <a:rPr lang="en-US" sz="2050" dirty="0"/>
                  <a:t> in training dataset. Note</a:t>
                </a:r>
                <a:r>
                  <a:rPr lang="en-US" sz="2050" dirty="0" smtClean="0"/>
                  <a:t>, </a:t>
                </a:r>
                <a:r>
                  <a:rPr lang="en-US" sz="2050" b="1" i="1" dirty="0" smtClean="0"/>
                  <a:t>b</a:t>
                </a:r>
                <a:r>
                  <a:rPr lang="en-US" sz="2050" dirty="0" smtClean="0"/>
                  <a:t> = (</a:t>
                </a:r>
                <a:r>
                  <a:rPr lang="en-US" sz="2050" i="1" dirty="0" smtClean="0"/>
                  <a:t>b</a:t>
                </a:r>
                <a:r>
                  <a:rPr lang="en-US" sz="2050" baseline="-25000" dirty="0" smtClean="0"/>
                  <a:t>1</a:t>
                </a:r>
                <a:r>
                  <a:rPr lang="en-US" sz="2050" dirty="0" smtClean="0"/>
                  <a:t>, </a:t>
                </a:r>
                <a:r>
                  <a:rPr lang="en-US" sz="2050" i="1" dirty="0" smtClean="0"/>
                  <a:t>b</a:t>
                </a:r>
                <a:r>
                  <a:rPr lang="en-US" sz="2050" baseline="-25000" dirty="0" smtClean="0"/>
                  <a:t>2</a:t>
                </a:r>
                <a:r>
                  <a:rPr lang="en-US" sz="2050" dirty="0" smtClean="0"/>
                  <a:t>,…, </a:t>
                </a:r>
                <a:r>
                  <a:rPr lang="en-US" sz="2050" i="1" dirty="0" err="1" smtClean="0"/>
                  <a:t>b</a:t>
                </a:r>
                <a:r>
                  <a:rPr lang="en-US" sz="2050" i="1" baseline="-25000" dirty="0" err="1" smtClean="0"/>
                  <a:t>n</a:t>
                </a:r>
                <a:r>
                  <a:rPr lang="en-US" sz="2050" dirty="0" smtClean="0"/>
                  <a:t>)</a:t>
                </a:r>
                <a:r>
                  <a:rPr lang="en-US" sz="2050" i="1" baseline="30000" dirty="0" smtClean="0"/>
                  <a:t>T</a:t>
                </a:r>
                <a:r>
                  <a:rPr lang="en-US" sz="2050" dirty="0" smtClean="0"/>
                  <a:t>. Let </a:t>
                </a:r>
                <a:r>
                  <a:rPr lang="en-US" sz="2050" b="1" i="1" dirty="0"/>
                  <a:t>p</a:t>
                </a:r>
                <a:r>
                  <a:rPr lang="en-US" sz="2050" dirty="0"/>
                  <a:t> = (</a:t>
                </a:r>
                <a:r>
                  <a:rPr lang="en-US" sz="2050" i="1" dirty="0"/>
                  <a:t>p</a:t>
                </a:r>
                <a:r>
                  <a:rPr lang="en-US" sz="2050" baseline="-25000" dirty="0"/>
                  <a:t>1</a:t>
                </a:r>
                <a:r>
                  <a:rPr lang="en-US" sz="2050" dirty="0"/>
                  <a:t>, </a:t>
                </a:r>
                <a:r>
                  <a:rPr lang="en-US" sz="2050" i="1" dirty="0"/>
                  <a:t>p</a:t>
                </a:r>
                <a:r>
                  <a:rPr lang="en-US" sz="2050" baseline="-25000" dirty="0"/>
                  <a:t>2</a:t>
                </a:r>
                <a:r>
                  <a:rPr lang="en-US" sz="2050" dirty="0"/>
                  <a:t>,…, </a:t>
                </a:r>
                <a:r>
                  <a:rPr lang="en-US" sz="2050" i="1" dirty="0" err="1"/>
                  <a:t>p</a:t>
                </a:r>
                <a:r>
                  <a:rPr lang="en-US" sz="2050" i="1" baseline="-25000" dirty="0" err="1"/>
                  <a:t>n</a:t>
                </a:r>
                <a:r>
                  <a:rPr lang="en-US" sz="2050" dirty="0"/>
                  <a:t>)</a:t>
                </a:r>
                <a:r>
                  <a:rPr lang="en-US" sz="2050" i="1" baseline="30000" dirty="0"/>
                  <a:t>T</a:t>
                </a:r>
                <a:r>
                  <a:rPr lang="en-US" sz="2050" dirty="0"/>
                  <a:t> be the output probability vector of some image on </a:t>
                </a:r>
                <a:r>
                  <a:rPr lang="en-US" sz="2050" i="1" dirty="0"/>
                  <a:t>n</a:t>
                </a:r>
                <a:r>
                  <a:rPr lang="en-US" sz="2050" dirty="0"/>
                  <a:t> classes, which is the output of ANN classifier, indeed. Let </a:t>
                </a:r>
                <a:r>
                  <a:rPr lang="en-US" sz="2050" b="1" i="1" dirty="0"/>
                  <a:t>d</a:t>
                </a:r>
                <a:r>
                  <a:rPr lang="en-US" sz="2050" dirty="0"/>
                  <a:t> be the probability deviation between baseline </a:t>
                </a:r>
                <a:r>
                  <a:rPr lang="en-US" sz="2050" b="1" i="1" dirty="0"/>
                  <a:t>b</a:t>
                </a:r>
                <a:r>
                  <a:rPr lang="en-US" sz="2050" dirty="0"/>
                  <a:t> and output </a:t>
                </a:r>
                <a:r>
                  <a:rPr lang="en-US" sz="2050" b="1" i="1" dirty="0"/>
                  <a:t>p</a:t>
                </a:r>
                <a:r>
                  <a:rPr lang="en-US" sz="2050" dirty="0" smtClean="0"/>
                  <a:t>.</a:t>
                </a:r>
              </a:p>
              <a:p>
                <a:pPr marL="0" indent="0">
                  <a:buNone/>
                </a:pPr>
                <a14:m>
                  <m:oMathPara xmlns:m="http://schemas.openxmlformats.org/officeDocument/2006/math">
                    <m:oMathParaPr>
                      <m:jc m:val="centerGroup"/>
                    </m:oMathParaPr>
                    <m:oMath xmlns:m="http://schemas.openxmlformats.org/officeDocument/2006/math">
                      <m:r>
                        <a:rPr lang="en-US" sz="2050" b="1" i="1">
                          <a:latin typeface="Cambria Math" panose="02040503050406030204" pitchFamily="18" charset="0"/>
                        </a:rPr>
                        <m:t>𝒅</m:t>
                      </m:r>
                      <m:r>
                        <a:rPr lang="en-US" sz="2050" i="1">
                          <a:latin typeface="Cambria Math" panose="02040503050406030204" pitchFamily="18" charset="0"/>
                        </a:rPr>
                        <m:t>=</m:t>
                      </m:r>
                      <m:r>
                        <a:rPr lang="en-US" sz="2050" b="1" i="1">
                          <a:latin typeface="Cambria Math" panose="02040503050406030204" pitchFamily="18" charset="0"/>
                        </a:rPr>
                        <m:t>𝒑</m:t>
                      </m:r>
                      <m:r>
                        <a:rPr lang="en-US" sz="2050" i="1">
                          <a:latin typeface="Cambria Math" panose="02040503050406030204" pitchFamily="18" charset="0"/>
                        </a:rPr>
                        <m:t>−</m:t>
                      </m:r>
                      <m:r>
                        <a:rPr lang="en-US" sz="2050" b="1" i="1">
                          <a:latin typeface="Cambria Math" panose="02040503050406030204" pitchFamily="18" charset="0"/>
                        </a:rPr>
                        <m:t>𝒃</m:t>
                      </m:r>
                      <m:r>
                        <a:rPr lang="en-US" sz="2050" i="1">
                          <a:latin typeface="Cambria Math" panose="02040503050406030204" pitchFamily="18" charset="0"/>
                        </a:rPr>
                        <m:t>=</m:t>
                      </m:r>
                      <m:sSup>
                        <m:sSupPr>
                          <m:ctrlPr>
                            <a:rPr lang="en-US" sz="2050" i="1">
                              <a:latin typeface="Cambria Math" panose="02040503050406030204" pitchFamily="18" charset="0"/>
                            </a:rPr>
                          </m:ctrlPr>
                        </m:sSupPr>
                        <m:e>
                          <m:d>
                            <m:dPr>
                              <m:ctrlPr>
                                <a:rPr lang="en-US" sz="2050" i="1">
                                  <a:latin typeface="Cambria Math" panose="02040503050406030204" pitchFamily="18" charset="0"/>
                                </a:rPr>
                              </m:ctrlPr>
                            </m:dPr>
                            <m:e>
                              <m:sSub>
                                <m:sSubPr>
                                  <m:ctrlPr>
                                    <a:rPr lang="en-US" sz="2050" i="1">
                                      <a:latin typeface="Cambria Math" panose="02040503050406030204" pitchFamily="18" charset="0"/>
                                    </a:rPr>
                                  </m:ctrlPr>
                                </m:sSubPr>
                                <m:e>
                                  <m:r>
                                    <a:rPr lang="en-US" sz="2050" i="1">
                                      <a:latin typeface="Cambria Math" panose="02040503050406030204" pitchFamily="18" charset="0"/>
                                    </a:rPr>
                                    <m:t>𝑑</m:t>
                                  </m:r>
                                </m:e>
                                <m:sub>
                                  <m:r>
                                    <a:rPr lang="en-US" sz="2050" i="1">
                                      <a:latin typeface="Cambria Math" panose="02040503050406030204" pitchFamily="18" charset="0"/>
                                    </a:rPr>
                                    <m:t>1</m:t>
                                  </m:r>
                                </m:sub>
                              </m:sSub>
                              <m:r>
                                <a:rPr lang="en-US" sz="2050" i="1">
                                  <a:latin typeface="Cambria Math" panose="02040503050406030204" pitchFamily="18" charset="0"/>
                                </a:rPr>
                                <m:t>=</m:t>
                              </m:r>
                              <m:sSub>
                                <m:sSubPr>
                                  <m:ctrlPr>
                                    <a:rPr lang="en-US" sz="2050" i="1">
                                      <a:latin typeface="Cambria Math" panose="02040503050406030204" pitchFamily="18" charset="0"/>
                                    </a:rPr>
                                  </m:ctrlPr>
                                </m:sSubPr>
                                <m:e>
                                  <m:r>
                                    <a:rPr lang="en-US" sz="2050" i="1">
                                      <a:latin typeface="Cambria Math" panose="02040503050406030204" pitchFamily="18" charset="0"/>
                                    </a:rPr>
                                    <m:t>𝑝</m:t>
                                  </m:r>
                                </m:e>
                                <m:sub>
                                  <m:r>
                                    <a:rPr lang="en-US" sz="2050" i="1">
                                      <a:latin typeface="Cambria Math" panose="02040503050406030204" pitchFamily="18" charset="0"/>
                                    </a:rPr>
                                    <m:t>1</m:t>
                                  </m:r>
                                </m:sub>
                              </m:sSub>
                              <m:r>
                                <a:rPr lang="en-US" sz="2050" i="1">
                                  <a:latin typeface="Cambria Math" panose="02040503050406030204" pitchFamily="18" charset="0"/>
                                </a:rPr>
                                <m:t>−</m:t>
                              </m:r>
                              <m:sSub>
                                <m:sSubPr>
                                  <m:ctrlPr>
                                    <a:rPr lang="en-US" sz="2050" i="1">
                                      <a:latin typeface="Cambria Math" panose="02040503050406030204" pitchFamily="18" charset="0"/>
                                    </a:rPr>
                                  </m:ctrlPr>
                                </m:sSubPr>
                                <m:e>
                                  <m:r>
                                    <a:rPr lang="en-US" sz="2050" i="1">
                                      <a:latin typeface="Cambria Math" panose="02040503050406030204" pitchFamily="18" charset="0"/>
                                    </a:rPr>
                                    <m:t>𝑏</m:t>
                                  </m:r>
                                </m:e>
                                <m:sub>
                                  <m:r>
                                    <a:rPr lang="en-US" sz="2050" i="1">
                                      <a:latin typeface="Cambria Math" panose="02040503050406030204" pitchFamily="18" charset="0"/>
                                    </a:rPr>
                                    <m:t>1</m:t>
                                  </m:r>
                                </m:sub>
                              </m:sSub>
                              <m:r>
                                <a:rPr lang="en-US" sz="2050" i="1">
                                  <a:latin typeface="Cambria Math" panose="02040503050406030204" pitchFamily="18" charset="0"/>
                                </a:rPr>
                                <m:t>,</m:t>
                              </m:r>
                              <m:sSub>
                                <m:sSubPr>
                                  <m:ctrlPr>
                                    <a:rPr lang="en-US" sz="2050" i="1">
                                      <a:latin typeface="Cambria Math" panose="02040503050406030204" pitchFamily="18" charset="0"/>
                                    </a:rPr>
                                  </m:ctrlPr>
                                </m:sSubPr>
                                <m:e>
                                  <m:r>
                                    <a:rPr lang="en-US" sz="2050" i="1">
                                      <a:latin typeface="Cambria Math" panose="02040503050406030204" pitchFamily="18" charset="0"/>
                                    </a:rPr>
                                    <m:t>𝑑</m:t>
                                  </m:r>
                                </m:e>
                                <m:sub>
                                  <m:r>
                                    <a:rPr lang="en-US" sz="2050" i="1">
                                      <a:latin typeface="Cambria Math" panose="02040503050406030204" pitchFamily="18" charset="0"/>
                                    </a:rPr>
                                    <m:t>2</m:t>
                                  </m:r>
                                </m:sub>
                              </m:sSub>
                              <m:r>
                                <a:rPr lang="en-US" sz="2050" i="1">
                                  <a:latin typeface="Cambria Math" panose="02040503050406030204" pitchFamily="18" charset="0"/>
                                </a:rPr>
                                <m:t>=</m:t>
                              </m:r>
                              <m:sSub>
                                <m:sSubPr>
                                  <m:ctrlPr>
                                    <a:rPr lang="en-US" sz="2050" i="1">
                                      <a:latin typeface="Cambria Math" panose="02040503050406030204" pitchFamily="18" charset="0"/>
                                    </a:rPr>
                                  </m:ctrlPr>
                                </m:sSubPr>
                                <m:e>
                                  <m:r>
                                    <a:rPr lang="en-US" sz="2050" i="1">
                                      <a:latin typeface="Cambria Math" panose="02040503050406030204" pitchFamily="18" charset="0"/>
                                    </a:rPr>
                                    <m:t>𝑝</m:t>
                                  </m:r>
                                </m:e>
                                <m:sub>
                                  <m:r>
                                    <a:rPr lang="en-US" sz="2050" i="1">
                                      <a:latin typeface="Cambria Math" panose="02040503050406030204" pitchFamily="18" charset="0"/>
                                    </a:rPr>
                                    <m:t>2</m:t>
                                  </m:r>
                                </m:sub>
                              </m:sSub>
                              <m:r>
                                <a:rPr lang="en-US" sz="2050" i="1">
                                  <a:latin typeface="Cambria Math" panose="02040503050406030204" pitchFamily="18" charset="0"/>
                                </a:rPr>
                                <m:t>−</m:t>
                              </m:r>
                              <m:sSub>
                                <m:sSubPr>
                                  <m:ctrlPr>
                                    <a:rPr lang="en-US" sz="2050" i="1">
                                      <a:latin typeface="Cambria Math" panose="02040503050406030204" pitchFamily="18" charset="0"/>
                                    </a:rPr>
                                  </m:ctrlPr>
                                </m:sSubPr>
                                <m:e>
                                  <m:r>
                                    <a:rPr lang="en-US" sz="2050" i="1">
                                      <a:latin typeface="Cambria Math" panose="02040503050406030204" pitchFamily="18" charset="0"/>
                                    </a:rPr>
                                    <m:t>𝑏</m:t>
                                  </m:r>
                                </m:e>
                                <m:sub>
                                  <m:r>
                                    <a:rPr lang="en-US" sz="2050" i="1">
                                      <a:latin typeface="Cambria Math" panose="02040503050406030204" pitchFamily="18" charset="0"/>
                                    </a:rPr>
                                    <m:t>2</m:t>
                                  </m:r>
                                </m:sub>
                              </m:sSub>
                              <m:r>
                                <a:rPr lang="en-US" sz="2050" i="1">
                                  <a:latin typeface="Cambria Math" panose="02040503050406030204" pitchFamily="18" charset="0"/>
                                </a:rPr>
                                <m:t>,…,</m:t>
                              </m:r>
                              <m:sSub>
                                <m:sSubPr>
                                  <m:ctrlPr>
                                    <a:rPr lang="en-US" sz="2050" i="1">
                                      <a:latin typeface="Cambria Math" panose="02040503050406030204" pitchFamily="18" charset="0"/>
                                    </a:rPr>
                                  </m:ctrlPr>
                                </m:sSubPr>
                                <m:e>
                                  <m:r>
                                    <a:rPr lang="en-US" sz="2050" i="1">
                                      <a:latin typeface="Cambria Math" panose="02040503050406030204" pitchFamily="18" charset="0"/>
                                    </a:rPr>
                                    <m:t>𝑑</m:t>
                                  </m:r>
                                </m:e>
                                <m:sub>
                                  <m:r>
                                    <a:rPr lang="en-US" sz="2050" i="1">
                                      <a:latin typeface="Cambria Math" panose="02040503050406030204" pitchFamily="18" charset="0"/>
                                    </a:rPr>
                                    <m:t>𝑛</m:t>
                                  </m:r>
                                </m:sub>
                              </m:sSub>
                              <m:r>
                                <a:rPr lang="en-US" sz="2050" i="1">
                                  <a:latin typeface="Cambria Math" panose="02040503050406030204" pitchFamily="18" charset="0"/>
                                </a:rPr>
                                <m:t>=</m:t>
                              </m:r>
                              <m:sSub>
                                <m:sSubPr>
                                  <m:ctrlPr>
                                    <a:rPr lang="en-US" sz="2050" i="1">
                                      <a:latin typeface="Cambria Math" panose="02040503050406030204" pitchFamily="18" charset="0"/>
                                    </a:rPr>
                                  </m:ctrlPr>
                                </m:sSubPr>
                                <m:e>
                                  <m:r>
                                    <a:rPr lang="en-US" sz="2050" i="1">
                                      <a:latin typeface="Cambria Math" panose="02040503050406030204" pitchFamily="18" charset="0"/>
                                    </a:rPr>
                                    <m:t>𝑝</m:t>
                                  </m:r>
                                </m:e>
                                <m:sub>
                                  <m:r>
                                    <a:rPr lang="en-US" sz="2050" i="1">
                                      <a:latin typeface="Cambria Math" panose="02040503050406030204" pitchFamily="18" charset="0"/>
                                    </a:rPr>
                                    <m:t>𝑛</m:t>
                                  </m:r>
                                </m:sub>
                              </m:sSub>
                              <m:r>
                                <a:rPr lang="en-US" sz="2050" i="1">
                                  <a:latin typeface="Cambria Math" panose="02040503050406030204" pitchFamily="18" charset="0"/>
                                </a:rPr>
                                <m:t>−</m:t>
                              </m:r>
                              <m:sSub>
                                <m:sSubPr>
                                  <m:ctrlPr>
                                    <a:rPr lang="en-US" sz="2050" i="1">
                                      <a:latin typeface="Cambria Math" panose="02040503050406030204" pitchFamily="18" charset="0"/>
                                    </a:rPr>
                                  </m:ctrlPr>
                                </m:sSubPr>
                                <m:e>
                                  <m:r>
                                    <a:rPr lang="en-US" sz="2050" i="1">
                                      <a:latin typeface="Cambria Math" panose="02040503050406030204" pitchFamily="18" charset="0"/>
                                    </a:rPr>
                                    <m:t>𝑏</m:t>
                                  </m:r>
                                </m:e>
                                <m:sub>
                                  <m:r>
                                    <a:rPr lang="en-US" sz="2050" i="1">
                                      <a:latin typeface="Cambria Math" panose="02040503050406030204" pitchFamily="18" charset="0"/>
                                    </a:rPr>
                                    <m:t>𝑛</m:t>
                                  </m:r>
                                </m:sub>
                              </m:sSub>
                            </m:e>
                          </m:d>
                        </m:e>
                        <m:sup>
                          <m:r>
                            <a:rPr lang="en-US" sz="2050" i="1">
                              <a:latin typeface="Cambria Math" panose="02040503050406030204" pitchFamily="18" charset="0"/>
                            </a:rPr>
                            <m:t>𝑇</m:t>
                          </m:r>
                        </m:sup>
                      </m:sSup>
                    </m:oMath>
                  </m:oMathPara>
                </a14:m>
                <a:endParaRPr lang="en-US" sz="2050" dirty="0" smtClean="0"/>
              </a:p>
              <a:p>
                <a:pPr marL="0" indent="0">
                  <a:buNone/>
                </a:pPr>
                <a:r>
                  <a:rPr lang="en-US" sz="2050" dirty="0"/>
                  <a:t>Such image will be classified as class </a:t>
                </a:r>
                <a:r>
                  <a:rPr lang="en-US" sz="2050" i="1" dirty="0"/>
                  <a:t>k</a:t>
                </a:r>
                <a:r>
                  <a:rPr lang="en-US" sz="2050" dirty="0"/>
                  <a:t> if </a:t>
                </a:r>
                <a:r>
                  <a:rPr lang="en-US" sz="2050" i="1" dirty="0" err="1"/>
                  <a:t>d</a:t>
                </a:r>
                <a:r>
                  <a:rPr lang="en-US" sz="2050" i="1" baseline="-25000" dirty="0" err="1"/>
                  <a:t>k</a:t>
                </a:r>
                <a:r>
                  <a:rPr lang="en-US" sz="2050" dirty="0"/>
                  <a:t> is largest or </a:t>
                </a:r>
                <a:r>
                  <a:rPr lang="en-US" sz="2050" i="1" dirty="0" err="1"/>
                  <a:t>d</a:t>
                </a:r>
                <a:r>
                  <a:rPr lang="en-US" sz="2050" i="1" baseline="-25000" dirty="0" err="1"/>
                  <a:t>k</a:t>
                </a:r>
                <a:r>
                  <a:rPr lang="en-US" sz="2050" dirty="0"/>
                  <a:t> is larger than some threshold. In general, the ANN-based image classification in this research is based on upper level from baseline (not from zero).</a:t>
                </a:r>
              </a:p>
              <a:p>
                <a:pPr marL="0" indent="0">
                  <a:buNone/>
                </a:pPr>
                <a:endParaRPr lang="en-US" sz="205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 y="914399"/>
                <a:ext cx="11998960" cy="5176066"/>
              </a:xfrm>
              <a:blipFill>
                <a:blip r:embed="rId2"/>
                <a:stretch>
                  <a:fillRect l="-610" t="-824" r="-813" b="-3887"/>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33</a:t>
            </a:fld>
            <a:endParaRPr lang="en-US"/>
          </a:p>
        </p:txBody>
      </p:sp>
    </p:spTree>
    <p:extLst>
      <p:ext uri="{BB962C8B-B14F-4D97-AF65-F5344CB8AC3E}">
        <p14:creationId xmlns:p14="http://schemas.microsoft.com/office/powerpoint/2010/main" val="421953649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Matrix neural network</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1280" y="914399"/>
                <a:ext cx="12039600" cy="5176066"/>
              </a:xfrm>
            </p:spPr>
            <p:txBody>
              <a:bodyPr>
                <a:noAutofit/>
              </a:bodyPr>
              <a:lstStyle/>
              <a:p>
                <a:pPr marL="0" indent="0">
                  <a:buNone/>
                </a:pPr>
                <a:r>
                  <a:rPr lang="en-US" sz="2150" dirty="0">
                    <a:effectLst>
                      <a:outerShdw blurRad="38100" dist="38100" dir="2700000" algn="tl">
                        <a:srgbClr val="000000">
                          <a:alpha val="43137"/>
                        </a:srgbClr>
                      </a:outerShdw>
                    </a:effectLst>
                  </a:rPr>
                  <a:t>In advanced research, the probability deviation </a:t>
                </a:r>
                <a:r>
                  <a:rPr lang="en-US" sz="2150" b="1" i="1" dirty="0">
                    <a:effectLst>
                      <a:outerShdw blurRad="38100" dist="38100" dir="2700000" algn="tl">
                        <a:srgbClr val="000000">
                          <a:alpha val="43137"/>
                        </a:srgbClr>
                      </a:outerShdw>
                    </a:effectLst>
                  </a:rPr>
                  <a:t>d</a:t>
                </a:r>
                <a:r>
                  <a:rPr lang="en-US" sz="2150" dirty="0">
                    <a:effectLst>
                      <a:outerShdw blurRad="38100" dist="38100" dir="2700000" algn="tl">
                        <a:srgbClr val="000000">
                          <a:alpha val="43137"/>
                        </a:srgbClr>
                      </a:outerShdw>
                    </a:effectLst>
                  </a:rPr>
                  <a:t> is improved by a so-called </a:t>
                </a:r>
                <a:r>
                  <a:rPr lang="en-US" sz="2150" dirty="0" smtClean="0">
                    <a:effectLst>
                      <a:outerShdw blurRad="38100" dist="38100" dir="2700000" algn="tl">
                        <a:srgbClr val="000000">
                          <a:alpha val="43137"/>
                        </a:srgbClr>
                      </a:outerShdw>
                    </a:effectLst>
                  </a:rPr>
                  <a:t>adjusted-line (not tested yet)</a:t>
                </a:r>
                <a:r>
                  <a:rPr lang="en-US" sz="2150" dirty="0" smtClean="0"/>
                  <a:t>. </a:t>
                </a:r>
                <a:r>
                  <a:rPr lang="en-US" sz="2150" dirty="0"/>
                  <a:t>For instance, the adjusted-line </a:t>
                </a:r>
                <a:r>
                  <a:rPr lang="en-US" sz="2150" b="1" i="1" dirty="0"/>
                  <a:t>a</a:t>
                </a:r>
                <a:r>
                  <a:rPr lang="en-US" sz="2150" dirty="0"/>
                  <a:t> = (</a:t>
                </a:r>
                <a:r>
                  <a:rPr lang="en-US" sz="2150" i="1" dirty="0"/>
                  <a:t>a</a:t>
                </a:r>
                <a:r>
                  <a:rPr lang="en-US" sz="2150" baseline="-25000" dirty="0"/>
                  <a:t>1</a:t>
                </a:r>
                <a:r>
                  <a:rPr lang="en-US" sz="2150" dirty="0"/>
                  <a:t>, </a:t>
                </a:r>
                <a:r>
                  <a:rPr lang="en-US" sz="2150" i="1" dirty="0"/>
                  <a:t>a</a:t>
                </a:r>
                <a:r>
                  <a:rPr lang="en-US" sz="2150" baseline="-25000" dirty="0"/>
                  <a:t>2</a:t>
                </a:r>
                <a:r>
                  <a:rPr lang="en-US" sz="2150" dirty="0"/>
                  <a:t>,…, </a:t>
                </a:r>
                <a:r>
                  <a:rPr lang="en-US" sz="2150" i="1" dirty="0"/>
                  <a:t>a</a:t>
                </a:r>
                <a:r>
                  <a:rPr lang="en-US" sz="2150" i="1" baseline="-25000" dirty="0"/>
                  <a:t>n</a:t>
                </a:r>
                <a:r>
                  <a:rPr lang="en-US" sz="2150" dirty="0"/>
                  <a:t>)</a:t>
                </a:r>
                <a:r>
                  <a:rPr lang="en-US" sz="2150" i="1" baseline="30000" dirty="0"/>
                  <a:t>T</a:t>
                </a:r>
                <a:r>
                  <a:rPr lang="en-US" sz="2150" dirty="0"/>
                  <a:t> consists of </a:t>
                </a:r>
                <a:r>
                  <a:rPr lang="en-US" sz="2150" i="1" dirty="0"/>
                  <a:t>n</a:t>
                </a:r>
                <a:r>
                  <a:rPr lang="en-US" sz="2150" dirty="0"/>
                  <a:t> adjusted-points corresponding to </a:t>
                </a:r>
                <a:r>
                  <a:rPr lang="en-US" sz="2150" i="1" dirty="0"/>
                  <a:t>n</a:t>
                </a:r>
                <a:r>
                  <a:rPr lang="en-US" sz="2150" dirty="0"/>
                  <a:t> classes. Each basepoint </a:t>
                </a:r>
                <a:r>
                  <a:rPr lang="en-US" sz="2150" i="1" dirty="0" err="1"/>
                  <a:t>a</a:t>
                </a:r>
                <a:r>
                  <a:rPr lang="en-US" sz="2150" i="1" baseline="-25000" dirty="0" err="1"/>
                  <a:t>i</a:t>
                </a:r>
                <a:r>
                  <a:rPr lang="en-US" sz="2150" dirty="0"/>
                  <a:t> is the average output (average probability) corresponding to class </a:t>
                </a:r>
                <a:r>
                  <a:rPr lang="en-US" sz="2150" i="1" dirty="0" err="1"/>
                  <a:t>i</a:t>
                </a:r>
                <a:r>
                  <a:rPr lang="en-US" sz="2150" dirty="0" smtClean="0"/>
                  <a:t>.</a:t>
                </a:r>
              </a:p>
              <a:p>
                <a:pPr marL="0" indent="0" algn="ctr">
                  <a:buNone/>
                </a:pPr>
                <a14:m>
                  <m:oMath xmlns:m="http://schemas.openxmlformats.org/officeDocument/2006/math">
                    <m:sSub>
                      <m:sSubPr>
                        <m:ctrlPr>
                          <a:rPr lang="en-US" sz="2150" i="1">
                            <a:latin typeface="Cambria Math" panose="02040503050406030204" pitchFamily="18" charset="0"/>
                          </a:rPr>
                        </m:ctrlPr>
                      </m:sSubPr>
                      <m:e>
                        <m:r>
                          <a:rPr lang="en-US" sz="2150" i="1">
                            <a:latin typeface="Cambria Math" panose="02040503050406030204" pitchFamily="18" charset="0"/>
                          </a:rPr>
                          <m:t>𝑎</m:t>
                        </m:r>
                      </m:e>
                      <m:sub>
                        <m:r>
                          <a:rPr lang="en-US" sz="2150" i="1">
                            <a:latin typeface="Cambria Math" panose="02040503050406030204" pitchFamily="18" charset="0"/>
                          </a:rPr>
                          <m:t>𝑖</m:t>
                        </m:r>
                      </m:sub>
                    </m:sSub>
                    <m:r>
                      <a:rPr lang="en-US" sz="2150" i="1">
                        <a:latin typeface="Cambria Math" panose="02040503050406030204" pitchFamily="18" charset="0"/>
                      </a:rPr>
                      <m:t>=</m:t>
                    </m:r>
                    <m:f>
                      <m:fPr>
                        <m:ctrlPr>
                          <a:rPr lang="en-US" sz="2150" i="1">
                            <a:latin typeface="Cambria Math" panose="02040503050406030204" pitchFamily="18" charset="0"/>
                          </a:rPr>
                        </m:ctrlPr>
                      </m:fPr>
                      <m:num>
                        <m:r>
                          <a:rPr lang="en-US" sz="2150" i="1">
                            <a:latin typeface="Cambria Math" panose="02040503050406030204" pitchFamily="18" charset="0"/>
                          </a:rPr>
                          <m:t>1</m:t>
                        </m:r>
                      </m:num>
                      <m:den>
                        <m:r>
                          <a:rPr lang="en-US" sz="2150" i="1">
                            <a:latin typeface="Cambria Math" panose="02040503050406030204" pitchFamily="18" charset="0"/>
                          </a:rPr>
                          <m:t>𝑁</m:t>
                        </m:r>
                      </m:den>
                    </m:f>
                    <m:nary>
                      <m:naryPr>
                        <m:chr m:val="∑"/>
                        <m:limLoc m:val="undOvr"/>
                        <m:ctrlPr>
                          <a:rPr lang="en-US" sz="2150" i="1">
                            <a:latin typeface="Cambria Math" panose="02040503050406030204" pitchFamily="18" charset="0"/>
                          </a:rPr>
                        </m:ctrlPr>
                      </m:naryPr>
                      <m:sub>
                        <m:r>
                          <a:rPr lang="en-US" sz="2150" i="1">
                            <a:latin typeface="Cambria Math" panose="02040503050406030204" pitchFamily="18" charset="0"/>
                          </a:rPr>
                          <m:t>𝑘</m:t>
                        </m:r>
                        <m:r>
                          <a:rPr lang="en-US" sz="2150" i="1">
                            <a:latin typeface="Cambria Math" panose="02040503050406030204" pitchFamily="18" charset="0"/>
                          </a:rPr>
                          <m:t>=1</m:t>
                        </m:r>
                      </m:sub>
                      <m:sup>
                        <m:r>
                          <a:rPr lang="en-US" sz="2150" i="1">
                            <a:latin typeface="Cambria Math" panose="02040503050406030204" pitchFamily="18" charset="0"/>
                          </a:rPr>
                          <m:t>𝑁</m:t>
                        </m:r>
                      </m:sup>
                      <m:e>
                        <m:sSub>
                          <m:sSubPr>
                            <m:ctrlPr>
                              <a:rPr lang="en-US" sz="2150" i="1">
                                <a:latin typeface="Cambria Math" panose="02040503050406030204" pitchFamily="18" charset="0"/>
                              </a:rPr>
                            </m:ctrlPr>
                          </m:sSubPr>
                          <m:e>
                            <m:r>
                              <a:rPr lang="en-US" sz="2150" i="1">
                                <a:latin typeface="Cambria Math" panose="02040503050406030204" pitchFamily="18" charset="0"/>
                              </a:rPr>
                              <m:t>𝑜</m:t>
                            </m:r>
                          </m:e>
                          <m:sub>
                            <m:r>
                              <a:rPr lang="en-US" sz="2150" i="1">
                                <a:latin typeface="Cambria Math" panose="02040503050406030204" pitchFamily="18" charset="0"/>
                              </a:rPr>
                              <m:t>𝑖</m:t>
                            </m:r>
                          </m:sub>
                        </m:sSub>
                        <m:d>
                          <m:dPr>
                            <m:ctrlPr>
                              <a:rPr lang="en-US" sz="2150" i="1">
                                <a:latin typeface="Cambria Math" panose="02040503050406030204" pitchFamily="18" charset="0"/>
                              </a:rPr>
                            </m:ctrlPr>
                          </m:dPr>
                          <m:e>
                            <m:r>
                              <a:rPr lang="en-US" sz="2150" i="1">
                                <a:latin typeface="Cambria Math" panose="02040503050406030204" pitchFamily="18" charset="0"/>
                              </a:rPr>
                              <m:t>𝑘</m:t>
                            </m:r>
                          </m:e>
                        </m:d>
                      </m:e>
                    </m:nary>
                  </m:oMath>
                </a14:m>
                <a:r>
                  <a:rPr lang="en-US" sz="2150" dirty="0"/>
                  <a:t> where </a:t>
                </a:r>
                <a:r>
                  <a:rPr lang="en-US" sz="2150" i="1" dirty="0"/>
                  <a:t>o</a:t>
                </a:r>
                <a:r>
                  <a:rPr lang="en-US" sz="2150" i="1" baseline="-25000" dirty="0"/>
                  <a:t>i</a:t>
                </a:r>
                <a:r>
                  <a:rPr lang="en-US" sz="2150" dirty="0"/>
                  <a:t>(</a:t>
                </a:r>
                <a:r>
                  <a:rPr lang="en-US" sz="2150" i="1" dirty="0"/>
                  <a:t>k</a:t>
                </a:r>
                <a:r>
                  <a:rPr lang="en-US" sz="2150" dirty="0"/>
                  <a:t>) is the output of the image </a:t>
                </a:r>
                <a:r>
                  <a:rPr lang="en-US" sz="2150" i="1" dirty="0"/>
                  <a:t>k</a:t>
                </a:r>
                <a:r>
                  <a:rPr lang="en-US" sz="2150" dirty="0"/>
                  <a:t> corresponding to class </a:t>
                </a:r>
                <a:r>
                  <a:rPr lang="en-US" sz="2150" i="1" dirty="0" err="1"/>
                  <a:t>i</a:t>
                </a:r>
                <a:endParaRPr lang="en-US" sz="2150" dirty="0"/>
              </a:p>
              <a:p>
                <a:pPr marL="0" indent="0">
                  <a:buNone/>
                </a:pPr>
                <a:r>
                  <a:rPr lang="en-US" sz="2150" dirty="0"/>
                  <a:t>Where </a:t>
                </a:r>
                <a:r>
                  <a:rPr lang="en-US" sz="2150" i="1" dirty="0"/>
                  <a:t>N</a:t>
                </a:r>
                <a:r>
                  <a:rPr lang="en-US" sz="2150" dirty="0"/>
                  <a:t> is the total number of images in training dataset. Please pay attention that </a:t>
                </a:r>
                <a:r>
                  <a:rPr lang="en-US" sz="2150" i="1" dirty="0"/>
                  <a:t>o</a:t>
                </a:r>
                <a:r>
                  <a:rPr lang="en-US" sz="2150" i="1" baseline="-25000" dirty="0"/>
                  <a:t>i</a:t>
                </a:r>
                <a:r>
                  <a:rPr lang="en-US" sz="2150" dirty="0"/>
                  <a:t>(</a:t>
                </a:r>
                <a:r>
                  <a:rPr lang="en-US" sz="2150" i="1" dirty="0"/>
                  <a:t>k</a:t>
                </a:r>
                <a:r>
                  <a:rPr lang="en-US" sz="2150" dirty="0"/>
                  <a:t>) is just the </a:t>
                </a:r>
                <a:r>
                  <a:rPr lang="en-US" sz="2150" i="1" dirty="0" err="1"/>
                  <a:t>i</a:t>
                </a:r>
                <a:r>
                  <a:rPr lang="en-US" sz="2150" baseline="30000" dirty="0" err="1"/>
                  <a:t>th</a:t>
                </a:r>
                <a:r>
                  <a:rPr lang="en-US" sz="2150" dirty="0"/>
                  <a:t> output of ANN classifier whose input is image </a:t>
                </a:r>
                <a:r>
                  <a:rPr lang="en-US" sz="2150" i="1" dirty="0"/>
                  <a:t>k</a:t>
                </a:r>
                <a:r>
                  <a:rPr lang="en-US" sz="2150" dirty="0"/>
                  <a:t> but such image </a:t>
                </a:r>
                <a:r>
                  <a:rPr lang="en-US" sz="2150" i="1" dirty="0"/>
                  <a:t>k</a:t>
                </a:r>
                <a:r>
                  <a:rPr lang="en-US" sz="2150" dirty="0"/>
                  <a:t> may not belong to class </a:t>
                </a:r>
                <a:r>
                  <a:rPr lang="en-US" sz="2150" i="1" dirty="0" err="1"/>
                  <a:t>i</a:t>
                </a:r>
                <a:r>
                  <a:rPr lang="en-US" sz="2150" dirty="0"/>
                  <a:t>. The advanced probability deviation </a:t>
                </a:r>
                <a:r>
                  <a:rPr lang="en-US" sz="2150" b="1" i="1" dirty="0"/>
                  <a:t>d</a:t>
                </a:r>
                <a:r>
                  <a:rPr lang="en-US" sz="2150" baseline="30000" dirty="0"/>
                  <a:t>*</a:t>
                </a:r>
                <a:r>
                  <a:rPr lang="en-US" sz="2150" dirty="0"/>
                  <a:t> is wise-multiplication of probability deviation </a:t>
                </a:r>
                <a:r>
                  <a:rPr lang="en-US" sz="2150" b="1" i="1" dirty="0"/>
                  <a:t>d</a:t>
                </a:r>
                <a:r>
                  <a:rPr lang="en-US" sz="2150" dirty="0"/>
                  <a:t> and soft-max function of adjusted-line </a:t>
                </a:r>
                <a:r>
                  <a:rPr lang="en-US" sz="2150" b="1" i="1" dirty="0"/>
                  <a:t>a</a:t>
                </a:r>
                <a:r>
                  <a:rPr lang="en-US" sz="2150" dirty="0"/>
                  <a:t>.</a:t>
                </a:r>
              </a:p>
              <a:p>
                <a:pPr marL="0" indent="0">
                  <a:buNone/>
                </a:pPr>
                <a14:m>
                  <m:oMathPara xmlns:m="http://schemas.openxmlformats.org/officeDocument/2006/math">
                    <m:oMathParaPr>
                      <m:jc m:val="centerGroup"/>
                    </m:oMathParaPr>
                    <m:oMath xmlns:m="http://schemas.openxmlformats.org/officeDocument/2006/math">
                      <m:sSup>
                        <m:sSupPr>
                          <m:ctrlPr>
                            <a:rPr lang="en-US" sz="2150" i="1">
                              <a:latin typeface="Cambria Math" panose="02040503050406030204" pitchFamily="18" charset="0"/>
                            </a:rPr>
                          </m:ctrlPr>
                        </m:sSupPr>
                        <m:e>
                          <m:r>
                            <a:rPr lang="en-US" sz="2150" b="1" i="1">
                              <a:latin typeface="Cambria Math" panose="02040503050406030204" pitchFamily="18" charset="0"/>
                            </a:rPr>
                            <m:t>𝒅</m:t>
                          </m:r>
                        </m:e>
                        <m:sup>
                          <m:r>
                            <a:rPr lang="en-US" sz="2150" i="1">
                              <a:latin typeface="Cambria Math" panose="02040503050406030204" pitchFamily="18" charset="0"/>
                            </a:rPr>
                            <m:t>∗</m:t>
                          </m:r>
                        </m:sup>
                      </m:sSup>
                      <m:r>
                        <a:rPr lang="en-US" sz="2150" i="1">
                          <a:latin typeface="Cambria Math" panose="02040503050406030204" pitchFamily="18" charset="0"/>
                        </a:rPr>
                        <m:t>=</m:t>
                      </m:r>
                      <m:sSup>
                        <m:sSupPr>
                          <m:ctrlPr>
                            <a:rPr lang="en-US" sz="2150" i="1">
                              <a:latin typeface="Cambria Math" panose="02040503050406030204" pitchFamily="18" charset="0"/>
                            </a:rPr>
                          </m:ctrlPr>
                        </m:sSupPr>
                        <m:e>
                          <m:d>
                            <m:dPr>
                              <m:ctrlPr>
                                <a:rPr lang="en-US" sz="2150" i="1">
                                  <a:latin typeface="Cambria Math" panose="02040503050406030204" pitchFamily="18" charset="0"/>
                                </a:rPr>
                              </m:ctrlPr>
                            </m:dPr>
                            <m:e>
                              <m:sSubSup>
                                <m:sSubSupPr>
                                  <m:ctrlPr>
                                    <a:rPr lang="en-US" sz="2150" i="1">
                                      <a:latin typeface="Cambria Math" panose="02040503050406030204" pitchFamily="18" charset="0"/>
                                    </a:rPr>
                                  </m:ctrlPr>
                                </m:sSubSupPr>
                                <m:e>
                                  <m:r>
                                    <a:rPr lang="en-US" sz="2150" i="1">
                                      <a:latin typeface="Cambria Math" panose="02040503050406030204" pitchFamily="18" charset="0"/>
                                    </a:rPr>
                                    <m:t>𝑑</m:t>
                                  </m:r>
                                </m:e>
                                <m:sub>
                                  <m:r>
                                    <a:rPr lang="en-US" sz="2150" i="1">
                                      <a:latin typeface="Cambria Math" panose="02040503050406030204" pitchFamily="18" charset="0"/>
                                    </a:rPr>
                                    <m:t>1</m:t>
                                  </m:r>
                                </m:sub>
                                <m:sup>
                                  <m:r>
                                    <a:rPr lang="en-US" sz="2150" i="1">
                                      <a:latin typeface="Cambria Math" panose="02040503050406030204" pitchFamily="18" charset="0"/>
                                    </a:rPr>
                                    <m:t>∗</m:t>
                                  </m:r>
                                </m:sup>
                              </m:sSubSup>
                              <m:r>
                                <a:rPr lang="en-US" sz="2150" i="1">
                                  <a:latin typeface="Cambria Math" panose="02040503050406030204" pitchFamily="18" charset="0"/>
                                </a:rPr>
                                <m:t>,</m:t>
                              </m:r>
                              <m:sSubSup>
                                <m:sSubSupPr>
                                  <m:ctrlPr>
                                    <a:rPr lang="en-US" sz="2150" i="1">
                                      <a:latin typeface="Cambria Math" panose="02040503050406030204" pitchFamily="18" charset="0"/>
                                    </a:rPr>
                                  </m:ctrlPr>
                                </m:sSubSupPr>
                                <m:e>
                                  <m:r>
                                    <a:rPr lang="en-US" sz="2150" i="1">
                                      <a:latin typeface="Cambria Math" panose="02040503050406030204" pitchFamily="18" charset="0"/>
                                    </a:rPr>
                                    <m:t>𝑑</m:t>
                                  </m:r>
                                </m:e>
                                <m:sub>
                                  <m:r>
                                    <a:rPr lang="en-US" sz="2150" i="1">
                                      <a:latin typeface="Cambria Math" panose="02040503050406030204" pitchFamily="18" charset="0"/>
                                    </a:rPr>
                                    <m:t>2</m:t>
                                  </m:r>
                                </m:sub>
                                <m:sup>
                                  <m:r>
                                    <a:rPr lang="en-US" sz="2150" i="1">
                                      <a:latin typeface="Cambria Math" panose="02040503050406030204" pitchFamily="18" charset="0"/>
                                    </a:rPr>
                                    <m:t>∗</m:t>
                                  </m:r>
                                </m:sup>
                              </m:sSubSup>
                              <m:r>
                                <a:rPr lang="en-US" sz="2150" i="1">
                                  <a:latin typeface="Cambria Math" panose="02040503050406030204" pitchFamily="18" charset="0"/>
                                </a:rPr>
                                <m:t>,…,</m:t>
                              </m:r>
                              <m:sSubSup>
                                <m:sSubSupPr>
                                  <m:ctrlPr>
                                    <a:rPr lang="en-US" sz="2150" i="1">
                                      <a:latin typeface="Cambria Math" panose="02040503050406030204" pitchFamily="18" charset="0"/>
                                    </a:rPr>
                                  </m:ctrlPr>
                                </m:sSubSupPr>
                                <m:e>
                                  <m:r>
                                    <a:rPr lang="en-US" sz="2150" i="1">
                                      <a:latin typeface="Cambria Math" panose="02040503050406030204" pitchFamily="18" charset="0"/>
                                    </a:rPr>
                                    <m:t>𝑑</m:t>
                                  </m:r>
                                </m:e>
                                <m:sub>
                                  <m:r>
                                    <a:rPr lang="en-US" sz="2150" i="1">
                                      <a:latin typeface="Cambria Math" panose="02040503050406030204" pitchFamily="18" charset="0"/>
                                    </a:rPr>
                                    <m:t>𝑛</m:t>
                                  </m:r>
                                </m:sub>
                                <m:sup>
                                  <m:r>
                                    <a:rPr lang="en-US" sz="2150" i="1">
                                      <a:latin typeface="Cambria Math" panose="02040503050406030204" pitchFamily="18" charset="0"/>
                                    </a:rPr>
                                    <m:t>∗</m:t>
                                  </m:r>
                                </m:sup>
                              </m:sSubSup>
                            </m:e>
                          </m:d>
                        </m:e>
                        <m:sup>
                          <m:r>
                            <a:rPr lang="en-US" sz="2150" i="1">
                              <a:latin typeface="Cambria Math" panose="02040503050406030204" pitchFamily="18" charset="0"/>
                            </a:rPr>
                            <m:t>𝑇</m:t>
                          </m:r>
                        </m:sup>
                      </m:sSup>
                      <m:r>
                        <a:rPr lang="en-US" sz="2150" i="1">
                          <a:latin typeface="Cambria Math" panose="02040503050406030204" pitchFamily="18" charset="0"/>
                        </a:rPr>
                        <m:t>=</m:t>
                      </m:r>
                      <m:r>
                        <a:rPr lang="en-US" sz="2150" b="1" i="1">
                          <a:latin typeface="Cambria Math" panose="02040503050406030204" pitchFamily="18" charset="0"/>
                        </a:rPr>
                        <m:t>𝒅</m:t>
                      </m:r>
                      <m:r>
                        <a:rPr lang="en-US" sz="2150" i="1">
                          <a:latin typeface="Cambria Math" panose="02040503050406030204" pitchFamily="18" charset="0"/>
                        </a:rPr>
                        <m:t>⨀</m:t>
                      </m:r>
                      <m:r>
                        <m:rPr>
                          <m:sty m:val="p"/>
                        </m:rPr>
                        <a:rPr lang="en-US" sz="2150">
                          <a:latin typeface="Cambria Math" panose="02040503050406030204" pitchFamily="18" charset="0"/>
                        </a:rPr>
                        <m:t>softmax</m:t>
                      </m:r>
                      <m:d>
                        <m:dPr>
                          <m:ctrlPr>
                            <a:rPr lang="en-US" sz="2150" i="1">
                              <a:latin typeface="Cambria Math" panose="02040503050406030204" pitchFamily="18" charset="0"/>
                            </a:rPr>
                          </m:ctrlPr>
                        </m:dPr>
                        <m:e>
                          <m:r>
                            <a:rPr lang="en-US" sz="2150" b="1" i="1">
                              <a:latin typeface="Cambria Math" panose="02040503050406030204" pitchFamily="18" charset="0"/>
                            </a:rPr>
                            <m:t>𝒂</m:t>
                          </m:r>
                        </m:e>
                      </m:d>
                    </m:oMath>
                  </m:oMathPara>
                </a14:m>
                <a:endParaRPr lang="en-US" sz="2150" dirty="0"/>
              </a:p>
              <a:p>
                <a:pPr marL="0" indent="0">
                  <a:buNone/>
                </a:pPr>
                <a:r>
                  <a:rPr lang="en-US" sz="2150" dirty="0"/>
                  <a:t>Such image will be classified as class </a:t>
                </a:r>
                <a:r>
                  <a:rPr lang="en-US" sz="2150" i="1" dirty="0"/>
                  <a:t>k</a:t>
                </a:r>
                <a:r>
                  <a:rPr lang="en-US" sz="2150" dirty="0"/>
                  <a:t> if </a:t>
                </a:r>
                <a:r>
                  <a:rPr lang="en-US" sz="2150" i="1" dirty="0" err="1"/>
                  <a:t>d</a:t>
                </a:r>
                <a:r>
                  <a:rPr lang="en-US" sz="2150" i="1" baseline="-25000" dirty="0" err="1"/>
                  <a:t>k</a:t>
                </a:r>
                <a:r>
                  <a:rPr lang="en-US" sz="2150" baseline="30000" dirty="0"/>
                  <a:t>*</a:t>
                </a:r>
                <a:r>
                  <a:rPr lang="en-US" sz="2150" dirty="0"/>
                  <a:t> is largest or </a:t>
                </a:r>
                <a:r>
                  <a:rPr lang="en-US" sz="2150" i="1" dirty="0" err="1"/>
                  <a:t>d</a:t>
                </a:r>
                <a:r>
                  <a:rPr lang="en-US" sz="2150" i="1" baseline="-25000" dirty="0" err="1"/>
                  <a:t>k</a:t>
                </a:r>
                <a:r>
                  <a:rPr lang="en-US" sz="2150" baseline="30000" dirty="0"/>
                  <a:t>*</a:t>
                </a:r>
                <a:r>
                  <a:rPr lang="en-US" sz="2150" dirty="0"/>
                  <a:t> is larger than some threshold. It is easy to recognize that </a:t>
                </a:r>
                <a:r>
                  <a:rPr lang="en-US" sz="2150" dirty="0" smtClean="0"/>
                  <a:t>the probability </a:t>
                </a:r>
                <a:r>
                  <a:rPr lang="en-US" sz="2150" dirty="0"/>
                  <a:t>deviation </a:t>
                </a:r>
                <a:r>
                  <a:rPr lang="en-US" sz="2150" b="1" i="1" dirty="0"/>
                  <a:t>d</a:t>
                </a:r>
                <a:r>
                  <a:rPr lang="en-US" sz="2150" dirty="0"/>
                  <a:t> is weighted by the concentrations (weights) on </a:t>
                </a:r>
                <a:r>
                  <a:rPr lang="en-US" sz="2150" i="1" dirty="0"/>
                  <a:t>C</a:t>
                </a:r>
                <a:r>
                  <a:rPr lang="en-US" sz="2150" dirty="0"/>
                  <a:t> classes, which implies the convergence </a:t>
                </a:r>
                <a:r>
                  <a:rPr lang="en-US" sz="2150" dirty="0" smtClean="0"/>
                  <a:t>of leaning ANN. </a:t>
                </a:r>
                <a:r>
                  <a:rPr lang="en-US" sz="2150" dirty="0"/>
                  <a:t>Experimental design for hypothesis testing on image classification with ANN classifiers in both matrix form and vector form is described in next section. The implementation source code of matrix neural network, transformer, and convolutional network is available at</a:t>
                </a:r>
              </a:p>
              <a:p>
                <a:pPr marL="0" indent="0" algn="ctr">
                  <a:buNone/>
                </a:pPr>
                <a:r>
                  <a:rPr lang="en-US" sz="2150" dirty="0"/>
                  <a:t>https://github.com/ngphloc/ai/tree/main/3_implementation/src/net/ea/ann/mane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1280" y="914399"/>
                <a:ext cx="12039600" cy="5176066"/>
              </a:xfrm>
              <a:blipFill>
                <a:blip r:embed="rId2"/>
                <a:stretch>
                  <a:fillRect l="-658" t="-824" r="-658" b="-1767"/>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34</a:t>
            </a:fld>
            <a:endParaRPr lang="en-US"/>
          </a:p>
        </p:txBody>
      </p:sp>
    </p:spTree>
    <p:extLst>
      <p:ext uri="{BB962C8B-B14F-4D97-AF65-F5344CB8AC3E}">
        <p14:creationId xmlns:p14="http://schemas.microsoft.com/office/powerpoint/2010/main" val="251549803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a:t>
            </a:r>
            <a:r>
              <a:rPr lang="en-US" dirty="0"/>
              <a:t>. Experimental </a:t>
            </a:r>
            <a:r>
              <a:rPr lang="en-US" dirty="0" smtClean="0"/>
              <a:t>design (main)</a:t>
            </a:r>
            <a:endParaRPr lang="en-US" dirty="0"/>
          </a:p>
        </p:txBody>
      </p:sp>
      <p:sp>
        <p:nvSpPr>
          <p:cNvPr id="3" name="Content Placeholder 2"/>
          <p:cNvSpPr>
            <a:spLocks noGrp="1"/>
          </p:cNvSpPr>
          <p:nvPr>
            <p:ph idx="1"/>
          </p:nvPr>
        </p:nvSpPr>
        <p:spPr>
          <a:xfrm>
            <a:off x="71120" y="914399"/>
            <a:ext cx="12039600" cy="5176066"/>
          </a:xfrm>
        </p:spPr>
        <p:txBody>
          <a:bodyPr>
            <a:noAutofit/>
          </a:bodyPr>
          <a:lstStyle/>
          <a:p>
            <a:r>
              <a:rPr lang="en-US" sz="1900" dirty="0">
                <a:effectLst>
                  <a:outerShdw blurRad="38100" dist="38100" dir="2700000" algn="tl">
                    <a:srgbClr val="000000">
                      <a:alpha val="43137"/>
                    </a:srgbClr>
                  </a:outerShdw>
                </a:effectLst>
              </a:rPr>
              <a:t>The experiments in this research focus on image classification by matrix neural network (MNN) called </a:t>
            </a:r>
            <a:r>
              <a:rPr lang="en-US" sz="1900" i="1" dirty="0">
                <a:effectLst>
                  <a:outerShdw blurRad="38100" dist="38100" dir="2700000" algn="tl">
                    <a:srgbClr val="000000">
                      <a:alpha val="43137"/>
                    </a:srgbClr>
                  </a:outerShdw>
                </a:effectLst>
              </a:rPr>
              <a:t>MNN classifier</a:t>
            </a:r>
            <a:r>
              <a:rPr lang="en-US" sz="1900" dirty="0">
                <a:effectLst>
                  <a:outerShdw blurRad="38100" dist="38100" dir="2700000" algn="tl">
                    <a:srgbClr val="000000">
                      <a:alpha val="43137"/>
                    </a:srgbClr>
                  </a:outerShdw>
                </a:effectLst>
              </a:rPr>
              <a:t>, convolutional neural network (CNN) called </a:t>
            </a:r>
            <a:r>
              <a:rPr lang="en-US" sz="1900" i="1" dirty="0">
                <a:effectLst>
                  <a:outerShdw blurRad="38100" dist="38100" dir="2700000" algn="tl">
                    <a:srgbClr val="000000">
                      <a:alpha val="43137"/>
                    </a:srgbClr>
                  </a:outerShdw>
                </a:effectLst>
              </a:rPr>
              <a:t>CNN classifier</a:t>
            </a:r>
            <a:r>
              <a:rPr lang="en-US" sz="1900" dirty="0">
                <a:effectLst>
                  <a:outerShdw blurRad="38100" dist="38100" dir="2700000" algn="tl">
                    <a:srgbClr val="000000">
                      <a:alpha val="43137"/>
                    </a:srgbClr>
                  </a:outerShdw>
                </a:effectLst>
              </a:rPr>
              <a:t>, and transformer called transformer-based classifier (</a:t>
            </a:r>
            <a:r>
              <a:rPr lang="en-US" sz="1900" i="1" dirty="0">
                <a:effectLst>
                  <a:outerShdw blurRad="38100" dist="38100" dir="2700000" algn="tl">
                    <a:srgbClr val="000000">
                      <a:alpha val="43137"/>
                    </a:srgbClr>
                  </a:outerShdw>
                </a:effectLst>
              </a:rPr>
              <a:t>TB classifier</a:t>
            </a:r>
            <a:r>
              <a:rPr lang="en-US" sz="1900" dirty="0">
                <a:effectLst>
                  <a:outerShdw blurRad="38100" dist="38100" dir="2700000" algn="tl">
                    <a:srgbClr val="000000">
                      <a:alpha val="43137"/>
                    </a:srgbClr>
                  </a:outerShdw>
                </a:effectLst>
              </a:rPr>
              <a:t>)</a:t>
            </a:r>
            <a:r>
              <a:rPr lang="en-US" sz="1900" dirty="0"/>
              <a:t>. The main purpose of this experimental design is to evaluate the preeminence of matrix neural network in comparisons among MNN classifier, CNN classifier, and TB classifier, which is also related to diversity metric and convergence speed although accuracy metric in classification is also concerned because there are many excellent research resulting out very high accuracy in image </a:t>
            </a:r>
            <a:r>
              <a:rPr lang="en-US" sz="1900" dirty="0" smtClean="0"/>
              <a:t>classification. </a:t>
            </a:r>
            <a:r>
              <a:rPr lang="en-US" sz="1900" dirty="0"/>
              <a:t>In testing dataset, </a:t>
            </a:r>
            <a:r>
              <a:rPr lang="en-US" sz="1900" dirty="0">
                <a:effectLst>
                  <a:outerShdw blurRad="38100" dist="38100" dir="2700000" algn="tl">
                    <a:srgbClr val="000000">
                      <a:alpha val="43137"/>
                    </a:srgbClr>
                  </a:outerShdw>
                </a:effectLst>
              </a:rPr>
              <a:t>MNN classifier, TB classifier, and CNN classifier are represented by the “</a:t>
            </a:r>
            <a:r>
              <a:rPr lang="en-US" sz="1900" i="1" dirty="0">
                <a:effectLst>
                  <a:outerShdw blurRad="38100" dist="38100" dir="2700000" algn="tl">
                    <a:srgbClr val="000000">
                      <a:alpha val="43137"/>
                    </a:srgbClr>
                  </a:outerShdw>
                </a:effectLst>
              </a:rPr>
              <a:t>feature</a:t>
            </a:r>
            <a:r>
              <a:rPr lang="en-US" sz="1900" dirty="0">
                <a:effectLst>
                  <a:outerShdw blurRad="38100" dist="38100" dir="2700000" algn="tl">
                    <a:srgbClr val="000000">
                      <a:alpha val="43137"/>
                    </a:srgbClr>
                  </a:outerShdw>
                </a:effectLst>
              </a:rPr>
              <a:t>” field whose values are “</a:t>
            </a:r>
            <a:r>
              <a:rPr lang="en-US" sz="1900" i="1" dirty="0">
                <a:effectLst>
                  <a:outerShdw blurRad="38100" dist="38100" dir="2700000" algn="tl">
                    <a:srgbClr val="000000">
                      <a:alpha val="43137"/>
                    </a:srgbClr>
                  </a:outerShdw>
                </a:effectLst>
              </a:rPr>
              <a:t>weight</a:t>
            </a:r>
            <a:r>
              <a:rPr lang="en-US" sz="1900" dirty="0">
                <a:effectLst>
                  <a:outerShdw blurRad="38100" dist="38100" dir="2700000" algn="tl">
                    <a:srgbClr val="000000">
                      <a:alpha val="43137"/>
                    </a:srgbClr>
                  </a:outerShdw>
                </a:effectLst>
              </a:rPr>
              <a:t>”, “</a:t>
            </a:r>
            <a:r>
              <a:rPr lang="en-US" sz="1900" i="1" dirty="0">
                <a:effectLst>
                  <a:outerShdw blurRad="38100" dist="38100" dir="2700000" algn="tl">
                    <a:srgbClr val="000000">
                      <a:alpha val="43137"/>
                    </a:srgbClr>
                  </a:outerShdw>
                </a:effectLst>
              </a:rPr>
              <a:t>trans</a:t>
            </a:r>
            <a:r>
              <a:rPr lang="en-US" sz="1900" dirty="0">
                <a:effectLst>
                  <a:outerShdw blurRad="38100" dist="38100" dir="2700000" algn="tl">
                    <a:srgbClr val="000000">
                      <a:alpha val="43137"/>
                    </a:srgbClr>
                  </a:outerShdw>
                </a:effectLst>
              </a:rPr>
              <a:t>”, and “</a:t>
            </a:r>
            <a:r>
              <a:rPr lang="en-US" sz="1900" i="1" dirty="0" err="1">
                <a:effectLst>
                  <a:outerShdw blurRad="38100" dist="38100" dir="2700000" algn="tl">
                    <a:srgbClr val="000000">
                      <a:alpha val="43137"/>
                    </a:srgbClr>
                  </a:outerShdw>
                </a:effectLst>
              </a:rPr>
              <a:t>conv</a:t>
            </a:r>
            <a:r>
              <a:rPr lang="en-US" sz="1900" dirty="0">
                <a:effectLst>
                  <a:outerShdw blurRad="38100" dist="38100" dir="2700000" algn="tl">
                    <a:srgbClr val="000000">
                      <a:alpha val="43137"/>
                    </a:srgbClr>
                  </a:outerShdw>
                </a:effectLst>
              </a:rPr>
              <a:t>”, respectively</a:t>
            </a:r>
            <a:r>
              <a:rPr lang="en-US" sz="1900" dirty="0"/>
              <a:t>. </a:t>
            </a:r>
            <a:r>
              <a:rPr lang="en-US" sz="1900" dirty="0" smtClean="0"/>
              <a:t>The </a:t>
            </a:r>
            <a:r>
              <a:rPr lang="en-US" sz="1900" dirty="0"/>
              <a:t>aspect of traditional artificial neural network is that its layers are vectors, in other word, its aspect is vectorization. Therefore, </a:t>
            </a:r>
            <a:r>
              <a:rPr lang="en-US" sz="1900" dirty="0">
                <a:effectLst>
                  <a:outerShdw blurRad="38100" dist="38100" dir="2700000" algn="tl">
                    <a:srgbClr val="000000">
                      <a:alpha val="43137"/>
                    </a:srgbClr>
                  </a:outerShdw>
                </a:effectLst>
              </a:rPr>
              <a:t>testing dataset has the second field called “</a:t>
            </a:r>
            <a:r>
              <a:rPr lang="en-US" sz="1900" i="1" dirty="0" err="1">
                <a:effectLst>
                  <a:outerShdw blurRad="38100" dist="38100" dir="2700000" algn="tl">
                    <a:srgbClr val="000000">
                      <a:alpha val="43137"/>
                    </a:srgbClr>
                  </a:outerShdw>
                </a:effectLst>
              </a:rPr>
              <a:t>vec</a:t>
            </a:r>
            <a:r>
              <a:rPr lang="en-US" sz="1900" dirty="0">
                <a:effectLst>
                  <a:outerShdw blurRad="38100" dist="38100" dir="2700000" algn="tl">
                    <a:srgbClr val="000000">
                      <a:alpha val="43137"/>
                    </a:srgbClr>
                  </a:outerShdw>
                </a:effectLst>
              </a:rPr>
              <a:t>” field whose values are true and false representing whether or not MNN classifier, TB classifier, and CNN classifier are </a:t>
            </a:r>
            <a:r>
              <a:rPr lang="en-US" sz="1900" dirty="0" err="1">
                <a:effectLst>
                  <a:outerShdw blurRad="38100" dist="38100" dir="2700000" algn="tl">
                    <a:srgbClr val="000000">
                      <a:alpha val="43137"/>
                    </a:srgbClr>
                  </a:outerShdw>
                </a:effectLst>
              </a:rPr>
              <a:t>vectorized</a:t>
            </a:r>
            <a:r>
              <a:rPr lang="en-US" sz="1900" dirty="0"/>
              <a:t>. When each classifier is </a:t>
            </a:r>
            <a:r>
              <a:rPr lang="en-US" sz="1900" dirty="0" err="1"/>
              <a:t>vectorized</a:t>
            </a:r>
            <a:r>
              <a:rPr lang="en-US" sz="1900" dirty="0"/>
              <a:t>, only its feedforward network (FFN) is </a:t>
            </a:r>
            <a:r>
              <a:rPr lang="en-US" sz="1900" dirty="0" err="1"/>
              <a:t>vectorized</a:t>
            </a:r>
            <a:r>
              <a:rPr lang="en-US" sz="1900" dirty="0"/>
              <a:t> because each classifier always has two parts: 1) the first part for feature extraction is always MNN, attention, or convolutional layers and 2) the second part for classification is always </a:t>
            </a:r>
            <a:r>
              <a:rPr lang="en-US" sz="1900" dirty="0" smtClean="0"/>
              <a:t>FFN.</a:t>
            </a:r>
          </a:p>
          <a:p>
            <a:r>
              <a:rPr lang="en-US" sz="1900" dirty="0" smtClean="0">
                <a:effectLst>
                  <a:outerShdw blurRad="38100" dist="38100" dir="2700000" algn="tl">
                    <a:srgbClr val="000000">
                      <a:alpha val="43137"/>
                    </a:srgbClr>
                  </a:outerShdw>
                </a:effectLst>
              </a:rPr>
              <a:t>Experimental </a:t>
            </a:r>
            <a:r>
              <a:rPr lang="en-US" sz="1900" dirty="0">
                <a:effectLst>
                  <a:outerShdw blurRad="38100" dist="38100" dir="2700000" algn="tl">
                    <a:srgbClr val="000000">
                      <a:alpha val="43137"/>
                    </a:srgbClr>
                  </a:outerShdw>
                </a:effectLst>
              </a:rPr>
              <a:t>design also aims to two-way analysis of variance (two-way ANOVA) whose groups are </a:t>
            </a:r>
            <a:r>
              <a:rPr lang="en-US" sz="1900" i="1" dirty="0">
                <a:effectLst>
                  <a:outerShdw blurRad="38100" dist="38100" dir="2700000" algn="tl">
                    <a:srgbClr val="000000">
                      <a:alpha val="43137"/>
                    </a:srgbClr>
                  </a:outerShdw>
                </a:effectLst>
              </a:rPr>
              <a:t>feature</a:t>
            </a:r>
            <a:r>
              <a:rPr lang="en-US" sz="1900" dirty="0">
                <a:effectLst>
                  <a:outerShdw blurRad="38100" dist="38100" dir="2700000" algn="tl">
                    <a:srgbClr val="000000">
                      <a:alpha val="43137"/>
                    </a:srgbClr>
                  </a:outerShdw>
                </a:effectLst>
              </a:rPr>
              <a:t> field and </a:t>
            </a:r>
            <a:r>
              <a:rPr lang="en-US" sz="1900" i="1" dirty="0" err="1">
                <a:effectLst>
                  <a:outerShdw blurRad="38100" dist="38100" dir="2700000" algn="tl">
                    <a:srgbClr val="000000">
                      <a:alpha val="43137"/>
                    </a:srgbClr>
                  </a:outerShdw>
                </a:effectLst>
              </a:rPr>
              <a:t>vec</a:t>
            </a:r>
            <a:r>
              <a:rPr lang="en-US" sz="1900" dirty="0">
                <a:effectLst>
                  <a:outerShdw blurRad="38100" dist="38100" dir="2700000" algn="tl">
                    <a:srgbClr val="000000">
                      <a:alpha val="43137"/>
                    </a:srgbClr>
                  </a:outerShdw>
                </a:effectLst>
              </a:rPr>
              <a:t> field. Ultimately, the two-way ANOVA aims to test the three </a:t>
            </a:r>
            <a:r>
              <a:rPr lang="en-US" sz="1900" dirty="0" smtClean="0">
                <a:effectLst>
                  <a:outerShdw blurRad="38100" dist="38100" dir="2700000" algn="tl">
                    <a:srgbClr val="000000">
                      <a:alpha val="43137"/>
                    </a:srgbClr>
                  </a:outerShdw>
                </a:effectLst>
              </a:rPr>
              <a:t>hypotheses</a:t>
            </a:r>
            <a:r>
              <a:rPr lang="en-US" sz="1900" dirty="0">
                <a:effectLst>
                  <a:outerShdw blurRad="38100" dist="38100" dir="2700000" algn="tl">
                    <a:srgbClr val="000000">
                      <a:alpha val="43137"/>
                    </a:srgbClr>
                  </a:outerShdw>
                </a:effectLst>
              </a:rPr>
              <a:t>:</a:t>
            </a:r>
            <a:r>
              <a:rPr lang="en-US" sz="1900" dirty="0"/>
              <a:t> </a:t>
            </a:r>
            <a:r>
              <a:rPr lang="en-US" sz="1900" dirty="0">
                <a:effectLst>
                  <a:outerShdw blurRad="38100" dist="38100" dir="2700000" algn="tl">
                    <a:srgbClr val="000000">
                      <a:alpha val="43137"/>
                    </a:srgbClr>
                  </a:outerShdw>
                </a:effectLst>
              </a:rPr>
              <a:t>1) whether MNN is the alternative of CNN</a:t>
            </a:r>
            <a:r>
              <a:rPr lang="en-US" sz="1900" dirty="0"/>
              <a:t>, which focuses on testing the preeminence of MNN classifier in comparison with TB classifier and CNN classifier via testing the </a:t>
            </a:r>
            <a:r>
              <a:rPr lang="en-US" sz="1900" i="1" dirty="0"/>
              <a:t>feature</a:t>
            </a:r>
            <a:r>
              <a:rPr lang="en-US" sz="1900" dirty="0"/>
              <a:t> group, </a:t>
            </a:r>
            <a:r>
              <a:rPr lang="en-US" sz="1900" dirty="0">
                <a:effectLst>
                  <a:outerShdw blurRad="38100" dist="38100" dir="2700000" algn="tl">
                    <a:srgbClr val="000000">
                      <a:alpha val="43137"/>
                    </a:srgbClr>
                  </a:outerShdw>
                </a:effectLst>
              </a:rPr>
              <a:t>2) whether attention is the alternative of CNN</a:t>
            </a:r>
            <a:r>
              <a:rPr lang="en-US" sz="1900" dirty="0"/>
              <a:t>, which focuses on testing the preeminence of TB classifier in comparison with MNN classifier and CNN classifier via testing the </a:t>
            </a:r>
            <a:r>
              <a:rPr lang="en-US" sz="1900" i="1" dirty="0"/>
              <a:t>feature</a:t>
            </a:r>
            <a:r>
              <a:rPr lang="en-US" sz="1900" dirty="0"/>
              <a:t> group, and </a:t>
            </a:r>
            <a:r>
              <a:rPr lang="en-US" sz="1900" dirty="0">
                <a:effectLst>
                  <a:outerShdw blurRad="38100" dist="38100" dir="2700000" algn="tl">
                    <a:srgbClr val="000000">
                      <a:alpha val="43137"/>
                    </a:srgbClr>
                  </a:outerShdw>
                </a:effectLst>
              </a:rPr>
              <a:t>3) whether FFN of transformer should be MNN</a:t>
            </a:r>
            <a:r>
              <a:rPr lang="en-US" sz="1900" dirty="0"/>
              <a:t> via testing the </a:t>
            </a:r>
            <a:r>
              <a:rPr lang="en-US" sz="1900" i="1" dirty="0" err="1"/>
              <a:t>vec</a:t>
            </a:r>
            <a:r>
              <a:rPr lang="en-US" sz="1900" dirty="0"/>
              <a:t> group.</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35</a:t>
            </a:fld>
            <a:endParaRPr lang="en-US"/>
          </a:p>
        </p:txBody>
      </p:sp>
    </p:spTree>
    <p:extLst>
      <p:ext uri="{BB962C8B-B14F-4D97-AF65-F5344CB8AC3E}">
        <p14:creationId xmlns:p14="http://schemas.microsoft.com/office/powerpoint/2010/main" val="342459594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Experimental design</a:t>
            </a:r>
          </a:p>
        </p:txBody>
      </p:sp>
      <p:sp>
        <p:nvSpPr>
          <p:cNvPr id="3" name="Content Placeholder 2"/>
          <p:cNvSpPr>
            <a:spLocks noGrp="1"/>
          </p:cNvSpPr>
          <p:nvPr>
            <p:ph idx="1"/>
          </p:nvPr>
        </p:nvSpPr>
        <p:spPr>
          <a:xfrm>
            <a:off x="71120" y="914399"/>
            <a:ext cx="12049760" cy="5176066"/>
          </a:xfrm>
        </p:spPr>
        <p:txBody>
          <a:bodyPr>
            <a:noAutofit/>
          </a:bodyPr>
          <a:lstStyle/>
          <a:p>
            <a:r>
              <a:rPr lang="en-US" sz="2200" dirty="0"/>
              <a:t>Recall that the three </a:t>
            </a:r>
            <a:r>
              <a:rPr lang="en-US" sz="2200" dirty="0" smtClean="0"/>
              <a:t>classifiers </a:t>
            </a:r>
            <a:r>
              <a:rPr lang="en-US" sz="2200" dirty="0"/>
              <a:t>such MNN classifier, TB classifier, and CNN classifier have always two parts such as first part for image feature extraction and second part for feature classification. Therefore, MNN classifier has one MNN and one FFN and TB classifier has one </a:t>
            </a:r>
            <a:r>
              <a:rPr lang="en-US" sz="2200" i="1" dirty="0"/>
              <a:t>attentional </a:t>
            </a:r>
            <a:r>
              <a:rPr lang="en-US" sz="2200" i="1" dirty="0" smtClean="0"/>
              <a:t>network</a:t>
            </a:r>
            <a:r>
              <a:rPr lang="en-US" sz="2200" dirty="0" smtClean="0"/>
              <a:t> </a:t>
            </a:r>
            <a:r>
              <a:rPr lang="en-US" sz="2200" dirty="0"/>
              <a:t>and one FNN whereas CNN classifier has one </a:t>
            </a:r>
            <a:r>
              <a:rPr lang="en-US" sz="2200" i="1" dirty="0"/>
              <a:t>convolutional </a:t>
            </a:r>
            <a:r>
              <a:rPr lang="en-US" sz="2200" i="1" dirty="0" smtClean="0"/>
              <a:t>network</a:t>
            </a:r>
            <a:r>
              <a:rPr lang="en-US" sz="2200" dirty="0" smtClean="0"/>
              <a:t> </a:t>
            </a:r>
            <a:r>
              <a:rPr lang="en-US" sz="2200" dirty="0"/>
              <a:t>and one FFN</a:t>
            </a:r>
            <a:r>
              <a:rPr lang="en-US" sz="2200" dirty="0" smtClean="0"/>
              <a:t>.</a:t>
            </a:r>
            <a:r>
              <a:rPr lang="en-US" sz="2200" dirty="0"/>
              <a:t> </a:t>
            </a:r>
            <a:r>
              <a:rPr lang="en-US" sz="2200" dirty="0" smtClean="0"/>
              <a:t>Please pay attention that MNN</a:t>
            </a:r>
            <a:r>
              <a:rPr lang="en-US" sz="2200" dirty="0"/>
              <a:t>, attentional </a:t>
            </a:r>
            <a:r>
              <a:rPr lang="en-US" sz="2200" dirty="0" smtClean="0"/>
              <a:t>network, </a:t>
            </a:r>
            <a:r>
              <a:rPr lang="en-US" sz="2200" dirty="0"/>
              <a:t>and convolutional </a:t>
            </a:r>
            <a:r>
              <a:rPr lang="en-US" sz="2200" dirty="0" smtClean="0"/>
              <a:t>network follow </a:t>
            </a:r>
            <a:r>
              <a:rPr lang="en-US" sz="2200" dirty="0"/>
              <a:t>VGG architecture</a:t>
            </a:r>
            <a:r>
              <a:rPr lang="en-US" sz="2200" dirty="0" smtClean="0"/>
              <a:t>.</a:t>
            </a:r>
          </a:p>
          <a:p>
            <a:r>
              <a:rPr lang="en-US" sz="2200" dirty="0">
                <a:effectLst>
                  <a:outerShdw blurRad="38100" dist="38100" dir="2700000" algn="tl">
                    <a:srgbClr val="000000">
                      <a:alpha val="43137"/>
                    </a:srgbClr>
                  </a:outerShdw>
                </a:effectLst>
              </a:rPr>
              <a:t>MNN, attentional network, and convolutional network are indicated by the common term which is </a:t>
            </a:r>
            <a:r>
              <a:rPr lang="en-US" sz="2200" i="1" dirty="0">
                <a:effectLst>
                  <a:outerShdw blurRad="38100" dist="38100" dir="2700000" algn="tl">
                    <a:srgbClr val="000000">
                      <a:alpha val="43137"/>
                    </a:srgbClr>
                  </a:outerShdw>
                </a:effectLst>
              </a:rPr>
              <a:t>feature extraction network</a:t>
            </a:r>
            <a:r>
              <a:rPr lang="en-US" sz="2200" dirty="0">
                <a:effectLst>
                  <a:outerShdw blurRad="38100" dist="38100" dir="2700000" algn="tl">
                    <a:srgbClr val="000000">
                      <a:alpha val="43137"/>
                    </a:srgbClr>
                  </a:outerShdw>
                </a:effectLst>
              </a:rPr>
              <a:t> (</a:t>
            </a:r>
            <a:r>
              <a:rPr lang="en-US" sz="2200" i="1" dirty="0">
                <a:effectLst>
                  <a:outerShdw blurRad="38100" dist="38100" dir="2700000" algn="tl">
                    <a:srgbClr val="000000">
                      <a:alpha val="43137"/>
                    </a:srgbClr>
                  </a:outerShdw>
                </a:effectLst>
              </a:rPr>
              <a:t>FEN</a:t>
            </a:r>
            <a:r>
              <a:rPr lang="en-US" sz="2200" dirty="0">
                <a:effectLst>
                  <a:outerShdw blurRad="38100" dist="38100" dir="2700000" algn="tl">
                    <a:srgbClr val="000000">
                      <a:alpha val="43137"/>
                    </a:srgbClr>
                  </a:outerShdw>
                </a:effectLst>
              </a:rPr>
              <a:t>) so that FFN is called </a:t>
            </a:r>
            <a:r>
              <a:rPr lang="en-US" sz="2200" i="1" dirty="0">
                <a:effectLst>
                  <a:outerShdw blurRad="38100" dist="38100" dir="2700000" algn="tl">
                    <a:srgbClr val="000000">
                      <a:alpha val="43137"/>
                    </a:srgbClr>
                  </a:outerShdw>
                </a:effectLst>
              </a:rPr>
              <a:t>feature classification network</a:t>
            </a:r>
            <a:r>
              <a:rPr lang="en-US" sz="2200" dirty="0">
                <a:effectLst>
                  <a:outerShdw blurRad="38100" dist="38100" dir="2700000" algn="tl">
                    <a:srgbClr val="000000">
                      <a:alpha val="43137"/>
                    </a:srgbClr>
                  </a:outerShdw>
                </a:effectLst>
              </a:rPr>
              <a:t> (</a:t>
            </a:r>
            <a:r>
              <a:rPr lang="en-US" sz="2200" i="1" dirty="0">
                <a:effectLst>
                  <a:outerShdw blurRad="38100" dist="38100" dir="2700000" algn="tl">
                    <a:srgbClr val="000000">
                      <a:alpha val="43137"/>
                    </a:srgbClr>
                  </a:outerShdw>
                </a:effectLst>
              </a:rPr>
              <a:t>FCN</a:t>
            </a:r>
            <a:r>
              <a:rPr lang="en-US" sz="2200" dirty="0" smtClean="0">
                <a:effectLst>
                  <a:outerShdw blurRad="38100" dist="38100" dir="2700000" algn="tl">
                    <a:srgbClr val="000000">
                      <a:alpha val="43137"/>
                    </a:srgbClr>
                  </a:outerShdw>
                </a:effectLst>
              </a:rPr>
              <a:t>). </a:t>
            </a:r>
            <a:r>
              <a:rPr lang="en-US" sz="2200" dirty="0">
                <a:effectLst>
                  <a:outerShdw blurRad="38100" dist="38100" dir="2700000" algn="tl">
                    <a:srgbClr val="000000">
                      <a:alpha val="43137"/>
                    </a:srgbClr>
                  </a:outerShdw>
                </a:effectLst>
              </a:rPr>
              <a:t>A FEN has some blocks and each block is a set of sequential layers</a:t>
            </a:r>
            <a:r>
              <a:rPr lang="en-US" sz="2200" dirty="0" smtClean="0">
                <a:effectLst>
                  <a:outerShdw blurRad="38100" dist="38100" dir="2700000" algn="tl">
                    <a:srgbClr val="000000">
                      <a:alpha val="43137"/>
                    </a:srgbClr>
                  </a:outerShdw>
                </a:effectLst>
              </a:rPr>
              <a:t>. </a:t>
            </a:r>
            <a:r>
              <a:rPr lang="en-US" sz="2200" i="1" dirty="0" smtClean="0">
                <a:effectLst>
                  <a:outerShdw blurRad="38100" dist="38100" dir="2700000" algn="tl">
                    <a:srgbClr val="000000">
                      <a:alpha val="43137"/>
                    </a:srgbClr>
                  </a:outerShdw>
                </a:effectLst>
              </a:rPr>
              <a:t>A FCN has two layers </a:t>
            </a:r>
            <a:r>
              <a:rPr lang="en-US" sz="2200" i="1" dirty="0">
                <a:effectLst>
                  <a:outerShdw blurRad="38100" dist="38100" dir="2700000" algn="tl">
                    <a:srgbClr val="000000">
                      <a:alpha val="43137"/>
                    </a:srgbClr>
                  </a:outerShdw>
                </a:effectLst>
              </a:rPr>
              <a:t>which </a:t>
            </a:r>
            <a:r>
              <a:rPr lang="en-US" sz="2200" i="1" dirty="0" smtClean="0">
                <a:effectLst>
                  <a:outerShdw blurRad="38100" dist="38100" dir="2700000" algn="tl">
                    <a:srgbClr val="000000">
                      <a:alpha val="43137"/>
                    </a:srgbClr>
                  </a:outerShdw>
                </a:effectLst>
              </a:rPr>
              <a:t>are </a:t>
            </a:r>
            <a:r>
              <a:rPr lang="en-US" sz="2200" i="1" dirty="0">
                <a:effectLst>
                  <a:outerShdw blurRad="38100" dist="38100" dir="2700000" algn="tl">
                    <a:srgbClr val="000000">
                      <a:alpha val="43137"/>
                    </a:srgbClr>
                  </a:outerShdw>
                </a:effectLst>
              </a:rPr>
              <a:t>always traditional neural network </a:t>
            </a:r>
            <a:r>
              <a:rPr lang="en-US" sz="2200" i="1" dirty="0" smtClean="0">
                <a:effectLst>
                  <a:outerShdw blurRad="38100" dist="38100" dir="2700000" algn="tl">
                    <a:srgbClr val="000000">
                      <a:alpha val="43137"/>
                    </a:srgbClr>
                  </a:outerShdw>
                </a:effectLst>
              </a:rPr>
              <a:t>layer</a:t>
            </a:r>
            <a:r>
              <a:rPr lang="en-US" sz="2200" dirty="0" smtClean="0">
                <a:effectLst>
                  <a:outerShdw blurRad="38100" dist="38100" dir="2700000" algn="tl">
                    <a:srgbClr val="000000">
                      <a:alpha val="43137"/>
                    </a:srgbClr>
                  </a:outerShdw>
                </a:effectLst>
              </a:rPr>
              <a:t>.</a:t>
            </a:r>
            <a:endParaRPr lang="en-US" sz="2200" dirty="0">
              <a:effectLst>
                <a:outerShdw blurRad="38100" dist="38100" dir="2700000" algn="tl">
                  <a:srgbClr val="000000">
                    <a:alpha val="43137"/>
                  </a:srgbClr>
                </a:outerShdw>
              </a:effectLst>
            </a:endParaRPr>
          </a:p>
          <a:p>
            <a:r>
              <a:rPr lang="en-US" sz="2200" dirty="0" smtClean="0"/>
              <a:t>Every </a:t>
            </a:r>
            <a:r>
              <a:rPr lang="en-US" sz="2200" dirty="0"/>
              <a:t>FEN layer is always associated with a so-called </a:t>
            </a:r>
            <a:r>
              <a:rPr lang="en-US" sz="2200" i="1" dirty="0"/>
              <a:t>FEN</a:t>
            </a:r>
            <a:r>
              <a:rPr lang="en-US" sz="2200" dirty="0"/>
              <a:t> </a:t>
            </a:r>
            <a:r>
              <a:rPr lang="en-US" sz="2200" i="1" dirty="0"/>
              <a:t>filter</a:t>
            </a:r>
            <a:r>
              <a:rPr lang="en-US" sz="2200" dirty="0"/>
              <a:t> but please distinguish FEN filter from filtering kernel aforementioned. FEN filter of matrix layer is parametric weight matrix as usual, which is called </a:t>
            </a:r>
            <a:r>
              <a:rPr lang="en-US" sz="2200" i="1" dirty="0"/>
              <a:t>matrix filter</a:t>
            </a:r>
            <a:r>
              <a:rPr lang="en-US" sz="2200" dirty="0"/>
              <a:t>. FEN filter of attentional layer is attention itself, which is called </a:t>
            </a:r>
            <a:r>
              <a:rPr lang="en-US" sz="2200" i="1" dirty="0"/>
              <a:t>attentional filter</a:t>
            </a:r>
            <a:r>
              <a:rPr lang="en-US" sz="2200" dirty="0"/>
              <a:t>. FEN filter of convolutional layer is filtering kernel as usual, which is called </a:t>
            </a:r>
            <a:r>
              <a:rPr lang="en-US" sz="2200" i="1" dirty="0"/>
              <a:t>convolutional filter</a:t>
            </a:r>
            <a:r>
              <a:rPr lang="en-US" sz="2200" dirty="0"/>
              <a:t>. However, please pay attention that the last layer of any FEN block is the specific layer called </a:t>
            </a:r>
            <a:r>
              <a:rPr lang="en-US" sz="2200" i="1" dirty="0"/>
              <a:t>max-pooling layer</a:t>
            </a:r>
            <a:r>
              <a:rPr lang="en-US" sz="2200" dirty="0"/>
              <a:t> whose filter is aforementioned max-pooling kernel which is called </a:t>
            </a:r>
            <a:r>
              <a:rPr lang="en-US" sz="2200" i="1" dirty="0"/>
              <a:t>max-pooling filter</a:t>
            </a:r>
            <a:r>
              <a:rPr lang="en-US" sz="2200" dirty="0"/>
              <a:t>.</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36</a:t>
            </a:fld>
            <a:endParaRPr lang="en-US"/>
          </a:p>
        </p:txBody>
      </p:sp>
    </p:spTree>
    <p:extLst>
      <p:ext uri="{BB962C8B-B14F-4D97-AF65-F5344CB8AC3E}">
        <p14:creationId xmlns:p14="http://schemas.microsoft.com/office/powerpoint/2010/main" val="370778120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Experimental </a:t>
            </a:r>
            <a:r>
              <a:rPr lang="en-US" dirty="0" smtClean="0"/>
              <a:t>design (main)</a:t>
            </a:r>
            <a:endParaRPr lang="en-US" dirty="0"/>
          </a:p>
        </p:txBody>
      </p:sp>
      <p:sp>
        <p:nvSpPr>
          <p:cNvPr id="3" name="Content Placeholder 2"/>
          <p:cNvSpPr>
            <a:spLocks noGrp="1"/>
          </p:cNvSpPr>
          <p:nvPr>
            <p:ph idx="1"/>
          </p:nvPr>
        </p:nvSpPr>
        <p:spPr>
          <a:xfrm>
            <a:off x="71120" y="914399"/>
            <a:ext cx="12039600" cy="5176066"/>
          </a:xfrm>
        </p:spPr>
        <p:txBody>
          <a:bodyPr>
            <a:noAutofit/>
          </a:bodyPr>
          <a:lstStyle/>
          <a:p>
            <a:r>
              <a:rPr lang="en-US" sz="2000" dirty="0">
                <a:effectLst>
                  <a:outerShdw blurRad="38100" dist="38100" dir="2700000" algn="tl">
                    <a:srgbClr val="000000">
                      <a:alpha val="43137"/>
                    </a:srgbClr>
                  </a:outerShdw>
                </a:effectLst>
              </a:rPr>
              <a:t>The experimental design has two important </a:t>
            </a:r>
            <a:r>
              <a:rPr lang="en-US" sz="2000">
                <a:effectLst>
                  <a:outerShdw blurRad="38100" dist="38100" dir="2700000" algn="tl">
                    <a:srgbClr val="000000">
                      <a:alpha val="43137"/>
                    </a:srgbClr>
                  </a:outerShdw>
                </a:effectLst>
              </a:rPr>
              <a:t>configuration </a:t>
            </a:r>
            <a:r>
              <a:rPr lang="en-US" sz="2000" smtClean="0">
                <a:effectLst>
                  <a:outerShdw blurRad="38100" dist="38100" dir="2700000" algn="tl">
                    <a:srgbClr val="000000">
                      <a:alpha val="43137"/>
                    </a:srgbClr>
                  </a:outerShdw>
                </a:effectLst>
              </a:rPr>
              <a:t>variables </a:t>
            </a:r>
            <a:r>
              <a:rPr lang="en-US" sz="2000" dirty="0">
                <a:effectLst>
                  <a:outerShdw blurRad="38100" dist="38100" dir="2700000" algn="tl">
                    <a:srgbClr val="000000">
                      <a:alpha val="43137"/>
                    </a:srgbClr>
                  </a:outerShdw>
                </a:effectLst>
              </a:rPr>
              <a:t>such as </a:t>
            </a:r>
            <a:r>
              <a:rPr lang="en-US" sz="2000" dirty="0" smtClean="0">
                <a:effectLst>
                  <a:outerShdw blurRad="38100" dist="38100" dir="2700000" algn="tl">
                    <a:srgbClr val="000000">
                      <a:alpha val="43137"/>
                    </a:srgbClr>
                  </a:outerShdw>
                </a:effectLst>
              </a:rPr>
              <a:t>experimental </a:t>
            </a:r>
            <a:r>
              <a:rPr lang="en-US" sz="2000" dirty="0">
                <a:effectLst>
                  <a:outerShdw blurRad="38100" dist="38100" dir="2700000" algn="tl">
                    <a:srgbClr val="000000">
                      <a:alpha val="43137"/>
                    </a:srgbClr>
                  </a:outerShdw>
                </a:effectLst>
              </a:rPr>
              <a:t>variable “</a:t>
            </a:r>
            <a:r>
              <a:rPr lang="en-US" sz="2000" i="1" dirty="0">
                <a:effectLst>
                  <a:outerShdw blurRad="38100" dist="38100" dir="2700000" algn="tl">
                    <a:srgbClr val="000000">
                      <a:alpha val="43137"/>
                    </a:srgbClr>
                  </a:outerShdw>
                </a:effectLst>
              </a:rPr>
              <a:t>base</a:t>
            </a:r>
            <a:r>
              <a:rPr lang="en-US" sz="2000" dirty="0">
                <a:effectLst>
                  <a:outerShdw blurRad="38100" dist="38100" dir="2700000" algn="tl">
                    <a:srgbClr val="000000">
                      <a:alpha val="43137"/>
                    </a:srgbClr>
                  </a:outerShdw>
                </a:effectLst>
              </a:rPr>
              <a:t>” and experimental variable “</a:t>
            </a:r>
            <a:r>
              <a:rPr lang="en-US" sz="2000" i="1" dirty="0">
                <a:effectLst>
                  <a:outerShdw blurRad="38100" dist="38100" dir="2700000" algn="tl">
                    <a:srgbClr val="000000">
                      <a:alpha val="43137"/>
                    </a:srgbClr>
                  </a:outerShdw>
                </a:effectLst>
              </a:rPr>
              <a:t>layer</a:t>
            </a:r>
            <a:r>
              <a:rPr lang="en-US" sz="2000" dirty="0">
                <a:effectLst>
                  <a:outerShdw blurRad="38100" dist="38100" dir="2700000" algn="tl">
                    <a:srgbClr val="000000">
                      <a:alpha val="43137"/>
                    </a:srgbClr>
                  </a:outerShdw>
                </a:effectLst>
              </a:rPr>
              <a:t>” with respect to FEN</a:t>
            </a:r>
            <a:r>
              <a:rPr lang="en-US" sz="2000" dirty="0"/>
              <a:t>. The current setting of base variable is 2 and there are two values of layer variable such as 2 and 3. The </a:t>
            </a:r>
            <a:r>
              <a:rPr lang="en-US" sz="2000" i="1" dirty="0"/>
              <a:t>base</a:t>
            </a:r>
            <a:r>
              <a:rPr lang="en-US" sz="2000" dirty="0"/>
              <a:t> variable (</a:t>
            </a:r>
            <a:r>
              <a:rPr lang="en-US" sz="2000" i="1" dirty="0"/>
              <a:t>base</a:t>
            </a:r>
            <a:r>
              <a:rPr lang="en-US" sz="2000" dirty="0"/>
              <a:t>=2) is the divisor of block size, which leads that all classifiers (MNN, TB, CNN) in the experimental design have two FEN blocks. </a:t>
            </a:r>
            <a:r>
              <a:rPr lang="en-US" sz="2000" i="1" dirty="0"/>
              <a:t>Layer</a:t>
            </a:r>
            <a:r>
              <a:rPr lang="en-US" sz="2000" dirty="0"/>
              <a:t> variable (2, 3) is the number of layers in each block. </a:t>
            </a:r>
            <a:r>
              <a:rPr lang="en-US" sz="2000" dirty="0" smtClean="0"/>
              <a:t>Exactly</a:t>
            </a:r>
            <a:r>
              <a:rPr lang="en-US" sz="2000" dirty="0"/>
              <a:t>, given </a:t>
            </a:r>
            <a:r>
              <a:rPr lang="en-US" sz="2000" i="1" dirty="0"/>
              <a:t>layer</a:t>
            </a:r>
            <a:r>
              <a:rPr lang="en-US" sz="2000" dirty="0"/>
              <a:t>=2, the first FEN block has two FEN layers and the second FEN block has three FEN layers and one max-pooling layer so that FEN has five layers. Similarly, given </a:t>
            </a:r>
            <a:r>
              <a:rPr lang="en-US" sz="2000" i="1" dirty="0"/>
              <a:t>layer</a:t>
            </a:r>
            <a:r>
              <a:rPr lang="en-US" sz="2000" dirty="0"/>
              <a:t>=3, the first FEN block has two FEN layers and the second FEN block has three FEN layers and one max-pooling layer so that FEN has seven </a:t>
            </a:r>
            <a:r>
              <a:rPr lang="en-US" sz="2000" dirty="0" smtClean="0"/>
              <a:t>layers.</a:t>
            </a:r>
          </a:p>
          <a:p>
            <a:r>
              <a:rPr lang="en-US" sz="2000" dirty="0" smtClean="0"/>
              <a:t>Suppose </a:t>
            </a:r>
            <a:r>
              <a:rPr lang="en-US" sz="2000" dirty="0"/>
              <a:t>layer size follows three-dimension size like width x height x depth, all layers in the same block have the same width x height size and such width x height size is decreased according to block ordering by divisor </a:t>
            </a:r>
            <a:r>
              <a:rPr lang="en-US" sz="2000" i="1" dirty="0"/>
              <a:t>base</a:t>
            </a:r>
            <a:r>
              <a:rPr lang="en-US" sz="2000" dirty="0"/>
              <a:t>. Therefore, the width x height size of all layers in the same block is considered as width x height block size or </a:t>
            </a:r>
            <a:r>
              <a:rPr lang="en-US" sz="2000" i="1" dirty="0"/>
              <a:t>block size</a:t>
            </a:r>
            <a:r>
              <a:rPr lang="en-US" sz="2000" dirty="0"/>
              <a:t>. Recall that the </a:t>
            </a:r>
            <a:r>
              <a:rPr lang="en-US" sz="2000" i="1" dirty="0"/>
              <a:t>base</a:t>
            </a:r>
            <a:r>
              <a:rPr lang="en-US" sz="2000" dirty="0"/>
              <a:t> variable (</a:t>
            </a:r>
            <a:r>
              <a:rPr lang="en-US" sz="2000" i="1" dirty="0"/>
              <a:t>base</a:t>
            </a:r>
            <a:r>
              <a:rPr lang="en-US" sz="2000" dirty="0"/>
              <a:t>=2) is the divisor of block size so that block size is decreased according to block ordering by divisor </a:t>
            </a:r>
            <a:r>
              <a:rPr lang="en-US" sz="2000" i="1" dirty="0"/>
              <a:t>base</a:t>
            </a:r>
            <a:r>
              <a:rPr lang="en-US" sz="2000" dirty="0"/>
              <a:t>. Suppose the first block has size of 32 x 32, then the second block has size of 16 x 16. The depth of all layers in the same block is considered as </a:t>
            </a:r>
            <a:r>
              <a:rPr lang="en-US" sz="2000" i="1" dirty="0"/>
              <a:t>block depth</a:t>
            </a:r>
            <a:r>
              <a:rPr lang="en-US" sz="2000" dirty="0"/>
              <a:t>. </a:t>
            </a:r>
            <a:r>
              <a:rPr lang="en-US" sz="2000" dirty="0">
                <a:effectLst>
                  <a:outerShdw blurRad="38100" dist="38100" dir="2700000" algn="tl">
                    <a:srgbClr val="000000">
                      <a:alpha val="43137"/>
                    </a:srgbClr>
                  </a:outerShdw>
                </a:effectLst>
              </a:rPr>
              <a:t>Block depth is also the count of filters (</a:t>
            </a:r>
            <a:r>
              <a:rPr lang="en-US" sz="2000" i="1" dirty="0">
                <a:effectLst>
                  <a:outerShdw blurRad="38100" dist="38100" dir="2700000" algn="tl">
                    <a:srgbClr val="000000">
                      <a:alpha val="43137"/>
                    </a:srgbClr>
                  </a:outerShdw>
                </a:effectLst>
              </a:rPr>
              <a:t>filter count</a:t>
            </a:r>
            <a:r>
              <a:rPr lang="en-US" sz="2000" dirty="0">
                <a:effectLst>
                  <a:outerShdw blurRad="38100" dist="38100" dir="2700000" algn="tl">
                    <a:srgbClr val="000000">
                      <a:alpha val="43137"/>
                    </a:srgbClr>
                  </a:outerShdw>
                </a:effectLst>
              </a:rPr>
              <a:t>) in every layer in the same block.</a:t>
            </a:r>
            <a:r>
              <a:rPr lang="en-US" sz="2000" dirty="0"/>
              <a:t> Block depth is increased according to block ordering by exponential function of variable </a:t>
            </a:r>
            <a:r>
              <a:rPr lang="en-US" sz="2000" i="1" dirty="0"/>
              <a:t>layer</a:t>
            </a:r>
            <a:r>
              <a:rPr lang="en-US" sz="2000" dirty="0"/>
              <a:t>.</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37</a:t>
            </a:fld>
            <a:endParaRPr lang="en-US"/>
          </a:p>
        </p:txBody>
      </p:sp>
    </p:spTree>
    <p:extLst>
      <p:ext uri="{BB962C8B-B14F-4D97-AF65-F5344CB8AC3E}">
        <p14:creationId xmlns:p14="http://schemas.microsoft.com/office/powerpoint/2010/main" val="316510911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Experimental </a:t>
            </a:r>
            <a:r>
              <a:rPr lang="en-US" dirty="0" smtClean="0"/>
              <a:t>design (skip)</a:t>
            </a:r>
            <a:endParaRPr lang="en-US" dirty="0"/>
          </a:p>
        </p:txBody>
      </p:sp>
      <p:sp>
        <p:nvSpPr>
          <p:cNvPr id="3" name="Content Placeholder 2"/>
          <p:cNvSpPr>
            <a:spLocks noGrp="1"/>
          </p:cNvSpPr>
          <p:nvPr>
            <p:ph idx="1"/>
          </p:nvPr>
        </p:nvSpPr>
        <p:spPr>
          <a:xfrm>
            <a:off x="81280" y="914399"/>
            <a:ext cx="12039600" cy="5176066"/>
          </a:xfrm>
        </p:spPr>
        <p:txBody>
          <a:bodyPr>
            <a:noAutofit/>
          </a:bodyPr>
          <a:lstStyle/>
          <a:p>
            <a:pPr marL="0" indent="0">
              <a:buNone/>
            </a:pPr>
            <a:r>
              <a:rPr lang="en-US" sz="1900" dirty="0">
                <a:effectLst>
                  <a:outerShdw blurRad="38100" dist="38100" dir="2700000" algn="tl">
                    <a:srgbClr val="000000">
                      <a:alpha val="43137"/>
                    </a:srgbClr>
                  </a:outerShdw>
                </a:effectLst>
              </a:rPr>
              <a:t>Following table summarizes the configuration of FEN </a:t>
            </a:r>
            <a:r>
              <a:rPr lang="en-US" sz="1900" dirty="0" smtClean="0">
                <a:effectLst>
                  <a:outerShdw blurRad="38100" dist="38100" dir="2700000" algn="tl">
                    <a:srgbClr val="000000">
                      <a:alpha val="43137"/>
                    </a:srgbClr>
                  </a:outerShdw>
                </a:effectLst>
              </a:rPr>
              <a:t>for </a:t>
            </a:r>
            <a:r>
              <a:rPr lang="en-US" sz="1900" dirty="0">
                <a:effectLst>
                  <a:outerShdw blurRad="38100" dist="38100" dir="2700000" algn="tl">
                    <a:srgbClr val="000000">
                      <a:alpha val="43137"/>
                    </a:srgbClr>
                  </a:outerShdw>
                </a:effectLst>
              </a:rPr>
              <a:t>every classifier (MNN, TB, CNN) given </a:t>
            </a:r>
            <a:r>
              <a:rPr lang="en-US" sz="1900" i="1" dirty="0">
                <a:effectLst>
                  <a:outerShdw blurRad="38100" dist="38100" dir="2700000" algn="tl">
                    <a:srgbClr val="000000">
                      <a:alpha val="43137"/>
                    </a:srgbClr>
                  </a:outerShdw>
                </a:effectLst>
              </a:rPr>
              <a:t>layer</a:t>
            </a:r>
            <a:r>
              <a:rPr lang="en-US" sz="1900" dirty="0">
                <a:effectLst>
                  <a:outerShdw blurRad="38100" dist="38100" dir="2700000" algn="tl">
                    <a:srgbClr val="000000">
                      <a:alpha val="43137"/>
                    </a:srgbClr>
                  </a:outerShdw>
                </a:effectLst>
              </a:rPr>
              <a:t>=2</a:t>
            </a:r>
            <a:r>
              <a:rPr lang="en-US" sz="1900" dirty="0" smtClean="0">
                <a:effectLst>
                  <a:outerShdw blurRad="38100" dist="38100" dir="2700000" algn="tl">
                    <a:srgbClr val="000000">
                      <a:alpha val="43137"/>
                    </a:srgbClr>
                  </a:outerShdw>
                </a:effectLst>
              </a:rPr>
              <a:t>.</a:t>
            </a:r>
            <a:endParaRPr lang="en-US" sz="1900" dirty="0">
              <a:effectLst>
                <a:outerShdw blurRad="38100" dist="38100" dir="2700000" algn="tl">
                  <a:srgbClr val="000000">
                    <a:alpha val="43137"/>
                  </a:srgbClr>
                </a:outerShdw>
              </a:effectLst>
            </a:endParaRPr>
          </a:p>
          <a:p>
            <a:pPr marL="0" indent="0">
              <a:buNone/>
            </a:pPr>
            <a:endParaRPr lang="en-US" sz="1700" dirty="0" smtClean="0"/>
          </a:p>
          <a:p>
            <a:pPr marL="0" indent="0">
              <a:buNone/>
            </a:pPr>
            <a:endParaRPr lang="en-US" sz="1700" dirty="0"/>
          </a:p>
          <a:p>
            <a:pPr marL="0" indent="0">
              <a:buNone/>
            </a:pPr>
            <a:endParaRPr lang="en-US" sz="1700" dirty="0" smtClean="0"/>
          </a:p>
          <a:p>
            <a:pPr marL="0" indent="0">
              <a:buNone/>
            </a:pPr>
            <a:endParaRPr lang="en-US" sz="1700" dirty="0" smtClean="0"/>
          </a:p>
          <a:p>
            <a:pPr marL="0" indent="0">
              <a:buNone/>
            </a:pPr>
            <a:endParaRPr lang="en-US" sz="1700" dirty="0" smtClean="0"/>
          </a:p>
          <a:p>
            <a:pPr marL="0" indent="0">
              <a:buNone/>
            </a:pPr>
            <a:endParaRPr lang="en-US" sz="1700" dirty="0" smtClean="0"/>
          </a:p>
          <a:p>
            <a:pPr marL="0" indent="0">
              <a:buNone/>
            </a:pPr>
            <a:r>
              <a:rPr lang="en-US" sz="1900" dirty="0" smtClean="0">
                <a:effectLst>
                  <a:outerShdw blurRad="38100" dist="38100" dir="2700000" algn="tl">
                    <a:srgbClr val="000000">
                      <a:alpha val="43137"/>
                    </a:srgbClr>
                  </a:outerShdw>
                </a:effectLst>
              </a:rPr>
              <a:t>Following </a:t>
            </a:r>
            <a:r>
              <a:rPr lang="en-US" sz="1900" dirty="0">
                <a:effectLst>
                  <a:outerShdw blurRad="38100" dist="38100" dir="2700000" algn="tl">
                    <a:srgbClr val="000000">
                      <a:alpha val="43137"/>
                    </a:srgbClr>
                  </a:outerShdw>
                </a:effectLst>
              </a:rPr>
              <a:t>table summarizes the configuration </a:t>
            </a:r>
            <a:r>
              <a:rPr lang="en-US" sz="1900" dirty="0" smtClean="0">
                <a:effectLst>
                  <a:outerShdw blurRad="38100" dist="38100" dir="2700000" algn="tl">
                    <a:srgbClr val="000000">
                      <a:alpha val="43137"/>
                    </a:srgbClr>
                  </a:outerShdw>
                </a:effectLst>
              </a:rPr>
              <a:t>of </a:t>
            </a:r>
            <a:r>
              <a:rPr lang="en-US" sz="1900" dirty="0">
                <a:effectLst>
                  <a:outerShdw blurRad="38100" dist="38100" dir="2700000" algn="tl">
                    <a:srgbClr val="000000">
                      <a:alpha val="43137"/>
                    </a:srgbClr>
                  </a:outerShdw>
                </a:effectLst>
              </a:rPr>
              <a:t>FEN for every classifier (MNN, TB, CNN) given </a:t>
            </a:r>
            <a:r>
              <a:rPr lang="en-US" sz="1900" i="1" dirty="0">
                <a:effectLst>
                  <a:outerShdw blurRad="38100" dist="38100" dir="2700000" algn="tl">
                    <a:srgbClr val="000000">
                      <a:alpha val="43137"/>
                    </a:srgbClr>
                  </a:outerShdw>
                </a:effectLst>
              </a:rPr>
              <a:t>layer</a:t>
            </a:r>
            <a:r>
              <a:rPr lang="en-US" sz="1900" dirty="0">
                <a:effectLst>
                  <a:outerShdw blurRad="38100" dist="38100" dir="2700000" algn="tl">
                    <a:srgbClr val="000000">
                      <a:alpha val="43137"/>
                    </a:srgbClr>
                  </a:outerShdw>
                </a:effectLst>
              </a:rPr>
              <a:t>=3</a:t>
            </a:r>
            <a:r>
              <a:rPr lang="en-US" sz="1900" dirty="0" smtClean="0">
                <a:effectLst>
                  <a:outerShdw blurRad="38100" dist="38100" dir="2700000" algn="tl">
                    <a:srgbClr val="000000">
                      <a:alpha val="43137"/>
                    </a:srgbClr>
                  </a:outerShdw>
                </a:effectLst>
              </a:rPr>
              <a:t>.</a:t>
            </a:r>
          </a:p>
          <a:p>
            <a:pPr marL="0" indent="0">
              <a:buNone/>
            </a:pPr>
            <a:endParaRPr lang="en-US" sz="1700" dirty="0"/>
          </a:p>
          <a:p>
            <a:pPr marL="0" indent="0">
              <a:buNone/>
            </a:pPr>
            <a:endParaRPr lang="en-US" sz="1700" dirty="0" smtClean="0"/>
          </a:p>
          <a:p>
            <a:pPr marL="0" indent="0">
              <a:buNone/>
            </a:pPr>
            <a:endParaRPr lang="en-US" sz="1700" dirty="0"/>
          </a:p>
          <a:p>
            <a:pPr marL="0" indent="0">
              <a:buNone/>
            </a:pPr>
            <a:endParaRPr lang="en-US" sz="1700" dirty="0" smtClean="0"/>
          </a:p>
          <a:p>
            <a:pPr marL="0" indent="0">
              <a:buNone/>
            </a:pPr>
            <a:endParaRPr lang="en-US" sz="1700" dirty="0" smtClean="0"/>
          </a:p>
          <a:p>
            <a:pPr marL="0" indent="0">
              <a:buNone/>
            </a:pPr>
            <a:endParaRPr lang="en-US" sz="1700" dirty="0" smtClean="0"/>
          </a:p>
          <a:p>
            <a:pPr marL="0" indent="0">
              <a:buNone/>
            </a:pPr>
            <a:endParaRPr lang="en-US" sz="1700" dirty="0"/>
          </a:p>
          <a:p>
            <a:pPr marL="0" indent="0">
              <a:buNone/>
            </a:pPr>
            <a:endParaRPr lang="en-US" sz="1700" dirty="0"/>
          </a:p>
          <a:p>
            <a:pPr marL="0" indent="0">
              <a:buNone/>
            </a:pPr>
            <a:r>
              <a:rPr lang="en-US" sz="1900" dirty="0"/>
              <a:t>The experimental design establishes FCN to have always two layers where the last layer (output layer) is the set of image classes. Recall that whether or not FCN is </a:t>
            </a:r>
            <a:r>
              <a:rPr lang="en-US" sz="1900" dirty="0" err="1"/>
              <a:t>vectorized</a:t>
            </a:r>
            <a:r>
              <a:rPr lang="en-US" sz="1900" dirty="0"/>
              <a:t> depends on “</a:t>
            </a:r>
            <a:r>
              <a:rPr lang="en-US" sz="1900" i="1" dirty="0" err="1"/>
              <a:t>vec</a:t>
            </a:r>
            <a:r>
              <a:rPr lang="en-US" sz="1900" dirty="0"/>
              <a:t>” field in dataset (</a:t>
            </a:r>
            <a:r>
              <a:rPr lang="en-US" sz="1900" i="1" dirty="0" err="1"/>
              <a:t>vec</a:t>
            </a:r>
            <a:r>
              <a:rPr lang="en-US" sz="1900" dirty="0"/>
              <a:t> group in ANOVA). Finally, each classifier (MNN, TB, CNN) including FEN and FCN has 7 layers given </a:t>
            </a:r>
            <a:r>
              <a:rPr lang="en-US" sz="1900" i="1" dirty="0"/>
              <a:t>layer</a:t>
            </a:r>
            <a:r>
              <a:rPr lang="en-US" sz="1900" dirty="0"/>
              <a:t>=2 and has 9 layers given </a:t>
            </a:r>
            <a:r>
              <a:rPr lang="en-US" sz="1900" i="1" dirty="0"/>
              <a:t>layer</a:t>
            </a:r>
            <a:r>
              <a:rPr lang="en-US" sz="1900" dirty="0"/>
              <a:t>=3.</a:t>
            </a:r>
            <a:endParaRPr lang="en-US" sz="1900" dirty="0" smtClean="0"/>
          </a:p>
          <a:p>
            <a:pPr marL="0" indent="0">
              <a:buNone/>
            </a:pPr>
            <a:endParaRPr lang="en-US" sz="1900" dirty="0"/>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38</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620118238"/>
              </p:ext>
            </p:extLst>
          </p:nvPr>
        </p:nvGraphicFramePr>
        <p:xfrm>
          <a:off x="955040" y="1237184"/>
          <a:ext cx="10281920" cy="1554480"/>
        </p:xfrm>
        <a:graphic>
          <a:graphicData uri="http://schemas.openxmlformats.org/drawingml/2006/table">
            <a:tbl>
              <a:tblPr firstRow="1" firstCol="1" bandRow="1">
                <a:tableStyleId>{5C22544A-7EE6-4342-B048-85BDC9FD1C3A}</a:tableStyleId>
              </a:tblPr>
              <a:tblGrid>
                <a:gridCol w="885025">
                  <a:extLst>
                    <a:ext uri="{9D8B030D-6E8A-4147-A177-3AD203B41FA5}">
                      <a16:colId xmlns:a16="http://schemas.microsoft.com/office/drawing/2014/main" val="3071729433"/>
                    </a:ext>
                  </a:extLst>
                </a:gridCol>
                <a:gridCol w="1388277">
                  <a:extLst>
                    <a:ext uri="{9D8B030D-6E8A-4147-A177-3AD203B41FA5}">
                      <a16:colId xmlns:a16="http://schemas.microsoft.com/office/drawing/2014/main" val="2938955459"/>
                    </a:ext>
                  </a:extLst>
                </a:gridCol>
                <a:gridCol w="1993898">
                  <a:extLst>
                    <a:ext uri="{9D8B030D-6E8A-4147-A177-3AD203B41FA5}">
                      <a16:colId xmlns:a16="http://schemas.microsoft.com/office/drawing/2014/main" val="2903930933"/>
                    </a:ext>
                  </a:extLst>
                </a:gridCol>
                <a:gridCol w="2006193">
                  <a:extLst>
                    <a:ext uri="{9D8B030D-6E8A-4147-A177-3AD203B41FA5}">
                      <a16:colId xmlns:a16="http://schemas.microsoft.com/office/drawing/2014/main" val="759793409"/>
                    </a:ext>
                  </a:extLst>
                </a:gridCol>
                <a:gridCol w="1641247">
                  <a:extLst>
                    <a:ext uri="{9D8B030D-6E8A-4147-A177-3AD203B41FA5}">
                      <a16:colId xmlns:a16="http://schemas.microsoft.com/office/drawing/2014/main" val="2617521622"/>
                    </a:ext>
                  </a:extLst>
                </a:gridCol>
                <a:gridCol w="2367280">
                  <a:extLst>
                    <a:ext uri="{9D8B030D-6E8A-4147-A177-3AD203B41FA5}">
                      <a16:colId xmlns:a16="http://schemas.microsoft.com/office/drawing/2014/main" val="1347313898"/>
                    </a:ext>
                  </a:extLst>
                </a:gridCol>
              </a:tblGrid>
              <a:tr h="0">
                <a:tc>
                  <a:txBody>
                    <a:bodyPr/>
                    <a:lstStyle/>
                    <a:p>
                      <a:pPr marL="0" marR="0" algn="ctr">
                        <a:spcBef>
                          <a:spcPts val="0"/>
                        </a:spcBef>
                        <a:spcAft>
                          <a:spcPts val="0"/>
                        </a:spcAft>
                      </a:pPr>
                      <a:r>
                        <a:rPr lang="en-US" sz="1700" dirty="0">
                          <a:effectLst/>
                          <a:latin typeface="Times New Roman" panose="02020603050405020304" pitchFamily="18" charset="0"/>
                          <a:cs typeface="Times New Roman" panose="02020603050405020304" pitchFamily="18" charset="0"/>
                        </a:rPr>
                        <a:t>Block</a:t>
                      </a:r>
                      <a:endParaRPr lang="en-US" sz="17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700" dirty="0">
                          <a:effectLst/>
                          <a:latin typeface="Times New Roman" panose="02020603050405020304" pitchFamily="18" charset="0"/>
                          <a:cs typeface="Times New Roman" panose="02020603050405020304" pitchFamily="18" charset="0"/>
                        </a:rPr>
                        <a:t>Layer</a:t>
                      </a:r>
                      <a:endParaRPr lang="en-US" sz="17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700" dirty="0" smtClean="0">
                          <a:effectLst/>
                          <a:latin typeface="Times New Roman" panose="02020603050405020304" pitchFamily="18" charset="0"/>
                          <a:cs typeface="Times New Roman" panose="02020603050405020304" pitchFamily="18" charset="0"/>
                        </a:rPr>
                        <a:t>Input dimension</a:t>
                      </a:r>
                      <a:endParaRPr lang="en-US" sz="17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700" dirty="0" smtClean="0">
                          <a:effectLst/>
                          <a:latin typeface="Times New Roman" panose="02020603050405020304" pitchFamily="18" charset="0"/>
                          <a:cs typeface="Times New Roman" panose="02020603050405020304" pitchFamily="18" charset="0"/>
                        </a:rPr>
                        <a:t>Filter dimension</a:t>
                      </a:r>
                      <a:endParaRPr lang="en-US" sz="17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700" dirty="0" smtClean="0">
                          <a:effectLst/>
                          <a:latin typeface="Times New Roman" panose="02020603050405020304" pitchFamily="18" charset="0"/>
                          <a:cs typeface="Times New Roman" panose="02020603050405020304" pitchFamily="18" charset="0"/>
                        </a:rPr>
                        <a:t>Filter count</a:t>
                      </a:r>
                      <a:endParaRPr lang="en-US" sz="17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700" dirty="0" smtClean="0">
                          <a:effectLst/>
                          <a:latin typeface="Times New Roman" panose="02020603050405020304" pitchFamily="18" charset="0"/>
                          <a:cs typeface="Times New Roman" panose="02020603050405020304" pitchFamily="18" charset="0"/>
                        </a:rPr>
                        <a:t>Output dimension</a:t>
                      </a:r>
                      <a:endParaRPr lang="en-US" sz="17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661955812"/>
                  </a:ext>
                </a:extLst>
              </a:tr>
              <a:tr h="0">
                <a:tc rowSpan="3">
                  <a:txBody>
                    <a:bodyPr/>
                    <a:lstStyle/>
                    <a:p>
                      <a:pPr marL="0" marR="0" algn="l">
                        <a:spcBef>
                          <a:spcPts val="0"/>
                        </a:spcBef>
                        <a:spcAft>
                          <a:spcPts val="0"/>
                        </a:spcAft>
                      </a:pPr>
                      <a:r>
                        <a:rPr lang="en-US" sz="1700">
                          <a:effectLst/>
                          <a:latin typeface="Times New Roman" panose="02020603050405020304" pitchFamily="18" charset="0"/>
                          <a:cs typeface="Times New Roman" panose="02020603050405020304" pitchFamily="18" charset="0"/>
                        </a:rPr>
                        <a:t>1</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layer1_1</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32 x 32 x 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 x 3 x 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2</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32 x 32 x 2</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983676416"/>
                  </a:ext>
                </a:extLst>
              </a:tr>
              <a:tr h="0">
                <a:tc vMerge="1">
                  <a:txBody>
                    <a:bodyPr/>
                    <a:lstStyle/>
                    <a:p>
                      <a:endParaRPr lang="en-US"/>
                    </a:p>
                  </a:txBody>
                  <a:tcPr/>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layer1_2</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32 x 32 x 2</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dirty="0">
                          <a:effectLst/>
                          <a:latin typeface="Times New Roman" panose="02020603050405020304" pitchFamily="18" charset="0"/>
                          <a:cs typeface="Times New Roman" panose="02020603050405020304" pitchFamily="18" charset="0"/>
                        </a:rPr>
                        <a:t>3 x 3 x 2</a:t>
                      </a:r>
                      <a:endParaRPr lang="en-US" sz="17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2</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32 x 32 x 2</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583429242"/>
                  </a:ext>
                </a:extLst>
              </a:tr>
              <a:tr h="0">
                <a:tc vMerge="1">
                  <a:txBody>
                    <a:bodyPr/>
                    <a:lstStyle/>
                    <a:p>
                      <a:endParaRPr lang="en-US"/>
                    </a:p>
                  </a:txBody>
                  <a:tcPr/>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maxpool1</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32 x 32 x 2</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2 x 2</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 </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16 x 16 x 2</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222623976"/>
                  </a:ext>
                </a:extLst>
              </a:tr>
              <a:tr h="0">
                <a:tc rowSpan="2">
                  <a:txBody>
                    <a:bodyPr/>
                    <a:lstStyle/>
                    <a:p>
                      <a:pPr marL="0" marR="0" algn="l">
                        <a:spcBef>
                          <a:spcPts val="0"/>
                        </a:spcBef>
                        <a:spcAft>
                          <a:spcPts val="0"/>
                        </a:spcAft>
                      </a:pPr>
                      <a:r>
                        <a:rPr lang="en-US" sz="1700">
                          <a:effectLst/>
                          <a:latin typeface="Times New Roman" panose="02020603050405020304" pitchFamily="18" charset="0"/>
                          <a:cs typeface="Times New Roman" panose="02020603050405020304" pitchFamily="18" charset="0"/>
                        </a:rPr>
                        <a:t>2</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layer2_1</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16 x 16 x 2</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 x 3 x 2</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4</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16 x 16 x 4</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4279731591"/>
                  </a:ext>
                </a:extLst>
              </a:tr>
              <a:tr h="0">
                <a:tc vMerge="1">
                  <a:txBody>
                    <a:bodyPr/>
                    <a:lstStyle/>
                    <a:p>
                      <a:endParaRPr lang="en-US"/>
                    </a:p>
                  </a:txBody>
                  <a:tcPr/>
                </a:tc>
                <a:tc>
                  <a:txBody>
                    <a:bodyPr/>
                    <a:lstStyle/>
                    <a:p>
                      <a:pPr marL="0" marR="0" algn="just">
                        <a:spcBef>
                          <a:spcPts val="0"/>
                        </a:spcBef>
                        <a:spcAft>
                          <a:spcPts val="0"/>
                        </a:spcAft>
                      </a:pPr>
                      <a:r>
                        <a:rPr lang="en-US" sz="1700" dirty="0">
                          <a:effectLst/>
                          <a:latin typeface="Times New Roman" panose="02020603050405020304" pitchFamily="18" charset="0"/>
                          <a:cs typeface="Times New Roman" panose="02020603050405020304" pitchFamily="18" charset="0"/>
                        </a:rPr>
                        <a:t>layer2_2</a:t>
                      </a:r>
                      <a:endParaRPr lang="en-US" sz="17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16 x 16 x 4</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 x 3 x 4</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4</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dirty="0">
                          <a:effectLst/>
                          <a:latin typeface="Times New Roman" panose="02020603050405020304" pitchFamily="18" charset="0"/>
                          <a:cs typeface="Times New Roman" panose="02020603050405020304" pitchFamily="18" charset="0"/>
                        </a:rPr>
                        <a:t>16 x 16 x 4</a:t>
                      </a:r>
                      <a:endParaRPr lang="en-US" sz="17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032580666"/>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65416161"/>
              </p:ext>
            </p:extLst>
          </p:nvPr>
        </p:nvGraphicFramePr>
        <p:xfrm>
          <a:off x="955040" y="3114448"/>
          <a:ext cx="10281919" cy="2072640"/>
        </p:xfrm>
        <a:graphic>
          <a:graphicData uri="http://schemas.openxmlformats.org/drawingml/2006/table">
            <a:tbl>
              <a:tblPr firstRow="1" firstCol="1" bandRow="1">
                <a:tableStyleId>{5C22544A-7EE6-4342-B048-85BDC9FD1C3A}</a:tableStyleId>
              </a:tblPr>
              <a:tblGrid>
                <a:gridCol w="814606">
                  <a:extLst>
                    <a:ext uri="{9D8B030D-6E8A-4147-A177-3AD203B41FA5}">
                      <a16:colId xmlns:a16="http://schemas.microsoft.com/office/drawing/2014/main" val="3816542815"/>
                    </a:ext>
                  </a:extLst>
                </a:gridCol>
                <a:gridCol w="1420594">
                  <a:extLst>
                    <a:ext uri="{9D8B030D-6E8A-4147-A177-3AD203B41FA5}">
                      <a16:colId xmlns:a16="http://schemas.microsoft.com/office/drawing/2014/main" val="1766304139"/>
                    </a:ext>
                  </a:extLst>
                </a:gridCol>
                <a:gridCol w="2021840">
                  <a:extLst>
                    <a:ext uri="{9D8B030D-6E8A-4147-A177-3AD203B41FA5}">
                      <a16:colId xmlns:a16="http://schemas.microsoft.com/office/drawing/2014/main" val="1508238068"/>
                    </a:ext>
                  </a:extLst>
                </a:gridCol>
                <a:gridCol w="2042160">
                  <a:extLst>
                    <a:ext uri="{9D8B030D-6E8A-4147-A177-3AD203B41FA5}">
                      <a16:colId xmlns:a16="http://schemas.microsoft.com/office/drawing/2014/main" val="1037864837"/>
                    </a:ext>
                  </a:extLst>
                </a:gridCol>
                <a:gridCol w="1574800">
                  <a:extLst>
                    <a:ext uri="{9D8B030D-6E8A-4147-A177-3AD203B41FA5}">
                      <a16:colId xmlns:a16="http://schemas.microsoft.com/office/drawing/2014/main" val="1707508683"/>
                    </a:ext>
                  </a:extLst>
                </a:gridCol>
                <a:gridCol w="2407919">
                  <a:extLst>
                    <a:ext uri="{9D8B030D-6E8A-4147-A177-3AD203B41FA5}">
                      <a16:colId xmlns:a16="http://schemas.microsoft.com/office/drawing/2014/main" val="590501599"/>
                    </a:ext>
                  </a:extLst>
                </a:gridCol>
              </a:tblGrid>
              <a:tr h="0">
                <a:tc>
                  <a:txBody>
                    <a:bodyPr/>
                    <a:lstStyle/>
                    <a:p>
                      <a:pPr marL="0" marR="0" algn="ctr">
                        <a:spcBef>
                          <a:spcPts val="0"/>
                        </a:spcBef>
                        <a:spcAft>
                          <a:spcPts val="0"/>
                        </a:spcAft>
                      </a:pPr>
                      <a:r>
                        <a:rPr lang="en-US" sz="1700">
                          <a:effectLst/>
                          <a:latin typeface="Times New Roman" panose="02020603050405020304" pitchFamily="18" charset="0"/>
                          <a:cs typeface="Times New Roman" panose="02020603050405020304" pitchFamily="18" charset="0"/>
                        </a:rPr>
                        <a:t>Block</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700" dirty="0">
                          <a:effectLst/>
                          <a:latin typeface="Times New Roman" panose="02020603050405020304" pitchFamily="18" charset="0"/>
                          <a:cs typeface="Times New Roman" panose="02020603050405020304" pitchFamily="18" charset="0"/>
                        </a:rPr>
                        <a:t>Layer</a:t>
                      </a:r>
                      <a:endParaRPr lang="en-US" sz="17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700" dirty="0" smtClean="0">
                          <a:effectLst/>
                          <a:latin typeface="Times New Roman" panose="02020603050405020304" pitchFamily="18" charset="0"/>
                          <a:cs typeface="Times New Roman" panose="02020603050405020304" pitchFamily="18" charset="0"/>
                        </a:rPr>
                        <a:t>Input dimension</a:t>
                      </a:r>
                      <a:endParaRPr lang="en-US" sz="17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700" dirty="0" smtClean="0">
                          <a:effectLst/>
                          <a:latin typeface="Times New Roman" panose="02020603050405020304" pitchFamily="18" charset="0"/>
                          <a:cs typeface="Times New Roman" panose="02020603050405020304" pitchFamily="18" charset="0"/>
                        </a:rPr>
                        <a:t>Filter dimension</a:t>
                      </a:r>
                      <a:endParaRPr lang="en-US" sz="17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700" dirty="0" smtClean="0">
                          <a:effectLst/>
                          <a:latin typeface="Times New Roman" panose="02020603050405020304" pitchFamily="18" charset="0"/>
                          <a:cs typeface="Times New Roman" panose="02020603050405020304" pitchFamily="18" charset="0"/>
                        </a:rPr>
                        <a:t>Filter count</a:t>
                      </a:r>
                      <a:endParaRPr lang="en-US" sz="17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700" dirty="0" smtClean="0">
                          <a:effectLst/>
                          <a:latin typeface="Times New Roman" panose="02020603050405020304" pitchFamily="18" charset="0"/>
                          <a:cs typeface="Times New Roman" panose="02020603050405020304" pitchFamily="18" charset="0"/>
                        </a:rPr>
                        <a:t>Output dimension</a:t>
                      </a:r>
                      <a:endParaRPr lang="en-US" sz="17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954489644"/>
                  </a:ext>
                </a:extLst>
              </a:tr>
              <a:tr h="0">
                <a:tc rowSpan="4">
                  <a:txBody>
                    <a:bodyPr/>
                    <a:lstStyle/>
                    <a:p>
                      <a:pPr marL="0" marR="0" algn="l">
                        <a:spcBef>
                          <a:spcPts val="0"/>
                        </a:spcBef>
                        <a:spcAft>
                          <a:spcPts val="0"/>
                        </a:spcAft>
                      </a:pPr>
                      <a:r>
                        <a:rPr lang="en-US" sz="1700">
                          <a:effectLst/>
                          <a:latin typeface="Times New Roman" panose="02020603050405020304" pitchFamily="18" charset="0"/>
                          <a:cs typeface="Times New Roman" panose="02020603050405020304" pitchFamily="18" charset="0"/>
                        </a:rPr>
                        <a:t>1</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layer1_1</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32 x 32 x 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 x 3 x 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32 x 32 x 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508562334"/>
                  </a:ext>
                </a:extLst>
              </a:tr>
              <a:tr h="0">
                <a:tc vMerge="1">
                  <a:txBody>
                    <a:bodyPr/>
                    <a:lstStyle/>
                    <a:p>
                      <a:endParaRPr lang="en-US"/>
                    </a:p>
                  </a:txBody>
                  <a:tcPr/>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layer1_2</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32 x 32 x 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 x 3 x 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32 x 32 x 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434402491"/>
                  </a:ext>
                </a:extLst>
              </a:tr>
              <a:tr h="0">
                <a:tc vMerge="1">
                  <a:txBody>
                    <a:bodyPr/>
                    <a:lstStyle/>
                    <a:p>
                      <a:endParaRPr lang="en-US"/>
                    </a:p>
                  </a:txBody>
                  <a:tcPr/>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layer1_3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32 x 32 x 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 x 3 x 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32 x 32 x 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131567158"/>
                  </a:ext>
                </a:extLst>
              </a:tr>
              <a:tr h="0">
                <a:tc vMerge="1">
                  <a:txBody>
                    <a:bodyPr/>
                    <a:lstStyle/>
                    <a:p>
                      <a:endParaRPr lang="en-US"/>
                    </a:p>
                  </a:txBody>
                  <a:tcPr/>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maxpool1</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32 x 32 x 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2 x 2</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 </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16 x 16 x 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126205480"/>
                  </a:ext>
                </a:extLst>
              </a:tr>
              <a:tr h="0">
                <a:tc rowSpan="3">
                  <a:txBody>
                    <a:bodyPr/>
                    <a:lstStyle/>
                    <a:p>
                      <a:pPr marL="0" marR="0" algn="l">
                        <a:spcBef>
                          <a:spcPts val="0"/>
                        </a:spcBef>
                        <a:spcAft>
                          <a:spcPts val="0"/>
                        </a:spcAft>
                      </a:pPr>
                      <a:r>
                        <a:rPr lang="en-US" sz="1700">
                          <a:effectLst/>
                          <a:latin typeface="Times New Roman" panose="02020603050405020304" pitchFamily="18" charset="0"/>
                          <a:cs typeface="Times New Roman" panose="02020603050405020304" pitchFamily="18" charset="0"/>
                        </a:rPr>
                        <a:t>2</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layer2_1</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16 x 16 x 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 x 3 x 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9</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16 x 16 x 9</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880430741"/>
                  </a:ext>
                </a:extLst>
              </a:tr>
              <a:tr h="0">
                <a:tc vMerge="1">
                  <a:txBody>
                    <a:bodyPr/>
                    <a:lstStyle/>
                    <a:p>
                      <a:endParaRPr lang="en-US"/>
                    </a:p>
                  </a:txBody>
                  <a:tcPr/>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layer2_2</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16 x 16 x 9</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 x 3 x 9</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9</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16 x 16 x 9</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016175358"/>
                  </a:ext>
                </a:extLst>
              </a:tr>
              <a:tr h="0">
                <a:tc vMerge="1">
                  <a:txBody>
                    <a:bodyPr/>
                    <a:lstStyle/>
                    <a:p>
                      <a:endParaRPr lang="en-US"/>
                    </a:p>
                  </a:txBody>
                  <a:tcPr/>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layer2_3</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16 x 16 x 9</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3 x 3 x 9</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a:effectLst/>
                          <a:latin typeface="Times New Roman" panose="02020603050405020304" pitchFamily="18" charset="0"/>
                          <a:cs typeface="Times New Roman" panose="02020603050405020304" pitchFamily="18" charset="0"/>
                        </a:rPr>
                        <a:t>9</a:t>
                      </a:r>
                      <a:endParaRPr lang="en-US" sz="17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700" dirty="0">
                          <a:effectLst/>
                          <a:latin typeface="Times New Roman" panose="02020603050405020304" pitchFamily="18" charset="0"/>
                          <a:cs typeface="Times New Roman" panose="02020603050405020304" pitchFamily="18" charset="0"/>
                        </a:rPr>
                        <a:t>16 x 16 x 9</a:t>
                      </a:r>
                      <a:endParaRPr lang="en-US" sz="17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949479293"/>
                  </a:ext>
                </a:extLst>
              </a:tr>
            </a:tbl>
          </a:graphicData>
        </a:graphic>
      </p:graphicFrame>
    </p:spTree>
    <p:extLst>
      <p:ext uri="{BB962C8B-B14F-4D97-AF65-F5344CB8AC3E}">
        <p14:creationId xmlns:p14="http://schemas.microsoft.com/office/powerpoint/2010/main" val="33997448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Experimental design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1120" y="914399"/>
                <a:ext cx="12049760" cy="5176066"/>
              </a:xfrm>
            </p:spPr>
            <p:txBody>
              <a:bodyPr>
                <a:noAutofit/>
              </a:bodyPr>
              <a:lstStyle/>
              <a:p>
                <a:pPr marL="0" indent="0">
                  <a:buNone/>
                </a:pPr>
                <a:r>
                  <a:rPr lang="en-US" sz="1900" dirty="0"/>
                  <a:t>Recall that the experimental design focuses on evaluating the preeminence of matrix neural network in comparing image classifiers and so, </a:t>
                </a:r>
                <a:r>
                  <a:rPr lang="en-US" sz="1900" dirty="0">
                    <a:effectLst>
                      <a:outerShdw blurRad="38100" dist="38100" dir="2700000" algn="tl">
                        <a:srgbClr val="000000">
                          <a:alpha val="43137"/>
                        </a:srgbClr>
                      </a:outerShdw>
                    </a:effectLst>
                  </a:rPr>
                  <a:t>accuracy metric which measures the ratio of correct number of images to total number of all images </a:t>
                </a:r>
                <a:r>
                  <a:rPr lang="en-US" sz="1900" dirty="0"/>
                  <a:t>is not so </a:t>
                </a:r>
                <a:r>
                  <a:rPr lang="en-US" sz="1900" dirty="0" smtClean="0"/>
                  <a:t>essential in this research </a:t>
                </a:r>
                <a:r>
                  <a:rPr lang="en-US" sz="1900" dirty="0"/>
                  <a:t>when other deep image classification researches achieve very high accuracy by specific set of convolutional layers</a:t>
                </a:r>
                <a:r>
                  <a:rPr lang="en-US" sz="1900" dirty="0" smtClean="0"/>
                  <a:t>.</a:t>
                </a:r>
              </a:p>
              <a:p>
                <a:pPr marL="0" indent="0">
                  <a:buNone/>
                </a:pPr>
                <a14:m>
                  <m:oMathPara xmlns:m="http://schemas.openxmlformats.org/officeDocument/2006/math">
                    <m:oMathParaPr>
                      <m:jc m:val="centerGroup"/>
                    </m:oMathParaPr>
                    <m:oMath xmlns:m="http://schemas.openxmlformats.org/officeDocument/2006/math">
                      <m:r>
                        <m:rPr>
                          <m:sty m:val="p"/>
                        </m:rPr>
                        <a:rPr lang="en-US" sz="1900">
                          <a:latin typeface="Cambria Math" panose="02040503050406030204" pitchFamily="18" charset="0"/>
                        </a:rPr>
                        <m:t>accuracy</m:t>
                      </m:r>
                      <m:r>
                        <a:rPr lang="en-US" sz="1900" i="1">
                          <a:latin typeface="Cambria Math" panose="02040503050406030204" pitchFamily="18" charset="0"/>
                        </a:rPr>
                        <m:t>=</m:t>
                      </m:r>
                      <m:f>
                        <m:fPr>
                          <m:ctrlPr>
                            <a:rPr lang="en-US" sz="1900" i="1">
                              <a:latin typeface="Cambria Math" panose="02040503050406030204" pitchFamily="18" charset="0"/>
                            </a:rPr>
                          </m:ctrlPr>
                        </m:fPr>
                        <m:num>
                          <m:r>
                            <m:rPr>
                              <m:sty m:val="p"/>
                            </m:rPr>
                            <a:rPr lang="en-US" sz="1900">
                              <a:latin typeface="Cambria Math" panose="02040503050406030204" pitchFamily="18" charset="0"/>
                            </a:rPr>
                            <m:t>the</m:t>
                          </m:r>
                          <m:r>
                            <a:rPr lang="en-US" sz="1900">
                              <a:latin typeface="Cambria Math" panose="02040503050406030204" pitchFamily="18" charset="0"/>
                            </a:rPr>
                            <m:t> </m:t>
                          </m:r>
                          <m:r>
                            <m:rPr>
                              <m:sty m:val="p"/>
                            </m:rPr>
                            <a:rPr lang="en-US" sz="1900">
                              <a:latin typeface="Cambria Math" panose="02040503050406030204" pitchFamily="18" charset="0"/>
                            </a:rPr>
                            <m:t>number</m:t>
                          </m:r>
                          <m:r>
                            <a:rPr lang="en-US" sz="1900">
                              <a:latin typeface="Cambria Math" panose="02040503050406030204" pitchFamily="18" charset="0"/>
                            </a:rPr>
                            <m:t> </m:t>
                          </m:r>
                          <m:r>
                            <m:rPr>
                              <m:sty m:val="p"/>
                            </m:rPr>
                            <a:rPr lang="en-US" sz="1900">
                              <a:latin typeface="Cambria Math" panose="02040503050406030204" pitchFamily="18" charset="0"/>
                            </a:rPr>
                            <m:t>of</m:t>
                          </m:r>
                          <m:r>
                            <a:rPr lang="en-US" sz="1900">
                              <a:latin typeface="Cambria Math" panose="02040503050406030204" pitchFamily="18" charset="0"/>
                            </a:rPr>
                            <m:t> </m:t>
                          </m:r>
                          <m:r>
                            <m:rPr>
                              <m:sty m:val="p"/>
                            </m:rPr>
                            <a:rPr lang="en-US" sz="1900">
                              <a:latin typeface="Cambria Math" panose="02040503050406030204" pitchFamily="18" charset="0"/>
                            </a:rPr>
                            <m:t>correctly</m:t>
                          </m:r>
                          <m:r>
                            <a:rPr lang="en-US" sz="1900">
                              <a:latin typeface="Cambria Math" panose="02040503050406030204" pitchFamily="18" charset="0"/>
                            </a:rPr>
                            <m:t> </m:t>
                          </m:r>
                          <m:r>
                            <m:rPr>
                              <m:sty m:val="p"/>
                            </m:rPr>
                            <a:rPr lang="en-US" sz="1900">
                              <a:latin typeface="Cambria Math" panose="02040503050406030204" pitchFamily="18" charset="0"/>
                            </a:rPr>
                            <m:t>classified</m:t>
                          </m:r>
                          <m:r>
                            <a:rPr lang="en-US" sz="1900">
                              <a:latin typeface="Cambria Math" panose="02040503050406030204" pitchFamily="18" charset="0"/>
                            </a:rPr>
                            <m:t> </m:t>
                          </m:r>
                          <m:r>
                            <m:rPr>
                              <m:sty m:val="p"/>
                            </m:rPr>
                            <a:rPr lang="en-US" sz="1900">
                              <a:latin typeface="Cambria Math" panose="02040503050406030204" pitchFamily="18" charset="0"/>
                            </a:rPr>
                            <m:t>images</m:t>
                          </m:r>
                        </m:num>
                        <m:den>
                          <m:r>
                            <m:rPr>
                              <m:sty m:val="p"/>
                            </m:rPr>
                            <a:rPr lang="en-US" sz="1900">
                              <a:latin typeface="Cambria Math" panose="02040503050406030204" pitchFamily="18" charset="0"/>
                            </a:rPr>
                            <m:t>the</m:t>
                          </m:r>
                          <m:r>
                            <a:rPr lang="en-US" sz="1900">
                              <a:latin typeface="Cambria Math" panose="02040503050406030204" pitchFamily="18" charset="0"/>
                            </a:rPr>
                            <m:t> </m:t>
                          </m:r>
                          <m:r>
                            <m:rPr>
                              <m:sty m:val="p"/>
                            </m:rPr>
                            <a:rPr lang="en-US" sz="1900">
                              <a:latin typeface="Cambria Math" panose="02040503050406030204" pitchFamily="18" charset="0"/>
                            </a:rPr>
                            <m:t>total</m:t>
                          </m:r>
                          <m:r>
                            <a:rPr lang="en-US" sz="1900">
                              <a:latin typeface="Cambria Math" panose="02040503050406030204" pitchFamily="18" charset="0"/>
                            </a:rPr>
                            <m:t> </m:t>
                          </m:r>
                          <m:r>
                            <m:rPr>
                              <m:sty m:val="p"/>
                            </m:rPr>
                            <a:rPr lang="en-US" sz="1900">
                              <a:latin typeface="Cambria Math" panose="02040503050406030204" pitchFamily="18" charset="0"/>
                            </a:rPr>
                            <m:t>number</m:t>
                          </m:r>
                          <m:r>
                            <a:rPr lang="en-US" sz="1900">
                              <a:latin typeface="Cambria Math" panose="02040503050406030204" pitchFamily="18" charset="0"/>
                            </a:rPr>
                            <m:t> </m:t>
                          </m:r>
                          <m:r>
                            <m:rPr>
                              <m:sty m:val="p"/>
                            </m:rPr>
                            <a:rPr lang="en-US" sz="1900">
                              <a:latin typeface="Cambria Math" panose="02040503050406030204" pitchFamily="18" charset="0"/>
                            </a:rPr>
                            <m:t>of</m:t>
                          </m:r>
                          <m:r>
                            <a:rPr lang="en-US" sz="1900">
                              <a:latin typeface="Cambria Math" panose="02040503050406030204" pitchFamily="18" charset="0"/>
                            </a:rPr>
                            <m:t> </m:t>
                          </m:r>
                          <m:r>
                            <m:rPr>
                              <m:sty m:val="p"/>
                            </m:rPr>
                            <a:rPr lang="en-US" sz="1900">
                              <a:latin typeface="Cambria Math" panose="02040503050406030204" pitchFamily="18" charset="0"/>
                            </a:rPr>
                            <m:t>images</m:t>
                          </m:r>
                        </m:den>
                      </m:f>
                    </m:oMath>
                  </m:oMathPara>
                </a14:m>
                <a:endParaRPr lang="en-US" sz="1900" dirty="0" smtClean="0"/>
              </a:p>
              <a:p>
                <a:pPr marL="0" indent="0">
                  <a:buNone/>
                </a:pPr>
                <a:r>
                  <a:rPr lang="en-US" sz="1900" dirty="0"/>
                  <a:t>Because accuracy metric in this research </a:t>
                </a:r>
                <a:r>
                  <a:rPr lang="en-US" sz="1900" dirty="0" smtClean="0"/>
                  <a:t>is not </a:t>
                </a:r>
                <a:r>
                  <a:rPr lang="en-US" sz="1900" dirty="0"/>
                  <a:t>larger than good enough level 0.6 (60%), it is necessary to survey the diversity in classification of the aforementioned </a:t>
                </a:r>
                <a:r>
                  <a:rPr lang="en-US" sz="1900" dirty="0" smtClean="0"/>
                  <a:t>classifiers.</a:t>
                </a:r>
                <a:r>
                  <a:rPr lang="en-US" sz="1900" dirty="0"/>
                  <a:t> Therefore, given </a:t>
                </a:r>
                <a:r>
                  <a:rPr lang="en-US" sz="1900" i="1" dirty="0"/>
                  <a:t>n</a:t>
                </a:r>
                <a:r>
                  <a:rPr lang="en-US" sz="1900" dirty="0"/>
                  <a:t>=10 classes, the experimental design proposes </a:t>
                </a:r>
                <a:r>
                  <a:rPr lang="en-US" sz="1900" i="1" dirty="0"/>
                  <a:t>n</a:t>
                </a:r>
                <a:r>
                  <a:rPr lang="en-US" sz="1900" dirty="0"/>
                  <a:t>=10 pairs of precision metrics and recall metrics. For instance, given the </a:t>
                </a:r>
                <a:r>
                  <a:rPr lang="en-US" sz="1900" i="1" dirty="0" err="1"/>
                  <a:t>i</a:t>
                </a:r>
                <a:r>
                  <a:rPr lang="en-US" sz="1900" baseline="30000" dirty="0" err="1"/>
                  <a:t>th</a:t>
                </a:r>
                <a:r>
                  <a:rPr lang="en-US" sz="1900" dirty="0"/>
                  <a:t> class, </a:t>
                </a:r>
                <a:r>
                  <a:rPr lang="en-US" sz="1900" dirty="0">
                    <a:effectLst>
                      <a:outerShdw blurRad="38100" dist="38100" dir="2700000" algn="tl">
                        <a:srgbClr val="000000">
                          <a:alpha val="43137"/>
                        </a:srgbClr>
                      </a:outerShdw>
                    </a:effectLst>
                  </a:rPr>
                  <a:t>the </a:t>
                </a:r>
                <a:r>
                  <a:rPr lang="en-US" sz="1900" i="1" dirty="0" err="1">
                    <a:effectLst>
                      <a:outerShdw blurRad="38100" dist="38100" dir="2700000" algn="tl">
                        <a:srgbClr val="000000">
                          <a:alpha val="43137"/>
                        </a:srgbClr>
                      </a:outerShdw>
                    </a:effectLst>
                  </a:rPr>
                  <a:t>i</a:t>
                </a:r>
                <a:r>
                  <a:rPr lang="en-US" sz="1900" baseline="30000" dirty="0" err="1">
                    <a:effectLst>
                      <a:outerShdw blurRad="38100" dist="38100" dir="2700000" algn="tl">
                        <a:srgbClr val="000000">
                          <a:alpha val="43137"/>
                        </a:srgbClr>
                      </a:outerShdw>
                    </a:effectLst>
                  </a:rPr>
                  <a:t>th</a:t>
                </a:r>
                <a:r>
                  <a:rPr lang="en-US" sz="1900" dirty="0">
                    <a:effectLst>
                      <a:outerShdw blurRad="38100" dist="38100" dir="2700000" algn="tl">
                        <a:srgbClr val="000000">
                          <a:alpha val="43137"/>
                        </a:srgbClr>
                      </a:outerShdw>
                    </a:effectLst>
                  </a:rPr>
                  <a:t> precision is the ratio of the number of correctly classified images in the </a:t>
                </a:r>
                <a:r>
                  <a:rPr lang="en-US" sz="1900" i="1" dirty="0" err="1">
                    <a:effectLst>
                      <a:outerShdw blurRad="38100" dist="38100" dir="2700000" algn="tl">
                        <a:srgbClr val="000000">
                          <a:alpha val="43137"/>
                        </a:srgbClr>
                      </a:outerShdw>
                    </a:effectLst>
                  </a:rPr>
                  <a:t>i</a:t>
                </a:r>
                <a:r>
                  <a:rPr lang="en-US" sz="1900" baseline="30000" dirty="0" err="1">
                    <a:effectLst>
                      <a:outerShdw blurRad="38100" dist="38100" dir="2700000" algn="tl">
                        <a:srgbClr val="000000">
                          <a:alpha val="43137"/>
                        </a:srgbClr>
                      </a:outerShdw>
                    </a:effectLst>
                  </a:rPr>
                  <a:t>th</a:t>
                </a:r>
                <a:r>
                  <a:rPr lang="en-US" sz="1900" dirty="0">
                    <a:effectLst>
                      <a:outerShdw blurRad="38100" dist="38100" dir="2700000" algn="tl">
                        <a:srgbClr val="000000">
                          <a:alpha val="43137"/>
                        </a:srgbClr>
                      </a:outerShdw>
                    </a:effectLst>
                  </a:rPr>
                  <a:t> class to the number of classified images in the </a:t>
                </a:r>
                <a:r>
                  <a:rPr lang="en-US" sz="1900" i="1" dirty="0" err="1">
                    <a:effectLst>
                      <a:outerShdw blurRad="38100" dist="38100" dir="2700000" algn="tl">
                        <a:srgbClr val="000000">
                          <a:alpha val="43137"/>
                        </a:srgbClr>
                      </a:outerShdw>
                    </a:effectLst>
                  </a:rPr>
                  <a:t>i</a:t>
                </a:r>
                <a:r>
                  <a:rPr lang="en-US" sz="1900" baseline="30000" dirty="0" err="1">
                    <a:effectLst>
                      <a:outerShdw blurRad="38100" dist="38100" dir="2700000" algn="tl">
                        <a:srgbClr val="000000">
                          <a:alpha val="43137"/>
                        </a:srgbClr>
                      </a:outerShdw>
                    </a:effectLst>
                  </a:rPr>
                  <a:t>th</a:t>
                </a:r>
                <a:r>
                  <a:rPr lang="en-US" sz="1900" dirty="0">
                    <a:effectLst>
                      <a:outerShdw blurRad="38100" dist="38100" dir="2700000" algn="tl">
                        <a:srgbClr val="000000">
                          <a:alpha val="43137"/>
                        </a:srgbClr>
                      </a:outerShdw>
                    </a:effectLst>
                  </a:rPr>
                  <a:t> class whereas the </a:t>
                </a:r>
                <a:r>
                  <a:rPr lang="en-US" sz="1900" i="1" dirty="0" err="1">
                    <a:effectLst>
                      <a:outerShdw blurRad="38100" dist="38100" dir="2700000" algn="tl">
                        <a:srgbClr val="000000">
                          <a:alpha val="43137"/>
                        </a:srgbClr>
                      </a:outerShdw>
                    </a:effectLst>
                  </a:rPr>
                  <a:t>i</a:t>
                </a:r>
                <a:r>
                  <a:rPr lang="en-US" sz="1900" baseline="30000" dirty="0" err="1">
                    <a:effectLst>
                      <a:outerShdw blurRad="38100" dist="38100" dir="2700000" algn="tl">
                        <a:srgbClr val="000000">
                          <a:alpha val="43137"/>
                        </a:srgbClr>
                      </a:outerShdw>
                    </a:effectLst>
                  </a:rPr>
                  <a:t>th</a:t>
                </a:r>
                <a:r>
                  <a:rPr lang="en-US" sz="1900" dirty="0">
                    <a:effectLst>
                      <a:outerShdw blurRad="38100" dist="38100" dir="2700000" algn="tl">
                        <a:srgbClr val="000000">
                          <a:alpha val="43137"/>
                        </a:srgbClr>
                      </a:outerShdw>
                    </a:effectLst>
                  </a:rPr>
                  <a:t> recall is the ratio of the number of classified images in the </a:t>
                </a:r>
                <a:r>
                  <a:rPr lang="en-US" sz="1900" i="1" dirty="0" err="1">
                    <a:effectLst>
                      <a:outerShdw blurRad="38100" dist="38100" dir="2700000" algn="tl">
                        <a:srgbClr val="000000">
                          <a:alpha val="43137"/>
                        </a:srgbClr>
                      </a:outerShdw>
                    </a:effectLst>
                  </a:rPr>
                  <a:t>i</a:t>
                </a:r>
                <a:r>
                  <a:rPr lang="en-US" sz="1900" baseline="30000" dirty="0" err="1">
                    <a:effectLst>
                      <a:outerShdw blurRad="38100" dist="38100" dir="2700000" algn="tl">
                        <a:srgbClr val="000000">
                          <a:alpha val="43137"/>
                        </a:srgbClr>
                      </a:outerShdw>
                    </a:effectLst>
                  </a:rPr>
                  <a:t>th</a:t>
                </a:r>
                <a:r>
                  <a:rPr lang="en-US" sz="1900" dirty="0">
                    <a:effectLst>
                      <a:outerShdw blurRad="38100" dist="38100" dir="2700000" algn="tl">
                        <a:srgbClr val="000000">
                          <a:alpha val="43137"/>
                        </a:srgbClr>
                      </a:outerShdw>
                    </a:effectLst>
                  </a:rPr>
                  <a:t> class to the number of images actually belong to the </a:t>
                </a:r>
                <a:r>
                  <a:rPr lang="en-US" sz="1900" i="1" dirty="0" err="1">
                    <a:effectLst>
                      <a:outerShdw blurRad="38100" dist="38100" dir="2700000" algn="tl">
                        <a:srgbClr val="000000">
                          <a:alpha val="43137"/>
                        </a:srgbClr>
                      </a:outerShdw>
                    </a:effectLst>
                  </a:rPr>
                  <a:t>i</a:t>
                </a:r>
                <a:r>
                  <a:rPr lang="en-US" sz="1900" baseline="30000" dirty="0" err="1">
                    <a:effectLst>
                      <a:outerShdw blurRad="38100" dist="38100" dir="2700000" algn="tl">
                        <a:srgbClr val="000000">
                          <a:alpha val="43137"/>
                        </a:srgbClr>
                      </a:outerShdw>
                    </a:effectLst>
                  </a:rPr>
                  <a:t>th</a:t>
                </a:r>
                <a:r>
                  <a:rPr lang="en-US" sz="1900" dirty="0">
                    <a:effectLst>
                      <a:outerShdw blurRad="38100" dist="38100" dir="2700000" algn="tl">
                        <a:srgbClr val="000000">
                          <a:alpha val="43137"/>
                        </a:srgbClr>
                      </a:outerShdw>
                    </a:effectLst>
                  </a:rPr>
                  <a:t> class</a:t>
                </a:r>
                <a:r>
                  <a:rPr lang="en-US" sz="1900" dirty="0" smtClean="0"/>
                  <a:t>.</a:t>
                </a:r>
                <a:endParaRPr lang="en-US" sz="1900" dirty="0"/>
              </a:p>
              <a:p>
                <a:pPr marL="0" indent="0">
                  <a:buNone/>
                </a:pPr>
                <a14:m>
                  <m:oMathPara xmlns:m="http://schemas.openxmlformats.org/officeDocument/2006/math">
                    <m:oMathParaPr>
                      <m:jc m:val="centerGroup"/>
                    </m:oMathParaPr>
                    <m:oMath xmlns:m="http://schemas.openxmlformats.org/officeDocument/2006/math">
                      <m:sSub>
                        <m:sSubPr>
                          <m:ctrlPr>
                            <a:rPr lang="en-US" sz="1900" i="1">
                              <a:latin typeface="Cambria Math" panose="02040503050406030204" pitchFamily="18" charset="0"/>
                            </a:rPr>
                          </m:ctrlPr>
                        </m:sSubPr>
                        <m:e>
                          <m:r>
                            <m:rPr>
                              <m:sty m:val="p"/>
                            </m:rPr>
                            <a:rPr lang="en-US" sz="1900">
                              <a:latin typeface="Cambria Math" panose="02040503050406030204" pitchFamily="18" charset="0"/>
                            </a:rPr>
                            <m:t>precision</m:t>
                          </m:r>
                        </m:e>
                        <m:sub>
                          <m:r>
                            <a:rPr lang="en-US" sz="1900" i="1">
                              <a:latin typeface="Cambria Math" panose="02040503050406030204" pitchFamily="18" charset="0"/>
                            </a:rPr>
                            <m:t>𝑖</m:t>
                          </m:r>
                        </m:sub>
                      </m:sSub>
                      <m:r>
                        <a:rPr lang="en-US" sz="1900" i="1">
                          <a:latin typeface="Cambria Math" panose="02040503050406030204" pitchFamily="18" charset="0"/>
                        </a:rPr>
                        <m:t>=</m:t>
                      </m:r>
                      <m:f>
                        <m:fPr>
                          <m:ctrlPr>
                            <a:rPr lang="en-US" sz="1900" i="1">
                              <a:latin typeface="Cambria Math" panose="02040503050406030204" pitchFamily="18" charset="0"/>
                            </a:rPr>
                          </m:ctrlPr>
                        </m:fPr>
                        <m:num>
                          <m:r>
                            <m:rPr>
                              <m:sty m:val="p"/>
                            </m:rPr>
                            <a:rPr lang="en-US" sz="1900">
                              <a:latin typeface="Cambria Math" panose="02040503050406030204" pitchFamily="18" charset="0"/>
                            </a:rPr>
                            <m:t>the</m:t>
                          </m:r>
                          <m:r>
                            <a:rPr lang="en-US" sz="1900">
                              <a:latin typeface="Cambria Math" panose="02040503050406030204" pitchFamily="18" charset="0"/>
                            </a:rPr>
                            <m:t> </m:t>
                          </m:r>
                          <m:r>
                            <m:rPr>
                              <m:sty m:val="p"/>
                            </m:rPr>
                            <a:rPr lang="en-US" sz="1900">
                              <a:latin typeface="Cambria Math" panose="02040503050406030204" pitchFamily="18" charset="0"/>
                            </a:rPr>
                            <m:t>number</m:t>
                          </m:r>
                          <m:r>
                            <a:rPr lang="en-US" sz="1900">
                              <a:latin typeface="Cambria Math" panose="02040503050406030204" pitchFamily="18" charset="0"/>
                            </a:rPr>
                            <m:t> </m:t>
                          </m:r>
                          <m:r>
                            <m:rPr>
                              <m:sty m:val="p"/>
                            </m:rPr>
                            <a:rPr lang="en-US" sz="1900">
                              <a:latin typeface="Cambria Math" panose="02040503050406030204" pitchFamily="18" charset="0"/>
                            </a:rPr>
                            <m:t>of</m:t>
                          </m:r>
                          <m:r>
                            <a:rPr lang="en-US" sz="1900">
                              <a:latin typeface="Cambria Math" panose="02040503050406030204" pitchFamily="18" charset="0"/>
                            </a:rPr>
                            <m:t> </m:t>
                          </m:r>
                          <m:r>
                            <m:rPr>
                              <m:sty m:val="p"/>
                            </m:rPr>
                            <a:rPr lang="en-US" sz="1900">
                              <a:latin typeface="Cambria Math" panose="02040503050406030204" pitchFamily="18" charset="0"/>
                            </a:rPr>
                            <m:t>correctly</m:t>
                          </m:r>
                          <m:r>
                            <a:rPr lang="en-US" sz="1900">
                              <a:latin typeface="Cambria Math" panose="02040503050406030204" pitchFamily="18" charset="0"/>
                            </a:rPr>
                            <m:t> </m:t>
                          </m:r>
                          <m:r>
                            <m:rPr>
                              <m:sty m:val="p"/>
                            </m:rPr>
                            <a:rPr lang="en-US" sz="1900">
                              <a:latin typeface="Cambria Math" panose="02040503050406030204" pitchFamily="18" charset="0"/>
                            </a:rPr>
                            <m:t>classified</m:t>
                          </m:r>
                          <m:r>
                            <a:rPr lang="en-US" sz="1900">
                              <a:latin typeface="Cambria Math" panose="02040503050406030204" pitchFamily="18" charset="0"/>
                            </a:rPr>
                            <m:t> </m:t>
                          </m:r>
                          <m:r>
                            <m:rPr>
                              <m:sty m:val="p"/>
                            </m:rPr>
                            <a:rPr lang="en-US" sz="1900">
                              <a:latin typeface="Cambria Math" panose="02040503050406030204" pitchFamily="18" charset="0"/>
                            </a:rPr>
                            <m:t>images</m:t>
                          </m:r>
                          <m:r>
                            <a:rPr lang="en-US" sz="1900">
                              <a:latin typeface="Cambria Math" panose="02040503050406030204" pitchFamily="18" charset="0"/>
                            </a:rPr>
                            <m:t> </m:t>
                          </m:r>
                          <m:r>
                            <m:rPr>
                              <m:sty m:val="p"/>
                            </m:rPr>
                            <a:rPr lang="en-US" sz="1900">
                              <a:latin typeface="Cambria Math" panose="02040503050406030204" pitchFamily="18" charset="0"/>
                            </a:rPr>
                            <m:t>in</m:t>
                          </m:r>
                          <m:r>
                            <a:rPr lang="en-US" sz="1900">
                              <a:latin typeface="Cambria Math" panose="02040503050406030204" pitchFamily="18" charset="0"/>
                            </a:rPr>
                            <m:t> </m:t>
                          </m:r>
                          <m:sSup>
                            <m:sSupPr>
                              <m:ctrlPr>
                                <a:rPr lang="en-US" sz="1900" i="1">
                                  <a:latin typeface="Cambria Math" panose="02040503050406030204" pitchFamily="18" charset="0"/>
                                </a:rPr>
                              </m:ctrlPr>
                            </m:sSupPr>
                            <m:e>
                              <m:r>
                                <a:rPr lang="en-US" sz="1900" i="1">
                                  <a:latin typeface="Cambria Math" panose="02040503050406030204" pitchFamily="18" charset="0"/>
                                </a:rPr>
                                <m:t>𝑖</m:t>
                              </m:r>
                            </m:e>
                            <m:sup>
                              <m:r>
                                <a:rPr lang="en-US" sz="1900" i="1">
                                  <a:latin typeface="Cambria Math" panose="02040503050406030204" pitchFamily="18" charset="0"/>
                                </a:rPr>
                                <m:t>𝑡h</m:t>
                              </m:r>
                            </m:sup>
                          </m:sSup>
                          <m:r>
                            <a:rPr lang="en-US" sz="1900">
                              <a:latin typeface="Cambria Math" panose="02040503050406030204" pitchFamily="18" charset="0"/>
                            </a:rPr>
                            <m:t> </m:t>
                          </m:r>
                          <m:r>
                            <m:rPr>
                              <m:sty m:val="p"/>
                            </m:rPr>
                            <a:rPr lang="en-US" sz="1900">
                              <a:latin typeface="Cambria Math" panose="02040503050406030204" pitchFamily="18" charset="0"/>
                            </a:rPr>
                            <m:t>class</m:t>
                          </m:r>
                        </m:num>
                        <m:den>
                          <m:r>
                            <m:rPr>
                              <m:sty m:val="p"/>
                            </m:rPr>
                            <a:rPr lang="en-US" sz="1900">
                              <a:latin typeface="Cambria Math" panose="02040503050406030204" pitchFamily="18" charset="0"/>
                            </a:rPr>
                            <m:t>the</m:t>
                          </m:r>
                          <m:r>
                            <a:rPr lang="en-US" sz="1900">
                              <a:latin typeface="Cambria Math" panose="02040503050406030204" pitchFamily="18" charset="0"/>
                            </a:rPr>
                            <m:t> </m:t>
                          </m:r>
                          <m:r>
                            <m:rPr>
                              <m:sty m:val="p"/>
                            </m:rPr>
                            <a:rPr lang="en-US" sz="1900">
                              <a:latin typeface="Cambria Math" panose="02040503050406030204" pitchFamily="18" charset="0"/>
                            </a:rPr>
                            <m:t>number</m:t>
                          </m:r>
                          <m:r>
                            <a:rPr lang="en-US" sz="1900">
                              <a:latin typeface="Cambria Math" panose="02040503050406030204" pitchFamily="18" charset="0"/>
                            </a:rPr>
                            <m:t> </m:t>
                          </m:r>
                          <m:r>
                            <m:rPr>
                              <m:sty m:val="p"/>
                            </m:rPr>
                            <a:rPr lang="en-US" sz="1900">
                              <a:latin typeface="Cambria Math" panose="02040503050406030204" pitchFamily="18" charset="0"/>
                            </a:rPr>
                            <m:t>of</m:t>
                          </m:r>
                          <m:r>
                            <a:rPr lang="en-US" sz="1900">
                              <a:latin typeface="Cambria Math" panose="02040503050406030204" pitchFamily="18" charset="0"/>
                            </a:rPr>
                            <m:t> </m:t>
                          </m:r>
                          <m:r>
                            <m:rPr>
                              <m:sty m:val="p"/>
                            </m:rPr>
                            <a:rPr lang="en-US" sz="1900">
                              <a:latin typeface="Cambria Math" panose="02040503050406030204" pitchFamily="18" charset="0"/>
                            </a:rPr>
                            <m:t>classified</m:t>
                          </m:r>
                          <m:r>
                            <a:rPr lang="en-US" sz="1900">
                              <a:latin typeface="Cambria Math" panose="02040503050406030204" pitchFamily="18" charset="0"/>
                            </a:rPr>
                            <m:t> </m:t>
                          </m:r>
                          <m:r>
                            <m:rPr>
                              <m:sty m:val="p"/>
                            </m:rPr>
                            <a:rPr lang="en-US" sz="1900">
                              <a:latin typeface="Cambria Math" panose="02040503050406030204" pitchFamily="18" charset="0"/>
                            </a:rPr>
                            <m:t>images</m:t>
                          </m:r>
                          <m:r>
                            <a:rPr lang="en-US" sz="1900">
                              <a:latin typeface="Cambria Math" panose="02040503050406030204" pitchFamily="18" charset="0"/>
                            </a:rPr>
                            <m:t> </m:t>
                          </m:r>
                          <m:r>
                            <m:rPr>
                              <m:sty m:val="p"/>
                            </m:rPr>
                            <a:rPr lang="en-US" sz="1900">
                              <a:latin typeface="Cambria Math" panose="02040503050406030204" pitchFamily="18" charset="0"/>
                            </a:rPr>
                            <m:t>in</m:t>
                          </m:r>
                          <m:r>
                            <a:rPr lang="en-US" sz="1900">
                              <a:latin typeface="Cambria Math" panose="02040503050406030204" pitchFamily="18" charset="0"/>
                            </a:rPr>
                            <m:t> </m:t>
                          </m:r>
                          <m:sSup>
                            <m:sSupPr>
                              <m:ctrlPr>
                                <a:rPr lang="en-US" sz="1900" i="1">
                                  <a:latin typeface="Cambria Math" panose="02040503050406030204" pitchFamily="18" charset="0"/>
                                </a:rPr>
                              </m:ctrlPr>
                            </m:sSupPr>
                            <m:e>
                              <m:r>
                                <a:rPr lang="en-US" sz="1900" i="1">
                                  <a:latin typeface="Cambria Math" panose="02040503050406030204" pitchFamily="18" charset="0"/>
                                </a:rPr>
                                <m:t>𝑖</m:t>
                              </m:r>
                            </m:e>
                            <m:sup>
                              <m:r>
                                <a:rPr lang="en-US" sz="1900" i="1">
                                  <a:latin typeface="Cambria Math" panose="02040503050406030204" pitchFamily="18" charset="0"/>
                                </a:rPr>
                                <m:t>𝑡h</m:t>
                              </m:r>
                            </m:sup>
                          </m:sSup>
                          <m:r>
                            <a:rPr lang="en-US" sz="1900">
                              <a:latin typeface="Cambria Math" panose="02040503050406030204" pitchFamily="18" charset="0"/>
                            </a:rPr>
                            <m:t> </m:t>
                          </m:r>
                          <m:r>
                            <m:rPr>
                              <m:sty m:val="p"/>
                            </m:rPr>
                            <a:rPr lang="en-US" sz="1900">
                              <a:latin typeface="Cambria Math" panose="02040503050406030204" pitchFamily="18" charset="0"/>
                            </a:rPr>
                            <m:t>class</m:t>
                          </m:r>
                        </m:den>
                      </m:f>
                    </m:oMath>
                  </m:oMathPara>
                </a14:m>
                <a:endParaRPr lang="en-US" sz="1900" dirty="0"/>
              </a:p>
              <a:p>
                <a:pPr marL="0" indent="0">
                  <a:buNone/>
                </a:pPr>
                <a14:m>
                  <m:oMathPara xmlns:m="http://schemas.openxmlformats.org/officeDocument/2006/math">
                    <m:oMathParaPr>
                      <m:jc m:val="centerGroup"/>
                    </m:oMathParaPr>
                    <m:oMath xmlns:m="http://schemas.openxmlformats.org/officeDocument/2006/math">
                      <m:sSub>
                        <m:sSubPr>
                          <m:ctrlPr>
                            <a:rPr lang="en-US" sz="1900" i="1">
                              <a:latin typeface="Cambria Math" panose="02040503050406030204" pitchFamily="18" charset="0"/>
                            </a:rPr>
                          </m:ctrlPr>
                        </m:sSubPr>
                        <m:e>
                          <m:r>
                            <m:rPr>
                              <m:sty m:val="p"/>
                            </m:rPr>
                            <a:rPr lang="en-US" sz="1900">
                              <a:latin typeface="Cambria Math" panose="02040503050406030204" pitchFamily="18" charset="0"/>
                            </a:rPr>
                            <m:t>recall</m:t>
                          </m:r>
                        </m:e>
                        <m:sub>
                          <m:r>
                            <a:rPr lang="en-US" sz="1900" i="1">
                              <a:latin typeface="Cambria Math" panose="02040503050406030204" pitchFamily="18" charset="0"/>
                            </a:rPr>
                            <m:t>𝑖</m:t>
                          </m:r>
                        </m:sub>
                      </m:sSub>
                      <m:r>
                        <a:rPr lang="en-US" sz="1900" i="1">
                          <a:latin typeface="Cambria Math" panose="02040503050406030204" pitchFamily="18" charset="0"/>
                        </a:rPr>
                        <m:t>=</m:t>
                      </m:r>
                      <m:f>
                        <m:fPr>
                          <m:ctrlPr>
                            <a:rPr lang="en-US" sz="1900" i="1">
                              <a:latin typeface="Cambria Math" panose="02040503050406030204" pitchFamily="18" charset="0"/>
                            </a:rPr>
                          </m:ctrlPr>
                        </m:fPr>
                        <m:num>
                          <m:r>
                            <m:rPr>
                              <m:sty m:val="p"/>
                            </m:rPr>
                            <a:rPr lang="en-US" sz="1900">
                              <a:latin typeface="Cambria Math" panose="02040503050406030204" pitchFamily="18" charset="0"/>
                            </a:rPr>
                            <m:t>the</m:t>
                          </m:r>
                          <m:r>
                            <a:rPr lang="en-US" sz="1900">
                              <a:latin typeface="Cambria Math" panose="02040503050406030204" pitchFamily="18" charset="0"/>
                            </a:rPr>
                            <m:t> </m:t>
                          </m:r>
                          <m:r>
                            <m:rPr>
                              <m:sty m:val="p"/>
                            </m:rPr>
                            <a:rPr lang="en-US" sz="1900">
                              <a:latin typeface="Cambria Math" panose="02040503050406030204" pitchFamily="18" charset="0"/>
                            </a:rPr>
                            <m:t>number</m:t>
                          </m:r>
                          <m:r>
                            <a:rPr lang="en-US" sz="1900">
                              <a:latin typeface="Cambria Math" panose="02040503050406030204" pitchFamily="18" charset="0"/>
                            </a:rPr>
                            <m:t> </m:t>
                          </m:r>
                          <m:r>
                            <m:rPr>
                              <m:sty m:val="p"/>
                            </m:rPr>
                            <a:rPr lang="en-US" sz="1900">
                              <a:latin typeface="Cambria Math" panose="02040503050406030204" pitchFamily="18" charset="0"/>
                            </a:rPr>
                            <m:t>of</m:t>
                          </m:r>
                          <m:r>
                            <a:rPr lang="en-US" sz="1900">
                              <a:latin typeface="Cambria Math" panose="02040503050406030204" pitchFamily="18" charset="0"/>
                            </a:rPr>
                            <m:t> </m:t>
                          </m:r>
                          <m:r>
                            <m:rPr>
                              <m:sty m:val="p"/>
                            </m:rPr>
                            <a:rPr lang="en-US" sz="1900">
                              <a:latin typeface="Cambria Math" panose="02040503050406030204" pitchFamily="18" charset="0"/>
                            </a:rPr>
                            <m:t>classified</m:t>
                          </m:r>
                          <m:r>
                            <a:rPr lang="en-US" sz="1900">
                              <a:latin typeface="Cambria Math" panose="02040503050406030204" pitchFamily="18" charset="0"/>
                            </a:rPr>
                            <m:t> </m:t>
                          </m:r>
                          <m:r>
                            <m:rPr>
                              <m:sty m:val="p"/>
                            </m:rPr>
                            <a:rPr lang="en-US" sz="1900">
                              <a:latin typeface="Cambria Math" panose="02040503050406030204" pitchFamily="18" charset="0"/>
                            </a:rPr>
                            <m:t>images</m:t>
                          </m:r>
                          <m:r>
                            <a:rPr lang="en-US" sz="1900">
                              <a:latin typeface="Cambria Math" panose="02040503050406030204" pitchFamily="18" charset="0"/>
                            </a:rPr>
                            <m:t> </m:t>
                          </m:r>
                          <m:r>
                            <m:rPr>
                              <m:sty m:val="p"/>
                            </m:rPr>
                            <a:rPr lang="en-US" sz="1900">
                              <a:latin typeface="Cambria Math" panose="02040503050406030204" pitchFamily="18" charset="0"/>
                            </a:rPr>
                            <m:t>in</m:t>
                          </m:r>
                          <m:r>
                            <a:rPr lang="en-US" sz="1900">
                              <a:latin typeface="Cambria Math" panose="02040503050406030204" pitchFamily="18" charset="0"/>
                            </a:rPr>
                            <m:t> </m:t>
                          </m:r>
                          <m:sSup>
                            <m:sSupPr>
                              <m:ctrlPr>
                                <a:rPr lang="en-US" sz="1900" i="1">
                                  <a:latin typeface="Cambria Math" panose="02040503050406030204" pitchFamily="18" charset="0"/>
                                </a:rPr>
                              </m:ctrlPr>
                            </m:sSupPr>
                            <m:e>
                              <m:r>
                                <a:rPr lang="en-US" sz="1900" i="1">
                                  <a:latin typeface="Cambria Math" panose="02040503050406030204" pitchFamily="18" charset="0"/>
                                </a:rPr>
                                <m:t>𝑖</m:t>
                              </m:r>
                            </m:e>
                            <m:sup>
                              <m:r>
                                <a:rPr lang="en-US" sz="1900" i="1">
                                  <a:latin typeface="Cambria Math" panose="02040503050406030204" pitchFamily="18" charset="0"/>
                                </a:rPr>
                                <m:t>𝑡h</m:t>
                              </m:r>
                            </m:sup>
                          </m:sSup>
                          <m:r>
                            <a:rPr lang="en-US" sz="1900">
                              <a:latin typeface="Cambria Math" panose="02040503050406030204" pitchFamily="18" charset="0"/>
                            </a:rPr>
                            <m:t> </m:t>
                          </m:r>
                          <m:r>
                            <m:rPr>
                              <m:sty m:val="p"/>
                            </m:rPr>
                            <a:rPr lang="en-US" sz="1900">
                              <a:latin typeface="Cambria Math" panose="02040503050406030204" pitchFamily="18" charset="0"/>
                            </a:rPr>
                            <m:t>class</m:t>
                          </m:r>
                        </m:num>
                        <m:den>
                          <m:r>
                            <m:rPr>
                              <m:sty m:val="p"/>
                            </m:rPr>
                            <a:rPr lang="en-US" sz="1900">
                              <a:latin typeface="Cambria Math" panose="02040503050406030204" pitchFamily="18" charset="0"/>
                            </a:rPr>
                            <m:t>the</m:t>
                          </m:r>
                          <m:r>
                            <a:rPr lang="en-US" sz="1900">
                              <a:latin typeface="Cambria Math" panose="02040503050406030204" pitchFamily="18" charset="0"/>
                            </a:rPr>
                            <m:t> </m:t>
                          </m:r>
                          <m:r>
                            <m:rPr>
                              <m:sty m:val="p"/>
                            </m:rPr>
                            <a:rPr lang="en-US" sz="1900">
                              <a:latin typeface="Cambria Math" panose="02040503050406030204" pitchFamily="18" charset="0"/>
                            </a:rPr>
                            <m:t>number</m:t>
                          </m:r>
                          <m:r>
                            <a:rPr lang="en-US" sz="1900">
                              <a:latin typeface="Cambria Math" panose="02040503050406030204" pitchFamily="18" charset="0"/>
                            </a:rPr>
                            <m:t> </m:t>
                          </m:r>
                          <m:r>
                            <m:rPr>
                              <m:sty m:val="p"/>
                            </m:rPr>
                            <a:rPr lang="en-US" sz="1900">
                              <a:latin typeface="Cambria Math" panose="02040503050406030204" pitchFamily="18" charset="0"/>
                            </a:rPr>
                            <m:t>of</m:t>
                          </m:r>
                          <m:r>
                            <a:rPr lang="en-US" sz="1900">
                              <a:latin typeface="Cambria Math" panose="02040503050406030204" pitchFamily="18" charset="0"/>
                            </a:rPr>
                            <m:t> </m:t>
                          </m:r>
                          <m:r>
                            <m:rPr>
                              <m:sty m:val="p"/>
                            </m:rPr>
                            <a:rPr lang="en-US" sz="1900">
                              <a:latin typeface="Cambria Math" panose="02040503050406030204" pitchFamily="18" charset="0"/>
                            </a:rPr>
                            <m:t>images</m:t>
                          </m:r>
                          <m:r>
                            <a:rPr lang="en-US" sz="1900">
                              <a:latin typeface="Cambria Math" panose="02040503050406030204" pitchFamily="18" charset="0"/>
                            </a:rPr>
                            <m:t> </m:t>
                          </m:r>
                          <m:r>
                            <m:rPr>
                              <m:sty m:val="p"/>
                            </m:rPr>
                            <a:rPr lang="en-US" sz="1900">
                              <a:latin typeface="Cambria Math" panose="02040503050406030204" pitchFamily="18" charset="0"/>
                            </a:rPr>
                            <m:t>belong</m:t>
                          </m:r>
                          <m:r>
                            <a:rPr lang="en-US" sz="1900">
                              <a:latin typeface="Cambria Math" panose="02040503050406030204" pitchFamily="18" charset="0"/>
                            </a:rPr>
                            <m:t> </m:t>
                          </m:r>
                          <m:r>
                            <m:rPr>
                              <m:sty m:val="p"/>
                            </m:rPr>
                            <a:rPr lang="en-US" sz="1900">
                              <a:latin typeface="Cambria Math" panose="02040503050406030204" pitchFamily="18" charset="0"/>
                            </a:rPr>
                            <m:t>to</m:t>
                          </m:r>
                          <m:r>
                            <a:rPr lang="en-US" sz="1900">
                              <a:latin typeface="Cambria Math" panose="02040503050406030204" pitchFamily="18" charset="0"/>
                            </a:rPr>
                            <m:t> </m:t>
                          </m:r>
                          <m:sSup>
                            <m:sSupPr>
                              <m:ctrlPr>
                                <a:rPr lang="en-US" sz="1900" i="1">
                                  <a:latin typeface="Cambria Math" panose="02040503050406030204" pitchFamily="18" charset="0"/>
                                </a:rPr>
                              </m:ctrlPr>
                            </m:sSupPr>
                            <m:e>
                              <m:r>
                                <a:rPr lang="en-US" sz="1900" i="1">
                                  <a:latin typeface="Cambria Math" panose="02040503050406030204" pitchFamily="18" charset="0"/>
                                </a:rPr>
                                <m:t>𝑖</m:t>
                              </m:r>
                            </m:e>
                            <m:sup>
                              <m:r>
                                <a:rPr lang="en-US" sz="1900" i="1">
                                  <a:latin typeface="Cambria Math" panose="02040503050406030204" pitchFamily="18" charset="0"/>
                                </a:rPr>
                                <m:t>𝑡h</m:t>
                              </m:r>
                            </m:sup>
                          </m:sSup>
                          <m:r>
                            <a:rPr lang="en-US" sz="1900">
                              <a:latin typeface="Cambria Math" panose="02040503050406030204" pitchFamily="18" charset="0"/>
                            </a:rPr>
                            <m:t> </m:t>
                          </m:r>
                          <m:r>
                            <m:rPr>
                              <m:sty m:val="p"/>
                            </m:rPr>
                            <a:rPr lang="en-US" sz="1900">
                              <a:latin typeface="Cambria Math" panose="02040503050406030204" pitchFamily="18" charset="0"/>
                            </a:rPr>
                            <m:t>class</m:t>
                          </m:r>
                        </m:den>
                      </m:f>
                    </m:oMath>
                  </m:oMathPara>
                </a14:m>
                <a:endParaRPr lang="en-US" sz="1900" dirty="0"/>
              </a:p>
              <a:p>
                <a:pPr marL="0" indent="0">
                  <a:buNone/>
                </a:pPr>
                <a:r>
                  <a:rPr lang="en-US" sz="1900" dirty="0"/>
                  <a:t>The </a:t>
                </a:r>
                <a:r>
                  <a:rPr lang="en-US" sz="1900" i="1" dirty="0" err="1"/>
                  <a:t>i</a:t>
                </a:r>
                <a:r>
                  <a:rPr lang="en-US" sz="1900" baseline="30000" dirty="0" err="1"/>
                  <a:t>th</a:t>
                </a:r>
                <a:r>
                  <a:rPr lang="en-US" sz="1900" dirty="0"/>
                  <a:t> F1 metric which harmonizes </a:t>
                </a:r>
                <a:r>
                  <a:rPr lang="en-US" sz="1900" i="1" dirty="0" err="1"/>
                  <a:t>i</a:t>
                </a:r>
                <a:r>
                  <a:rPr lang="en-US" sz="1900" baseline="30000" dirty="0" err="1"/>
                  <a:t>th</a:t>
                </a:r>
                <a:r>
                  <a:rPr lang="en-US" sz="1900" dirty="0"/>
                  <a:t> precision and </a:t>
                </a:r>
                <a:r>
                  <a:rPr lang="en-US" sz="1900" i="1" dirty="0" err="1"/>
                  <a:t>i</a:t>
                </a:r>
                <a:r>
                  <a:rPr lang="en-US" sz="1900" baseline="30000" dirty="0" err="1"/>
                  <a:t>th</a:t>
                </a:r>
                <a:r>
                  <a:rPr lang="en-US" sz="1900" dirty="0"/>
                  <a:t> recall is specified as follows:</a:t>
                </a:r>
              </a:p>
              <a:p>
                <a:pPr marL="0" indent="0">
                  <a:buNone/>
                </a:pPr>
                <a14:m>
                  <m:oMathPara xmlns:m="http://schemas.openxmlformats.org/officeDocument/2006/math">
                    <m:oMathParaPr>
                      <m:jc m:val="centerGroup"/>
                    </m:oMathParaPr>
                    <m:oMath xmlns:m="http://schemas.openxmlformats.org/officeDocument/2006/math">
                      <m:sSub>
                        <m:sSubPr>
                          <m:ctrlPr>
                            <a:rPr lang="en-US" sz="1900" i="1">
                              <a:latin typeface="Cambria Math" panose="02040503050406030204" pitchFamily="18" charset="0"/>
                            </a:rPr>
                          </m:ctrlPr>
                        </m:sSubPr>
                        <m:e>
                          <m:r>
                            <m:rPr>
                              <m:sty m:val="p"/>
                            </m:rPr>
                            <a:rPr lang="en-US" sz="1900">
                              <a:latin typeface="Cambria Math" panose="02040503050406030204" pitchFamily="18" charset="0"/>
                            </a:rPr>
                            <m:t>F</m:t>
                          </m:r>
                          <m:r>
                            <a:rPr lang="en-US" sz="1900" i="1">
                              <a:latin typeface="Cambria Math" panose="02040503050406030204" pitchFamily="18" charset="0"/>
                            </a:rPr>
                            <m:t>1</m:t>
                          </m:r>
                        </m:e>
                        <m:sub>
                          <m:r>
                            <a:rPr lang="en-US" sz="1900" i="1">
                              <a:latin typeface="Cambria Math" panose="02040503050406030204" pitchFamily="18" charset="0"/>
                            </a:rPr>
                            <m:t>𝑖</m:t>
                          </m:r>
                        </m:sub>
                      </m:sSub>
                      <m:r>
                        <a:rPr lang="en-US" sz="1900" i="1">
                          <a:latin typeface="Cambria Math" panose="02040503050406030204" pitchFamily="18" charset="0"/>
                        </a:rPr>
                        <m:t>=2</m:t>
                      </m:r>
                      <m:f>
                        <m:fPr>
                          <m:ctrlPr>
                            <a:rPr lang="en-US" sz="1900" i="1">
                              <a:latin typeface="Cambria Math" panose="02040503050406030204" pitchFamily="18" charset="0"/>
                            </a:rPr>
                          </m:ctrlPr>
                        </m:fPr>
                        <m:num>
                          <m:sSub>
                            <m:sSubPr>
                              <m:ctrlPr>
                                <a:rPr lang="en-US" sz="1900" i="1">
                                  <a:latin typeface="Cambria Math" panose="02040503050406030204" pitchFamily="18" charset="0"/>
                                </a:rPr>
                              </m:ctrlPr>
                            </m:sSubPr>
                            <m:e>
                              <m:r>
                                <m:rPr>
                                  <m:sty m:val="p"/>
                                </m:rPr>
                                <a:rPr lang="en-US" sz="1900">
                                  <a:latin typeface="Cambria Math" panose="02040503050406030204" pitchFamily="18" charset="0"/>
                                </a:rPr>
                                <m:t>precision</m:t>
                              </m:r>
                            </m:e>
                            <m:sub>
                              <m:r>
                                <a:rPr lang="en-US" sz="1900" i="1">
                                  <a:latin typeface="Cambria Math" panose="02040503050406030204" pitchFamily="18" charset="0"/>
                                </a:rPr>
                                <m:t>𝑖</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m:rPr>
                                  <m:sty m:val="p"/>
                                </m:rPr>
                                <a:rPr lang="en-US" sz="1900">
                                  <a:latin typeface="Cambria Math" panose="02040503050406030204" pitchFamily="18" charset="0"/>
                                </a:rPr>
                                <m:t>recall</m:t>
                              </m:r>
                            </m:e>
                            <m:sub>
                              <m:r>
                                <a:rPr lang="en-US" sz="1900" i="1">
                                  <a:latin typeface="Cambria Math" panose="02040503050406030204" pitchFamily="18" charset="0"/>
                                </a:rPr>
                                <m:t>𝑖</m:t>
                              </m:r>
                            </m:sub>
                          </m:sSub>
                        </m:num>
                        <m:den>
                          <m:sSub>
                            <m:sSubPr>
                              <m:ctrlPr>
                                <a:rPr lang="en-US" sz="1900" i="1">
                                  <a:latin typeface="Cambria Math" panose="02040503050406030204" pitchFamily="18" charset="0"/>
                                </a:rPr>
                              </m:ctrlPr>
                            </m:sSubPr>
                            <m:e>
                              <m:r>
                                <m:rPr>
                                  <m:sty m:val="p"/>
                                </m:rPr>
                                <a:rPr lang="en-US" sz="1900">
                                  <a:latin typeface="Cambria Math" panose="02040503050406030204" pitchFamily="18" charset="0"/>
                                </a:rPr>
                                <m:t>precision</m:t>
                              </m:r>
                            </m:e>
                            <m:sub>
                              <m:r>
                                <a:rPr lang="en-US" sz="1900" i="1">
                                  <a:latin typeface="Cambria Math" panose="02040503050406030204" pitchFamily="18" charset="0"/>
                                </a:rPr>
                                <m:t>𝑖</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m:rPr>
                                  <m:sty m:val="p"/>
                                </m:rPr>
                                <a:rPr lang="en-US" sz="1900">
                                  <a:latin typeface="Cambria Math" panose="02040503050406030204" pitchFamily="18" charset="0"/>
                                </a:rPr>
                                <m:t>recall</m:t>
                              </m:r>
                            </m:e>
                            <m:sub>
                              <m:r>
                                <a:rPr lang="en-US" sz="1900" i="1">
                                  <a:latin typeface="Cambria Math" panose="02040503050406030204" pitchFamily="18" charset="0"/>
                                </a:rPr>
                                <m:t>𝑖</m:t>
                              </m:r>
                            </m:sub>
                          </m:sSub>
                        </m:den>
                      </m:f>
                    </m:oMath>
                  </m:oMathPara>
                </a14:m>
                <a:endParaRPr lang="en-US" sz="1900" dirty="0"/>
              </a:p>
              <a:p>
                <a:pPr marL="0" indent="0">
                  <a:buNone/>
                </a:pPr>
                <a:endParaRPr lang="en-US" sz="19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1120" y="914399"/>
                <a:ext cx="12049760" cy="5176066"/>
              </a:xfrm>
              <a:blipFill>
                <a:blip r:embed="rId2"/>
                <a:stretch>
                  <a:fillRect l="-557" t="-589" r="-759" b="-471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39</a:t>
            </a:fld>
            <a:endParaRPr lang="en-US"/>
          </a:p>
        </p:txBody>
      </p:sp>
    </p:spTree>
    <p:extLst>
      <p:ext uri="{BB962C8B-B14F-4D97-AF65-F5344CB8AC3E}">
        <p14:creationId xmlns:p14="http://schemas.microsoft.com/office/powerpoint/2010/main" val="305447869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Experimental </a:t>
            </a:r>
            <a:r>
              <a:rPr lang="en-US" dirty="0" smtClean="0"/>
              <a:t>design (skip)</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1280" y="914399"/>
                <a:ext cx="12029440" cy="5176066"/>
              </a:xfrm>
            </p:spPr>
            <p:txBody>
              <a:bodyPr>
                <a:noAutofit/>
              </a:bodyPr>
              <a:lstStyle/>
              <a:p>
                <a:pPr marL="0" indent="0">
                  <a:buNone/>
                </a:pPr>
                <a:r>
                  <a:rPr lang="en-US" sz="2100" dirty="0"/>
                  <a:t>The overall precision, recall, and F1 over </a:t>
                </a:r>
                <a:r>
                  <a:rPr lang="en-US" sz="2100" i="1" dirty="0"/>
                  <a:t>n</a:t>
                </a:r>
                <a:r>
                  <a:rPr lang="en-US" sz="2100" dirty="0"/>
                  <a:t>=10 classes </a:t>
                </a:r>
                <a:r>
                  <a:rPr lang="en-US" sz="2100" dirty="0" smtClean="0"/>
                  <a:t>are </a:t>
                </a:r>
                <a:r>
                  <a:rPr lang="en-US" sz="2100" dirty="0"/>
                  <a:t>means of partial </a:t>
                </a:r>
                <a:r>
                  <a:rPr lang="en-US" sz="2100" i="1" dirty="0" err="1"/>
                  <a:t>i</a:t>
                </a:r>
                <a:r>
                  <a:rPr lang="en-US" sz="2100" baseline="30000" dirty="0" err="1"/>
                  <a:t>th</a:t>
                </a:r>
                <a:r>
                  <a:rPr lang="en-US" sz="2100" dirty="0"/>
                  <a:t> precisions, partial </a:t>
                </a:r>
                <a:r>
                  <a:rPr lang="en-US" sz="2100" i="1" dirty="0" err="1"/>
                  <a:t>i</a:t>
                </a:r>
                <a:r>
                  <a:rPr lang="en-US" sz="2100" baseline="30000" dirty="0" err="1"/>
                  <a:t>th</a:t>
                </a:r>
                <a:r>
                  <a:rPr lang="en-US" sz="2100" dirty="0"/>
                  <a:t> recalls, and </a:t>
                </a:r>
                <a:r>
                  <a:rPr lang="en-US" sz="2100" i="1" dirty="0" err="1"/>
                  <a:t>i</a:t>
                </a:r>
                <a:r>
                  <a:rPr lang="en-US" sz="2100" baseline="30000" dirty="0" err="1"/>
                  <a:t>th</a:t>
                </a:r>
                <a:r>
                  <a:rPr lang="en-US" sz="2100" dirty="0"/>
                  <a:t> F1 (s), respectively. </a:t>
                </a:r>
                <a:r>
                  <a:rPr lang="en-US" sz="2100" dirty="0">
                    <a:effectLst>
                      <a:outerShdw blurRad="38100" dist="38100" dir="2700000" algn="tl">
                        <a:srgbClr val="000000">
                          <a:alpha val="43137"/>
                        </a:srgbClr>
                      </a:outerShdw>
                    </a:effectLst>
                  </a:rPr>
                  <a:t>These metrics concern classes and diversity in classes</a:t>
                </a:r>
                <a:r>
                  <a:rPr lang="en-US" sz="2100" dirty="0" smtClean="0">
                    <a:effectLst>
                      <a:outerShdw blurRad="38100" dist="38100" dir="2700000" algn="tl">
                        <a:srgbClr val="000000">
                          <a:alpha val="43137"/>
                        </a:srgbClr>
                      </a:outerShdw>
                    </a:effectLst>
                  </a:rPr>
                  <a:t>.</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100" i="1">
                              <a:latin typeface="Cambria Math" panose="02040503050406030204" pitchFamily="18" charset="0"/>
                            </a:rPr>
                          </m:ctrlPr>
                        </m:mPr>
                        <m:mr>
                          <m:e>
                            <m:r>
                              <m:rPr>
                                <m:sty m:val="p"/>
                              </m:rPr>
                              <a:rPr lang="en-US" sz="2100">
                                <a:latin typeface="Cambria Math" panose="02040503050406030204" pitchFamily="18" charset="0"/>
                              </a:rPr>
                              <m:t>precision</m:t>
                            </m:r>
                            <m:r>
                              <a:rPr lang="en-US" sz="2100" i="1">
                                <a:latin typeface="Cambria Math" panose="02040503050406030204" pitchFamily="18" charset="0"/>
                              </a:rPr>
                              <m:t>=</m:t>
                            </m:r>
                            <m:f>
                              <m:fPr>
                                <m:ctrlPr>
                                  <a:rPr lang="en-US" sz="2100" i="1">
                                    <a:latin typeface="Cambria Math" panose="02040503050406030204" pitchFamily="18" charset="0"/>
                                  </a:rPr>
                                </m:ctrlPr>
                              </m:fPr>
                              <m:num>
                                <m:r>
                                  <a:rPr lang="en-US" sz="2100" i="1">
                                    <a:latin typeface="Cambria Math" panose="02040503050406030204" pitchFamily="18" charset="0"/>
                                  </a:rPr>
                                  <m:t>1</m:t>
                                </m:r>
                              </m:num>
                              <m:den>
                                <m:r>
                                  <a:rPr lang="en-US" sz="2100" i="1">
                                    <a:latin typeface="Cambria Math" panose="02040503050406030204" pitchFamily="18" charset="0"/>
                                  </a:rPr>
                                  <m:t>𝑛</m:t>
                                </m:r>
                              </m:den>
                            </m:f>
                            <m:nary>
                              <m:naryPr>
                                <m:chr m:val="∑"/>
                                <m:limLoc m:val="undOvr"/>
                                <m:ctrlPr>
                                  <a:rPr lang="en-US" sz="2100" i="1">
                                    <a:latin typeface="Cambria Math" panose="02040503050406030204" pitchFamily="18" charset="0"/>
                                  </a:rPr>
                                </m:ctrlPr>
                              </m:naryPr>
                              <m:sub>
                                <m:r>
                                  <a:rPr lang="en-US" sz="2100" i="1">
                                    <a:latin typeface="Cambria Math" panose="02040503050406030204" pitchFamily="18" charset="0"/>
                                  </a:rPr>
                                  <m:t>𝑖</m:t>
                                </m:r>
                                <m:r>
                                  <a:rPr lang="en-US" sz="2100" i="1">
                                    <a:latin typeface="Cambria Math" panose="02040503050406030204" pitchFamily="18" charset="0"/>
                                  </a:rPr>
                                  <m:t>=1</m:t>
                                </m:r>
                              </m:sub>
                              <m:sup>
                                <m:r>
                                  <a:rPr lang="en-US" sz="2100" i="1">
                                    <a:latin typeface="Cambria Math" panose="02040503050406030204" pitchFamily="18" charset="0"/>
                                  </a:rPr>
                                  <m:t>𝑛</m:t>
                                </m:r>
                              </m:sup>
                              <m:e>
                                <m:sSub>
                                  <m:sSubPr>
                                    <m:ctrlPr>
                                      <a:rPr lang="en-US" sz="2100" i="1">
                                        <a:latin typeface="Cambria Math" panose="02040503050406030204" pitchFamily="18" charset="0"/>
                                      </a:rPr>
                                    </m:ctrlPr>
                                  </m:sSubPr>
                                  <m:e>
                                    <m:r>
                                      <m:rPr>
                                        <m:sty m:val="p"/>
                                      </m:rPr>
                                      <a:rPr lang="en-US" sz="2100">
                                        <a:latin typeface="Cambria Math" panose="02040503050406030204" pitchFamily="18" charset="0"/>
                                      </a:rPr>
                                      <m:t>precision</m:t>
                                    </m:r>
                                  </m:e>
                                  <m:sub>
                                    <m:r>
                                      <a:rPr lang="en-US" sz="2100" i="1">
                                        <a:latin typeface="Cambria Math" panose="02040503050406030204" pitchFamily="18" charset="0"/>
                                      </a:rPr>
                                      <m:t>𝑖</m:t>
                                    </m:r>
                                  </m:sub>
                                </m:sSub>
                              </m:e>
                            </m:nary>
                          </m:e>
                        </m:mr>
                        <m:mr>
                          <m:e>
                            <m:r>
                              <m:rPr>
                                <m:sty m:val="p"/>
                              </m:rPr>
                              <a:rPr lang="en-US" sz="2100">
                                <a:latin typeface="Cambria Math" panose="02040503050406030204" pitchFamily="18" charset="0"/>
                              </a:rPr>
                              <m:t>recall</m:t>
                            </m:r>
                            <m:r>
                              <a:rPr lang="en-US" sz="2100" i="1">
                                <a:latin typeface="Cambria Math" panose="02040503050406030204" pitchFamily="18" charset="0"/>
                              </a:rPr>
                              <m:t>=</m:t>
                            </m:r>
                            <m:f>
                              <m:fPr>
                                <m:ctrlPr>
                                  <a:rPr lang="en-US" sz="2100" i="1">
                                    <a:latin typeface="Cambria Math" panose="02040503050406030204" pitchFamily="18" charset="0"/>
                                  </a:rPr>
                                </m:ctrlPr>
                              </m:fPr>
                              <m:num>
                                <m:r>
                                  <a:rPr lang="en-US" sz="2100" i="1">
                                    <a:latin typeface="Cambria Math" panose="02040503050406030204" pitchFamily="18" charset="0"/>
                                  </a:rPr>
                                  <m:t>1</m:t>
                                </m:r>
                              </m:num>
                              <m:den>
                                <m:r>
                                  <a:rPr lang="en-US" sz="2100" i="1">
                                    <a:latin typeface="Cambria Math" panose="02040503050406030204" pitchFamily="18" charset="0"/>
                                  </a:rPr>
                                  <m:t>𝑛</m:t>
                                </m:r>
                              </m:den>
                            </m:f>
                            <m:nary>
                              <m:naryPr>
                                <m:chr m:val="∑"/>
                                <m:limLoc m:val="undOvr"/>
                                <m:ctrlPr>
                                  <a:rPr lang="en-US" sz="2100" i="1">
                                    <a:latin typeface="Cambria Math" panose="02040503050406030204" pitchFamily="18" charset="0"/>
                                  </a:rPr>
                                </m:ctrlPr>
                              </m:naryPr>
                              <m:sub>
                                <m:r>
                                  <a:rPr lang="en-US" sz="2100" i="1">
                                    <a:latin typeface="Cambria Math" panose="02040503050406030204" pitchFamily="18" charset="0"/>
                                  </a:rPr>
                                  <m:t>𝑖</m:t>
                                </m:r>
                                <m:r>
                                  <a:rPr lang="en-US" sz="2100" i="1">
                                    <a:latin typeface="Cambria Math" panose="02040503050406030204" pitchFamily="18" charset="0"/>
                                  </a:rPr>
                                  <m:t>=1</m:t>
                                </m:r>
                              </m:sub>
                              <m:sup>
                                <m:r>
                                  <a:rPr lang="en-US" sz="2100" i="1">
                                    <a:latin typeface="Cambria Math" panose="02040503050406030204" pitchFamily="18" charset="0"/>
                                  </a:rPr>
                                  <m:t>𝑛</m:t>
                                </m:r>
                              </m:sup>
                              <m:e>
                                <m:sSub>
                                  <m:sSubPr>
                                    <m:ctrlPr>
                                      <a:rPr lang="en-US" sz="2100" i="1">
                                        <a:latin typeface="Cambria Math" panose="02040503050406030204" pitchFamily="18" charset="0"/>
                                      </a:rPr>
                                    </m:ctrlPr>
                                  </m:sSubPr>
                                  <m:e>
                                    <m:r>
                                      <m:rPr>
                                        <m:sty m:val="p"/>
                                      </m:rPr>
                                      <a:rPr lang="en-US" sz="2100">
                                        <a:latin typeface="Cambria Math" panose="02040503050406030204" pitchFamily="18" charset="0"/>
                                      </a:rPr>
                                      <m:t>recall</m:t>
                                    </m:r>
                                  </m:e>
                                  <m:sub>
                                    <m:r>
                                      <a:rPr lang="en-US" sz="2100" i="1">
                                        <a:latin typeface="Cambria Math" panose="02040503050406030204" pitchFamily="18" charset="0"/>
                                      </a:rPr>
                                      <m:t>𝑖</m:t>
                                    </m:r>
                                  </m:sub>
                                </m:sSub>
                              </m:e>
                            </m:nary>
                          </m:e>
                        </m:mr>
                        <m:mr>
                          <m:e>
                            <m:r>
                              <m:rPr>
                                <m:sty m:val="p"/>
                              </m:rPr>
                              <a:rPr lang="en-US" sz="2100">
                                <a:latin typeface="Cambria Math" panose="02040503050406030204" pitchFamily="18" charset="0"/>
                              </a:rPr>
                              <m:t>F</m:t>
                            </m:r>
                            <m:r>
                              <a:rPr lang="en-US" sz="2100">
                                <a:latin typeface="Cambria Math" panose="02040503050406030204" pitchFamily="18" charset="0"/>
                              </a:rPr>
                              <m:t>1</m:t>
                            </m:r>
                            <m:r>
                              <a:rPr lang="en-US" sz="2100" i="1">
                                <a:latin typeface="Cambria Math" panose="02040503050406030204" pitchFamily="18" charset="0"/>
                              </a:rPr>
                              <m:t>=</m:t>
                            </m:r>
                            <m:f>
                              <m:fPr>
                                <m:ctrlPr>
                                  <a:rPr lang="en-US" sz="2100" i="1">
                                    <a:latin typeface="Cambria Math" panose="02040503050406030204" pitchFamily="18" charset="0"/>
                                  </a:rPr>
                                </m:ctrlPr>
                              </m:fPr>
                              <m:num>
                                <m:r>
                                  <a:rPr lang="en-US" sz="2100" i="1">
                                    <a:latin typeface="Cambria Math" panose="02040503050406030204" pitchFamily="18" charset="0"/>
                                  </a:rPr>
                                  <m:t>1</m:t>
                                </m:r>
                              </m:num>
                              <m:den>
                                <m:r>
                                  <a:rPr lang="en-US" sz="2100" i="1">
                                    <a:latin typeface="Cambria Math" panose="02040503050406030204" pitchFamily="18" charset="0"/>
                                  </a:rPr>
                                  <m:t>𝑛</m:t>
                                </m:r>
                              </m:den>
                            </m:f>
                            <m:nary>
                              <m:naryPr>
                                <m:chr m:val="∑"/>
                                <m:limLoc m:val="undOvr"/>
                                <m:ctrlPr>
                                  <a:rPr lang="en-US" sz="2100" i="1">
                                    <a:latin typeface="Cambria Math" panose="02040503050406030204" pitchFamily="18" charset="0"/>
                                  </a:rPr>
                                </m:ctrlPr>
                              </m:naryPr>
                              <m:sub>
                                <m:r>
                                  <a:rPr lang="en-US" sz="2100" i="1">
                                    <a:latin typeface="Cambria Math" panose="02040503050406030204" pitchFamily="18" charset="0"/>
                                  </a:rPr>
                                  <m:t>𝑖</m:t>
                                </m:r>
                                <m:r>
                                  <a:rPr lang="en-US" sz="2100" i="1">
                                    <a:latin typeface="Cambria Math" panose="02040503050406030204" pitchFamily="18" charset="0"/>
                                  </a:rPr>
                                  <m:t>=1</m:t>
                                </m:r>
                              </m:sub>
                              <m:sup>
                                <m:r>
                                  <a:rPr lang="en-US" sz="2100" i="1">
                                    <a:latin typeface="Cambria Math" panose="02040503050406030204" pitchFamily="18" charset="0"/>
                                  </a:rPr>
                                  <m:t>𝑛</m:t>
                                </m:r>
                              </m:sup>
                              <m:e>
                                <m:sSub>
                                  <m:sSubPr>
                                    <m:ctrlPr>
                                      <a:rPr lang="en-US" sz="2100" i="1">
                                        <a:latin typeface="Cambria Math" panose="02040503050406030204" pitchFamily="18" charset="0"/>
                                      </a:rPr>
                                    </m:ctrlPr>
                                  </m:sSubPr>
                                  <m:e>
                                    <m:r>
                                      <m:rPr>
                                        <m:sty m:val="p"/>
                                      </m:rPr>
                                      <a:rPr lang="en-US" sz="2100">
                                        <a:latin typeface="Cambria Math" panose="02040503050406030204" pitchFamily="18" charset="0"/>
                                      </a:rPr>
                                      <m:t>F</m:t>
                                    </m:r>
                                    <m:r>
                                      <a:rPr lang="en-US" sz="2100">
                                        <a:latin typeface="Cambria Math" panose="02040503050406030204" pitchFamily="18" charset="0"/>
                                      </a:rPr>
                                      <m:t>1</m:t>
                                    </m:r>
                                  </m:e>
                                  <m:sub>
                                    <m:r>
                                      <a:rPr lang="en-US" sz="2100" i="1">
                                        <a:latin typeface="Cambria Math" panose="02040503050406030204" pitchFamily="18" charset="0"/>
                                      </a:rPr>
                                      <m:t>𝑖</m:t>
                                    </m:r>
                                  </m:sub>
                                </m:sSub>
                              </m:e>
                            </m:nary>
                          </m:e>
                        </m:mr>
                      </m:m>
                      <m:r>
                        <m:rPr>
                          <m:sty m:val="p"/>
                        </m:rPr>
                        <a:rPr lang="en-US" sz="2100">
                          <a:latin typeface="Cambria Math" panose="02040503050406030204" pitchFamily="18" charset="0"/>
                        </a:rPr>
                        <m:t>where</m:t>
                      </m:r>
                      <m:r>
                        <a:rPr lang="en-US" sz="2100" i="1">
                          <a:latin typeface="Cambria Math" panose="02040503050406030204" pitchFamily="18" charset="0"/>
                        </a:rPr>
                        <m:t> </m:t>
                      </m:r>
                      <m:r>
                        <a:rPr lang="en-US" sz="2100" i="1">
                          <a:latin typeface="Cambria Math" panose="02040503050406030204" pitchFamily="18" charset="0"/>
                        </a:rPr>
                        <m:t>𝑛</m:t>
                      </m:r>
                      <m:r>
                        <a:rPr lang="en-US" sz="2100" i="1">
                          <a:latin typeface="Cambria Math" panose="02040503050406030204" pitchFamily="18" charset="0"/>
                        </a:rPr>
                        <m:t>=10</m:t>
                      </m:r>
                    </m:oMath>
                  </m:oMathPara>
                </a14:m>
                <a:endParaRPr lang="en-US" sz="2100" dirty="0" smtClean="0"/>
              </a:p>
              <a:p>
                <a:pPr marL="0" indent="0">
                  <a:buNone/>
                </a:pPr>
                <a:r>
                  <a:rPr lang="en-US" sz="2100" dirty="0"/>
                  <a:t>The internal meanings of precision metric and accuracy metric are very similar but they are still finely different. Within the same degree of accuracy, precision metric will be higher than accuracy metric if classifier obtain good enough diversity. For instance, the do-nothing classifier does nothing except fixing one resulted class randomized among </a:t>
                </a:r>
                <a:r>
                  <a:rPr lang="en-US" sz="2100" i="1" dirty="0"/>
                  <a:t>n</a:t>
                </a:r>
                <a:r>
                  <a:rPr lang="en-US" sz="2100" dirty="0"/>
                  <a:t>=10 classes always obtain accuracy metric 0.1 </a:t>
                </a:r>
                <a:r>
                  <a:rPr lang="en-US" sz="2100" dirty="0" smtClean="0"/>
                  <a:t>(10%) but </a:t>
                </a:r>
                <a:r>
                  <a:rPr lang="en-US" sz="2100" dirty="0"/>
                  <a:t>its precision metric is always smaller than precision metric of the classifier that reaches the same accuracy metric 0.1 but covers more than one class.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1280" y="914399"/>
                <a:ext cx="12029440" cy="5176066"/>
              </a:xfrm>
              <a:blipFill>
                <a:blip r:embed="rId2"/>
                <a:stretch>
                  <a:fillRect l="-608" t="-707" r="-557" b="-6007"/>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40</a:t>
            </a:fld>
            <a:endParaRPr lang="en-US"/>
          </a:p>
        </p:txBody>
      </p:sp>
    </p:spTree>
    <p:extLst>
      <p:ext uri="{BB962C8B-B14F-4D97-AF65-F5344CB8AC3E}">
        <p14:creationId xmlns:p14="http://schemas.microsoft.com/office/powerpoint/2010/main" val="153290515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Experimental design (skip)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1280" y="914399"/>
                <a:ext cx="12029440" cy="5176066"/>
              </a:xfrm>
            </p:spPr>
            <p:txBody>
              <a:bodyPr>
                <a:noAutofit/>
              </a:bodyPr>
              <a:lstStyle/>
              <a:p>
                <a:pPr marL="0" indent="0">
                  <a:buNone/>
                </a:pPr>
                <a:r>
                  <a:rPr lang="en-US" sz="2150" dirty="0"/>
                  <a:t>Although classification diversity is hidden under precision metric, recall metric, and F1 metric, the so-called class coverage is proposed to illustrate visually the classification diversity. For instance, </a:t>
                </a:r>
                <a:r>
                  <a:rPr lang="en-US" sz="2150" dirty="0">
                    <a:effectLst>
                      <a:outerShdw blurRad="38100" dist="38100" dir="2700000" algn="tl">
                        <a:srgbClr val="000000">
                          <a:alpha val="43137"/>
                        </a:srgbClr>
                      </a:outerShdw>
                    </a:effectLst>
                  </a:rPr>
                  <a:t>class coverage denoted cc is the ratio of the number of classified classes to the number of total classes</a:t>
                </a:r>
                <a:r>
                  <a:rPr lang="en-US" sz="2150" dirty="0"/>
                  <a:t> with note that a classified class is the class whose corresponding recall is positive</a:t>
                </a:r>
                <a:r>
                  <a:rPr lang="en-US" sz="2150" dirty="0" smtClean="0"/>
                  <a:t>.</a:t>
                </a:r>
              </a:p>
              <a:p>
                <a:pPr marL="0" indent="0">
                  <a:buNone/>
                </a:pPr>
                <a14:m>
                  <m:oMathPara xmlns:m="http://schemas.openxmlformats.org/officeDocument/2006/math">
                    <m:oMathParaPr>
                      <m:jc m:val="centerGroup"/>
                    </m:oMathParaPr>
                    <m:oMath xmlns:m="http://schemas.openxmlformats.org/officeDocument/2006/math">
                      <m:r>
                        <m:rPr>
                          <m:sty m:val="p"/>
                        </m:rPr>
                        <a:rPr lang="en-US" sz="2150">
                          <a:latin typeface="Cambria Math" panose="02040503050406030204" pitchFamily="18" charset="0"/>
                        </a:rPr>
                        <m:t>cc</m:t>
                      </m:r>
                      <m:r>
                        <a:rPr lang="en-US" sz="2150" i="1">
                          <a:latin typeface="Cambria Math" panose="02040503050406030204" pitchFamily="18" charset="0"/>
                        </a:rPr>
                        <m:t>=</m:t>
                      </m:r>
                      <m:f>
                        <m:fPr>
                          <m:ctrlPr>
                            <a:rPr lang="en-US" sz="2150" i="1">
                              <a:latin typeface="Cambria Math" panose="02040503050406030204" pitchFamily="18" charset="0"/>
                            </a:rPr>
                          </m:ctrlPr>
                        </m:fPr>
                        <m:num>
                          <m:r>
                            <m:rPr>
                              <m:sty m:val="p"/>
                            </m:rPr>
                            <a:rPr lang="en-US" sz="2150">
                              <a:latin typeface="Cambria Math" panose="02040503050406030204" pitchFamily="18" charset="0"/>
                            </a:rPr>
                            <m:t>the</m:t>
                          </m:r>
                          <m:r>
                            <a:rPr lang="en-US" sz="2150">
                              <a:latin typeface="Cambria Math" panose="02040503050406030204" pitchFamily="18" charset="0"/>
                            </a:rPr>
                            <m:t> </m:t>
                          </m:r>
                          <m:r>
                            <m:rPr>
                              <m:sty m:val="p"/>
                            </m:rPr>
                            <a:rPr lang="en-US" sz="2150">
                              <a:latin typeface="Cambria Math" panose="02040503050406030204" pitchFamily="18" charset="0"/>
                            </a:rPr>
                            <m:t>number</m:t>
                          </m:r>
                          <m:r>
                            <a:rPr lang="en-US" sz="2150">
                              <a:latin typeface="Cambria Math" panose="02040503050406030204" pitchFamily="18" charset="0"/>
                            </a:rPr>
                            <m:t> </m:t>
                          </m:r>
                          <m:r>
                            <m:rPr>
                              <m:sty m:val="p"/>
                            </m:rPr>
                            <a:rPr lang="en-US" sz="2150">
                              <a:latin typeface="Cambria Math" panose="02040503050406030204" pitchFamily="18" charset="0"/>
                            </a:rPr>
                            <m:t>of</m:t>
                          </m:r>
                          <m:r>
                            <a:rPr lang="en-US" sz="2150">
                              <a:latin typeface="Cambria Math" panose="02040503050406030204" pitchFamily="18" charset="0"/>
                            </a:rPr>
                            <m:t> </m:t>
                          </m:r>
                          <m:r>
                            <m:rPr>
                              <m:sty m:val="p"/>
                            </m:rPr>
                            <a:rPr lang="en-US" sz="2150">
                              <a:latin typeface="Cambria Math" panose="02040503050406030204" pitchFamily="18" charset="0"/>
                            </a:rPr>
                            <m:t>classified</m:t>
                          </m:r>
                          <m:r>
                            <a:rPr lang="en-US" sz="2150">
                              <a:latin typeface="Cambria Math" panose="02040503050406030204" pitchFamily="18" charset="0"/>
                            </a:rPr>
                            <m:t> </m:t>
                          </m:r>
                          <m:r>
                            <m:rPr>
                              <m:sty m:val="p"/>
                            </m:rPr>
                            <a:rPr lang="en-US" sz="2150">
                              <a:latin typeface="Cambria Math" panose="02040503050406030204" pitchFamily="18" charset="0"/>
                            </a:rPr>
                            <m:t>classes</m:t>
                          </m:r>
                        </m:num>
                        <m:den>
                          <m:r>
                            <m:rPr>
                              <m:sty m:val="p"/>
                            </m:rPr>
                            <a:rPr lang="en-US" sz="2150">
                              <a:latin typeface="Cambria Math" panose="02040503050406030204" pitchFamily="18" charset="0"/>
                            </a:rPr>
                            <m:t>the</m:t>
                          </m:r>
                          <m:r>
                            <a:rPr lang="en-US" sz="2150">
                              <a:latin typeface="Cambria Math" panose="02040503050406030204" pitchFamily="18" charset="0"/>
                            </a:rPr>
                            <m:t> </m:t>
                          </m:r>
                          <m:r>
                            <m:rPr>
                              <m:sty m:val="p"/>
                            </m:rPr>
                            <a:rPr lang="en-US" sz="2150">
                              <a:latin typeface="Cambria Math" panose="02040503050406030204" pitchFamily="18" charset="0"/>
                            </a:rPr>
                            <m:t>number</m:t>
                          </m:r>
                          <m:r>
                            <a:rPr lang="en-US" sz="2150">
                              <a:latin typeface="Cambria Math" panose="02040503050406030204" pitchFamily="18" charset="0"/>
                            </a:rPr>
                            <m:t> </m:t>
                          </m:r>
                          <m:r>
                            <m:rPr>
                              <m:sty m:val="p"/>
                            </m:rPr>
                            <a:rPr lang="en-US" sz="2150">
                              <a:latin typeface="Cambria Math" panose="02040503050406030204" pitchFamily="18" charset="0"/>
                            </a:rPr>
                            <m:t>of</m:t>
                          </m:r>
                          <m:r>
                            <a:rPr lang="en-US" sz="2150">
                              <a:latin typeface="Cambria Math" panose="02040503050406030204" pitchFamily="18" charset="0"/>
                            </a:rPr>
                            <m:t> </m:t>
                          </m:r>
                          <m:r>
                            <m:rPr>
                              <m:sty m:val="p"/>
                            </m:rPr>
                            <a:rPr lang="en-US" sz="2150">
                              <a:latin typeface="Cambria Math" panose="02040503050406030204" pitchFamily="18" charset="0"/>
                            </a:rPr>
                            <m:t>total</m:t>
                          </m:r>
                          <m:r>
                            <a:rPr lang="en-US" sz="2150">
                              <a:latin typeface="Cambria Math" panose="02040503050406030204" pitchFamily="18" charset="0"/>
                            </a:rPr>
                            <m:t> </m:t>
                          </m:r>
                          <m:r>
                            <m:rPr>
                              <m:sty m:val="p"/>
                            </m:rPr>
                            <a:rPr lang="en-US" sz="2150">
                              <a:latin typeface="Cambria Math" panose="02040503050406030204" pitchFamily="18" charset="0"/>
                            </a:rPr>
                            <m:t>classes</m:t>
                          </m:r>
                        </m:den>
                      </m:f>
                    </m:oMath>
                  </m:oMathPara>
                </a14:m>
                <a:endParaRPr lang="en-US" sz="2150" dirty="0" smtClean="0"/>
              </a:p>
              <a:p>
                <a:pPr marL="0" indent="0">
                  <a:buNone/>
                </a:pPr>
                <a:r>
                  <a:rPr lang="en-US" sz="2150" dirty="0"/>
                  <a:t>In general, there are 4 main testing metrics such as accuracy, precision, recall, and F1 and 1 additional metric such as class coverage, in which F1 is the final metric that evaluates preeminence of every classifier. The second important metric is accuracy metric because deep neural network turns forwards some convergence so that it often focuses on some certain class among </a:t>
                </a:r>
                <a:r>
                  <a:rPr lang="en-US" sz="2150" i="1" dirty="0"/>
                  <a:t>n</a:t>
                </a:r>
                <a:r>
                  <a:rPr lang="en-US" sz="2150" dirty="0"/>
                  <a:t>=10 classes, which decreases diversity but increases accuracy degree. Computational convergence is strong point of artificial neural network (ANN) but unfortunately, it becomes inversely drawback in image classification because image input is high-dimension data whereas class output is low-dimension data. </a:t>
                </a:r>
                <a:r>
                  <a:rPr lang="en-US" sz="2150" dirty="0" smtClean="0"/>
                  <a:t>Other </a:t>
                </a:r>
                <a:r>
                  <a:rPr lang="en-US" sz="2150" dirty="0"/>
                  <a:t>researches focusing on obtaining highly accurate image classification always try to increase the accuracy metric and keep diversity stable in parallel by setting specific configuration of many enough filters and convolutional layers.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1280" y="914399"/>
                <a:ext cx="12029440" cy="5176066"/>
              </a:xfrm>
              <a:blipFill>
                <a:blip r:embed="rId2"/>
                <a:stretch>
                  <a:fillRect l="-659" t="-707" r="-86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41</a:t>
            </a:fld>
            <a:endParaRPr lang="en-US"/>
          </a:p>
        </p:txBody>
      </p:sp>
    </p:spTree>
    <p:extLst>
      <p:ext uri="{BB962C8B-B14F-4D97-AF65-F5344CB8AC3E}">
        <p14:creationId xmlns:p14="http://schemas.microsoft.com/office/powerpoint/2010/main" val="381380686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a:t>
            </a:r>
            <a:r>
              <a:rPr lang="en-US" dirty="0"/>
              <a:t>. Results and </a:t>
            </a:r>
            <a:r>
              <a:rPr lang="en-US" dirty="0" smtClean="0"/>
              <a:t>discussions (main)</a:t>
            </a:r>
            <a:endParaRPr lang="en-US" dirty="0"/>
          </a:p>
        </p:txBody>
      </p:sp>
      <p:sp>
        <p:nvSpPr>
          <p:cNvPr id="3" name="Content Placeholder 2"/>
          <p:cNvSpPr>
            <a:spLocks noGrp="1"/>
          </p:cNvSpPr>
          <p:nvPr>
            <p:ph idx="1"/>
          </p:nvPr>
        </p:nvSpPr>
        <p:spPr>
          <a:xfrm>
            <a:off x="81280" y="914399"/>
            <a:ext cx="12009120" cy="5176066"/>
          </a:xfrm>
        </p:spPr>
        <p:txBody>
          <a:bodyPr>
            <a:noAutofit/>
          </a:bodyPr>
          <a:lstStyle/>
          <a:p>
            <a:r>
              <a:rPr lang="en-US" sz="2000" dirty="0">
                <a:effectLst>
                  <a:outerShdw blurRad="38100" dist="38100" dir="2700000" algn="tl">
                    <a:srgbClr val="000000">
                      <a:alpha val="43137"/>
                    </a:srgbClr>
                  </a:outerShdw>
                </a:effectLst>
              </a:rPr>
              <a:t>The experimental dataset is CIFAR-10 dataset including 5 training folders and 1 testing folder where each folder has 10000 images grouped in 10 classes and every class has equal number of 1000 images</a:t>
            </a:r>
            <a:r>
              <a:rPr lang="en-US" sz="2000" dirty="0"/>
              <a:t>. Given experimental variable “layer” is 2, CIFAR-10 dataset is tested 10 times for 3 values (“weight”, “trans”, “</a:t>
            </a:r>
            <a:r>
              <a:rPr lang="en-US" sz="2000" dirty="0" err="1"/>
              <a:t>conv</a:t>
            </a:r>
            <a:r>
              <a:rPr lang="en-US" sz="2000" dirty="0"/>
              <a:t>”) of </a:t>
            </a:r>
            <a:r>
              <a:rPr lang="en-US" sz="2000" i="1" dirty="0"/>
              <a:t>feature</a:t>
            </a:r>
            <a:r>
              <a:rPr lang="en-US" sz="2000" dirty="0"/>
              <a:t> group and 2 values (“true”, “false”) of </a:t>
            </a:r>
            <a:r>
              <a:rPr lang="en-US" sz="2000" i="1" dirty="0" err="1"/>
              <a:t>vec</a:t>
            </a:r>
            <a:r>
              <a:rPr lang="en-US" sz="2000" dirty="0"/>
              <a:t> group in order to derive 60 records of ANOVA dataset whose groups are “</a:t>
            </a:r>
            <a:r>
              <a:rPr lang="en-US" sz="2000" dirty="0" err="1"/>
              <a:t>vec</a:t>
            </a:r>
            <a:r>
              <a:rPr lang="en-US" sz="2000" dirty="0"/>
              <a:t>” and “feature” and whose treatments are “accuracy”, “precision”, “recall”, and “F1” corresponding to accuracy metric, precision metric, recall metric, and F1 metric aforementioned. Given experimental variable “layer” is 3, CIFAR-10 dataset is tested again 10 times for 3 values (“weight”, “trans”, “</a:t>
            </a:r>
            <a:r>
              <a:rPr lang="en-US" sz="2000" dirty="0" err="1"/>
              <a:t>conv</a:t>
            </a:r>
            <a:r>
              <a:rPr lang="en-US" sz="2000" dirty="0"/>
              <a:t>”) of </a:t>
            </a:r>
            <a:r>
              <a:rPr lang="en-US" sz="2000" i="1" dirty="0"/>
              <a:t>feature</a:t>
            </a:r>
            <a:r>
              <a:rPr lang="en-US" sz="2000" dirty="0"/>
              <a:t> group and 2 values (“true”, “false”) of </a:t>
            </a:r>
            <a:r>
              <a:rPr lang="en-US" sz="2000" i="1" dirty="0" err="1"/>
              <a:t>vec</a:t>
            </a:r>
            <a:r>
              <a:rPr lang="en-US" sz="2000" dirty="0"/>
              <a:t> group in order to derive other 60 records of ANOVA dataset. </a:t>
            </a:r>
            <a:r>
              <a:rPr lang="en-US" sz="2000" dirty="0" smtClean="0">
                <a:effectLst>
                  <a:outerShdw blurRad="38100" dist="38100" dir="2700000" algn="tl">
                    <a:srgbClr val="000000">
                      <a:alpha val="43137"/>
                    </a:srgbClr>
                  </a:outerShdw>
                </a:effectLst>
              </a:rPr>
              <a:t>The next slide illustrates </a:t>
            </a:r>
            <a:r>
              <a:rPr lang="en-US" sz="2000" dirty="0">
                <a:effectLst>
                  <a:outerShdw blurRad="38100" dist="38100" dir="2700000" algn="tl">
                    <a:srgbClr val="000000">
                      <a:alpha val="43137"/>
                    </a:srgbClr>
                  </a:outerShdw>
                </a:effectLst>
              </a:rPr>
              <a:t>120 records of full ANOVA dataset</a:t>
            </a:r>
            <a:r>
              <a:rPr lang="en-US" sz="2000" dirty="0" smtClean="0">
                <a:effectLst>
                  <a:outerShdw blurRad="38100" dist="38100" dir="2700000" algn="tl">
                    <a:srgbClr val="000000">
                      <a:alpha val="43137"/>
                    </a:srgbClr>
                  </a:outerShdw>
                </a:effectLst>
              </a:rPr>
              <a:t>.</a:t>
            </a:r>
            <a:r>
              <a:rPr lang="en-US" sz="2000" dirty="0" smtClean="0"/>
              <a:t> The </a:t>
            </a:r>
            <a:r>
              <a:rPr lang="en-US" sz="2000" dirty="0"/>
              <a:t>ANOVA dataset is available </a:t>
            </a:r>
            <a:r>
              <a:rPr lang="en-US" sz="2000" dirty="0" smtClean="0"/>
              <a:t>at https</a:t>
            </a:r>
            <a:r>
              <a:rPr lang="en-US" sz="2000" dirty="0"/>
              <a:t>://</a:t>
            </a:r>
            <a:r>
              <a:rPr lang="en-US" sz="2000" dirty="0" smtClean="0"/>
              <a:t>github.com/ngphloc/ai/blob/main/4_testing/mac/2026.01.22/cifar10-lr0.1-max-anova.csv</a:t>
            </a:r>
            <a:endParaRPr lang="en-US" sz="2000" dirty="0"/>
          </a:p>
          <a:p>
            <a:r>
              <a:rPr lang="en-US" sz="2000" dirty="0"/>
              <a:t>Recall that the two-way ANOVA aims to test the three </a:t>
            </a:r>
            <a:r>
              <a:rPr lang="en-US" sz="2000" dirty="0" smtClean="0"/>
              <a:t>hypotheses on </a:t>
            </a:r>
            <a:r>
              <a:rPr lang="en-US" sz="2000" dirty="0"/>
              <a:t>the ANOVA dataset of size 120: 1) whether MNN is the alternative of CNN, which focuses on testing the preeminence of MNN classifier in comparison with TB classifier and CNN classifier via testing the </a:t>
            </a:r>
            <a:r>
              <a:rPr lang="en-US" sz="2000" i="1" dirty="0"/>
              <a:t>feature</a:t>
            </a:r>
            <a:r>
              <a:rPr lang="en-US" sz="2000" dirty="0"/>
              <a:t> group, 2) whether attention is the alternative of CNN, which focuses on testing the preeminence of TB classifier in comparison with MNN classifier and CNN classifier via testing the </a:t>
            </a:r>
            <a:r>
              <a:rPr lang="en-US" sz="2000" i="1" dirty="0"/>
              <a:t>feature</a:t>
            </a:r>
            <a:r>
              <a:rPr lang="en-US" sz="2000" dirty="0"/>
              <a:t> group, and 3) whether FFN of transformer should be MNN via testing the </a:t>
            </a:r>
            <a:r>
              <a:rPr lang="en-US" sz="2000" i="1" dirty="0" err="1"/>
              <a:t>vec</a:t>
            </a:r>
            <a:r>
              <a:rPr lang="en-US" sz="2000" dirty="0"/>
              <a:t> group. The research applies Gemini 2025 into making ANOVA test. Moreover, only baseline is applied into improving classification task and adjusted-line is not applied.</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42</a:t>
            </a:fld>
            <a:endParaRPr lang="en-US"/>
          </a:p>
        </p:txBody>
      </p:sp>
    </p:spTree>
    <p:extLst>
      <p:ext uri="{BB962C8B-B14F-4D97-AF65-F5344CB8AC3E}">
        <p14:creationId xmlns:p14="http://schemas.microsoft.com/office/powerpoint/2010/main" val="341425687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Results and </a:t>
            </a:r>
            <a:r>
              <a:rPr lang="en-US" dirty="0" smtClean="0"/>
              <a:t>discussions (skip)</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293649013"/>
              </p:ext>
            </p:extLst>
          </p:nvPr>
        </p:nvGraphicFramePr>
        <p:xfrm>
          <a:off x="838200" y="778472"/>
          <a:ext cx="10515600" cy="5547360"/>
        </p:xfrm>
        <a:graphic>
          <a:graphicData uri="http://schemas.openxmlformats.org/drawingml/2006/table">
            <a:tbl>
              <a:tblPr firstRow="1" firstCol="1" bandRow="1">
                <a:tableStyleId>{5C22544A-7EE6-4342-B048-85BDC9FD1C3A}</a:tableStyleId>
              </a:tblPr>
              <a:tblGrid>
                <a:gridCol w="1168400">
                  <a:extLst>
                    <a:ext uri="{9D8B030D-6E8A-4147-A177-3AD203B41FA5}">
                      <a16:colId xmlns:a16="http://schemas.microsoft.com/office/drawing/2014/main" val="3091644013"/>
                    </a:ext>
                  </a:extLst>
                </a:gridCol>
                <a:gridCol w="1168400">
                  <a:extLst>
                    <a:ext uri="{9D8B030D-6E8A-4147-A177-3AD203B41FA5}">
                      <a16:colId xmlns:a16="http://schemas.microsoft.com/office/drawing/2014/main" val="3643806448"/>
                    </a:ext>
                  </a:extLst>
                </a:gridCol>
                <a:gridCol w="1168400">
                  <a:extLst>
                    <a:ext uri="{9D8B030D-6E8A-4147-A177-3AD203B41FA5}">
                      <a16:colId xmlns:a16="http://schemas.microsoft.com/office/drawing/2014/main" val="1427913866"/>
                    </a:ext>
                  </a:extLst>
                </a:gridCol>
                <a:gridCol w="1168400">
                  <a:extLst>
                    <a:ext uri="{9D8B030D-6E8A-4147-A177-3AD203B41FA5}">
                      <a16:colId xmlns:a16="http://schemas.microsoft.com/office/drawing/2014/main" val="3062370860"/>
                    </a:ext>
                  </a:extLst>
                </a:gridCol>
                <a:gridCol w="1168400">
                  <a:extLst>
                    <a:ext uri="{9D8B030D-6E8A-4147-A177-3AD203B41FA5}">
                      <a16:colId xmlns:a16="http://schemas.microsoft.com/office/drawing/2014/main" val="75118386"/>
                    </a:ext>
                  </a:extLst>
                </a:gridCol>
                <a:gridCol w="1168400">
                  <a:extLst>
                    <a:ext uri="{9D8B030D-6E8A-4147-A177-3AD203B41FA5}">
                      <a16:colId xmlns:a16="http://schemas.microsoft.com/office/drawing/2014/main" val="871385285"/>
                    </a:ext>
                  </a:extLst>
                </a:gridCol>
                <a:gridCol w="1168400">
                  <a:extLst>
                    <a:ext uri="{9D8B030D-6E8A-4147-A177-3AD203B41FA5}">
                      <a16:colId xmlns:a16="http://schemas.microsoft.com/office/drawing/2014/main" val="528298794"/>
                    </a:ext>
                  </a:extLst>
                </a:gridCol>
                <a:gridCol w="1168400">
                  <a:extLst>
                    <a:ext uri="{9D8B030D-6E8A-4147-A177-3AD203B41FA5}">
                      <a16:colId xmlns:a16="http://schemas.microsoft.com/office/drawing/2014/main" val="542423377"/>
                    </a:ext>
                  </a:extLst>
                </a:gridCol>
                <a:gridCol w="1168400">
                  <a:extLst>
                    <a:ext uri="{9D8B030D-6E8A-4147-A177-3AD203B41FA5}">
                      <a16:colId xmlns:a16="http://schemas.microsoft.com/office/drawing/2014/main" val="1341824673"/>
                    </a:ext>
                  </a:extLst>
                </a:gridCol>
              </a:tblGrid>
              <a:tr h="0">
                <a:tc>
                  <a:txBody>
                    <a:bodyPr/>
                    <a:lstStyle/>
                    <a:p>
                      <a:pPr marL="0" marR="0" algn="just">
                        <a:spcBef>
                          <a:spcPts val="0"/>
                        </a:spcBef>
                        <a:spcAft>
                          <a:spcPts val="0"/>
                        </a:spcAft>
                      </a:pPr>
                      <a:r>
                        <a:rPr lang="en-US" sz="1600" dirty="0">
                          <a:effectLst/>
                          <a:latin typeface="Times New Roman" panose="02020603050405020304" pitchFamily="18" charset="0"/>
                          <a:cs typeface="Times New Roman" panose="02020603050405020304" pitchFamily="18" charset="0"/>
                        </a:rPr>
                        <a:t> </a:t>
                      </a:r>
                      <a:endParaRPr lang="en-US" sz="16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layer</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a:effectLst/>
                          <a:latin typeface="Times New Roman" panose="02020603050405020304" pitchFamily="18" charset="0"/>
                          <a:cs typeface="Times New Roman" panose="02020603050405020304" pitchFamily="18" charset="0"/>
                        </a:rPr>
                        <a:t>vec</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a:effectLst/>
                          <a:latin typeface="Times New Roman" panose="02020603050405020304" pitchFamily="18" charset="0"/>
                          <a:cs typeface="Times New Roman" panose="02020603050405020304" pitchFamily="18" charset="0"/>
                        </a:rPr>
                        <a:t>feature</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a:effectLst/>
                          <a:latin typeface="Times New Roman" panose="02020603050405020304" pitchFamily="18" charset="0"/>
                          <a:cs typeface="Times New Roman" panose="02020603050405020304" pitchFamily="18" charset="0"/>
                        </a:rPr>
                        <a:t>accuracy</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a:effectLst/>
                          <a:latin typeface="Times New Roman" panose="02020603050405020304" pitchFamily="18" charset="0"/>
                          <a:cs typeface="Times New Roman" panose="02020603050405020304" pitchFamily="18" charset="0"/>
                        </a:rPr>
                        <a:t>precision</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a:effectLst/>
                          <a:latin typeface="Times New Roman" panose="02020603050405020304" pitchFamily="18" charset="0"/>
                          <a:cs typeface="Times New Roman" panose="02020603050405020304" pitchFamily="18" charset="0"/>
                        </a:rPr>
                        <a:t>recall</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a:effectLst/>
                          <a:latin typeface="Times New Roman" panose="02020603050405020304" pitchFamily="18" charset="0"/>
                          <a:cs typeface="Times New Roman" panose="02020603050405020304" pitchFamily="18" charset="0"/>
                        </a:rPr>
                        <a:t>F1</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a:effectLst/>
                          <a:latin typeface="Times New Roman" panose="02020603050405020304" pitchFamily="18" charset="0"/>
                          <a:cs typeface="Times New Roman" panose="02020603050405020304" pitchFamily="18" charset="0"/>
                        </a:rPr>
                        <a:t>cc</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575193392"/>
                  </a:ext>
                </a:extLst>
              </a:tr>
              <a:tr h="0">
                <a:tc>
                  <a:txBody>
                    <a:bodyPr/>
                    <a:lstStyle/>
                    <a:p>
                      <a:pPr marL="0" marR="0" algn="r">
                        <a:spcBef>
                          <a:spcPts val="0"/>
                        </a:spcBef>
                        <a:spcAft>
                          <a:spcPts val="0"/>
                        </a:spcAft>
                      </a:pPr>
                      <a:r>
                        <a:rPr lang="en-US" sz="1600">
                          <a:effectLst/>
                          <a:latin typeface="Times New Roman" panose="02020603050405020304" pitchFamily="18" charset="0"/>
                          <a:cs typeface="Times New Roman" panose="02020603050405020304" pitchFamily="18" charset="0"/>
                        </a:rPr>
                        <a:t>1</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rowSpan="13">
                  <a:txBody>
                    <a:bodyPr/>
                    <a:lstStyle/>
                    <a:p>
                      <a:pPr marL="0" marR="0" algn="ctr">
                        <a:spcBef>
                          <a:spcPts val="0"/>
                        </a:spcBef>
                        <a:spcAft>
                          <a:spcPts val="0"/>
                        </a:spcAft>
                      </a:pPr>
                      <a:r>
                        <a:rPr lang="en-US" sz="1200" dirty="0">
                          <a:effectLst/>
                          <a:latin typeface="Times New Roman" panose="02020603050405020304" pitchFamily="18" charset="0"/>
                          <a:cs typeface="Times New Roman" panose="02020603050405020304" pitchFamily="18" charset="0"/>
                        </a:rPr>
                        <a:t>2</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false</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weight</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0.0826</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0.0980</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0.7623</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0.1678</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1.0000</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849730609"/>
                  </a:ext>
                </a:extLst>
              </a:tr>
              <a:tr h="0">
                <a:tc>
                  <a:txBody>
                    <a:bodyPr/>
                    <a:lstStyle/>
                    <a:p>
                      <a:pPr marL="0" marR="0" algn="r">
                        <a:spcBef>
                          <a:spcPts val="0"/>
                        </a:spcBef>
                        <a:spcAft>
                          <a:spcPts val="0"/>
                        </a:spcAft>
                      </a:pPr>
                      <a:r>
                        <a:rPr lang="en-US" sz="1600">
                          <a:effectLst/>
                          <a:latin typeface="Times New Roman" panose="02020603050405020304" pitchFamily="18" charset="0"/>
                          <a:cs typeface="Times New Roman" panose="02020603050405020304" pitchFamily="18" charset="0"/>
                        </a:rPr>
                        <a:t>2</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false</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trans</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0.0727</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0.0841</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0.7903</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0.1350</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1.0000</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810195561"/>
                  </a:ext>
                </a:extLst>
              </a:tr>
              <a:tr h="0">
                <a:tc>
                  <a:txBody>
                    <a:bodyPr/>
                    <a:lstStyle/>
                    <a:p>
                      <a:pPr marL="0" marR="0" algn="r">
                        <a:spcBef>
                          <a:spcPts val="0"/>
                        </a:spcBef>
                        <a:spcAft>
                          <a:spcPts val="0"/>
                        </a:spcAft>
                      </a:pPr>
                      <a:r>
                        <a:rPr lang="en-US" sz="1600">
                          <a:effectLst/>
                          <a:latin typeface="Times New Roman" panose="02020603050405020304" pitchFamily="18" charset="0"/>
                          <a:cs typeface="Times New Roman" panose="02020603050405020304" pitchFamily="18" charset="0"/>
                        </a:rPr>
                        <a:t>3</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false</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conv</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0.1000</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0.0400</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0.4000</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0.0727</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0.4000</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626126378"/>
                  </a:ext>
                </a:extLst>
              </a:tr>
              <a:tr h="0">
                <a:tc>
                  <a:txBody>
                    <a:bodyPr/>
                    <a:lstStyle/>
                    <a:p>
                      <a:pPr marL="0" marR="0" algn="r">
                        <a:spcBef>
                          <a:spcPts val="0"/>
                        </a:spcBef>
                        <a:spcAft>
                          <a:spcPts val="0"/>
                        </a:spcAft>
                      </a:pPr>
                      <a:r>
                        <a:rPr lang="en-US" sz="1600">
                          <a:effectLst/>
                          <a:latin typeface="Times New Roman" panose="02020603050405020304" pitchFamily="18" charset="0"/>
                          <a:cs typeface="Times New Roman" panose="02020603050405020304" pitchFamily="18" charset="0"/>
                        </a:rPr>
                        <a:t>4</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true</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weight</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0.0831</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dirty="0">
                          <a:effectLst/>
                          <a:latin typeface="Times New Roman" panose="02020603050405020304" pitchFamily="18" charset="0"/>
                          <a:cs typeface="Times New Roman" panose="02020603050405020304" pitchFamily="18" charset="0"/>
                        </a:rPr>
                        <a:t>0.0872</a:t>
                      </a:r>
                      <a:endParaRPr lang="en-US" sz="16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0.7244</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0.1524</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1.0000</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502562586"/>
                  </a:ext>
                </a:extLst>
              </a:tr>
              <a:tr h="0">
                <a:tc>
                  <a:txBody>
                    <a:bodyPr/>
                    <a:lstStyle/>
                    <a:p>
                      <a:pPr marL="0" marR="0" algn="r">
                        <a:spcBef>
                          <a:spcPts val="0"/>
                        </a:spcBef>
                        <a:spcAft>
                          <a:spcPts val="0"/>
                        </a:spcAft>
                      </a:pPr>
                      <a:r>
                        <a:rPr lang="en-US" sz="1600">
                          <a:effectLst/>
                          <a:latin typeface="Times New Roman" panose="02020603050405020304" pitchFamily="18" charset="0"/>
                          <a:cs typeface="Times New Roman" panose="02020603050405020304" pitchFamily="18" charset="0"/>
                        </a:rPr>
                        <a:t>5</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true</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trans</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0.0995</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0.1028</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0.7543</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0.1745</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dirty="0">
                          <a:effectLst/>
                          <a:latin typeface="Times New Roman" panose="02020603050405020304" pitchFamily="18" charset="0"/>
                          <a:cs typeface="Times New Roman" panose="02020603050405020304" pitchFamily="18" charset="0"/>
                        </a:rPr>
                        <a:t>1.0000</a:t>
                      </a:r>
                      <a:endParaRPr lang="en-US" sz="16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551669396"/>
                  </a:ext>
                </a:extLst>
              </a:tr>
              <a:tr h="0">
                <a:tc>
                  <a:txBody>
                    <a:bodyPr/>
                    <a:lstStyle/>
                    <a:p>
                      <a:pPr marL="0" marR="0" algn="r">
                        <a:spcBef>
                          <a:spcPts val="0"/>
                        </a:spcBef>
                        <a:spcAft>
                          <a:spcPts val="0"/>
                        </a:spcAft>
                      </a:pPr>
                      <a:r>
                        <a:rPr lang="en-US" sz="1600">
                          <a:effectLst/>
                          <a:latin typeface="Times New Roman" panose="02020603050405020304" pitchFamily="18" charset="0"/>
                          <a:cs typeface="Times New Roman" panose="02020603050405020304" pitchFamily="18" charset="0"/>
                        </a:rPr>
                        <a:t>6</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true</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conv</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0.0995</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0.0896</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0.4219</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0.1090</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600">
                          <a:effectLst/>
                          <a:latin typeface="Times New Roman" panose="02020603050405020304" pitchFamily="18" charset="0"/>
                          <a:cs typeface="Times New Roman" panose="02020603050405020304" pitchFamily="18" charset="0"/>
                        </a:rPr>
                        <a:t>0.9000</a:t>
                      </a:r>
                      <a:endParaRPr lang="en-US" sz="16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297928742"/>
                  </a:ext>
                </a:extLst>
              </a:tr>
              <a:tr h="0">
                <a:tc>
                  <a:txBody>
                    <a:bodyPr/>
                    <a:lstStyle/>
                    <a:p>
                      <a:pPr marL="0" marR="0" algn="r">
                        <a:spcBef>
                          <a:spcPts val="0"/>
                        </a:spcBef>
                        <a:spcAft>
                          <a:spcPts val="0"/>
                        </a:spcAft>
                      </a:pPr>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927421078"/>
                  </a:ext>
                </a:extLst>
              </a:tr>
              <a:tr h="0">
                <a:tc>
                  <a:txBody>
                    <a:bodyPr/>
                    <a:lstStyle/>
                    <a:p>
                      <a:pPr marL="0" marR="0" algn="r">
                        <a:spcBef>
                          <a:spcPts val="0"/>
                        </a:spcBef>
                        <a:spcAft>
                          <a:spcPts val="0"/>
                        </a:spcAft>
                      </a:pPr>
                      <a:r>
                        <a:rPr lang="en-US" sz="1200" dirty="0">
                          <a:effectLst/>
                          <a:latin typeface="Times New Roman" panose="02020603050405020304" pitchFamily="18" charset="0"/>
                          <a:cs typeface="Times New Roman" panose="02020603050405020304" pitchFamily="18" charset="0"/>
                        </a:rPr>
                        <a:t>55</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false</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weight</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0.0782</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0.0844</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0.7532</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0.1480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1.0000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748727719"/>
                  </a:ext>
                </a:extLst>
              </a:tr>
              <a:tr h="0">
                <a:tc>
                  <a:txBody>
                    <a:bodyPr/>
                    <a:lstStyle/>
                    <a:p>
                      <a:pPr marL="0" marR="0" algn="r">
                        <a:spcBef>
                          <a:spcPts val="0"/>
                        </a:spcBef>
                        <a:spcAft>
                          <a:spcPts val="0"/>
                        </a:spcAft>
                      </a:pPr>
                      <a:r>
                        <a:rPr lang="en-US" sz="1200" dirty="0">
                          <a:effectLst/>
                          <a:latin typeface="Times New Roman" panose="02020603050405020304" pitchFamily="18" charset="0"/>
                          <a:cs typeface="Times New Roman" panose="02020603050405020304" pitchFamily="18" charset="0"/>
                        </a:rPr>
                        <a:t>56</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false</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trans</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0.0869</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0.0861</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0.8044</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0.1502</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1.0000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938305844"/>
                  </a:ext>
                </a:extLst>
              </a:tr>
              <a:tr h="0">
                <a:tc>
                  <a:txBody>
                    <a:bodyPr/>
                    <a:lstStyle/>
                    <a:p>
                      <a:pPr marL="0" marR="0" algn="r">
                        <a:spcBef>
                          <a:spcPts val="0"/>
                        </a:spcBef>
                        <a:spcAft>
                          <a:spcPts val="0"/>
                        </a:spcAft>
                      </a:pPr>
                      <a:r>
                        <a:rPr lang="en-US" sz="1200" dirty="0">
                          <a:effectLst/>
                          <a:latin typeface="Times New Roman" panose="02020603050405020304" pitchFamily="18" charset="0"/>
                          <a:cs typeface="Times New Roman" panose="02020603050405020304" pitchFamily="18" charset="0"/>
                        </a:rPr>
                        <a:t>57</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false</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err="1">
                          <a:effectLst/>
                          <a:latin typeface="Times New Roman" panose="02020603050405020304" pitchFamily="18" charset="0"/>
                          <a:cs typeface="Times New Roman" panose="02020603050405020304" pitchFamily="18" charset="0"/>
                        </a:rPr>
                        <a:t>conv</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0.1018</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0.1484</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0.3899</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0.1212</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1.0000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372264765"/>
                  </a:ext>
                </a:extLst>
              </a:tr>
              <a:tr h="0">
                <a:tc>
                  <a:txBody>
                    <a:bodyPr/>
                    <a:lstStyle/>
                    <a:p>
                      <a:pPr marL="0" marR="0" algn="r">
                        <a:spcBef>
                          <a:spcPts val="0"/>
                        </a:spcBef>
                        <a:spcAft>
                          <a:spcPts val="0"/>
                        </a:spcAft>
                      </a:pPr>
                      <a:r>
                        <a:rPr lang="en-US" sz="1200">
                          <a:effectLst/>
                          <a:latin typeface="Times New Roman" panose="02020603050405020304" pitchFamily="18" charset="0"/>
                          <a:cs typeface="Times New Roman" panose="02020603050405020304" pitchFamily="18" charset="0"/>
                        </a:rPr>
                        <a:t>58</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true</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weight</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0.1012</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0.1078</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0.8043</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0.1843</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1.0000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58472072"/>
                  </a:ext>
                </a:extLst>
              </a:tr>
              <a:tr h="0">
                <a:tc>
                  <a:txBody>
                    <a:bodyPr/>
                    <a:lstStyle/>
                    <a:p>
                      <a:pPr marL="0" marR="0" algn="r">
                        <a:spcBef>
                          <a:spcPts val="0"/>
                        </a:spcBef>
                        <a:spcAft>
                          <a:spcPts val="0"/>
                        </a:spcAft>
                      </a:pPr>
                      <a:r>
                        <a:rPr lang="en-US" sz="1200" dirty="0">
                          <a:effectLst/>
                          <a:latin typeface="Times New Roman" panose="02020603050405020304" pitchFamily="18" charset="0"/>
                          <a:cs typeface="Times New Roman" panose="02020603050405020304" pitchFamily="18" charset="0"/>
                        </a:rPr>
                        <a:t>59</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true</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trans</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0.0866</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0.0995</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0.7281</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0.1537</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1.0000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430210878"/>
                  </a:ext>
                </a:extLst>
              </a:tr>
              <a:tr h="0">
                <a:tc>
                  <a:txBody>
                    <a:bodyPr/>
                    <a:lstStyle/>
                    <a:p>
                      <a:pPr marL="0" marR="0" algn="r">
                        <a:spcBef>
                          <a:spcPts val="0"/>
                        </a:spcBef>
                        <a:spcAft>
                          <a:spcPts val="0"/>
                        </a:spcAft>
                      </a:pPr>
                      <a:r>
                        <a:rPr lang="en-US" sz="1200">
                          <a:effectLst/>
                          <a:latin typeface="Times New Roman" panose="02020603050405020304" pitchFamily="18" charset="0"/>
                          <a:cs typeface="Times New Roman" panose="02020603050405020304" pitchFamily="18" charset="0"/>
                        </a:rPr>
                        <a:t>60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true</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conv</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0.0828</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0.0838</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0.7532</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0.1476</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1.0000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623680325"/>
                  </a:ext>
                </a:extLst>
              </a:tr>
              <a:tr h="0">
                <a:tc>
                  <a:txBody>
                    <a:bodyPr/>
                    <a:lstStyle/>
                    <a:p>
                      <a:pPr marL="0" marR="0" algn="r">
                        <a:spcBef>
                          <a:spcPts val="0"/>
                        </a:spcBef>
                        <a:spcAft>
                          <a:spcPts val="0"/>
                        </a:spcAft>
                      </a:pPr>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513482442"/>
                  </a:ext>
                </a:extLst>
              </a:tr>
              <a:tr h="0">
                <a:tc>
                  <a:txBody>
                    <a:bodyPr/>
                    <a:lstStyle/>
                    <a:p>
                      <a:pPr marL="0" marR="0" algn="r">
                        <a:spcBef>
                          <a:spcPts val="0"/>
                        </a:spcBef>
                        <a:spcAft>
                          <a:spcPts val="0"/>
                        </a:spcAft>
                      </a:pPr>
                      <a:r>
                        <a:rPr lang="en-US" sz="1200" dirty="0">
                          <a:effectLst/>
                          <a:latin typeface="Times New Roman" panose="02020603050405020304" pitchFamily="18" charset="0"/>
                          <a:cs typeface="Times New Roman" panose="02020603050405020304" pitchFamily="18" charset="0"/>
                        </a:rPr>
                        <a:t>61</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rowSpan="13">
                  <a:txBody>
                    <a:bodyPr/>
                    <a:lstStyle/>
                    <a:p>
                      <a:pPr marL="0" marR="0" algn="ctr">
                        <a:spcBef>
                          <a:spcPts val="0"/>
                        </a:spcBef>
                        <a:spcAft>
                          <a:spcPts val="0"/>
                        </a:spcAft>
                      </a:pPr>
                      <a:r>
                        <a:rPr lang="en-US" sz="1200">
                          <a:effectLst/>
                          <a:latin typeface="Times New Roman" panose="02020603050405020304" pitchFamily="18" charset="0"/>
                          <a:cs typeface="Times New Roman" panose="02020603050405020304" pitchFamily="18" charset="0"/>
                        </a:rPr>
                        <a:t>3</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false</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weight</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0.1010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0.1110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0.8207</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0.1866</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1.0000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681606767"/>
                  </a:ext>
                </a:extLst>
              </a:tr>
              <a:tr h="0">
                <a:tc>
                  <a:txBody>
                    <a:bodyPr/>
                    <a:lstStyle/>
                    <a:p>
                      <a:pPr marL="0" marR="0" algn="r">
                        <a:spcBef>
                          <a:spcPts val="0"/>
                        </a:spcBef>
                        <a:spcAft>
                          <a:spcPts val="0"/>
                        </a:spcAft>
                      </a:pPr>
                      <a:r>
                        <a:rPr lang="en-US" sz="1200" dirty="0">
                          <a:effectLst/>
                          <a:latin typeface="Times New Roman" panose="02020603050405020304" pitchFamily="18" charset="0"/>
                          <a:cs typeface="Times New Roman" panose="02020603050405020304" pitchFamily="18" charset="0"/>
                        </a:rPr>
                        <a:t>62</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false</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trans</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0.0783</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0.0815</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0.8688</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0.1450</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1.0000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27783863"/>
                  </a:ext>
                </a:extLst>
              </a:tr>
              <a:tr h="0">
                <a:tc>
                  <a:txBody>
                    <a:bodyPr/>
                    <a:lstStyle/>
                    <a:p>
                      <a:pPr marL="0" marR="0" algn="r">
                        <a:spcBef>
                          <a:spcPts val="0"/>
                        </a:spcBef>
                        <a:spcAft>
                          <a:spcPts val="0"/>
                        </a:spcAft>
                      </a:pPr>
                      <a:r>
                        <a:rPr lang="en-US" sz="1200">
                          <a:effectLst/>
                          <a:latin typeface="Times New Roman" panose="02020603050405020304" pitchFamily="18" charset="0"/>
                          <a:cs typeface="Times New Roman" panose="02020603050405020304" pitchFamily="18" charset="0"/>
                        </a:rPr>
                        <a:t>63</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false</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err="1">
                          <a:effectLst/>
                          <a:latin typeface="Times New Roman" panose="02020603050405020304" pitchFamily="18" charset="0"/>
                          <a:cs typeface="Times New Roman" panose="02020603050405020304" pitchFamily="18" charset="0"/>
                        </a:rPr>
                        <a:t>conv</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0.1000</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0.0200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0.2000</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0.0364</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0.2000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765052723"/>
                  </a:ext>
                </a:extLst>
              </a:tr>
              <a:tr h="0">
                <a:tc>
                  <a:txBody>
                    <a:bodyPr/>
                    <a:lstStyle/>
                    <a:p>
                      <a:pPr marL="0" marR="0" algn="r">
                        <a:spcBef>
                          <a:spcPts val="0"/>
                        </a:spcBef>
                        <a:spcAft>
                          <a:spcPts val="0"/>
                        </a:spcAft>
                      </a:pPr>
                      <a:r>
                        <a:rPr lang="en-US" sz="1200">
                          <a:effectLst/>
                          <a:latin typeface="Times New Roman" panose="02020603050405020304" pitchFamily="18" charset="0"/>
                          <a:cs typeface="Times New Roman" panose="02020603050405020304" pitchFamily="18" charset="0"/>
                        </a:rPr>
                        <a:t>64</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true</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weight</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0.0794</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0.0833</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0.7425</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0.1466</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1.0000</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589065029"/>
                  </a:ext>
                </a:extLst>
              </a:tr>
              <a:tr h="0">
                <a:tc>
                  <a:txBody>
                    <a:bodyPr/>
                    <a:lstStyle/>
                    <a:p>
                      <a:pPr marL="0" marR="0" algn="r">
                        <a:spcBef>
                          <a:spcPts val="0"/>
                        </a:spcBef>
                        <a:spcAft>
                          <a:spcPts val="0"/>
                        </a:spcAft>
                      </a:pPr>
                      <a:r>
                        <a:rPr lang="en-US" sz="1200">
                          <a:effectLst/>
                          <a:latin typeface="Times New Roman" panose="02020603050405020304" pitchFamily="18" charset="0"/>
                          <a:cs typeface="Times New Roman" panose="02020603050405020304" pitchFamily="18" charset="0"/>
                        </a:rPr>
                        <a:t>65</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true</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trans</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0.0800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0.0850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0.7450</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0.1443</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1.0000</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802435540"/>
                  </a:ext>
                </a:extLst>
              </a:tr>
              <a:tr h="0">
                <a:tc>
                  <a:txBody>
                    <a:bodyPr/>
                    <a:lstStyle/>
                    <a:p>
                      <a:pPr marL="0" marR="0" algn="r">
                        <a:spcBef>
                          <a:spcPts val="0"/>
                        </a:spcBef>
                        <a:spcAft>
                          <a:spcPts val="0"/>
                        </a:spcAft>
                      </a:pPr>
                      <a:r>
                        <a:rPr lang="en-US" sz="1200">
                          <a:effectLst/>
                          <a:latin typeface="Times New Roman" panose="02020603050405020304" pitchFamily="18" charset="0"/>
                          <a:cs typeface="Times New Roman" panose="02020603050405020304" pitchFamily="18" charset="0"/>
                        </a:rPr>
                        <a:t>66</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true</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conv</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0.1000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0.0300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0.3000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0.0545</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0.3000</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19374124"/>
                  </a:ext>
                </a:extLst>
              </a:tr>
              <a:tr h="0">
                <a:tc>
                  <a:txBody>
                    <a:bodyPr/>
                    <a:lstStyle/>
                    <a:p>
                      <a:pPr marL="0" marR="0" algn="r">
                        <a:spcBef>
                          <a:spcPts val="0"/>
                        </a:spcBef>
                        <a:spcAft>
                          <a:spcPts val="0"/>
                        </a:spcAft>
                      </a:pPr>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568036831"/>
                  </a:ext>
                </a:extLst>
              </a:tr>
              <a:tr h="0">
                <a:tc>
                  <a:txBody>
                    <a:bodyPr/>
                    <a:lstStyle/>
                    <a:p>
                      <a:pPr marL="0" marR="0" algn="r">
                        <a:spcBef>
                          <a:spcPts val="0"/>
                        </a:spcBef>
                        <a:spcAft>
                          <a:spcPts val="0"/>
                        </a:spcAft>
                      </a:pPr>
                      <a:r>
                        <a:rPr lang="en-US" sz="1200">
                          <a:effectLst/>
                          <a:latin typeface="Times New Roman" panose="02020603050405020304" pitchFamily="18" charset="0"/>
                          <a:cs typeface="Times New Roman" panose="02020603050405020304" pitchFamily="18" charset="0"/>
                        </a:rPr>
                        <a:t>115</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false</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weight</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0.0712</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0.0701</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0.7380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0.1177</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1.0000</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4081117645"/>
                  </a:ext>
                </a:extLst>
              </a:tr>
              <a:tr h="0">
                <a:tc>
                  <a:txBody>
                    <a:bodyPr/>
                    <a:lstStyle/>
                    <a:p>
                      <a:pPr marL="0" marR="0" algn="r">
                        <a:spcBef>
                          <a:spcPts val="0"/>
                        </a:spcBef>
                        <a:spcAft>
                          <a:spcPts val="0"/>
                        </a:spcAft>
                      </a:pPr>
                      <a:r>
                        <a:rPr lang="en-US" sz="1200">
                          <a:effectLst/>
                          <a:latin typeface="Times New Roman" panose="02020603050405020304" pitchFamily="18" charset="0"/>
                          <a:cs typeface="Times New Roman" panose="02020603050405020304" pitchFamily="18" charset="0"/>
                        </a:rPr>
                        <a:t>116</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false</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trans</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0.0756</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0.0872</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0.7852</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0.1446</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1.0000</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917991308"/>
                  </a:ext>
                </a:extLst>
              </a:tr>
              <a:tr h="0">
                <a:tc>
                  <a:txBody>
                    <a:bodyPr/>
                    <a:lstStyle/>
                    <a:p>
                      <a:pPr marL="0" marR="0" algn="r">
                        <a:spcBef>
                          <a:spcPts val="0"/>
                        </a:spcBef>
                        <a:spcAft>
                          <a:spcPts val="0"/>
                        </a:spcAft>
                      </a:pPr>
                      <a:r>
                        <a:rPr lang="en-US" sz="1200">
                          <a:effectLst/>
                          <a:latin typeface="Times New Roman" panose="02020603050405020304" pitchFamily="18" charset="0"/>
                          <a:cs typeface="Times New Roman" panose="02020603050405020304" pitchFamily="18" charset="0"/>
                        </a:rPr>
                        <a:t>117</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false</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conv</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0.1000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0.0300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0.3000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0.0545</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0.3000</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834838770"/>
                  </a:ext>
                </a:extLst>
              </a:tr>
              <a:tr h="0">
                <a:tc>
                  <a:txBody>
                    <a:bodyPr/>
                    <a:lstStyle/>
                    <a:p>
                      <a:pPr marL="0" marR="0" algn="r">
                        <a:spcBef>
                          <a:spcPts val="0"/>
                        </a:spcBef>
                        <a:spcAft>
                          <a:spcPts val="0"/>
                        </a:spcAft>
                      </a:pPr>
                      <a:r>
                        <a:rPr lang="en-US" sz="1200">
                          <a:effectLst/>
                          <a:latin typeface="Times New Roman" panose="02020603050405020304" pitchFamily="18" charset="0"/>
                          <a:cs typeface="Times New Roman" panose="02020603050405020304" pitchFamily="18" charset="0"/>
                        </a:rPr>
                        <a:t>118</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true</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weight</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0.0814</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0.0889</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0.8168</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0.1480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1.0000</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532023227"/>
                  </a:ext>
                </a:extLst>
              </a:tr>
              <a:tr h="0">
                <a:tc>
                  <a:txBody>
                    <a:bodyPr/>
                    <a:lstStyle/>
                    <a:p>
                      <a:pPr marL="0" marR="0" algn="r">
                        <a:spcBef>
                          <a:spcPts val="0"/>
                        </a:spcBef>
                        <a:spcAft>
                          <a:spcPts val="0"/>
                        </a:spcAft>
                      </a:pPr>
                      <a:r>
                        <a:rPr lang="en-US" sz="1200">
                          <a:effectLst/>
                          <a:latin typeface="Times New Roman" panose="02020603050405020304" pitchFamily="18" charset="0"/>
                          <a:cs typeface="Times New Roman" panose="02020603050405020304" pitchFamily="18" charset="0"/>
                        </a:rPr>
                        <a:t>119</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true</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trans</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0.0858</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0.0838</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0.8438</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0.1479</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1.0000</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606752882"/>
                  </a:ext>
                </a:extLst>
              </a:tr>
              <a:tr h="0">
                <a:tc>
                  <a:txBody>
                    <a:bodyPr/>
                    <a:lstStyle/>
                    <a:p>
                      <a:pPr marL="0" marR="0" algn="r">
                        <a:spcBef>
                          <a:spcPts val="0"/>
                        </a:spcBef>
                        <a:spcAft>
                          <a:spcPts val="0"/>
                        </a:spcAft>
                      </a:pPr>
                      <a:r>
                        <a:rPr lang="en-US" sz="1200">
                          <a:effectLst/>
                          <a:latin typeface="Times New Roman" panose="02020603050405020304" pitchFamily="18" charset="0"/>
                          <a:cs typeface="Times New Roman" panose="02020603050405020304" pitchFamily="18" charset="0"/>
                        </a:rPr>
                        <a:t>120</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vMerge="1">
                  <a:txBody>
                    <a:bodyPr/>
                    <a:lstStyle/>
                    <a:p>
                      <a:endParaRPr lang="en-US"/>
                    </a:p>
                  </a:txBody>
                  <a:tcPr/>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true</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conv</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0.0969</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0.0924</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0.5054</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a:effectLst/>
                          <a:latin typeface="Times New Roman" panose="02020603050405020304" pitchFamily="18" charset="0"/>
                          <a:cs typeface="Times New Roman" panose="02020603050405020304" pitchFamily="18" charset="0"/>
                        </a:rPr>
                        <a:t>0.1203</a:t>
                      </a:r>
                      <a:endParaRPr lang="en-US" sz="12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200" dirty="0">
                          <a:effectLst/>
                          <a:latin typeface="Times New Roman" panose="02020603050405020304" pitchFamily="18" charset="0"/>
                          <a:cs typeface="Times New Roman" panose="02020603050405020304" pitchFamily="18" charset="0"/>
                        </a:rPr>
                        <a:t>1.0000</a:t>
                      </a:r>
                      <a:endParaRPr lang="en-US" sz="12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837863517"/>
                  </a:ext>
                </a:extLst>
              </a:tr>
            </a:tbl>
          </a:graphicData>
        </a:graphic>
      </p:graphicFrame>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43</a:t>
            </a:fld>
            <a:endParaRPr lang="en-US"/>
          </a:p>
        </p:txBody>
      </p:sp>
      <p:sp>
        <p:nvSpPr>
          <p:cNvPr id="3" name="Rectangle 2"/>
          <p:cNvSpPr/>
          <p:nvPr/>
        </p:nvSpPr>
        <p:spPr>
          <a:xfrm>
            <a:off x="262086" y="2106948"/>
            <a:ext cx="461665" cy="2890407"/>
          </a:xfrm>
          <a:prstGeom prst="rect">
            <a:avLst/>
          </a:prstGeom>
        </p:spPr>
        <p:txBody>
          <a:bodyPr vert="vert" wrap="none">
            <a:spAutoFit/>
          </a:bodyPr>
          <a:lstStyle/>
          <a:p>
            <a:r>
              <a:rPr lang="en-US" dirty="0" smtClean="0">
                <a:latin typeface="Times New Roman" panose="02020603050405020304" pitchFamily="18" charset="0"/>
                <a:ea typeface="DengXian"/>
              </a:rPr>
              <a:t>Illustration </a:t>
            </a:r>
            <a:r>
              <a:rPr lang="en-US" dirty="0">
                <a:latin typeface="Times New Roman" panose="02020603050405020304" pitchFamily="18" charset="0"/>
                <a:ea typeface="DengXian"/>
              </a:rPr>
              <a:t>of ANOVA dataset</a:t>
            </a:r>
            <a:endParaRPr lang="en-US" dirty="0"/>
          </a:p>
        </p:txBody>
      </p:sp>
    </p:spTree>
    <p:extLst>
      <p:ext uri="{BB962C8B-B14F-4D97-AF65-F5344CB8AC3E}">
        <p14:creationId xmlns:p14="http://schemas.microsoft.com/office/powerpoint/2010/main" val="251454970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Results and </a:t>
            </a:r>
            <a:r>
              <a:rPr lang="en-US" dirty="0" smtClean="0"/>
              <a:t>discussions (skip)</a:t>
            </a:r>
            <a:endParaRPr lang="en-US" dirty="0"/>
          </a:p>
        </p:txBody>
      </p:sp>
      <p:sp>
        <p:nvSpPr>
          <p:cNvPr id="3" name="Content Placeholder 2"/>
          <p:cNvSpPr>
            <a:spLocks noGrp="1"/>
          </p:cNvSpPr>
          <p:nvPr>
            <p:ph idx="1"/>
          </p:nvPr>
        </p:nvSpPr>
        <p:spPr>
          <a:xfrm>
            <a:off x="101600" y="914399"/>
            <a:ext cx="11978640" cy="5176066"/>
          </a:xfrm>
        </p:spPr>
        <p:txBody>
          <a:bodyPr>
            <a:normAutofit/>
          </a:bodyPr>
          <a:lstStyle/>
          <a:p>
            <a:r>
              <a:rPr lang="en-US" sz="2600" dirty="0"/>
              <a:t>The ANOVA dataset is available </a:t>
            </a:r>
            <a:r>
              <a:rPr lang="en-US" sz="2600" dirty="0" smtClean="0"/>
              <a:t>at</a:t>
            </a:r>
          </a:p>
          <a:p>
            <a:pPr marL="0" indent="0" algn="ctr">
              <a:buNone/>
            </a:pPr>
            <a:r>
              <a:rPr lang="en-US" sz="2600" dirty="0" smtClean="0"/>
              <a:t>https</a:t>
            </a:r>
            <a:r>
              <a:rPr lang="en-US" sz="2600" dirty="0"/>
              <a:t>://github.com/ngphloc/ai/blob/main/4_testing/mac/2026.01.22/cifar10-lr0.1-max-anova.csv</a:t>
            </a:r>
          </a:p>
          <a:p>
            <a:r>
              <a:rPr lang="en-US" sz="2600" dirty="0">
                <a:effectLst>
                  <a:outerShdw blurRad="38100" dist="38100" dir="2700000" algn="tl">
                    <a:srgbClr val="000000">
                      <a:alpha val="43137"/>
                    </a:srgbClr>
                  </a:outerShdw>
                </a:effectLst>
              </a:rPr>
              <a:t>Recall that the two-way ANOVA aims to test the three </a:t>
            </a:r>
            <a:r>
              <a:rPr lang="en-US" sz="2600" dirty="0" smtClean="0">
                <a:effectLst>
                  <a:outerShdw blurRad="38100" dist="38100" dir="2700000" algn="tl">
                    <a:srgbClr val="000000">
                      <a:alpha val="43137"/>
                    </a:srgbClr>
                  </a:outerShdw>
                </a:effectLst>
              </a:rPr>
              <a:t>hypotheses </a:t>
            </a:r>
            <a:r>
              <a:rPr lang="en-US" sz="2600" dirty="0">
                <a:effectLst>
                  <a:outerShdw blurRad="38100" dist="38100" dir="2700000" algn="tl">
                    <a:srgbClr val="000000">
                      <a:alpha val="43137"/>
                    </a:srgbClr>
                  </a:outerShdw>
                </a:effectLst>
              </a:rPr>
              <a:t>on the ANOVA dataset of size 120:</a:t>
            </a:r>
            <a:r>
              <a:rPr lang="en-US" sz="2600" dirty="0"/>
              <a:t> 1) whether MNN is the alternative of CNN, which focuses on testing the preeminence of MNN classifier in comparison with TB classifier and CNN classifier via testing the </a:t>
            </a:r>
            <a:r>
              <a:rPr lang="en-US" sz="2600" i="1" dirty="0"/>
              <a:t>feature</a:t>
            </a:r>
            <a:r>
              <a:rPr lang="en-US" sz="2600" dirty="0"/>
              <a:t> group, 2) whether attention is the alternative of CNN, which focuses on testing the preeminence of TB classifier in comparison with MNN classifier and CNN classifier via testing the </a:t>
            </a:r>
            <a:r>
              <a:rPr lang="en-US" sz="2600" i="1" dirty="0"/>
              <a:t>feature</a:t>
            </a:r>
            <a:r>
              <a:rPr lang="en-US" sz="2600" dirty="0"/>
              <a:t> group, and 3) whether FFN of transformer should be MNN via testing the </a:t>
            </a:r>
            <a:r>
              <a:rPr lang="en-US" sz="2600" i="1" dirty="0" err="1"/>
              <a:t>vec</a:t>
            </a:r>
            <a:r>
              <a:rPr lang="en-US" sz="2600" dirty="0"/>
              <a:t> group. The research applies Gemini 2025 into making ANOVA test. Moreover, only baseline is applied into improving classification task and adjusted-line is not applied.</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44</a:t>
            </a:fld>
            <a:endParaRPr lang="en-US"/>
          </a:p>
        </p:txBody>
      </p:sp>
    </p:spTree>
    <p:extLst>
      <p:ext uri="{BB962C8B-B14F-4D97-AF65-F5344CB8AC3E}">
        <p14:creationId xmlns:p14="http://schemas.microsoft.com/office/powerpoint/2010/main" val="330134277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Results and </a:t>
            </a:r>
            <a:r>
              <a:rPr lang="en-US" dirty="0" smtClean="0"/>
              <a:t>discussions (main)</a:t>
            </a:r>
            <a:endParaRPr lang="en-US" dirty="0"/>
          </a:p>
        </p:txBody>
      </p:sp>
      <p:sp>
        <p:nvSpPr>
          <p:cNvPr id="3" name="Content Placeholder 2"/>
          <p:cNvSpPr>
            <a:spLocks noGrp="1"/>
          </p:cNvSpPr>
          <p:nvPr>
            <p:ph idx="1"/>
          </p:nvPr>
        </p:nvSpPr>
        <p:spPr>
          <a:xfrm>
            <a:off x="71120" y="914399"/>
            <a:ext cx="12039600" cy="5176066"/>
          </a:xfrm>
        </p:spPr>
        <p:txBody>
          <a:bodyPr>
            <a:noAutofit/>
          </a:bodyPr>
          <a:lstStyle/>
          <a:p>
            <a:pPr marL="0" indent="0">
              <a:buNone/>
            </a:pPr>
            <a:r>
              <a:rPr lang="en-US" sz="2100" dirty="0"/>
              <a:t>Firstly, the two-way ANOVA test focuses on groups “</a:t>
            </a:r>
            <a:r>
              <a:rPr lang="en-US" sz="2100" dirty="0" err="1"/>
              <a:t>vec</a:t>
            </a:r>
            <a:r>
              <a:rPr lang="en-US" sz="2100" dirty="0"/>
              <a:t>” and “feature” against treatments “accuracy” and “F1” in which accuracy metric </a:t>
            </a:r>
            <a:r>
              <a:rPr lang="en-US" sz="2100" dirty="0" smtClean="0"/>
              <a:t>measures </a:t>
            </a:r>
            <a:r>
              <a:rPr lang="en-US" sz="2100" dirty="0"/>
              <a:t>the entire accuracy of classifiers over dataset whereas F1 metric makes the compromise between diversity and accuracy. </a:t>
            </a:r>
            <a:r>
              <a:rPr lang="en-US" sz="2100" dirty="0">
                <a:effectLst>
                  <a:outerShdw blurRad="38100" dist="38100" dir="2700000" algn="tl">
                    <a:srgbClr val="000000">
                      <a:alpha val="43137"/>
                    </a:srgbClr>
                  </a:outerShdw>
                </a:effectLst>
              </a:rPr>
              <a:t>The following table shows the ANOVA results for accuracy metric, which indicates how groups “</a:t>
            </a:r>
            <a:r>
              <a:rPr lang="en-US" sz="2100" dirty="0" err="1">
                <a:effectLst>
                  <a:outerShdw blurRad="38100" dist="38100" dir="2700000" algn="tl">
                    <a:srgbClr val="000000">
                      <a:alpha val="43137"/>
                    </a:srgbClr>
                  </a:outerShdw>
                </a:effectLst>
              </a:rPr>
              <a:t>vec</a:t>
            </a:r>
            <a:r>
              <a:rPr lang="en-US" sz="2100" dirty="0">
                <a:effectLst>
                  <a:outerShdw blurRad="38100" dist="38100" dir="2700000" algn="tl">
                    <a:srgbClr val="000000">
                      <a:alpha val="43137"/>
                    </a:srgbClr>
                  </a:outerShdw>
                </a:effectLst>
              </a:rPr>
              <a:t>” and “feature” affect on treatment “accuracy”</a:t>
            </a:r>
            <a:r>
              <a:rPr lang="en-US" sz="2100" dirty="0"/>
              <a:t> (Gemini 2025</a:t>
            </a:r>
            <a:r>
              <a:rPr lang="en-US" sz="2100" dirty="0" smtClean="0"/>
              <a:t>).</a:t>
            </a:r>
          </a:p>
          <a:p>
            <a:pPr marL="0" indent="0">
              <a:buNone/>
            </a:pPr>
            <a:endParaRPr lang="en-US" sz="2100" dirty="0" smtClean="0"/>
          </a:p>
          <a:p>
            <a:pPr marL="0" indent="0">
              <a:buNone/>
            </a:pPr>
            <a:endParaRPr lang="en-US" sz="2100" dirty="0"/>
          </a:p>
          <a:p>
            <a:pPr marL="0" indent="0">
              <a:buNone/>
            </a:pPr>
            <a:endParaRPr lang="en-US" sz="2100" dirty="0" smtClean="0"/>
          </a:p>
          <a:p>
            <a:pPr marL="0" indent="0">
              <a:buNone/>
            </a:pPr>
            <a:endParaRPr lang="en-US" sz="2100" dirty="0"/>
          </a:p>
          <a:p>
            <a:pPr marL="0" indent="0">
              <a:buNone/>
            </a:pPr>
            <a:endParaRPr lang="en-US" sz="2100" dirty="0" smtClean="0"/>
          </a:p>
          <a:p>
            <a:pPr marL="0" indent="0">
              <a:buNone/>
            </a:pPr>
            <a:r>
              <a:rPr lang="en-US" sz="2100" dirty="0" smtClean="0"/>
              <a:t>Note</a:t>
            </a:r>
            <a:r>
              <a:rPr lang="en-US" sz="2100" dirty="0"/>
              <a:t>, </a:t>
            </a:r>
            <a:r>
              <a:rPr lang="en-US" sz="2100" dirty="0" smtClean="0"/>
              <a:t>the </a:t>
            </a:r>
            <a:r>
              <a:rPr lang="en-US" sz="2100" dirty="0"/>
              <a:t>source “</a:t>
            </a:r>
            <a:r>
              <a:rPr lang="en-US" sz="2100" dirty="0" err="1"/>
              <a:t>vec:feature</a:t>
            </a:r>
            <a:r>
              <a:rPr lang="en-US" sz="2100" dirty="0"/>
              <a:t>” represents the </a:t>
            </a:r>
            <a:r>
              <a:rPr lang="en-US" sz="2100" i="1" dirty="0"/>
              <a:t>interaction effect</a:t>
            </a:r>
            <a:r>
              <a:rPr lang="en-US" sz="2100" dirty="0"/>
              <a:t> between group “</a:t>
            </a:r>
            <a:r>
              <a:rPr lang="en-US" sz="2100" dirty="0" err="1"/>
              <a:t>vec</a:t>
            </a:r>
            <a:r>
              <a:rPr lang="en-US" sz="2100" dirty="0"/>
              <a:t>” and group “feature”. From the result table above, group “feature” affects highly significantly on treatment “accuracy” in comparison with group “</a:t>
            </a:r>
            <a:r>
              <a:rPr lang="en-US" sz="2100" dirty="0" err="1"/>
              <a:t>vec</a:t>
            </a:r>
            <a:r>
              <a:rPr lang="en-US" sz="2100" dirty="0"/>
              <a:t>” because the F-statistic of group “feature” (65.0845) is highly larger than the F-statistic of group “</a:t>
            </a:r>
            <a:r>
              <a:rPr lang="en-US" sz="2100" dirty="0" err="1"/>
              <a:t>vec</a:t>
            </a:r>
            <a:r>
              <a:rPr lang="en-US" sz="2100" dirty="0"/>
              <a:t>” (0.0121) with very small P-value (&lt; 0.0001). Moreover, there is no significant interaction between group “</a:t>
            </a:r>
            <a:r>
              <a:rPr lang="en-US" sz="2100" dirty="0" err="1"/>
              <a:t>vec</a:t>
            </a:r>
            <a:r>
              <a:rPr lang="en-US" sz="2100" dirty="0"/>
              <a:t>” and group “feature” because the F-statistic of the interaction effect “</a:t>
            </a:r>
            <a:r>
              <a:rPr lang="en-US" sz="2100" dirty="0" err="1"/>
              <a:t>vec:feature</a:t>
            </a:r>
            <a:r>
              <a:rPr lang="en-US" sz="2100" dirty="0"/>
              <a:t>” (0.6604) is small and its P-value (0.5186) is too larger than 0.05.</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45</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4106596567"/>
              </p:ext>
            </p:extLst>
          </p:nvPr>
        </p:nvGraphicFramePr>
        <p:xfrm>
          <a:off x="838200" y="2532063"/>
          <a:ext cx="10515600" cy="1600200"/>
        </p:xfrm>
        <a:graphic>
          <a:graphicData uri="http://schemas.openxmlformats.org/drawingml/2006/table">
            <a:tbl>
              <a:tblPr firstRow="1" firstCol="1" bandRow="1">
                <a:tableStyleId>{5C22544A-7EE6-4342-B048-85BDC9FD1C3A}</a:tableStyleId>
              </a:tblPr>
              <a:tblGrid>
                <a:gridCol w="1752600">
                  <a:extLst>
                    <a:ext uri="{9D8B030D-6E8A-4147-A177-3AD203B41FA5}">
                      <a16:colId xmlns:a16="http://schemas.microsoft.com/office/drawing/2014/main" val="2546884530"/>
                    </a:ext>
                  </a:extLst>
                </a:gridCol>
                <a:gridCol w="1752600">
                  <a:extLst>
                    <a:ext uri="{9D8B030D-6E8A-4147-A177-3AD203B41FA5}">
                      <a16:colId xmlns:a16="http://schemas.microsoft.com/office/drawing/2014/main" val="2324370756"/>
                    </a:ext>
                  </a:extLst>
                </a:gridCol>
                <a:gridCol w="1752600">
                  <a:extLst>
                    <a:ext uri="{9D8B030D-6E8A-4147-A177-3AD203B41FA5}">
                      <a16:colId xmlns:a16="http://schemas.microsoft.com/office/drawing/2014/main" val="1134014583"/>
                    </a:ext>
                  </a:extLst>
                </a:gridCol>
                <a:gridCol w="1752600">
                  <a:extLst>
                    <a:ext uri="{9D8B030D-6E8A-4147-A177-3AD203B41FA5}">
                      <a16:colId xmlns:a16="http://schemas.microsoft.com/office/drawing/2014/main" val="2453429032"/>
                    </a:ext>
                  </a:extLst>
                </a:gridCol>
                <a:gridCol w="1752600">
                  <a:extLst>
                    <a:ext uri="{9D8B030D-6E8A-4147-A177-3AD203B41FA5}">
                      <a16:colId xmlns:a16="http://schemas.microsoft.com/office/drawing/2014/main" val="4184981628"/>
                    </a:ext>
                  </a:extLst>
                </a:gridCol>
                <a:gridCol w="1752600">
                  <a:extLst>
                    <a:ext uri="{9D8B030D-6E8A-4147-A177-3AD203B41FA5}">
                      <a16:colId xmlns:a16="http://schemas.microsoft.com/office/drawing/2014/main" val="1244021210"/>
                    </a:ext>
                  </a:extLst>
                </a:gridCol>
              </a:tblGrid>
              <a:tr h="0">
                <a:tc>
                  <a:txBody>
                    <a:bodyPr/>
                    <a:lstStyle/>
                    <a:p>
                      <a:pPr marL="0" marR="0" algn="ctr">
                        <a:spcBef>
                          <a:spcPts val="0"/>
                        </a:spcBef>
                        <a:spcAft>
                          <a:spcPts val="0"/>
                        </a:spcAft>
                      </a:pPr>
                      <a:r>
                        <a:rPr lang="en-US" sz="2100" dirty="0">
                          <a:effectLst/>
                          <a:latin typeface="Times New Roman" panose="02020603050405020304" pitchFamily="18" charset="0"/>
                          <a:cs typeface="Times New Roman" panose="02020603050405020304" pitchFamily="18" charset="0"/>
                        </a:rPr>
                        <a:t>Source</a:t>
                      </a:r>
                      <a:endParaRPr lang="en-US" sz="21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100" dirty="0">
                          <a:effectLst/>
                          <a:latin typeface="Times New Roman" panose="02020603050405020304" pitchFamily="18" charset="0"/>
                          <a:cs typeface="Times New Roman" panose="02020603050405020304" pitchFamily="18" charset="0"/>
                        </a:rPr>
                        <a:t>SS</a:t>
                      </a:r>
                      <a:endParaRPr lang="en-US" sz="21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100">
                          <a:effectLst/>
                          <a:latin typeface="Times New Roman" panose="02020603050405020304" pitchFamily="18" charset="0"/>
                          <a:cs typeface="Times New Roman" panose="02020603050405020304" pitchFamily="18" charset="0"/>
                        </a:rPr>
                        <a:t>DF</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100" dirty="0">
                          <a:effectLst/>
                          <a:latin typeface="Times New Roman" panose="02020603050405020304" pitchFamily="18" charset="0"/>
                          <a:cs typeface="Times New Roman" panose="02020603050405020304" pitchFamily="18" charset="0"/>
                        </a:rPr>
                        <a:t>F-statistic</a:t>
                      </a:r>
                      <a:endParaRPr lang="en-US" sz="21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100">
                          <a:effectLst/>
                          <a:latin typeface="Times New Roman" panose="02020603050405020304" pitchFamily="18" charset="0"/>
                          <a:cs typeface="Times New Roman" panose="02020603050405020304" pitchFamily="18" charset="0"/>
                        </a:rPr>
                        <a:t>P-value</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100">
                          <a:effectLst/>
                          <a:latin typeface="Times New Roman" panose="02020603050405020304" pitchFamily="18" charset="0"/>
                          <a:cs typeface="Times New Roman" panose="02020603050405020304" pitchFamily="18" charset="0"/>
                        </a:rPr>
                        <a:t>Significant</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368379623"/>
                  </a:ext>
                </a:extLst>
              </a:tr>
              <a:tr h="0">
                <a:tc>
                  <a:txBody>
                    <a:bodyPr/>
                    <a:lstStyle/>
                    <a:p>
                      <a:pPr marL="0" marR="0" algn="just">
                        <a:spcBef>
                          <a:spcPts val="0"/>
                        </a:spcBef>
                        <a:spcAft>
                          <a:spcPts val="0"/>
                        </a:spcAft>
                      </a:pPr>
                      <a:r>
                        <a:rPr lang="en-US" sz="2100">
                          <a:effectLst/>
                          <a:latin typeface="Times New Roman" panose="02020603050405020304" pitchFamily="18" charset="0"/>
                          <a:cs typeface="Times New Roman" panose="02020603050405020304" pitchFamily="18" charset="0"/>
                        </a:rPr>
                        <a:t>vec</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dirty="0">
                          <a:effectLst/>
                          <a:latin typeface="Times New Roman" panose="02020603050405020304" pitchFamily="18" charset="0"/>
                          <a:cs typeface="Times New Roman" panose="02020603050405020304" pitchFamily="18" charset="0"/>
                        </a:rPr>
                        <a:t>6.31e-07</a:t>
                      </a:r>
                      <a:endParaRPr lang="en-US" sz="21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1</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dirty="0">
                          <a:effectLst/>
                          <a:latin typeface="Times New Roman" panose="02020603050405020304" pitchFamily="18" charset="0"/>
                          <a:cs typeface="Times New Roman" panose="02020603050405020304" pitchFamily="18" charset="0"/>
                        </a:rPr>
                        <a:t>0.0121</a:t>
                      </a:r>
                      <a:endParaRPr lang="en-US" sz="21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0.9125</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No</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450863534"/>
                  </a:ext>
                </a:extLst>
              </a:tr>
              <a:tr h="0">
                <a:tc>
                  <a:txBody>
                    <a:bodyPr/>
                    <a:lstStyle/>
                    <a:p>
                      <a:pPr marL="0" marR="0" algn="just">
                        <a:spcBef>
                          <a:spcPts val="0"/>
                        </a:spcBef>
                        <a:spcAft>
                          <a:spcPts val="0"/>
                        </a:spcAft>
                      </a:pPr>
                      <a:r>
                        <a:rPr lang="en-US" sz="2100">
                          <a:effectLst/>
                          <a:latin typeface="Times New Roman" panose="02020603050405020304" pitchFamily="18" charset="0"/>
                          <a:cs typeface="Times New Roman" panose="02020603050405020304" pitchFamily="18" charset="0"/>
                        </a:rPr>
                        <a:t>feature</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0.00677</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2</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65.0845</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&lt; 0.0001</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Yes</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366000764"/>
                  </a:ext>
                </a:extLst>
              </a:tr>
              <a:tr h="0">
                <a:tc>
                  <a:txBody>
                    <a:bodyPr/>
                    <a:lstStyle/>
                    <a:p>
                      <a:pPr marL="0" marR="0" algn="just">
                        <a:spcBef>
                          <a:spcPts val="0"/>
                        </a:spcBef>
                        <a:spcAft>
                          <a:spcPts val="0"/>
                        </a:spcAft>
                      </a:pPr>
                      <a:r>
                        <a:rPr lang="en-US" sz="2100">
                          <a:effectLst/>
                          <a:latin typeface="Times New Roman" panose="02020603050405020304" pitchFamily="18" charset="0"/>
                          <a:cs typeface="Times New Roman" panose="02020603050405020304" pitchFamily="18" charset="0"/>
                        </a:rPr>
                        <a:t>vec:feature</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6.87e-05</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2</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0.6604</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0.5186</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No</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234606873"/>
                  </a:ext>
                </a:extLst>
              </a:tr>
              <a:tr h="0">
                <a:tc>
                  <a:txBody>
                    <a:bodyPr/>
                    <a:lstStyle/>
                    <a:p>
                      <a:pPr marL="0" marR="0" algn="just">
                        <a:spcBef>
                          <a:spcPts val="0"/>
                        </a:spcBef>
                        <a:spcAft>
                          <a:spcPts val="0"/>
                        </a:spcAft>
                      </a:pPr>
                      <a:r>
                        <a:rPr lang="en-US" sz="2100">
                          <a:effectLst/>
                          <a:latin typeface="Times New Roman" panose="02020603050405020304" pitchFamily="18" charset="0"/>
                          <a:cs typeface="Times New Roman" panose="02020603050405020304" pitchFamily="18" charset="0"/>
                        </a:rPr>
                        <a:t>Residual</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0.00593</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114</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 </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 </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dirty="0">
                          <a:effectLst/>
                          <a:latin typeface="Times New Roman" panose="02020603050405020304" pitchFamily="18" charset="0"/>
                          <a:cs typeface="Times New Roman" panose="02020603050405020304" pitchFamily="18" charset="0"/>
                        </a:rPr>
                        <a:t> </a:t>
                      </a:r>
                      <a:endParaRPr lang="en-US" sz="21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28219875"/>
                  </a:ext>
                </a:extLst>
              </a:tr>
            </a:tbl>
          </a:graphicData>
        </a:graphic>
      </p:graphicFrame>
    </p:spTree>
    <p:extLst>
      <p:ext uri="{BB962C8B-B14F-4D97-AF65-F5344CB8AC3E}">
        <p14:creationId xmlns:p14="http://schemas.microsoft.com/office/powerpoint/2010/main" val="234525705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Results and </a:t>
            </a:r>
            <a:r>
              <a:rPr lang="en-US" dirty="0" smtClean="0"/>
              <a:t>discussions (skip)</a:t>
            </a:r>
            <a:endParaRPr lang="en-US" dirty="0"/>
          </a:p>
        </p:txBody>
      </p:sp>
      <p:sp>
        <p:nvSpPr>
          <p:cNvPr id="3" name="Content Placeholder 2"/>
          <p:cNvSpPr>
            <a:spLocks noGrp="1"/>
          </p:cNvSpPr>
          <p:nvPr>
            <p:ph idx="1"/>
          </p:nvPr>
        </p:nvSpPr>
        <p:spPr>
          <a:xfrm>
            <a:off x="71120" y="914399"/>
            <a:ext cx="12039600" cy="5176066"/>
          </a:xfrm>
        </p:spPr>
        <p:txBody>
          <a:bodyPr>
            <a:noAutofit/>
          </a:bodyPr>
          <a:lstStyle/>
          <a:p>
            <a:pPr marL="0" indent="0">
              <a:buNone/>
            </a:pPr>
            <a:r>
              <a:rPr lang="en-US" sz="2500" dirty="0">
                <a:effectLst>
                  <a:outerShdw blurRad="38100" dist="38100" dir="2700000" algn="tl">
                    <a:srgbClr val="000000">
                      <a:alpha val="43137"/>
                    </a:srgbClr>
                  </a:outerShdw>
                </a:effectLst>
              </a:rPr>
              <a:t>The following table shows the ANOVA results for F1 metric, which indicates how groups “</a:t>
            </a:r>
            <a:r>
              <a:rPr lang="en-US" sz="2500" dirty="0" err="1">
                <a:effectLst>
                  <a:outerShdw blurRad="38100" dist="38100" dir="2700000" algn="tl">
                    <a:srgbClr val="000000">
                      <a:alpha val="43137"/>
                    </a:srgbClr>
                  </a:outerShdw>
                </a:effectLst>
              </a:rPr>
              <a:t>vec</a:t>
            </a:r>
            <a:r>
              <a:rPr lang="en-US" sz="2500" dirty="0">
                <a:effectLst>
                  <a:outerShdw blurRad="38100" dist="38100" dir="2700000" algn="tl">
                    <a:srgbClr val="000000">
                      <a:alpha val="43137"/>
                    </a:srgbClr>
                  </a:outerShdw>
                </a:effectLst>
              </a:rPr>
              <a:t>” and “feature” affect on treatment “F1”</a:t>
            </a:r>
            <a:r>
              <a:rPr lang="en-US" sz="2500" dirty="0"/>
              <a:t> (Gemini 2025</a:t>
            </a:r>
            <a:r>
              <a:rPr lang="en-US" sz="2500" dirty="0" smtClean="0"/>
              <a:t>).</a:t>
            </a:r>
          </a:p>
          <a:p>
            <a:pPr marL="0" indent="0">
              <a:buNone/>
            </a:pPr>
            <a:endParaRPr lang="en-US" sz="2500" dirty="0" smtClean="0"/>
          </a:p>
          <a:p>
            <a:pPr marL="0" indent="0">
              <a:buNone/>
            </a:pPr>
            <a:endParaRPr lang="en-US" sz="2500" dirty="0"/>
          </a:p>
          <a:p>
            <a:pPr marL="0" indent="0">
              <a:buNone/>
            </a:pPr>
            <a:endParaRPr lang="en-US" sz="2500" dirty="0" smtClean="0"/>
          </a:p>
          <a:p>
            <a:pPr marL="0" indent="0">
              <a:buNone/>
            </a:pPr>
            <a:endParaRPr lang="en-US" sz="2500" dirty="0"/>
          </a:p>
          <a:p>
            <a:pPr marL="0" indent="0">
              <a:buNone/>
            </a:pPr>
            <a:endParaRPr lang="en-US" sz="2500" dirty="0" smtClean="0"/>
          </a:p>
          <a:p>
            <a:pPr marL="0" indent="0">
              <a:buNone/>
            </a:pPr>
            <a:r>
              <a:rPr lang="en-US" sz="2500" dirty="0"/>
              <a:t>From the result table above, group “feature” affects highly significantly on treatment “F1” in comparison with group “</a:t>
            </a:r>
            <a:r>
              <a:rPr lang="en-US" sz="2500" dirty="0" err="1"/>
              <a:t>vec</a:t>
            </a:r>
            <a:r>
              <a:rPr lang="en-US" sz="2500" dirty="0"/>
              <a:t>” because the F-statistic of group “feature” (118.3605) is highly larger than the F-statistic of group “</a:t>
            </a:r>
            <a:r>
              <a:rPr lang="en-US" sz="2500" dirty="0" err="1"/>
              <a:t>vec</a:t>
            </a:r>
            <a:r>
              <a:rPr lang="en-US" sz="2500" dirty="0"/>
              <a:t>” (1.7781) with very small P-value (&lt; 0.0001). Moreover, there is no significant interaction between group “</a:t>
            </a:r>
            <a:r>
              <a:rPr lang="en-US" sz="2500" dirty="0" err="1"/>
              <a:t>vec</a:t>
            </a:r>
            <a:r>
              <a:rPr lang="en-US" sz="2500" dirty="0"/>
              <a:t>” and group “feature” because the F-statistic of the interaction effect “</a:t>
            </a:r>
            <a:r>
              <a:rPr lang="en-US" sz="2500" dirty="0" err="1"/>
              <a:t>vec:feature</a:t>
            </a:r>
            <a:r>
              <a:rPr lang="en-US" sz="2500" dirty="0"/>
              <a:t>” (1.6758) is small and its P-value (0.1917) is too larger than 0.05.</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46</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397563717"/>
              </p:ext>
            </p:extLst>
          </p:nvPr>
        </p:nvGraphicFramePr>
        <p:xfrm>
          <a:off x="838200" y="1754912"/>
          <a:ext cx="10515600" cy="1905000"/>
        </p:xfrm>
        <a:graphic>
          <a:graphicData uri="http://schemas.openxmlformats.org/drawingml/2006/table">
            <a:tbl>
              <a:tblPr firstRow="1" firstCol="1" bandRow="1">
                <a:tableStyleId>{5C22544A-7EE6-4342-B048-85BDC9FD1C3A}</a:tableStyleId>
              </a:tblPr>
              <a:tblGrid>
                <a:gridCol w="1752600">
                  <a:extLst>
                    <a:ext uri="{9D8B030D-6E8A-4147-A177-3AD203B41FA5}">
                      <a16:colId xmlns:a16="http://schemas.microsoft.com/office/drawing/2014/main" val="307588367"/>
                    </a:ext>
                  </a:extLst>
                </a:gridCol>
                <a:gridCol w="1752600">
                  <a:extLst>
                    <a:ext uri="{9D8B030D-6E8A-4147-A177-3AD203B41FA5}">
                      <a16:colId xmlns:a16="http://schemas.microsoft.com/office/drawing/2014/main" val="1019201165"/>
                    </a:ext>
                  </a:extLst>
                </a:gridCol>
                <a:gridCol w="1752600">
                  <a:extLst>
                    <a:ext uri="{9D8B030D-6E8A-4147-A177-3AD203B41FA5}">
                      <a16:colId xmlns:a16="http://schemas.microsoft.com/office/drawing/2014/main" val="2108312052"/>
                    </a:ext>
                  </a:extLst>
                </a:gridCol>
                <a:gridCol w="1752600">
                  <a:extLst>
                    <a:ext uri="{9D8B030D-6E8A-4147-A177-3AD203B41FA5}">
                      <a16:colId xmlns:a16="http://schemas.microsoft.com/office/drawing/2014/main" val="2297452176"/>
                    </a:ext>
                  </a:extLst>
                </a:gridCol>
                <a:gridCol w="1752600">
                  <a:extLst>
                    <a:ext uri="{9D8B030D-6E8A-4147-A177-3AD203B41FA5}">
                      <a16:colId xmlns:a16="http://schemas.microsoft.com/office/drawing/2014/main" val="1238641036"/>
                    </a:ext>
                  </a:extLst>
                </a:gridCol>
                <a:gridCol w="1752600">
                  <a:extLst>
                    <a:ext uri="{9D8B030D-6E8A-4147-A177-3AD203B41FA5}">
                      <a16:colId xmlns:a16="http://schemas.microsoft.com/office/drawing/2014/main" val="3877248137"/>
                    </a:ext>
                  </a:extLst>
                </a:gridCol>
              </a:tblGrid>
              <a:tr h="0">
                <a:tc>
                  <a:txBody>
                    <a:bodyPr/>
                    <a:lstStyle/>
                    <a:p>
                      <a:pPr marL="0" marR="0" algn="ctr">
                        <a:spcBef>
                          <a:spcPts val="0"/>
                        </a:spcBef>
                        <a:spcAft>
                          <a:spcPts val="0"/>
                        </a:spcAft>
                      </a:pPr>
                      <a:r>
                        <a:rPr lang="en-US" sz="2500" dirty="0">
                          <a:effectLst/>
                          <a:latin typeface="Times New Roman" panose="02020603050405020304" pitchFamily="18" charset="0"/>
                          <a:cs typeface="Times New Roman" panose="02020603050405020304" pitchFamily="18" charset="0"/>
                        </a:rPr>
                        <a:t>Source</a:t>
                      </a:r>
                      <a:endParaRPr lang="en-US" sz="25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500">
                          <a:effectLst/>
                          <a:latin typeface="Times New Roman" panose="02020603050405020304" pitchFamily="18" charset="0"/>
                          <a:cs typeface="Times New Roman" panose="02020603050405020304" pitchFamily="18" charset="0"/>
                        </a:rPr>
                        <a:t>SS</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500">
                          <a:effectLst/>
                          <a:latin typeface="Times New Roman" panose="02020603050405020304" pitchFamily="18" charset="0"/>
                          <a:cs typeface="Times New Roman" panose="02020603050405020304" pitchFamily="18" charset="0"/>
                        </a:rPr>
                        <a:t>DF</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500" dirty="0">
                          <a:effectLst/>
                          <a:latin typeface="Times New Roman" panose="02020603050405020304" pitchFamily="18" charset="0"/>
                          <a:cs typeface="Times New Roman" panose="02020603050405020304" pitchFamily="18" charset="0"/>
                        </a:rPr>
                        <a:t>F-statistic</a:t>
                      </a:r>
                      <a:endParaRPr lang="en-US" sz="25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500">
                          <a:effectLst/>
                          <a:latin typeface="Times New Roman" panose="02020603050405020304" pitchFamily="18" charset="0"/>
                          <a:cs typeface="Times New Roman" panose="02020603050405020304" pitchFamily="18" charset="0"/>
                        </a:rPr>
                        <a:t>P-value</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500">
                          <a:effectLst/>
                          <a:latin typeface="Times New Roman" panose="02020603050405020304" pitchFamily="18" charset="0"/>
                          <a:cs typeface="Times New Roman" panose="02020603050405020304" pitchFamily="18" charset="0"/>
                        </a:rPr>
                        <a:t>Significant</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318231212"/>
                  </a:ext>
                </a:extLst>
              </a:tr>
              <a:tr h="0">
                <a:tc>
                  <a:txBody>
                    <a:bodyPr/>
                    <a:lstStyle/>
                    <a:p>
                      <a:pPr marL="0" marR="0" algn="just">
                        <a:spcBef>
                          <a:spcPts val="0"/>
                        </a:spcBef>
                        <a:spcAft>
                          <a:spcPts val="0"/>
                        </a:spcAft>
                      </a:pPr>
                      <a:r>
                        <a:rPr lang="en-US" sz="2500">
                          <a:effectLst/>
                          <a:latin typeface="Times New Roman" panose="02020603050405020304" pitchFamily="18" charset="0"/>
                          <a:cs typeface="Times New Roman" panose="02020603050405020304" pitchFamily="18" charset="0"/>
                        </a:rPr>
                        <a:t>vec</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0.00074</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1</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1.7781</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dirty="0">
                          <a:effectLst/>
                          <a:latin typeface="Times New Roman" panose="02020603050405020304" pitchFamily="18" charset="0"/>
                          <a:cs typeface="Times New Roman" panose="02020603050405020304" pitchFamily="18" charset="0"/>
                        </a:rPr>
                        <a:t>0.1850</a:t>
                      </a:r>
                      <a:endParaRPr lang="en-US" sz="25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No</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20128144"/>
                  </a:ext>
                </a:extLst>
              </a:tr>
              <a:tr h="0">
                <a:tc>
                  <a:txBody>
                    <a:bodyPr/>
                    <a:lstStyle/>
                    <a:p>
                      <a:pPr marL="0" marR="0" algn="just">
                        <a:spcBef>
                          <a:spcPts val="0"/>
                        </a:spcBef>
                        <a:spcAft>
                          <a:spcPts val="0"/>
                        </a:spcAft>
                      </a:pPr>
                      <a:r>
                        <a:rPr lang="en-US" sz="2500">
                          <a:effectLst/>
                          <a:latin typeface="Times New Roman" panose="02020603050405020304" pitchFamily="18" charset="0"/>
                          <a:cs typeface="Times New Roman" panose="02020603050405020304" pitchFamily="18" charset="0"/>
                        </a:rPr>
                        <a:t>feature</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0.09846</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2</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118.3605</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&lt; 0.0001</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Yes</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192134853"/>
                  </a:ext>
                </a:extLst>
              </a:tr>
              <a:tr h="0">
                <a:tc>
                  <a:txBody>
                    <a:bodyPr/>
                    <a:lstStyle/>
                    <a:p>
                      <a:pPr marL="0" marR="0" algn="just">
                        <a:spcBef>
                          <a:spcPts val="0"/>
                        </a:spcBef>
                        <a:spcAft>
                          <a:spcPts val="0"/>
                        </a:spcAft>
                      </a:pPr>
                      <a:r>
                        <a:rPr lang="en-US" sz="2500">
                          <a:effectLst/>
                          <a:latin typeface="Times New Roman" panose="02020603050405020304" pitchFamily="18" charset="0"/>
                          <a:cs typeface="Times New Roman" panose="02020603050405020304" pitchFamily="18" charset="0"/>
                        </a:rPr>
                        <a:t>vec:feature</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0.00139</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2</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1.6758</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0.1917</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No</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247676615"/>
                  </a:ext>
                </a:extLst>
              </a:tr>
              <a:tr h="0">
                <a:tc>
                  <a:txBody>
                    <a:bodyPr/>
                    <a:lstStyle/>
                    <a:p>
                      <a:pPr marL="0" marR="0" algn="just">
                        <a:spcBef>
                          <a:spcPts val="0"/>
                        </a:spcBef>
                        <a:spcAft>
                          <a:spcPts val="0"/>
                        </a:spcAft>
                      </a:pPr>
                      <a:r>
                        <a:rPr lang="en-US" sz="2500">
                          <a:effectLst/>
                          <a:latin typeface="Times New Roman" panose="02020603050405020304" pitchFamily="18" charset="0"/>
                          <a:cs typeface="Times New Roman" panose="02020603050405020304" pitchFamily="18" charset="0"/>
                        </a:rPr>
                        <a:t>Residual</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0.04741</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114</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 </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dirty="0">
                          <a:effectLst/>
                          <a:latin typeface="Times New Roman" panose="02020603050405020304" pitchFamily="18" charset="0"/>
                          <a:cs typeface="Times New Roman" panose="02020603050405020304" pitchFamily="18" charset="0"/>
                        </a:rPr>
                        <a:t> </a:t>
                      </a:r>
                      <a:endParaRPr lang="en-US" sz="25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dirty="0">
                          <a:effectLst/>
                          <a:latin typeface="Times New Roman" panose="02020603050405020304" pitchFamily="18" charset="0"/>
                          <a:cs typeface="Times New Roman" panose="02020603050405020304" pitchFamily="18" charset="0"/>
                        </a:rPr>
                        <a:t> </a:t>
                      </a:r>
                      <a:endParaRPr lang="en-US" sz="25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978076099"/>
                  </a:ext>
                </a:extLst>
              </a:tr>
            </a:tbl>
          </a:graphicData>
        </a:graphic>
      </p:graphicFrame>
    </p:spTree>
    <p:extLst>
      <p:ext uri="{BB962C8B-B14F-4D97-AF65-F5344CB8AC3E}">
        <p14:creationId xmlns:p14="http://schemas.microsoft.com/office/powerpoint/2010/main" val="220743124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Results and </a:t>
            </a:r>
            <a:r>
              <a:rPr lang="en-US" dirty="0" smtClean="0"/>
              <a:t>discussions (skip)</a:t>
            </a:r>
            <a:endParaRPr lang="en-US" dirty="0"/>
          </a:p>
        </p:txBody>
      </p:sp>
      <p:sp>
        <p:nvSpPr>
          <p:cNvPr id="3" name="Content Placeholder 2"/>
          <p:cNvSpPr>
            <a:spLocks noGrp="1"/>
          </p:cNvSpPr>
          <p:nvPr>
            <p:ph idx="1"/>
          </p:nvPr>
        </p:nvSpPr>
        <p:spPr>
          <a:xfrm>
            <a:off x="71120" y="914399"/>
            <a:ext cx="12039600" cy="5176066"/>
          </a:xfrm>
        </p:spPr>
        <p:txBody>
          <a:bodyPr>
            <a:noAutofit/>
          </a:bodyPr>
          <a:lstStyle/>
          <a:p>
            <a:pPr marL="0" indent="0">
              <a:buNone/>
            </a:pPr>
            <a:r>
              <a:rPr lang="en-US" sz="2150" dirty="0"/>
              <a:t>The two-way ANOVA test focuses again on groups “</a:t>
            </a:r>
            <a:r>
              <a:rPr lang="en-US" sz="2150" dirty="0" err="1"/>
              <a:t>vec</a:t>
            </a:r>
            <a:r>
              <a:rPr lang="en-US" sz="2150" dirty="0"/>
              <a:t>” and “feature” against treatments “precision” and “recall” in which precision metric leans forwards accuracy and recall metric leans forward diversity with note F1 is the compromiser of precision and recall. </a:t>
            </a:r>
            <a:r>
              <a:rPr lang="en-US" sz="2150" dirty="0">
                <a:effectLst>
                  <a:outerShdw blurRad="38100" dist="38100" dir="2700000" algn="tl">
                    <a:srgbClr val="000000">
                      <a:alpha val="43137"/>
                    </a:srgbClr>
                  </a:outerShdw>
                </a:effectLst>
              </a:rPr>
              <a:t>The following table shows the ANOVA results for precision metric, which indicates how groups “</a:t>
            </a:r>
            <a:r>
              <a:rPr lang="en-US" sz="2150" dirty="0" err="1">
                <a:effectLst>
                  <a:outerShdw blurRad="38100" dist="38100" dir="2700000" algn="tl">
                    <a:srgbClr val="000000">
                      <a:alpha val="43137"/>
                    </a:srgbClr>
                  </a:outerShdw>
                </a:effectLst>
              </a:rPr>
              <a:t>vec</a:t>
            </a:r>
            <a:r>
              <a:rPr lang="en-US" sz="2150" dirty="0">
                <a:effectLst>
                  <a:outerShdw blurRad="38100" dist="38100" dir="2700000" algn="tl">
                    <a:srgbClr val="000000">
                      <a:alpha val="43137"/>
                    </a:srgbClr>
                  </a:outerShdw>
                </a:effectLst>
              </a:rPr>
              <a:t>” and “feature” affect on treatment “precision”</a:t>
            </a:r>
            <a:r>
              <a:rPr lang="en-US" sz="2150" dirty="0"/>
              <a:t> (Gemini 2025).</a:t>
            </a:r>
            <a:endParaRPr lang="en-US" sz="2150" dirty="0" smtClean="0"/>
          </a:p>
          <a:p>
            <a:pPr marL="0" indent="0">
              <a:buNone/>
            </a:pPr>
            <a:endParaRPr lang="en-US" sz="2150" dirty="0" smtClean="0"/>
          </a:p>
          <a:p>
            <a:pPr marL="0" indent="0">
              <a:buNone/>
            </a:pPr>
            <a:endParaRPr lang="en-US" sz="2150" dirty="0"/>
          </a:p>
          <a:p>
            <a:pPr marL="0" indent="0">
              <a:buNone/>
            </a:pPr>
            <a:endParaRPr lang="en-US" sz="2150" dirty="0" smtClean="0"/>
          </a:p>
          <a:p>
            <a:pPr marL="0" indent="0">
              <a:buNone/>
            </a:pPr>
            <a:endParaRPr lang="en-US" sz="2150" dirty="0"/>
          </a:p>
          <a:p>
            <a:pPr marL="0" indent="0">
              <a:buNone/>
            </a:pPr>
            <a:endParaRPr lang="en-US" sz="2150" dirty="0" smtClean="0"/>
          </a:p>
          <a:p>
            <a:pPr marL="0" indent="0">
              <a:buNone/>
            </a:pPr>
            <a:r>
              <a:rPr lang="en-US" sz="2150" dirty="0"/>
              <a:t>From the result table above, group “feature” affects highly significantly on treatment “precision” in comparison with group “</a:t>
            </a:r>
            <a:r>
              <a:rPr lang="en-US" sz="2150" dirty="0" err="1"/>
              <a:t>vec</a:t>
            </a:r>
            <a:r>
              <a:rPr lang="en-US" sz="2150" dirty="0"/>
              <a:t>” because the F-statistic of group “feature” (23.3842) is highly larger than the F-statistic of group “</a:t>
            </a:r>
            <a:r>
              <a:rPr lang="en-US" sz="2150" dirty="0" err="1"/>
              <a:t>vec</a:t>
            </a:r>
            <a:r>
              <a:rPr lang="en-US" sz="2150" dirty="0"/>
              <a:t>” (0.118) with very small P-value (&lt; 0.0001). Moreover, there is no significant interaction between group “</a:t>
            </a:r>
            <a:r>
              <a:rPr lang="en-US" sz="2150" dirty="0" err="1"/>
              <a:t>vec</a:t>
            </a:r>
            <a:r>
              <a:rPr lang="en-US" sz="2150" dirty="0"/>
              <a:t>” and group “feature” because the F-statistic of the interaction effect “</a:t>
            </a:r>
            <a:r>
              <a:rPr lang="en-US" sz="2150" dirty="0" err="1"/>
              <a:t>vec:feature</a:t>
            </a:r>
            <a:r>
              <a:rPr lang="en-US" sz="2150" dirty="0"/>
              <a:t>” (0.2909) is small and its P-value (0.7481) is too larger than 0.05.</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47</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876166085"/>
              </p:ext>
            </p:extLst>
          </p:nvPr>
        </p:nvGraphicFramePr>
        <p:xfrm>
          <a:off x="833120" y="2582863"/>
          <a:ext cx="10515600" cy="1638300"/>
        </p:xfrm>
        <a:graphic>
          <a:graphicData uri="http://schemas.openxmlformats.org/drawingml/2006/table">
            <a:tbl>
              <a:tblPr firstRow="1" firstCol="1" bandRow="1">
                <a:tableStyleId>{5C22544A-7EE6-4342-B048-85BDC9FD1C3A}</a:tableStyleId>
              </a:tblPr>
              <a:tblGrid>
                <a:gridCol w="1752600">
                  <a:extLst>
                    <a:ext uri="{9D8B030D-6E8A-4147-A177-3AD203B41FA5}">
                      <a16:colId xmlns:a16="http://schemas.microsoft.com/office/drawing/2014/main" val="3852337125"/>
                    </a:ext>
                  </a:extLst>
                </a:gridCol>
                <a:gridCol w="1752600">
                  <a:extLst>
                    <a:ext uri="{9D8B030D-6E8A-4147-A177-3AD203B41FA5}">
                      <a16:colId xmlns:a16="http://schemas.microsoft.com/office/drawing/2014/main" val="2588108206"/>
                    </a:ext>
                  </a:extLst>
                </a:gridCol>
                <a:gridCol w="1752600">
                  <a:extLst>
                    <a:ext uri="{9D8B030D-6E8A-4147-A177-3AD203B41FA5}">
                      <a16:colId xmlns:a16="http://schemas.microsoft.com/office/drawing/2014/main" val="269304889"/>
                    </a:ext>
                  </a:extLst>
                </a:gridCol>
                <a:gridCol w="1752600">
                  <a:extLst>
                    <a:ext uri="{9D8B030D-6E8A-4147-A177-3AD203B41FA5}">
                      <a16:colId xmlns:a16="http://schemas.microsoft.com/office/drawing/2014/main" val="4289408297"/>
                    </a:ext>
                  </a:extLst>
                </a:gridCol>
                <a:gridCol w="1752600">
                  <a:extLst>
                    <a:ext uri="{9D8B030D-6E8A-4147-A177-3AD203B41FA5}">
                      <a16:colId xmlns:a16="http://schemas.microsoft.com/office/drawing/2014/main" val="1066941455"/>
                    </a:ext>
                  </a:extLst>
                </a:gridCol>
                <a:gridCol w="1752600">
                  <a:extLst>
                    <a:ext uri="{9D8B030D-6E8A-4147-A177-3AD203B41FA5}">
                      <a16:colId xmlns:a16="http://schemas.microsoft.com/office/drawing/2014/main" val="3043237073"/>
                    </a:ext>
                  </a:extLst>
                </a:gridCol>
              </a:tblGrid>
              <a:tr h="0">
                <a:tc>
                  <a:txBody>
                    <a:bodyPr/>
                    <a:lstStyle/>
                    <a:p>
                      <a:pPr marL="0" marR="0" algn="ctr">
                        <a:spcBef>
                          <a:spcPts val="0"/>
                        </a:spcBef>
                        <a:spcAft>
                          <a:spcPts val="0"/>
                        </a:spcAft>
                      </a:pPr>
                      <a:r>
                        <a:rPr lang="en-US" sz="2150">
                          <a:effectLst/>
                          <a:latin typeface="Times New Roman" panose="02020603050405020304" pitchFamily="18" charset="0"/>
                          <a:cs typeface="Times New Roman" panose="02020603050405020304" pitchFamily="18" charset="0"/>
                        </a:rPr>
                        <a:t>Source</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150">
                          <a:effectLst/>
                          <a:latin typeface="Times New Roman" panose="02020603050405020304" pitchFamily="18" charset="0"/>
                          <a:cs typeface="Times New Roman" panose="02020603050405020304" pitchFamily="18" charset="0"/>
                        </a:rPr>
                        <a:t>SS</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150" dirty="0">
                          <a:effectLst/>
                          <a:latin typeface="Times New Roman" panose="02020603050405020304" pitchFamily="18" charset="0"/>
                          <a:cs typeface="Times New Roman" panose="02020603050405020304" pitchFamily="18" charset="0"/>
                        </a:rPr>
                        <a:t>DF</a:t>
                      </a:r>
                      <a:endParaRPr lang="en-US" sz="215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150">
                          <a:effectLst/>
                          <a:latin typeface="Times New Roman" panose="02020603050405020304" pitchFamily="18" charset="0"/>
                          <a:cs typeface="Times New Roman" panose="02020603050405020304" pitchFamily="18" charset="0"/>
                        </a:rPr>
                        <a:t>F-statistic</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150">
                          <a:effectLst/>
                          <a:latin typeface="Times New Roman" panose="02020603050405020304" pitchFamily="18" charset="0"/>
                          <a:cs typeface="Times New Roman" panose="02020603050405020304" pitchFamily="18" charset="0"/>
                        </a:rPr>
                        <a:t>P-value</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150">
                          <a:effectLst/>
                          <a:latin typeface="Times New Roman" panose="02020603050405020304" pitchFamily="18" charset="0"/>
                          <a:cs typeface="Times New Roman" panose="02020603050405020304" pitchFamily="18" charset="0"/>
                        </a:rPr>
                        <a:t>Significant</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779014709"/>
                  </a:ext>
                </a:extLst>
              </a:tr>
              <a:tr h="0">
                <a:tc>
                  <a:txBody>
                    <a:bodyPr/>
                    <a:lstStyle/>
                    <a:p>
                      <a:pPr marL="0" marR="0" algn="just">
                        <a:spcBef>
                          <a:spcPts val="0"/>
                        </a:spcBef>
                        <a:spcAft>
                          <a:spcPts val="0"/>
                        </a:spcAft>
                      </a:pPr>
                      <a:r>
                        <a:rPr lang="en-US" sz="2150">
                          <a:effectLst/>
                          <a:latin typeface="Times New Roman" panose="02020603050405020304" pitchFamily="18" charset="0"/>
                          <a:cs typeface="Times New Roman" panose="02020603050405020304" pitchFamily="18" charset="0"/>
                        </a:rPr>
                        <a:t>vec</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4.8e-5</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1</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0.1180</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0.7318</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No</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014156884"/>
                  </a:ext>
                </a:extLst>
              </a:tr>
              <a:tr h="0">
                <a:tc>
                  <a:txBody>
                    <a:bodyPr/>
                    <a:lstStyle/>
                    <a:p>
                      <a:pPr marL="0" marR="0" algn="just">
                        <a:spcBef>
                          <a:spcPts val="0"/>
                        </a:spcBef>
                        <a:spcAft>
                          <a:spcPts val="0"/>
                        </a:spcAft>
                      </a:pPr>
                      <a:r>
                        <a:rPr lang="en-US" sz="2150">
                          <a:effectLst/>
                          <a:latin typeface="Times New Roman" panose="02020603050405020304" pitchFamily="18" charset="0"/>
                          <a:cs typeface="Times New Roman" panose="02020603050405020304" pitchFamily="18" charset="0"/>
                        </a:rPr>
                        <a:t>feature</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0.01908</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2</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23.3842</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&lt; 0.0001</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Yes</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369599067"/>
                  </a:ext>
                </a:extLst>
              </a:tr>
              <a:tr h="0">
                <a:tc>
                  <a:txBody>
                    <a:bodyPr/>
                    <a:lstStyle/>
                    <a:p>
                      <a:pPr marL="0" marR="0" algn="just">
                        <a:spcBef>
                          <a:spcPts val="0"/>
                        </a:spcBef>
                        <a:spcAft>
                          <a:spcPts val="0"/>
                        </a:spcAft>
                      </a:pPr>
                      <a:r>
                        <a:rPr lang="en-US" sz="2150">
                          <a:effectLst/>
                          <a:latin typeface="Times New Roman" panose="02020603050405020304" pitchFamily="18" charset="0"/>
                          <a:cs typeface="Times New Roman" panose="02020603050405020304" pitchFamily="18" charset="0"/>
                        </a:rPr>
                        <a:t>vec:feature</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0.00024</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2</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0.2909</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0.7481</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No</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492799864"/>
                  </a:ext>
                </a:extLst>
              </a:tr>
              <a:tr h="0">
                <a:tc>
                  <a:txBody>
                    <a:bodyPr/>
                    <a:lstStyle/>
                    <a:p>
                      <a:pPr marL="0" marR="0" algn="just">
                        <a:spcBef>
                          <a:spcPts val="0"/>
                        </a:spcBef>
                        <a:spcAft>
                          <a:spcPts val="0"/>
                        </a:spcAft>
                      </a:pPr>
                      <a:r>
                        <a:rPr lang="en-US" sz="2150">
                          <a:effectLst/>
                          <a:latin typeface="Times New Roman" panose="02020603050405020304" pitchFamily="18" charset="0"/>
                          <a:cs typeface="Times New Roman" panose="02020603050405020304" pitchFamily="18" charset="0"/>
                        </a:rPr>
                        <a:t>Residual</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0.0465</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114</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 </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a:effectLst/>
                          <a:latin typeface="Times New Roman" panose="02020603050405020304" pitchFamily="18" charset="0"/>
                          <a:cs typeface="Times New Roman" panose="02020603050405020304" pitchFamily="18" charset="0"/>
                        </a:rPr>
                        <a:t> </a:t>
                      </a:r>
                      <a:endParaRPr lang="en-US" sz="215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50" dirty="0">
                          <a:effectLst/>
                          <a:latin typeface="Times New Roman" panose="02020603050405020304" pitchFamily="18" charset="0"/>
                          <a:cs typeface="Times New Roman" panose="02020603050405020304" pitchFamily="18" charset="0"/>
                        </a:rPr>
                        <a:t> </a:t>
                      </a:r>
                      <a:endParaRPr lang="en-US" sz="215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532884022"/>
                  </a:ext>
                </a:extLst>
              </a:tr>
            </a:tbl>
          </a:graphicData>
        </a:graphic>
      </p:graphicFrame>
    </p:spTree>
    <p:extLst>
      <p:ext uri="{BB962C8B-B14F-4D97-AF65-F5344CB8AC3E}">
        <p14:creationId xmlns:p14="http://schemas.microsoft.com/office/powerpoint/2010/main" val="286937907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Results and </a:t>
            </a:r>
            <a:r>
              <a:rPr lang="en-US" dirty="0" smtClean="0"/>
              <a:t>discussions (skip)</a:t>
            </a:r>
            <a:endParaRPr lang="en-US" dirty="0"/>
          </a:p>
        </p:txBody>
      </p:sp>
      <p:sp>
        <p:nvSpPr>
          <p:cNvPr id="3" name="Content Placeholder 2"/>
          <p:cNvSpPr>
            <a:spLocks noGrp="1"/>
          </p:cNvSpPr>
          <p:nvPr>
            <p:ph idx="1"/>
          </p:nvPr>
        </p:nvSpPr>
        <p:spPr>
          <a:xfrm>
            <a:off x="71120" y="914399"/>
            <a:ext cx="12039600" cy="5176066"/>
          </a:xfrm>
        </p:spPr>
        <p:txBody>
          <a:bodyPr>
            <a:noAutofit/>
          </a:bodyPr>
          <a:lstStyle/>
          <a:p>
            <a:pPr marL="0" indent="0">
              <a:buNone/>
            </a:pPr>
            <a:r>
              <a:rPr lang="en-US" sz="2500" dirty="0">
                <a:effectLst>
                  <a:outerShdw blurRad="38100" dist="38100" dir="2700000" algn="tl">
                    <a:srgbClr val="000000">
                      <a:alpha val="43137"/>
                    </a:srgbClr>
                  </a:outerShdw>
                </a:effectLst>
              </a:rPr>
              <a:t>The following table shows the ANOVA results for recall metric, which indicates how groups “</a:t>
            </a:r>
            <a:r>
              <a:rPr lang="en-US" sz="2500" dirty="0" err="1">
                <a:effectLst>
                  <a:outerShdw blurRad="38100" dist="38100" dir="2700000" algn="tl">
                    <a:srgbClr val="000000">
                      <a:alpha val="43137"/>
                    </a:srgbClr>
                  </a:outerShdw>
                </a:effectLst>
              </a:rPr>
              <a:t>vec</a:t>
            </a:r>
            <a:r>
              <a:rPr lang="en-US" sz="2500" dirty="0">
                <a:effectLst>
                  <a:outerShdw blurRad="38100" dist="38100" dir="2700000" algn="tl">
                    <a:srgbClr val="000000">
                      <a:alpha val="43137"/>
                    </a:srgbClr>
                  </a:outerShdw>
                </a:effectLst>
              </a:rPr>
              <a:t>” and “feature” affect on treatment “recall”</a:t>
            </a:r>
            <a:r>
              <a:rPr lang="en-US" sz="2500" dirty="0"/>
              <a:t> (Gemini 2025</a:t>
            </a:r>
            <a:r>
              <a:rPr lang="en-US" sz="2500" dirty="0" smtClean="0"/>
              <a:t>).</a:t>
            </a:r>
          </a:p>
          <a:p>
            <a:pPr marL="0" indent="0">
              <a:buNone/>
            </a:pPr>
            <a:endParaRPr lang="en-US" sz="2500" dirty="0" smtClean="0"/>
          </a:p>
          <a:p>
            <a:pPr marL="0" indent="0">
              <a:buNone/>
            </a:pPr>
            <a:endParaRPr lang="en-US" sz="2500" dirty="0"/>
          </a:p>
          <a:p>
            <a:pPr marL="0" indent="0">
              <a:buNone/>
            </a:pPr>
            <a:endParaRPr lang="en-US" sz="2500" dirty="0" smtClean="0"/>
          </a:p>
          <a:p>
            <a:pPr marL="0" indent="0">
              <a:buNone/>
            </a:pPr>
            <a:endParaRPr lang="en-US" sz="2500" dirty="0"/>
          </a:p>
          <a:p>
            <a:pPr marL="0" indent="0">
              <a:buNone/>
            </a:pPr>
            <a:endParaRPr lang="en-US" sz="2500" dirty="0" smtClean="0"/>
          </a:p>
          <a:p>
            <a:pPr marL="0" indent="0">
              <a:buNone/>
            </a:pPr>
            <a:r>
              <a:rPr lang="en-US" sz="2500" dirty="0"/>
              <a:t>From the result table above, group “feature” affects highly significantly on treatment “recall” in comparison with group “</a:t>
            </a:r>
            <a:r>
              <a:rPr lang="en-US" sz="2500" dirty="0" err="1"/>
              <a:t>vec</a:t>
            </a:r>
            <a:r>
              <a:rPr lang="en-US" sz="2500" dirty="0"/>
              <a:t>” because the F-statistic of group “feature” (315.5278) is highly larger than the F-statistic of group “</a:t>
            </a:r>
            <a:r>
              <a:rPr lang="en-US" sz="2500" dirty="0" err="1"/>
              <a:t>vec</a:t>
            </a:r>
            <a:r>
              <a:rPr lang="en-US" sz="2500" dirty="0"/>
              <a:t>” (1.5663) with very small P-value (&lt; 0.0001). Moreover, there is no significant interaction between group “</a:t>
            </a:r>
            <a:r>
              <a:rPr lang="en-US" sz="2500" dirty="0" err="1"/>
              <a:t>vec</a:t>
            </a:r>
            <a:r>
              <a:rPr lang="en-US" sz="2500" dirty="0"/>
              <a:t>” and group “feature” because the F-statistic of the interaction effect “</a:t>
            </a:r>
            <a:r>
              <a:rPr lang="en-US" sz="2500" dirty="0" err="1"/>
              <a:t>vec:feature</a:t>
            </a:r>
            <a:r>
              <a:rPr lang="en-US" sz="2500" dirty="0"/>
              <a:t>” (1.1690) is small and its P-value (0.3144) is too larger than 0.05</a:t>
            </a:r>
            <a:r>
              <a:rPr lang="en-US" sz="2500" dirty="0" smtClean="0"/>
              <a:t>.</a:t>
            </a:r>
            <a:endParaRPr lang="en-US" sz="2500" dirty="0"/>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48</a:t>
            </a:fld>
            <a:endParaRPr lang="en-US"/>
          </a:p>
        </p:txBody>
      </p:sp>
      <p:graphicFrame>
        <p:nvGraphicFramePr>
          <p:cNvPr id="8" name="Table 7"/>
          <p:cNvGraphicFramePr>
            <a:graphicFrameLocks noGrp="1"/>
          </p:cNvGraphicFramePr>
          <p:nvPr>
            <p:extLst>
              <p:ext uri="{D42A27DB-BD31-4B8C-83A1-F6EECF244321}">
                <p14:modId xmlns:p14="http://schemas.microsoft.com/office/powerpoint/2010/main" val="3474911389"/>
              </p:ext>
            </p:extLst>
          </p:nvPr>
        </p:nvGraphicFramePr>
        <p:xfrm>
          <a:off x="833120" y="1749743"/>
          <a:ext cx="10515600" cy="1905000"/>
        </p:xfrm>
        <a:graphic>
          <a:graphicData uri="http://schemas.openxmlformats.org/drawingml/2006/table">
            <a:tbl>
              <a:tblPr firstRow="1" firstCol="1" bandRow="1">
                <a:tableStyleId>{5C22544A-7EE6-4342-B048-85BDC9FD1C3A}</a:tableStyleId>
              </a:tblPr>
              <a:tblGrid>
                <a:gridCol w="1752600">
                  <a:extLst>
                    <a:ext uri="{9D8B030D-6E8A-4147-A177-3AD203B41FA5}">
                      <a16:colId xmlns:a16="http://schemas.microsoft.com/office/drawing/2014/main" val="1341219228"/>
                    </a:ext>
                  </a:extLst>
                </a:gridCol>
                <a:gridCol w="1752600">
                  <a:extLst>
                    <a:ext uri="{9D8B030D-6E8A-4147-A177-3AD203B41FA5}">
                      <a16:colId xmlns:a16="http://schemas.microsoft.com/office/drawing/2014/main" val="1241469421"/>
                    </a:ext>
                  </a:extLst>
                </a:gridCol>
                <a:gridCol w="1752600">
                  <a:extLst>
                    <a:ext uri="{9D8B030D-6E8A-4147-A177-3AD203B41FA5}">
                      <a16:colId xmlns:a16="http://schemas.microsoft.com/office/drawing/2014/main" val="262343123"/>
                    </a:ext>
                  </a:extLst>
                </a:gridCol>
                <a:gridCol w="1752600">
                  <a:extLst>
                    <a:ext uri="{9D8B030D-6E8A-4147-A177-3AD203B41FA5}">
                      <a16:colId xmlns:a16="http://schemas.microsoft.com/office/drawing/2014/main" val="2884467624"/>
                    </a:ext>
                  </a:extLst>
                </a:gridCol>
                <a:gridCol w="1752600">
                  <a:extLst>
                    <a:ext uri="{9D8B030D-6E8A-4147-A177-3AD203B41FA5}">
                      <a16:colId xmlns:a16="http://schemas.microsoft.com/office/drawing/2014/main" val="1127211806"/>
                    </a:ext>
                  </a:extLst>
                </a:gridCol>
                <a:gridCol w="1752600">
                  <a:extLst>
                    <a:ext uri="{9D8B030D-6E8A-4147-A177-3AD203B41FA5}">
                      <a16:colId xmlns:a16="http://schemas.microsoft.com/office/drawing/2014/main" val="2736206560"/>
                    </a:ext>
                  </a:extLst>
                </a:gridCol>
              </a:tblGrid>
              <a:tr h="0">
                <a:tc>
                  <a:txBody>
                    <a:bodyPr/>
                    <a:lstStyle/>
                    <a:p>
                      <a:pPr marL="0" marR="0" algn="ctr">
                        <a:spcBef>
                          <a:spcPts val="0"/>
                        </a:spcBef>
                        <a:spcAft>
                          <a:spcPts val="0"/>
                        </a:spcAft>
                      </a:pPr>
                      <a:r>
                        <a:rPr lang="en-US" sz="2500">
                          <a:effectLst/>
                          <a:latin typeface="Times New Roman" panose="02020603050405020304" pitchFamily="18" charset="0"/>
                          <a:cs typeface="Times New Roman" panose="02020603050405020304" pitchFamily="18" charset="0"/>
                        </a:rPr>
                        <a:t>Source</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500">
                          <a:effectLst/>
                          <a:latin typeface="Times New Roman" panose="02020603050405020304" pitchFamily="18" charset="0"/>
                          <a:cs typeface="Times New Roman" panose="02020603050405020304" pitchFamily="18" charset="0"/>
                        </a:rPr>
                        <a:t>SS</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500" dirty="0">
                          <a:effectLst/>
                          <a:latin typeface="Times New Roman" panose="02020603050405020304" pitchFamily="18" charset="0"/>
                          <a:cs typeface="Times New Roman" panose="02020603050405020304" pitchFamily="18" charset="0"/>
                        </a:rPr>
                        <a:t>DF</a:t>
                      </a:r>
                      <a:endParaRPr lang="en-US" sz="25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500">
                          <a:effectLst/>
                          <a:latin typeface="Times New Roman" panose="02020603050405020304" pitchFamily="18" charset="0"/>
                          <a:cs typeface="Times New Roman" panose="02020603050405020304" pitchFamily="18" charset="0"/>
                        </a:rPr>
                        <a:t>F-statistic</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500">
                          <a:effectLst/>
                          <a:latin typeface="Times New Roman" panose="02020603050405020304" pitchFamily="18" charset="0"/>
                          <a:cs typeface="Times New Roman" panose="02020603050405020304" pitchFamily="18" charset="0"/>
                        </a:rPr>
                        <a:t>P-value</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500">
                          <a:effectLst/>
                          <a:latin typeface="Times New Roman" panose="02020603050405020304" pitchFamily="18" charset="0"/>
                          <a:cs typeface="Times New Roman" panose="02020603050405020304" pitchFamily="18" charset="0"/>
                        </a:rPr>
                        <a:t>Significant</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400686151"/>
                  </a:ext>
                </a:extLst>
              </a:tr>
              <a:tr h="0">
                <a:tc>
                  <a:txBody>
                    <a:bodyPr/>
                    <a:lstStyle/>
                    <a:p>
                      <a:pPr marL="0" marR="0" algn="just">
                        <a:spcBef>
                          <a:spcPts val="0"/>
                        </a:spcBef>
                        <a:spcAft>
                          <a:spcPts val="0"/>
                        </a:spcAft>
                      </a:pPr>
                      <a:r>
                        <a:rPr lang="en-US" sz="2500">
                          <a:effectLst/>
                          <a:latin typeface="Times New Roman" panose="02020603050405020304" pitchFamily="18" charset="0"/>
                          <a:cs typeface="Times New Roman" panose="02020603050405020304" pitchFamily="18" charset="0"/>
                        </a:rPr>
                        <a:t>vec</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0.00809</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1</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1.5663</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0.2133</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No</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223238860"/>
                  </a:ext>
                </a:extLst>
              </a:tr>
              <a:tr h="0">
                <a:tc>
                  <a:txBody>
                    <a:bodyPr/>
                    <a:lstStyle/>
                    <a:p>
                      <a:pPr marL="0" marR="0" algn="just">
                        <a:spcBef>
                          <a:spcPts val="0"/>
                        </a:spcBef>
                        <a:spcAft>
                          <a:spcPts val="0"/>
                        </a:spcAft>
                      </a:pPr>
                      <a:r>
                        <a:rPr lang="en-US" sz="2500">
                          <a:effectLst/>
                          <a:latin typeface="Times New Roman" panose="02020603050405020304" pitchFamily="18" charset="0"/>
                          <a:cs typeface="Times New Roman" panose="02020603050405020304" pitchFamily="18" charset="0"/>
                        </a:rPr>
                        <a:t>feature</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3.25747</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2</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315.5278</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&lt; 0.0001</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Yes</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414080914"/>
                  </a:ext>
                </a:extLst>
              </a:tr>
              <a:tr h="0">
                <a:tc>
                  <a:txBody>
                    <a:bodyPr/>
                    <a:lstStyle/>
                    <a:p>
                      <a:pPr marL="0" marR="0" algn="just">
                        <a:spcBef>
                          <a:spcPts val="0"/>
                        </a:spcBef>
                        <a:spcAft>
                          <a:spcPts val="0"/>
                        </a:spcAft>
                      </a:pPr>
                      <a:r>
                        <a:rPr lang="en-US" sz="2500">
                          <a:effectLst/>
                          <a:latin typeface="Times New Roman" panose="02020603050405020304" pitchFamily="18" charset="0"/>
                          <a:cs typeface="Times New Roman" panose="02020603050405020304" pitchFamily="18" charset="0"/>
                        </a:rPr>
                        <a:t>vec:feature</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0.01207</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2</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1.1690</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0.3144</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No</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4260855899"/>
                  </a:ext>
                </a:extLst>
              </a:tr>
              <a:tr h="0">
                <a:tc>
                  <a:txBody>
                    <a:bodyPr/>
                    <a:lstStyle/>
                    <a:p>
                      <a:pPr marL="0" marR="0" algn="just">
                        <a:spcBef>
                          <a:spcPts val="0"/>
                        </a:spcBef>
                        <a:spcAft>
                          <a:spcPts val="0"/>
                        </a:spcAft>
                      </a:pPr>
                      <a:r>
                        <a:rPr lang="en-US" sz="2500">
                          <a:effectLst/>
                          <a:latin typeface="Times New Roman" panose="02020603050405020304" pitchFamily="18" charset="0"/>
                          <a:cs typeface="Times New Roman" panose="02020603050405020304" pitchFamily="18" charset="0"/>
                        </a:rPr>
                        <a:t>Residual</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0.58846</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114</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 </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a:effectLst/>
                          <a:latin typeface="Times New Roman" panose="02020603050405020304" pitchFamily="18" charset="0"/>
                          <a:cs typeface="Times New Roman" panose="02020603050405020304" pitchFamily="18" charset="0"/>
                        </a:rPr>
                        <a:t> </a:t>
                      </a:r>
                      <a:endParaRPr lang="en-US" sz="2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500" dirty="0">
                          <a:effectLst/>
                          <a:latin typeface="Times New Roman" panose="02020603050405020304" pitchFamily="18" charset="0"/>
                          <a:cs typeface="Times New Roman" panose="02020603050405020304" pitchFamily="18" charset="0"/>
                        </a:rPr>
                        <a:t> </a:t>
                      </a:r>
                      <a:endParaRPr lang="en-US" sz="25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598080156"/>
                  </a:ext>
                </a:extLst>
              </a:tr>
            </a:tbl>
          </a:graphicData>
        </a:graphic>
      </p:graphicFrame>
    </p:spTree>
    <p:extLst>
      <p:ext uri="{BB962C8B-B14F-4D97-AF65-F5344CB8AC3E}">
        <p14:creationId xmlns:p14="http://schemas.microsoft.com/office/powerpoint/2010/main" val="25054453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Results and </a:t>
            </a:r>
            <a:r>
              <a:rPr lang="en-US" dirty="0" smtClean="0"/>
              <a:t>discussions (main)</a:t>
            </a:r>
            <a:endParaRPr lang="en-US" dirty="0"/>
          </a:p>
        </p:txBody>
      </p:sp>
      <p:sp>
        <p:nvSpPr>
          <p:cNvPr id="3" name="Content Placeholder 2"/>
          <p:cNvSpPr>
            <a:spLocks noGrp="1"/>
          </p:cNvSpPr>
          <p:nvPr>
            <p:ph idx="1"/>
          </p:nvPr>
        </p:nvSpPr>
        <p:spPr/>
        <p:txBody>
          <a:bodyPr>
            <a:normAutofit/>
          </a:bodyPr>
          <a:lstStyle/>
          <a:p>
            <a:pPr marL="0" indent="0">
              <a:buNone/>
            </a:pPr>
            <a:r>
              <a:rPr lang="en-US" sz="3000" dirty="0">
                <a:effectLst>
                  <a:outerShdw blurRad="38100" dist="38100" dir="2700000" algn="tl">
                    <a:srgbClr val="000000">
                      <a:alpha val="43137"/>
                    </a:srgbClr>
                  </a:outerShdw>
                </a:effectLst>
              </a:rPr>
              <a:t>In general, within metrics accuracy, F1, precision, and recall, for the third hypothesis “FFN of transformer should be MNN (vector FEC is better than matrix FEC)”, it is possible to conclude that FFN/FEC of MNN classifier and TB classifier should be matrix because it is not necessary to </a:t>
            </a:r>
            <a:r>
              <a:rPr lang="en-US" sz="3000" dirty="0" err="1">
                <a:effectLst>
                  <a:outerShdw blurRad="38100" dist="38100" dir="2700000" algn="tl">
                    <a:srgbClr val="000000">
                      <a:alpha val="43137"/>
                    </a:srgbClr>
                  </a:outerShdw>
                </a:effectLst>
              </a:rPr>
              <a:t>vectorize</a:t>
            </a:r>
            <a:r>
              <a:rPr lang="en-US" sz="3000" dirty="0">
                <a:effectLst>
                  <a:outerShdw blurRad="38100" dist="38100" dir="2700000" algn="tl">
                    <a:srgbClr val="000000">
                      <a:alpha val="43137"/>
                    </a:srgbClr>
                  </a:outerShdw>
                </a:effectLst>
              </a:rPr>
              <a:t> FEC to obtain better classification while </a:t>
            </a:r>
            <a:r>
              <a:rPr lang="en-US" sz="3000" dirty="0" err="1">
                <a:effectLst>
                  <a:outerShdw blurRad="38100" dist="38100" dir="2700000" algn="tl">
                    <a:srgbClr val="000000">
                      <a:alpha val="43137"/>
                    </a:srgbClr>
                  </a:outerShdw>
                </a:effectLst>
              </a:rPr>
              <a:t>vectorized</a:t>
            </a:r>
            <a:r>
              <a:rPr lang="en-US" sz="3000" dirty="0">
                <a:effectLst>
                  <a:outerShdw blurRad="38100" dist="38100" dir="2700000" algn="tl">
                    <a:srgbClr val="000000">
                      <a:alpha val="43137"/>
                    </a:srgbClr>
                  </a:outerShdw>
                </a:effectLst>
              </a:rPr>
              <a:t> FEC (vector FEC) consumes much more computational resources. Exactly, there is significant evidence to reject null hypothesis of the third hypothesis or there is significant evidence to support the third hypothesis.</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49</a:t>
            </a:fld>
            <a:endParaRPr lang="en-US"/>
          </a:p>
        </p:txBody>
      </p:sp>
    </p:spTree>
    <p:extLst>
      <p:ext uri="{BB962C8B-B14F-4D97-AF65-F5344CB8AC3E}">
        <p14:creationId xmlns:p14="http://schemas.microsoft.com/office/powerpoint/2010/main" val="206553803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Results and discussions</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673992200"/>
              </p:ext>
            </p:extLst>
          </p:nvPr>
        </p:nvGraphicFramePr>
        <p:xfrm>
          <a:off x="4511039" y="1084739"/>
          <a:ext cx="7566662" cy="5120640"/>
        </p:xfrm>
        <a:graphic>
          <a:graphicData uri="http://schemas.openxmlformats.org/drawingml/2006/table">
            <a:tbl>
              <a:tblPr firstRow="1" firstCol="1" bandRow="1">
                <a:tableStyleId>{5C22544A-7EE6-4342-B048-85BDC9FD1C3A}</a:tableStyleId>
              </a:tblPr>
              <a:tblGrid>
                <a:gridCol w="742341">
                  <a:extLst>
                    <a:ext uri="{9D8B030D-6E8A-4147-A177-3AD203B41FA5}">
                      <a16:colId xmlns:a16="http://schemas.microsoft.com/office/drawing/2014/main" val="1666854527"/>
                    </a:ext>
                  </a:extLst>
                </a:gridCol>
                <a:gridCol w="1292064">
                  <a:extLst>
                    <a:ext uri="{9D8B030D-6E8A-4147-A177-3AD203B41FA5}">
                      <a16:colId xmlns:a16="http://schemas.microsoft.com/office/drawing/2014/main" val="3928887933"/>
                    </a:ext>
                  </a:extLst>
                </a:gridCol>
                <a:gridCol w="1452355">
                  <a:extLst>
                    <a:ext uri="{9D8B030D-6E8A-4147-A177-3AD203B41FA5}">
                      <a16:colId xmlns:a16="http://schemas.microsoft.com/office/drawing/2014/main" val="329281794"/>
                    </a:ext>
                  </a:extLst>
                </a:gridCol>
                <a:gridCol w="1153015">
                  <a:extLst>
                    <a:ext uri="{9D8B030D-6E8A-4147-A177-3AD203B41FA5}">
                      <a16:colId xmlns:a16="http://schemas.microsoft.com/office/drawing/2014/main" val="2014797705"/>
                    </a:ext>
                  </a:extLst>
                </a:gridCol>
                <a:gridCol w="1585396">
                  <a:extLst>
                    <a:ext uri="{9D8B030D-6E8A-4147-A177-3AD203B41FA5}">
                      <a16:colId xmlns:a16="http://schemas.microsoft.com/office/drawing/2014/main" val="1329672026"/>
                    </a:ext>
                  </a:extLst>
                </a:gridCol>
                <a:gridCol w="1341491">
                  <a:extLst>
                    <a:ext uri="{9D8B030D-6E8A-4147-A177-3AD203B41FA5}">
                      <a16:colId xmlns:a16="http://schemas.microsoft.com/office/drawing/2014/main" val="1345919224"/>
                    </a:ext>
                  </a:extLst>
                </a:gridCol>
              </a:tblGrid>
              <a:tr h="0">
                <a:tc>
                  <a:txBody>
                    <a:bodyPr/>
                    <a:lstStyle/>
                    <a:p>
                      <a:pPr marL="0" marR="0" algn="ctr">
                        <a:spcBef>
                          <a:spcPts val="0"/>
                        </a:spcBef>
                        <a:spcAft>
                          <a:spcPts val="0"/>
                        </a:spcAft>
                      </a:pPr>
                      <a:r>
                        <a:rPr lang="en-US" sz="2400">
                          <a:effectLst/>
                          <a:latin typeface="Times New Roman" panose="02020603050405020304" pitchFamily="18" charset="0"/>
                          <a:cs typeface="Times New Roman" panose="02020603050405020304" pitchFamily="18" charset="0"/>
                        </a:rPr>
                        <a:t>vec</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latin typeface="Times New Roman" panose="02020603050405020304" pitchFamily="18" charset="0"/>
                          <a:cs typeface="Times New Roman" panose="02020603050405020304" pitchFamily="18" charset="0"/>
                        </a:rPr>
                        <a:t>feature</a:t>
                      </a:r>
                      <a:endParaRPr lang="en-US" sz="24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a:effectLst/>
                          <a:latin typeface="Times New Roman" panose="02020603050405020304" pitchFamily="18" charset="0"/>
                          <a:cs typeface="Times New Roman" panose="02020603050405020304" pitchFamily="18" charset="0"/>
                        </a:rPr>
                        <a:t>Accuracy</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a:effectLst/>
                          <a:latin typeface="Times New Roman" panose="02020603050405020304" pitchFamily="18" charset="0"/>
                          <a:cs typeface="Times New Roman" panose="02020603050405020304" pitchFamily="18" charset="0"/>
                        </a:rPr>
                        <a:t>F1</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a:effectLst/>
                          <a:latin typeface="Times New Roman" panose="02020603050405020304" pitchFamily="18" charset="0"/>
                          <a:cs typeface="Times New Roman" panose="02020603050405020304" pitchFamily="18" charset="0"/>
                        </a:rPr>
                        <a:t>Precision</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a:effectLst/>
                          <a:latin typeface="Times New Roman" panose="02020603050405020304" pitchFamily="18" charset="0"/>
                          <a:cs typeface="Times New Roman" panose="02020603050405020304" pitchFamily="18" charset="0"/>
                        </a:rPr>
                        <a:t>Recall</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4205075491"/>
                  </a:ext>
                </a:extLst>
              </a:tr>
              <a:tr h="0">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false</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400" dirty="0" err="1">
                          <a:effectLst/>
                          <a:latin typeface="Times New Roman" panose="02020603050405020304" pitchFamily="18" charset="0"/>
                          <a:cs typeface="Times New Roman" panose="02020603050405020304" pitchFamily="18" charset="0"/>
                        </a:rPr>
                        <a:t>conv</a:t>
                      </a:r>
                      <a:endParaRPr lang="en-US" sz="24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0.0991</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0.0845</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0.0614</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0.4154</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319985451"/>
                  </a:ext>
                </a:extLst>
              </a:tr>
              <a:tr h="0">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false</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trans</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0.0834</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0.1508</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0.0881</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0.7751</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863668361"/>
                  </a:ext>
                </a:extLst>
              </a:tr>
              <a:tr h="0">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false</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weight</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0.0816</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0.1530</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0.0887</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0.7963</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981770696"/>
                  </a:ext>
                </a:extLst>
              </a:tr>
              <a:tr h="0">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true</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conv</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0.0980</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0.0983</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0.0631</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0.4601</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706990174"/>
                  </a:ext>
                </a:extLst>
              </a:tr>
              <a:tr h="0">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true</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trans</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0.0857</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0.1547</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0.0926</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0.7790</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750778916"/>
                  </a:ext>
                </a:extLst>
              </a:tr>
              <a:tr h="0">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true</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weight</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0.0809</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0.1502</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0.0863</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0.7970</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858571478"/>
                  </a:ext>
                </a:extLst>
              </a:tr>
              <a:tr h="0">
                <a:tc gridSpan="6">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 </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95425830"/>
                  </a:ext>
                </a:extLst>
              </a:tr>
              <a:tr h="0">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 </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conv</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0.0986</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0.0914</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0.0623</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0.4377</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658798261"/>
                  </a:ext>
                </a:extLst>
              </a:tr>
              <a:tr h="0">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 </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trans</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0.0846</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0.1527</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0.0903</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0.7771</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329232657"/>
                  </a:ext>
                </a:extLst>
              </a:tr>
              <a:tr h="0">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 </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weight</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0.0812</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0.1516</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0.0875</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0.7966</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580294860"/>
                  </a:ext>
                </a:extLst>
              </a:tr>
              <a:tr h="0">
                <a:tc gridSpan="6">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 </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78343010"/>
                  </a:ext>
                </a:extLst>
              </a:tr>
              <a:tr h="0">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false</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 </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0.0880</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0.1294</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0.0794</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0.6623</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818371559"/>
                  </a:ext>
                </a:extLst>
              </a:tr>
              <a:tr h="0">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true</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400">
                          <a:effectLst/>
                          <a:latin typeface="Times New Roman" panose="02020603050405020304" pitchFamily="18" charset="0"/>
                          <a:cs typeface="Times New Roman" panose="02020603050405020304" pitchFamily="18" charset="0"/>
                        </a:rPr>
                        <a:t> </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0.0882</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0.1344</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a:effectLst/>
                          <a:latin typeface="Times New Roman" panose="02020603050405020304" pitchFamily="18" charset="0"/>
                          <a:cs typeface="Times New Roman" panose="02020603050405020304" pitchFamily="18" charset="0"/>
                        </a:rPr>
                        <a:t>0.0807</a:t>
                      </a:r>
                      <a:endParaRPr lang="en-US" sz="24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400" dirty="0">
                          <a:effectLst/>
                          <a:latin typeface="Times New Roman" panose="02020603050405020304" pitchFamily="18" charset="0"/>
                          <a:cs typeface="Times New Roman" panose="02020603050405020304" pitchFamily="18" charset="0"/>
                        </a:rPr>
                        <a:t>0.6787</a:t>
                      </a:r>
                      <a:endParaRPr lang="en-US" sz="24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978721389"/>
                  </a:ext>
                </a:extLst>
              </a:tr>
            </a:tbl>
          </a:graphicData>
        </a:graphic>
      </p:graphicFrame>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50</a:t>
            </a:fld>
            <a:endParaRPr lang="en-US"/>
          </a:p>
        </p:txBody>
      </p:sp>
      <p:sp>
        <p:nvSpPr>
          <p:cNvPr id="8" name="Rectangle 7"/>
          <p:cNvSpPr/>
          <p:nvPr/>
        </p:nvSpPr>
        <p:spPr>
          <a:xfrm>
            <a:off x="91440" y="1084739"/>
            <a:ext cx="4226560" cy="3416320"/>
          </a:xfrm>
          <a:prstGeom prst="rect">
            <a:avLst/>
          </a:prstGeom>
        </p:spPr>
        <p:txBody>
          <a:bodyPr wrap="square">
            <a:spAutoFit/>
          </a:bodyPr>
          <a:lstStyle/>
          <a:p>
            <a:pPr algn="just"/>
            <a:r>
              <a:rPr lang="en-US" sz="2400" dirty="0">
                <a:latin typeface="Times New Roman" panose="02020603050405020304" pitchFamily="18" charset="0"/>
                <a:ea typeface="DengXian"/>
              </a:rPr>
              <a:t>Although the experiment focuses on testing the three </a:t>
            </a:r>
            <a:r>
              <a:rPr lang="en-US" sz="2400" dirty="0" smtClean="0">
                <a:latin typeface="Times New Roman" panose="02020603050405020304" pitchFamily="18" charset="0"/>
                <a:ea typeface="DengXian"/>
              </a:rPr>
              <a:t>hypotheses </a:t>
            </a:r>
            <a:r>
              <a:rPr lang="en-US" sz="2400" dirty="0">
                <a:latin typeface="Times New Roman" panose="02020603050405020304" pitchFamily="18" charset="0"/>
                <a:ea typeface="DengXian"/>
              </a:rPr>
              <a:t>by ANOVA tests on significant differences, </a:t>
            </a:r>
            <a:r>
              <a:rPr lang="en-US" sz="2400" dirty="0">
                <a:effectLst>
                  <a:outerShdw blurRad="38100" dist="38100" dir="2700000" algn="tl">
                    <a:srgbClr val="000000">
                      <a:alpha val="43137"/>
                    </a:srgbClr>
                  </a:outerShdw>
                </a:effectLst>
                <a:latin typeface="Times New Roman" panose="02020603050405020304" pitchFamily="18" charset="0"/>
                <a:ea typeface="DengXian"/>
              </a:rPr>
              <a:t>it is necessary to summarize means of metrics “accuracy”, “F1”, “precision”, and “recall” with respect to groups “</a:t>
            </a:r>
            <a:r>
              <a:rPr lang="en-US" sz="2400" dirty="0" err="1">
                <a:effectLst>
                  <a:outerShdw blurRad="38100" dist="38100" dir="2700000" algn="tl">
                    <a:srgbClr val="000000">
                      <a:alpha val="43137"/>
                    </a:srgbClr>
                  </a:outerShdw>
                </a:effectLst>
                <a:latin typeface="Times New Roman" panose="02020603050405020304" pitchFamily="18" charset="0"/>
                <a:ea typeface="DengXian"/>
              </a:rPr>
              <a:t>vec</a:t>
            </a:r>
            <a:r>
              <a:rPr lang="en-US" sz="2400" dirty="0">
                <a:effectLst>
                  <a:outerShdw blurRad="38100" dist="38100" dir="2700000" algn="tl">
                    <a:srgbClr val="000000">
                      <a:alpha val="43137"/>
                    </a:srgbClr>
                  </a:outerShdw>
                </a:effectLst>
                <a:latin typeface="Times New Roman" panose="02020603050405020304" pitchFamily="18" charset="0"/>
                <a:ea typeface="DengXian"/>
              </a:rPr>
              <a:t>” and “feature”</a:t>
            </a:r>
            <a:r>
              <a:rPr lang="en-US" sz="2400" dirty="0">
                <a:latin typeface="Times New Roman" panose="02020603050405020304" pitchFamily="18" charset="0"/>
                <a:ea typeface="DengXian"/>
              </a:rPr>
              <a:t> (Gemini 2025).</a:t>
            </a:r>
            <a:endParaRPr lang="en-US" sz="2400" dirty="0"/>
          </a:p>
        </p:txBody>
      </p:sp>
    </p:spTree>
    <p:extLst>
      <p:ext uri="{BB962C8B-B14F-4D97-AF65-F5344CB8AC3E}">
        <p14:creationId xmlns:p14="http://schemas.microsoft.com/office/powerpoint/2010/main" val="278396859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Results and </a:t>
            </a:r>
            <a:r>
              <a:rPr lang="en-US" dirty="0" smtClean="0"/>
              <a:t>discussions (main)</a:t>
            </a:r>
            <a:endParaRPr lang="en-US" dirty="0"/>
          </a:p>
        </p:txBody>
      </p:sp>
      <p:sp>
        <p:nvSpPr>
          <p:cNvPr id="3" name="Content Placeholder 2"/>
          <p:cNvSpPr>
            <a:spLocks noGrp="1"/>
          </p:cNvSpPr>
          <p:nvPr>
            <p:ph idx="1"/>
          </p:nvPr>
        </p:nvSpPr>
        <p:spPr>
          <a:xfrm>
            <a:off x="91440" y="914399"/>
            <a:ext cx="12009120" cy="5176066"/>
          </a:xfrm>
        </p:spPr>
        <p:txBody>
          <a:bodyPr>
            <a:noAutofit/>
          </a:bodyPr>
          <a:lstStyle/>
          <a:p>
            <a:r>
              <a:rPr lang="en-US" sz="2000" dirty="0"/>
              <a:t>Because feature “weight”, “trans”, and “</a:t>
            </a:r>
            <a:r>
              <a:rPr lang="en-US" sz="2000" dirty="0" err="1"/>
              <a:t>conv</a:t>
            </a:r>
            <a:r>
              <a:rPr lang="en-US" sz="2000" dirty="0"/>
              <a:t>” represent classifiers MNN, TB, and CNN, respectively, for the result table above, CNN classifier (0.0986) is better than both TB classifier (0.0846) and MNN classifier (0.0812) in accuracy metric but both MNN classifier and TB classifier are better than CNN classifier in remaining metrics such as F1, precision, and recall. Although both F1 and precision measure the accurate aspect in classification task, they reflect the diversity too. Therefore, </a:t>
            </a:r>
            <a:r>
              <a:rPr lang="en-US" sz="2000" i="1" dirty="0">
                <a:effectLst>
                  <a:outerShdw blurRad="38100" dist="38100" dir="2700000" algn="tl">
                    <a:srgbClr val="000000">
                      <a:alpha val="43137"/>
                    </a:srgbClr>
                  </a:outerShdw>
                </a:effectLst>
              </a:rPr>
              <a:t>CNN classifier is the best in accuracy</a:t>
            </a:r>
            <a:r>
              <a:rPr lang="en-US" sz="2000" dirty="0">
                <a:effectLst>
                  <a:outerShdw blurRad="38100" dist="38100" dir="2700000" algn="tl">
                    <a:srgbClr val="000000">
                      <a:alpha val="43137"/>
                    </a:srgbClr>
                  </a:outerShdw>
                </a:effectLst>
              </a:rPr>
              <a:t> </a:t>
            </a:r>
            <a:r>
              <a:rPr lang="en-US" sz="2000" dirty="0"/>
              <a:t>because accuracy metric is the pure metric to measure the ratio of correct number of images to total number of all images in classifying entire dataset</a:t>
            </a:r>
            <a:r>
              <a:rPr lang="en-US" sz="2000" dirty="0" smtClean="0"/>
              <a:t>.</a:t>
            </a:r>
          </a:p>
          <a:p>
            <a:r>
              <a:rPr lang="en-US" sz="2000" dirty="0"/>
              <a:t>Recall metric is the intermediate metric between accuracy and diversity but it leans forwards the diversity, which leads that TB classifier within context of transformer can harmonize MNN classifier and CNN classifier because recall metric of TB classifier (0.7771) is between recall metrics of CNN classifier (0.4377) and MNN classifier (0.7966). Moreover, accuracy metric of TB classifier (0.0846) is between accuracy metrics of CNN classifier (0.0986) and MNN classifier (0.0812). Especially, F1 metric of TB classifier (0.1527) is best and precision metric of TB classifier (0.0903) is best, which concludes that </a:t>
            </a:r>
            <a:r>
              <a:rPr lang="en-US" sz="2000" i="1" dirty="0">
                <a:effectLst>
                  <a:outerShdw blurRad="38100" dist="38100" dir="2700000" algn="tl">
                    <a:srgbClr val="000000">
                      <a:alpha val="43137"/>
                    </a:srgbClr>
                  </a:outerShdw>
                </a:effectLst>
              </a:rPr>
              <a:t>TB classifier can be the preeminent one in compromising all factors</a:t>
            </a:r>
            <a:r>
              <a:rPr lang="en-US" sz="2000" dirty="0" smtClean="0"/>
              <a:t>.</a:t>
            </a:r>
          </a:p>
          <a:p>
            <a:r>
              <a:rPr lang="en-US" sz="2000" dirty="0">
                <a:effectLst>
                  <a:outerShdw blurRad="38100" dist="38100" dir="2700000" algn="tl">
                    <a:srgbClr val="000000">
                      <a:alpha val="43137"/>
                    </a:srgbClr>
                  </a:outerShdw>
                </a:effectLst>
              </a:rPr>
              <a:t>Although there is significant evidence to support the third hypothesis</a:t>
            </a:r>
            <a:r>
              <a:rPr lang="en-US" sz="2000" dirty="0"/>
              <a:t> which means it is not necessary to </a:t>
            </a:r>
            <a:r>
              <a:rPr lang="en-US" sz="2000" dirty="0" err="1"/>
              <a:t>vectorize</a:t>
            </a:r>
            <a:r>
              <a:rPr lang="en-US" sz="2000" dirty="0"/>
              <a:t> FEC to obtain better classification, </a:t>
            </a:r>
            <a:r>
              <a:rPr lang="en-US" sz="2000" dirty="0">
                <a:effectLst>
                  <a:outerShdw blurRad="38100" dist="38100" dir="2700000" algn="tl">
                    <a:srgbClr val="000000">
                      <a:alpha val="43137"/>
                    </a:srgbClr>
                  </a:outerShdw>
                </a:effectLst>
              </a:rPr>
              <a:t>vector FEC </a:t>
            </a:r>
            <a:r>
              <a:rPr lang="en-US" sz="2000" dirty="0"/>
              <a:t>(accuracy=0.0880, F1=0.1294, precision=0.0794, recall=0.6623) </a:t>
            </a:r>
            <a:r>
              <a:rPr lang="en-US" sz="2000" dirty="0">
                <a:effectLst>
                  <a:outerShdw blurRad="38100" dist="38100" dir="2700000" algn="tl">
                    <a:srgbClr val="000000">
                      <a:alpha val="43137"/>
                    </a:srgbClr>
                  </a:outerShdw>
                </a:effectLst>
              </a:rPr>
              <a:t>is always slightly better than matrix FEC </a:t>
            </a:r>
            <a:r>
              <a:rPr lang="en-US" sz="2000" dirty="0"/>
              <a:t>(accuracy=0.0882, F1=0.1344, precision=0.0807, recall=0.6787).</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51</a:t>
            </a:fld>
            <a:endParaRPr lang="en-US"/>
          </a:p>
        </p:txBody>
      </p:sp>
    </p:spTree>
    <p:extLst>
      <p:ext uri="{BB962C8B-B14F-4D97-AF65-F5344CB8AC3E}">
        <p14:creationId xmlns:p14="http://schemas.microsoft.com/office/powerpoint/2010/main" val="417679319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Results and </a:t>
            </a:r>
            <a:r>
              <a:rPr lang="en-US" dirty="0" smtClean="0"/>
              <a:t>discussions (main)</a:t>
            </a:r>
            <a:endParaRPr lang="en-US" dirty="0"/>
          </a:p>
        </p:txBody>
      </p:sp>
      <p:sp>
        <p:nvSpPr>
          <p:cNvPr id="3" name="Content Placeholder 2"/>
          <p:cNvSpPr>
            <a:spLocks noGrp="1"/>
          </p:cNvSpPr>
          <p:nvPr>
            <p:ph idx="1"/>
          </p:nvPr>
        </p:nvSpPr>
        <p:spPr>
          <a:xfrm>
            <a:off x="71120" y="914399"/>
            <a:ext cx="12029440" cy="5176066"/>
          </a:xfrm>
        </p:spPr>
        <p:txBody>
          <a:bodyPr>
            <a:normAutofit lnSpcReduction="10000"/>
          </a:bodyPr>
          <a:lstStyle/>
          <a:p>
            <a:pPr marL="0" indent="0">
              <a:buNone/>
            </a:pPr>
            <a:r>
              <a:rPr lang="en-US" sz="2100" dirty="0"/>
              <a:t>Secondly, because it is concluded that group “feature” is the most significant factor on accuracy metric and F1 metric, it is necessary to make Post-Hoc Tukey HSD (Honestly Significant Difference) test on values “weight”, “trans”, “</a:t>
            </a:r>
            <a:r>
              <a:rPr lang="en-US" sz="2100" dirty="0" err="1"/>
              <a:t>conv</a:t>
            </a:r>
            <a:r>
              <a:rPr lang="en-US" sz="2100" dirty="0"/>
              <a:t>” of independent variable “feature” in order to test the first hypothesis and second hypothesis. </a:t>
            </a:r>
            <a:r>
              <a:rPr lang="en-US" sz="2100" dirty="0">
                <a:effectLst>
                  <a:outerShdw blurRad="38100" dist="38100" dir="2700000" algn="tl">
                    <a:srgbClr val="000000">
                      <a:alpha val="43137"/>
                    </a:srgbClr>
                  </a:outerShdw>
                </a:effectLst>
              </a:rPr>
              <a:t>The following table shows the Post-Hoc Tukey HSD results for feature group within accuracy metric, which indicates which specific values (“weight”, “trans”, “</a:t>
            </a:r>
            <a:r>
              <a:rPr lang="en-US" sz="2100" dirty="0" err="1">
                <a:effectLst>
                  <a:outerShdw blurRad="38100" dist="38100" dir="2700000" algn="tl">
                    <a:srgbClr val="000000">
                      <a:alpha val="43137"/>
                    </a:srgbClr>
                  </a:outerShdw>
                </a:effectLst>
              </a:rPr>
              <a:t>conv</a:t>
            </a:r>
            <a:r>
              <a:rPr lang="en-US" sz="2100" dirty="0">
                <a:effectLst>
                  <a:outerShdw blurRad="38100" dist="38100" dir="2700000" algn="tl">
                    <a:srgbClr val="000000">
                      <a:alpha val="43137"/>
                    </a:srgbClr>
                  </a:outerShdw>
                </a:effectLst>
              </a:rPr>
              <a:t>”) </a:t>
            </a:r>
            <a:r>
              <a:rPr lang="en-US" sz="2100">
                <a:effectLst>
                  <a:outerShdw blurRad="38100" dist="38100" dir="2700000" algn="tl">
                    <a:srgbClr val="000000">
                      <a:alpha val="43137"/>
                    </a:srgbClr>
                  </a:outerShdw>
                </a:effectLst>
              </a:rPr>
              <a:t>are </a:t>
            </a:r>
            <a:r>
              <a:rPr lang="en-US" sz="2100" smtClean="0">
                <a:effectLst>
                  <a:outerShdw blurRad="38100" dist="38100" dir="2700000" algn="tl">
                    <a:srgbClr val="000000">
                      <a:alpha val="43137"/>
                    </a:srgbClr>
                  </a:outerShdw>
                </a:effectLst>
              </a:rPr>
              <a:t>significantly </a:t>
            </a:r>
            <a:r>
              <a:rPr lang="en-US" sz="2100" dirty="0">
                <a:effectLst>
                  <a:outerShdw blurRad="38100" dist="38100" dir="2700000" algn="tl">
                    <a:srgbClr val="000000">
                      <a:alpha val="43137"/>
                    </a:srgbClr>
                  </a:outerShdw>
                </a:effectLst>
              </a:rPr>
              <a:t>different among them with context of treatment “accuracy” </a:t>
            </a:r>
            <a:r>
              <a:rPr lang="en-US" sz="2100" dirty="0"/>
              <a:t>(Gemini 2025</a:t>
            </a:r>
            <a:r>
              <a:rPr lang="en-US" sz="2100" dirty="0" smtClean="0"/>
              <a:t>).</a:t>
            </a:r>
          </a:p>
          <a:p>
            <a:pPr marL="0" indent="0">
              <a:buNone/>
            </a:pPr>
            <a:endParaRPr lang="en-US" sz="2100" dirty="0" smtClean="0"/>
          </a:p>
          <a:p>
            <a:pPr marL="0" indent="0">
              <a:buNone/>
            </a:pPr>
            <a:endParaRPr lang="en-US" sz="2100" dirty="0"/>
          </a:p>
          <a:p>
            <a:pPr marL="0" indent="0">
              <a:buNone/>
            </a:pPr>
            <a:endParaRPr lang="en-US" sz="2100" dirty="0" smtClean="0"/>
          </a:p>
          <a:p>
            <a:pPr marL="0" indent="0">
              <a:buNone/>
            </a:pPr>
            <a:endParaRPr lang="en-US" sz="2100" dirty="0"/>
          </a:p>
          <a:p>
            <a:pPr marL="0" indent="0">
              <a:buNone/>
            </a:pPr>
            <a:endParaRPr lang="en-US" sz="2100" dirty="0" smtClean="0"/>
          </a:p>
          <a:p>
            <a:pPr marL="0" indent="0">
              <a:buNone/>
            </a:pPr>
            <a:r>
              <a:rPr lang="en-US" sz="2100" dirty="0"/>
              <a:t>For the result table above, the feature “</a:t>
            </a:r>
            <a:r>
              <a:rPr lang="en-US" sz="2100" dirty="0" err="1"/>
              <a:t>conv</a:t>
            </a:r>
            <a:r>
              <a:rPr lang="en-US" sz="2100" dirty="0"/>
              <a:t>” is significantly much larger than features “weight” and “trans” in accuracy metric because its absolute mean differences with respect to feature “weight” and feature “trans” are larger (|–0.0173|, |–0.014|) with P-values (&lt; 0.001) are too smaller than 0.05. Because these differences are negative, the feature “</a:t>
            </a:r>
            <a:r>
              <a:rPr lang="en-US" sz="2100" dirty="0" err="1"/>
              <a:t>conv</a:t>
            </a:r>
            <a:r>
              <a:rPr lang="en-US" sz="2100" dirty="0"/>
              <a:t>” is significantly much better than features “weight” and “trans”. Conversely, there is no significantly difference between feature “weight” and feature “trans” because the P-value (0.0932) given their absolute mean difference (|–0.0034|) is larger than 0.05.</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52</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2081545380"/>
              </p:ext>
            </p:extLst>
          </p:nvPr>
        </p:nvGraphicFramePr>
        <p:xfrm>
          <a:off x="187960" y="2753132"/>
          <a:ext cx="11795760" cy="1280160"/>
        </p:xfrm>
        <a:graphic>
          <a:graphicData uri="http://schemas.openxmlformats.org/drawingml/2006/table">
            <a:tbl>
              <a:tblPr firstRow="1" firstCol="1" bandRow="1">
                <a:tableStyleId>{5C22544A-7EE6-4342-B048-85BDC9FD1C3A}</a:tableStyleId>
              </a:tblPr>
              <a:tblGrid>
                <a:gridCol w="2359152">
                  <a:extLst>
                    <a:ext uri="{9D8B030D-6E8A-4147-A177-3AD203B41FA5}">
                      <a16:colId xmlns:a16="http://schemas.microsoft.com/office/drawing/2014/main" val="2295461933"/>
                    </a:ext>
                  </a:extLst>
                </a:gridCol>
                <a:gridCol w="2359152">
                  <a:extLst>
                    <a:ext uri="{9D8B030D-6E8A-4147-A177-3AD203B41FA5}">
                      <a16:colId xmlns:a16="http://schemas.microsoft.com/office/drawing/2014/main" val="2983248751"/>
                    </a:ext>
                  </a:extLst>
                </a:gridCol>
                <a:gridCol w="2359152">
                  <a:extLst>
                    <a:ext uri="{9D8B030D-6E8A-4147-A177-3AD203B41FA5}">
                      <a16:colId xmlns:a16="http://schemas.microsoft.com/office/drawing/2014/main" val="3242926981"/>
                    </a:ext>
                  </a:extLst>
                </a:gridCol>
                <a:gridCol w="2359152">
                  <a:extLst>
                    <a:ext uri="{9D8B030D-6E8A-4147-A177-3AD203B41FA5}">
                      <a16:colId xmlns:a16="http://schemas.microsoft.com/office/drawing/2014/main" val="1503370279"/>
                    </a:ext>
                  </a:extLst>
                </a:gridCol>
                <a:gridCol w="2359152">
                  <a:extLst>
                    <a:ext uri="{9D8B030D-6E8A-4147-A177-3AD203B41FA5}">
                      <a16:colId xmlns:a16="http://schemas.microsoft.com/office/drawing/2014/main" val="2516851141"/>
                    </a:ext>
                  </a:extLst>
                </a:gridCol>
              </a:tblGrid>
              <a:tr h="0">
                <a:tc>
                  <a:txBody>
                    <a:bodyPr/>
                    <a:lstStyle/>
                    <a:p>
                      <a:pPr marL="0" marR="0" algn="ctr">
                        <a:spcBef>
                          <a:spcPts val="0"/>
                        </a:spcBef>
                        <a:spcAft>
                          <a:spcPts val="0"/>
                        </a:spcAft>
                      </a:pPr>
                      <a:r>
                        <a:rPr lang="en-US" sz="2100">
                          <a:effectLst/>
                          <a:latin typeface="Times New Roman" panose="02020603050405020304" pitchFamily="18" charset="0"/>
                          <a:cs typeface="Times New Roman" panose="02020603050405020304" pitchFamily="18" charset="0"/>
                        </a:rPr>
                        <a:t>Treatment 1</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100" dirty="0">
                          <a:effectLst/>
                          <a:latin typeface="Times New Roman" panose="02020603050405020304" pitchFamily="18" charset="0"/>
                          <a:cs typeface="Times New Roman" panose="02020603050405020304" pitchFamily="18" charset="0"/>
                        </a:rPr>
                        <a:t>Treatment 2</a:t>
                      </a:r>
                      <a:endParaRPr lang="en-US" sz="21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100" dirty="0" smtClean="0">
                          <a:effectLst/>
                          <a:latin typeface="Times New Roman" panose="02020603050405020304" pitchFamily="18" charset="0"/>
                          <a:cs typeface="Times New Roman" panose="02020603050405020304" pitchFamily="18" charset="0"/>
                        </a:rPr>
                        <a:t>Mean Difference</a:t>
                      </a:r>
                      <a:endParaRPr lang="en-US" sz="21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100" dirty="0" smtClean="0">
                          <a:effectLst/>
                          <a:latin typeface="Times New Roman" panose="02020603050405020304" pitchFamily="18" charset="0"/>
                          <a:cs typeface="Times New Roman" panose="02020603050405020304" pitchFamily="18" charset="0"/>
                        </a:rPr>
                        <a:t>Adjusted P-value</a:t>
                      </a:r>
                      <a:endParaRPr lang="en-US" sz="21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100">
                          <a:effectLst/>
                          <a:latin typeface="Times New Roman" panose="02020603050405020304" pitchFamily="18" charset="0"/>
                          <a:cs typeface="Times New Roman" panose="02020603050405020304" pitchFamily="18" charset="0"/>
                        </a:rPr>
                        <a:t>Significant</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151033581"/>
                  </a:ext>
                </a:extLst>
              </a:tr>
              <a:tr h="0">
                <a:tc>
                  <a:txBody>
                    <a:bodyPr/>
                    <a:lstStyle/>
                    <a:p>
                      <a:pPr marL="0" marR="0" algn="just">
                        <a:spcBef>
                          <a:spcPts val="0"/>
                        </a:spcBef>
                        <a:spcAft>
                          <a:spcPts val="0"/>
                        </a:spcAft>
                      </a:pPr>
                      <a:r>
                        <a:rPr lang="en-US" sz="2100">
                          <a:effectLst/>
                          <a:latin typeface="Times New Roman" panose="02020603050405020304" pitchFamily="18" charset="0"/>
                          <a:cs typeface="Times New Roman" panose="02020603050405020304" pitchFamily="18" charset="0"/>
                        </a:rPr>
                        <a:t>conv</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100">
                          <a:effectLst/>
                          <a:latin typeface="Times New Roman" panose="02020603050405020304" pitchFamily="18" charset="0"/>
                          <a:cs typeface="Times New Roman" panose="02020603050405020304" pitchFamily="18" charset="0"/>
                        </a:rPr>
                        <a:t>trans</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–0.0140</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&lt; 0.001</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100">
                          <a:effectLst/>
                          <a:latin typeface="Times New Roman" panose="02020603050405020304" pitchFamily="18" charset="0"/>
                          <a:cs typeface="Times New Roman" panose="02020603050405020304" pitchFamily="18" charset="0"/>
                        </a:rPr>
                        <a:t>Yes (conv &gt; trans)</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496012199"/>
                  </a:ext>
                </a:extLst>
              </a:tr>
              <a:tr h="0">
                <a:tc>
                  <a:txBody>
                    <a:bodyPr/>
                    <a:lstStyle/>
                    <a:p>
                      <a:pPr marL="0" marR="0" algn="just">
                        <a:spcBef>
                          <a:spcPts val="0"/>
                        </a:spcBef>
                        <a:spcAft>
                          <a:spcPts val="0"/>
                        </a:spcAft>
                      </a:pPr>
                      <a:r>
                        <a:rPr lang="en-US" sz="2100">
                          <a:effectLst/>
                          <a:latin typeface="Times New Roman" panose="02020603050405020304" pitchFamily="18" charset="0"/>
                          <a:cs typeface="Times New Roman" panose="02020603050405020304" pitchFamily="18" charset="0"/>
                        </a:rPr>
                        <a:t>conv</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100">
                          <a:effectLst/>
                          <a:latin typeface="Times New Roman" panose="02020603050405020304" pitchFamily="18" charset="0"/>
                          <a:cs typeface="Times New Roman" panose="02020603050405020304" pitchFamily="18" charset="0"/>
                        </a:rPr>
                        <a:t>weight</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–0.0173</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&lt; 0.001</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100">
                          <a:effectLst/>
                          <a:latin typeface="Times New Roman" panose="02020603050405020304" pitchFamily="18" charset="0"/>
                          <a:cs typeface="Times New Roman" panose="02020603050405020304" pitchFamily="18" charset="0"/>
                        </a:rPr>
                        <a:t>Yes (conv &gt; weight)</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59437842"/>
                  </a:ext>
                </a:extLst>
              </a:tr>
              <a:tr h="0">
                <a:tc>
                  <a:txBody>
                    <a:bodyPr/>
                    <a:lstStyle/>
                    <a:p>
                      <a:pPr marL="0" marR="0" algn="just">
                        <a:spcBef>
                          <a:spcPts val="0"/>
                        </a:spcBef>
                        <a:spcAft>
                          <a:spcPts val="0"/>
                        </a:spcAft>
                      </a:pPr>
                      <a:r>
                        <a:rPr lang="en-US" sz="2100">
                          <a:effectLst/>
                          <a:latin typeface="Times New Roman" panose="02020603050405020304" pitchFamily="18" charset="0"/>
                          <a:cs typeface="Times New Roman" panose="02020603050405020304" pitchFamily="18" charset="0"/>
                        </a:rPr>
                        <a:t>trans</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100">
                          <a:effectLst/>
                          <a:latin typeface="Times New Roman" panose="02020603050405020304" pitchFamily="18" charset="0"/>
                          <a:cs typeface="Times New Roman" panose="02020603050405020304" pitchFamily="18" charset="0"/>
                        </a:rPr>
                        <a:t>weight</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–0.0034</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100">
                          <a:effectLst/>
                          <a:latin typeface="Times New Roman" panose="02020603050405020304" pitchFamily="18" charset="0"/>
                          <a:cs typeface="Times New Roman" panose="02020603050405020304" pitchFamily="18" charset="0"/>
                        </a:rPr>
                        <a:t>0.0932</a:t>
                      </a:r>
                      <a:endParaRPr lang="en-US" sz="21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100" dirty="0">
                          <a:effectLst/>
                          <a:latin typeface="Times New Roman" panose="02020603050405020304" pitchFamily="18" charset="0"/>
                          <a:cs typeface="Times New Roman" panose="02020603050405020304" pitchFamily="18" charset="0"/>
                        </a:rPr>
                        <a:t>No</a:t>
                      </a:r>
                      <a:endParaRPr lang="en-US" sz="21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64074124"/>
                  </a:ext>
                </a:extLst>
              </a:tr>
            </a:tbl>
          </a:graphicData>
        </a:graphic>
      </p:graphicFrame>
    </p:spTree>
    <p:extLst>
      <p:ext uri="{BB962C8B-B14F-4D97-AF65-F5344CB8AC3E}">
        <p14:creationId xmlns:p14="http://schemas.microsoft.com/office/powerpoint/2010/main" val="365380917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Results and discussions </a:t>
            </a:r>
            <a:r>
              <a:rPr lang="en-US" dirty="0" smtClean="0"/>
              <a:t>(skip)</a:t>
            </a:r>
            <a:endParaRPr lang="en-US" dirty="0"/>
          </a:p>
        </p:txBody>
      </p:sp>
      <p:sp>
        <p:nvSpPr>
          <p:cNvPr id="3" name="Content Placeholder 2"/>
          <p:cNvSpPr>
            <a:spLocks noGrp="1"/>
          </p:cNvSpPr>
          <p:nvPr>
            <p:ph idx="1"/>
          </p:nvPr>
        </p:nvSpPr>
        <p:spPr>
          <a:xfrm>
            <a:off x="91440" y="914399"/>
            <a:ext cx="12009120" cy="5176066"/>
          </a:xfrm>
        </p:spPr>
        <p:txBody>
          <a:bodyPr>
            <a:normAutofit/>
          </a:bodyPr>
          <a:lstStyle/>
          <a:p>
            <a:pPr marL="0" indent="0">
              <a:buNone/>
            </a:pPr>
            <a:r>
              <a:rPr lang="en-US" sz="3000" dirty="0" smtClean="0"/>
              <a:t>Therefore, </a:t>
            </a:r>
            <a:r>
              <a:rPr lang="en-US" sz="3000" dirty="0"/>
              <a:t>there is significant evidence to reject the first hypothesis “MNN is the alternative of CNN” and </a:t>
            </a:r>
            <a:r>
              <a:rPr lang="en-US" sz="3000" dirty="0">
                <a:effectLst>
                  <a:outerShdw blurRad="38100" dist="38100" dir="2700000" algn="tl">
                    <a:srgbClr val="000000">
                      <a:alpha val="43137"/>
                    </a:srgbClr>
                  </a:outerShdw>
                </a:effectLst>
              </a:rPr>
              <a:t>there is no significant evidence to support the second hypothesis “attention is the alternative of CNN”, within accuracy metric</a:t>
            </a:r>
            <a:r>
              <a:rPr lang="en-US" sz="3000" dirty="0"/>
              <a:t>. Of course, CNN is better than both MNN and attention within accuracy metric. In other words, within accuracy metric, </a:t>
            </a:r>
            <a:r>
              <a:rPr lang="en-US" sz="3000" dirty="0" smtClean="0"/>
              <a:t>MNN </a:t>
            </a:r>
            <a:r>
              <a:rPr lang="en-US" sz="3000" dirty="0"/>
              <a:t>should not be the alternative of </a:t>
            </a:r>
            <a:r>
              <a:rPr lang="en-US" sz="3000" dirty="0" smtClean="0"/>
              <a:t>CNN </a:t>
            </a:r>
            <a:r>
              <a:rPr lang="en-US" sz="3000" dirty="0"/>
              <a:t>and it is not necessary to replace MNN by attention but attention is slightly better than MNN because the mean difference between feature “weight” and feature “trans” is negative </a:t>
            </a:r>
            <a:r>
              <a:rPr lang="en-US" sz="3000" dirty="0" smtClean="0"/>
              <a:t>(weight </a:t>
            </a:r>
            <a:r>
              <a:rPr lang="en-US" sz="3000" dirty="0"/>
              <a:t>– </a:t>
            </a:r>
            <a:r>
              <a:rPr lang="en-US" sz="3000" dirty="0" smtClean="0"/>
              <a:t>trans) </a:t>
            </a:r>
            <a:r>
              <a:rPr lang="en-US" sz="3000" dirty="0"/>
              <a:t>= –0.0034.</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53</a:t>
            </a:fld>
            <a:endParaRPr lang="en-US"/>
          </a:p>
        </p:txBody>
      </p:sp>
    </p:spTree>
    <p:extLst>
      <p:ext uri="{BB962C8B-B14F-4D97-AF65-F5344CB8AC3E}">
        <p14:creationId xmlns:p14="http://schemas.microsoft.com/office/powerpoint/2010/main" val="276068062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Results and discussions </a:t>
            </a:r>
            <a:r>
              <a:rPr lang="en-US" dirty="0" smtClean="0"/>
              <a:t>(skip)</a:t>
            </a:r>
            <a:endParaRPr lang="en-US" dirty="0"/>
          </a:p>
        </p:txBody>
      </p:sp>
      <p:sp>
        <p:nvSpPr>
          <p:cNvPr id="3" name="Content Placeholder 2"/>
          <p:cNvSpPr>
            <a:spLocks noGrp="1"/>
          </p:cNvSpPr>
          <p:nvPr>
            <p:ph idx="1"/>
          </p:nvPr>
        </p:nvSpPr>
        <p:spPr>
          <a:xfrm>
            <a:off x="71120" y="914399"/>
            <a:ext cx="12049760" cy="5176066"/>
          </a:xfrm>
        </p:spPr>
        <p:txBody>
          <a:bodyPr>
            <a:noAutofit/>
          </a:bodyPr>
          <a:lstStyle/>
          <a:p>
            <a:pPr marL="0" indent="0">
              <a:buNone/>
            </a:pPr>
            <a:r>
              <a:rPr lang="en-US" sz="1900" dirty="0">
                <a:effectLst>
                  <a:outerShdw blurRad="38100" dist="38100" dir="2700000" algn="tl">
                    <a:srgbClr val="000000">
                      <a:alpha val="43137"/>
                    </a:srgbClr>
                  </a:outerShdw>
                </a:effectLst>
              </a:rPr>
              <a:t>The following table shows the Post-Hoc Tukey HSD results for feature group within F1 metric, which indicates which specific values (“weight”, “trans”, “</a:t>
            </a:r>
            <a:r>
              <a:rPr lang="en-US" sz="1900" dirty="0" err="1">
                <a:effectLst>
                  <a:outerShdw blurRad="38100" dist="38100" dir="2700000" algn="tl">
                    <a:srgbClr val="000000">
                      <a:alpha val="43137"/>
                    </a:srgbClr>
                  </a:outerShdw>
                </a:effectLst>
              </a:rPr>
              <a:t>conv</a:t>
            </a:r>
            <a:r>
              <a:rPr lang="en-US" sz="1900" dirty="0">
                <a:effectLst>
                  <a:outerShdw blurRad="38100" dist="38100" dir="2700000" algn="tl">
                    <a:srgbClr val="000000">
                      <a:alpha val="43137"/>
                    </a:srgbClr>
                  </a:outerShdw>
                </a:effectLst>
              </a:rPr>
              <a:t>”) are significantly different among them with context of treatment “F1” </a:t>
            </a:r>
            <a:r>
              <a:rPr lang="en-US" sz="1900" dirty="0"/>
              <a:t>(Gemini 2025</a:t>
            </a:r>
            <a:r>
              <a:rPr lang="en-US" sz="1900" dirty="0" smtClean="0"/>
              <a:t>).</a:t>
            </a:r>
          </a:p>
          <a:p>
            <a:pPr marL="0" indent="0">
              <a:buNone/>
            </a:pPr>
            <a:endParaRPr lang="en-US" sz="1900" dirty="0" smtClean="0"/>
          </a:p>
          <a:p>
            <a:pPr marL="0" indent="0">
              <a:buNone/>
            </a:pPr>
            <a:endParaRPr lang="en-US" sz="1900" dirty="0"/>
          </a:p>
          <a:p>
            <a:pPr marL="0" indent="0">
              <a:buNone/>
            </a:pPr>
            <a:endParaRPr lang="en-US" sz="1900" dirty="0" smtClean="0"/>
          </a:p>
          <a:p>
            <a:pPr marL="0" indent="0">
              <a:buNone/>
            </a:pPr>
            <a:endParaRPr lang="en-US" sz="1900" dirty="0"/>
          </a:p>
          <a:p>
            <a:pPr marL="0" indent="0">
              <a:buNone/>
            </a:pPr>
            <a:r>
              <a:rPr lang="en-US" sz="1900" dirty="0"/>
              <a:t>For the result table above, the feature “</a:t>
            </a:r>
            <a:r>
              <a:rPr lang="en-US" sz="1900" dirty="0" err="1"/>
              <a:t>conv</a:t>
            </a:r>
            <a:r>
              <a:rPr lang="en-US" sz="1900" dirty="0"/>
              <a:t>” is significantly much larger than features “weight” and “trans” in F1 metric because its absolute mean differences with respect to feature “weight” and feature “trans” are larger |0.0602|, (|0.0613|) with P-values (&lt; 0.001) are too smaller than 0.05. Because these differences are positive, the feature “</a:t>
            </a:r>
            <a:r>
              <a:rPr lang="en-US" sz="1900" dirty="0" err="1"/>
              <a:t>conv</a:t>
            </a:r>
            <a:r>
              <a:rPr lang="en-US" sz="1900" dirty="0"/>
              <a:t>” is significantly much worse than features “weight” and “trans”. Conversely, there is no significantly difference between feature “weight” and feature “trans” because the P-value (0.9687) given their absolute mean difference (|–0.0011|) is larger than 0.05</a:t>
            </a:r>
            <a:r>
              <a:rPr lang="en-US" sz="1900" dirty="0" smtClean="0"/>
              <a:t>.</a:t>
            </a:r>
            <a:r>
              <a:rPr lang="en-US" sz="1900" dirty="0"/>
              <a:t> </a:t>
            </a:r>
            <a:r>
              <a:rPr lang="en-US" sz="1900" dirty="0" smtClean="0"/>
              <a:t>Therefore (</a:t>
            </a:r>
            <a:r>
              <a:rPr lang="en-US" sz="1900" b="1" dirty="0" smtClean="0"/>
              <a:t>skip</a:t>
            </a:r>
            <a:r>
              <a:rPr lang="en-US" sz="1900" dirty="0" smtClean="0"/>
              <a:t>), </a:t>
            </a:r>
            <a:r>
              <a:rPr lang="en-US" sz="1900" dirty="0"/>
              <a:t>there is significant evidence to support the first hypothesis “MNN is the alternative of CNN” and there is no significant evidence to support the second hypothesis “attention is the alternative of CNN”, within F1 metric. Of course, CNN is worse than both MNN and attention within F1 metric. In other words, within F1 metric, </a:t>
            </a:r>
            <a:r>
              <a:rPr lang="en-US" sz="1900" dirty="0" smtClean="0"/>
              <a:t>MNN </a:t>
            </a:r>
            <a:r>
              <a:rPr lang="en-US" sz="1900" dirty="0"/>
              <a:t>should be the alternative of </a:t>
            </a:r>
            <a:r>
              <a:rPr lang="en-US" sz="1900" dirty="0" smtClean="0"/>
              <a:t>CNN and </a:t>
            </a:r>
            <a:r>
              <a:rPr lang="en-US" sz="1900" dirty="0"/>
              <a:t>it is not necessary to replace MNN by attention but attention is slightly better than MNN because the mean difference between feature “weight” and feature “trans” is negative </a:t>
            </a:r>
            <a:r>
              <a:rPr lang="en-US" sz="1900" dirty="0" smtClean="0"/>
              <a:t>(weight </a:t>
            </a:r>
            <a:r>
              <a:rPr lang="en-US" sz="1900" dirty="0"/>
              <a:t>– </a:t>
            </a:r>
            <a:r>
              <a:rPr lang="en-US" sz="1900" dirty="0" smtClean="0"/>
              <a:t>trans) </a:t>
            </a:r>
            <a:r>
              <a:rPr lang="en-US" sz="1900" dirty="0"/>
              <a:t>= –0.0011.</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54</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3553009769"/>
              </p:ext>
            </p:extLst>
          </p:nvPr>
        </p:nvGraphicFramePr>
        <p:xfrm>
          <a:off x="838200" y="1800632"/>
          <a:ext cx="10515600" cy="1158240"/>
        </p:xfrm>
        <a:graphic>
          <a:graphicData uri="http://schemas.openxmlformats.org/drawingml/2006/table">
            <a:tbl>
              <a:tblPr firstRow="1" firstCol="1" bandRow="1">
                <a:tableStyleId>{5C22544A-7EE6-4342-B048-85BDC9FD1C3A}</a:tableStyleId>
              </a:tblPr>
              <a:tblGrid>
                <a:gridCol w="2103120">
                  <a:extLst>
                    <a:ext uri="{9D8B030D-6E8A-4147-A177-3AD203B41FA5}">
                      <a16:colId xmlns:a16="http://schemas.microsoft.com/office/drawing/2014/main" val="3599353703"/>
                    </a:ext>
                  </a:extLst>
                </a:gridCol>
                <a:gridCol w="2103120">
                  <a:extLst>
                    <a:ext uri="{9D8B030D-6E8A-4147-A177-3AD203B41FA5}">
                      <a16:colId xmlns:a16="http://schemas.microsoft.com/office/drawing/2014/main" val="1472891259"/>
                    </a:ext>
                  </a:extLst>
                </a:gridCol>
                <a:gridCol w="2103120">
                  <a:extLst>
                    <a:ext uri="{9D8B030D-6E8A-4147-A177-3AD203B41FA5}">
                      <a16:colId xmlns:a16="http://schemas.microsoft.com/office/drawing/2014/main" val="3396543405"/>
                    </a:ext>
                  </a:extLst>
                </a:gridCol>
                <a:gridCol w="2103120">
                  <a:extLst>
                    <a:ext uri="{9D8B030D-6E8A-4147-A177-3AD203B41FA5}">
                      <a16:colId xmlns:a16="http://schemas.microsoft.com/office/drawing/2014/main" val="248266169"/>
                    </a:ext>
                  </a:extLst>
                </a:gridCol>
                <a:gridCol w="2103120">
                  <a:extLst>
                    <a:ext uri="{9D8B030D-6E8A-4147-A177-3AD203B41FA5}">
                      <a16:colId xmlns:a16="http://schemas.microsoft.com/office/drawing/2014/main" val="1657140667"/>
                    </a:ext>
                  </a:extLst>
                </a:gridCol>
              </a:tblGrid>
              <a:tr h="0">
                <a:tc>
                  <a:txBody>
                    <a:bodyPr/>
                    <a:lstStyle/>
                    <a:p>
                      <a:pPr marL="0" marR="0" algn="ctr">
                        <a:spcBef>
                          <a:spcPts val="0"/>
                        </a:spcBef>
                        <a:spcAft>
                          <a:spcPts val="0"/>
                        </a:spcAft>
                      </a:pPr>
                      <a:r>
                        <a:rPr lang="en-US" sz="1900">
                          <a:effectLst/>
                          <a:latin typeface="Times New Roman" panose="02020603050405020304" pitchFamily="18" charset="0"/>
                          <a:cs typeface="Times New Roman" panose="02020603050405020304" pitchFamily="18" charset="0"/>
                        </a:rPr>
                        <a:t>Treatment 1</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900" dirty="0">
                          <a:effectLst/>
                          <a:latin typeface="Times New Roman" panose="02020603050405020304" pitchFamily="18" charset="0"/>
                          <a:cs typeface="Times New Roman" panose="02020603050405020304" pitchFamily="18" charset="0"/>
                        </a:rPr>
                        <a:t>Treatment 2</a:t>
                      </a:r>
                      <a:endParaRPr lang="en-US" sz="19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900" dirty="0" smtClean="0">
                          <a:effectLst/>
                          <a:latin typeface="Times New Roman" panose="02020603050405020304" pitchFamily="18" charset="0"/>
                          <a:cs typeface="Times New Roman" panose="02020603050405020304" pitchFamily="18" charset="0"/>
                        </a:rPr>
                        <a:t>Mean Difference</a:t>
                      </a:r>
                      <a:endParaRPr lang="en-US" sz="19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900" dirty="0" smtClean="0">
                          <a:effectLst/>
                          <a:latin typeface="Times New Roman" panose="02020603050405020304" pitchFamily="18" charset="0"/>
                          <a:cs typeface="Times New Roman" panose="02020603050405020304" pitchFamily="18" charset="0"/>
                        </a:rPr>
                        <a:t>Adjusted P-value</a:t>
                      </a:r>
                      <a:endParaRPr lang="en-US" sz="19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900">
                          <a:effectLst/>
                          <a:latin typeface="Times New Roman" panose="02020603050405020304" pitchFamily="18" charset="0"/>
                          <a:cs typeface="Times New Roman" panose="02020603050405020304" pitchFamily="18" charset="0"/>
                        </a:rPr>
                        <a:t>Significant</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85143400"/>
                  </a:ext>
                </a:extLst>
              </a:tr>
              <a:tr h="0">
                <a:tc>
                  <a:txBody>
                    <a:bodyPr/>
                    <a:lstStyle/>
                    <a:p>
                      <a:pPr marL="0" marR="0" algn="just">
                        <a:spcBef>
                          <a:spcPts val="0"/>
                        </a:spcBef>
                        <a:spcAft>
                          <a:spcPts val="0"/>
                        </a:spcAft>
                      </a:pPr>
                      <a:r>
                        <a:rPr lang="en-US" sz="1900" dirty="0" err="1">
                          <a:effectLst/>
                          <a:latin typeface="Times New Roman" panose="02020603050405020304" pitchFamily="18" charset="0"/>
                          <a:cs typeface="Times New Roman" panose="02020603050405020304" pitchFamily="18" charset="0"/>
                        </a:rPr>
                        <a:t>conv</a:t>
                      </a:r>
                      <a:endParaRPr lang="en-US" sz="19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900">
                          <a:effectLst/>
                          <a:latin typeface="Times New Roman" panose="02020603050405020304" pitchFamily="18" charset="0"/>
                          <a:cs typeface="Times New Roman" panose="02020603050405020304" pitchFamily="18" charset="0"/>
                        </a:rPr>
                        <a:t>trans</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900">
                          <a:effectLst/>
                          <a:latin typeface="Times New Roman" panose="02020603050405020304" pitchFamily="18" charset="0"/>
                          <a:cs typeface="Times New Roman" panose="02020603050405020304" pitchFamily="18" charset="0"/>
                        </a:rPr>
                        <a:t>0.0613</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900">
                          <a:effectLst/>
                          <a:latin typeface="Times New Roman" panose="02020603050405020304" pitchFamily="18" charset="0"/>
                          <a:cs typeface="Times New Roman" panose="02020603050405020304" pitchFamily="18" charset="0"/>
                        </a:rPr>
                        <a:t>&lt; 0.001</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900">
                          <a:effectLst/>
                          <a:latin typeface="Times New Roman" panose="02020603050405020304" pitchFamily="18" charset="0"/>
                          <a:cs typeface="Times New Roman" panose="02020603050405020304" pitchFamily="18" charset="0"/>
                        </a:rPr>
                        <a:t>Yes (trans &gt; conv)</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212869863"/>
                  </a:ext>
                </a:extLst>
              </a:tr>
              <a:tr h="0">
                <a:tc>
                  <a:txBody>
                    <a:bodyPr/>
                    <a:lstStyle/>
                    <a:p>
                      <a:pPr marL="0" marR="0" algn="just">
                        <a:spcBef>
                          <a:spcPts val="0"/>
                        </a:spcBef>
                        <a:spcAft>
                          <a:spcPts val="0"/>
                        </a:spcAft>
                      </a:pPr>
                      <a:r>
                        <a:rPr lang="en-US" sz="1900">
                          <a:effectLst/>
                          <a:latin typeface="Times New Roman" panose="02020603050405020304" pitchFamily="18" charset="0"/>
                          <a:cs typeface="Times New Roman" panose="02020603050405020304" pitchFamily="18" charset="0"/>
                        </a:rPr>
                        <a:t>conv</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900">
                          <a:effectLst/>
                          <a:latin typeface="Times New Roman" panose="02020603050405020304" pitchFamily="18" charset="0"/>
                          <a:cs typeface="Times New Roman" panose="02020603050405020304" pitchFamily="18" charset="0"/>
                        </a:rPr>
                        <a:t>weight</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900">
                          <a:effectLst/>
                          <a:latin typeface="Times New Roman" panose="02020603050405020304" pitchFamily="18" charset="0"/>
                          <a:cs typeface="Times New Roman" panose="02020603050405020304" pitchFamily="18" charset="0"/>
                        </a:rPr>
                        <a:t>0.0602</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900">
                          <a:effectLst/>
                          <a:latin typeface="Times New Roman" panose="02020603050405020304" pitchFamily="18" charset="0"/>
                          <a:cs typeface="Times New Roman" panose="02020603050405020304" pitchFamily="18" charset="0"/>
                        </a:rPr>
                        <a:t>&lt; 0.001</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900">
                          <a:effectLst/>
                          <a:latin typeface="Times New Roman" panose="02020603050405020304" pitchFamily="18" charset="0"/>
                          <a:cs typeface="Times New Roman" panose="02020603050405020304" pitchFamily="18" charset="0"/>
                        </a:rPr>
                        <a:t>Yes (weight &gt; conv)</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382717236"/>
                  </a:ext>
                </a:extLst>
              </a:tr>
              <a:tr h="0">
                <a:tc>
                  <a:txBody>
                    <a:bodyPr/>
                    <a:lstStyle/>
                    <a:p>
                      <a:pPr marL="0" marR="0" algn="just">
                        <a:spcBef>
                          <a:spcPts val="0"/>
                        </a:spcBef>
                        <a:spcAft>
                          <a:spcPts val="0"/>
                        </a:spcAft>
                      </a:pPr>
                      <a:r>
                        <a:rPr lang="en-US" sz="1900">
                          <a:effectLst/>
                          <a:latin typeface="Times New Roman" panose="02020603050405020304" pitchFamily="18" charset="0"/>
                          <a:cs typeface="Times New Roman" panose="02020603050405020304" pitchFamily="18" charset="0"/>
                        </a:rPr>
                        <a:t>trans</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900">
                          <a:effectLst/>
                          <a:latin typeface="Times New Roman" panose="02020603050405020304" pitchFamily="18" charset="0"/>
                          <a:cs typeface="Times New Roman" panose="02020603050405020304" pitchFamily="18" charset="0"/>
                        </a:rPr>
                        <a:t>weight</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900">
                          <a:effectLst/>
                          <a:latin typeface="Times New Roman" panose="02020603050405020304" pitchFamily="18" charset="0"/>
                          <a:cs typeface="Times New Roman" panose="02020603050405020304" pitchFamily="18" charset="0"/>
                        </a:rPr>
                        <a:t>–0.0011</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900">
                          <a:effectLst/>
                          <a:latin typeface="Times New Roman" panose="02020603050405020304" pitchFamily="18" charset="0"/>
                          <a:cs typeface="Times New Roman" panose="02020603050405020304" pitchFamily="18" charset="0"/>
                        </a:rPr>
                        <a:t>0.9687</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900" dirty="0">
                          <a:effectLst/>
                          <a:latin typeface="Times New Roman" panose="02020603050405020304" pitchFamily="18" charset="0"/>
                          <a:cs typeface="Times New Roman" panose="02020603050405020304" pitchFamily="18" charset="0"/>
                        </a:rPr>
                        <a:t>No</a:t>
                      </a:r>
                      <a:endParaRPr lang="en-US" sz="19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99367629"/>
                  </a:ext>
                </a:extLst>
              </a:tr>
            </a:tbl>
          </a:graphicData>
        </a:graphic>
      </p:graphicFrame>
    </p:spTree>
    <p:extLst>
      <p:ext uri="{BB962C8B-B14F-4D97-AF65-F5344CB8AC3E}">
        <p14:creationId xmlns:p14="http://schemas.microsoft.com/office/powerpoint/2010/main" val="388031122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Results and discussions </a:t>
            </a:r>
            <a:r>
              <a:rPr lang="en-US" dirty="0" smtClean="0"/>
              <a:t>(skip)</a:t>
            </a:r>
            <a:endParaRPr lang="en-US" dirty="0"/>
          </a:p>
        </p:txBody>
      </p:sp>
      <p:sp>
        <p:nvSpPr>
          <p:cNvPr id="3" name="Content Placeholder 2"/>
          <p:cNvSpPr>
            <a:spLocks noGrp="1"/>
          </p:cNvSpPr>
          <p:nvPr>
            <p:ph idx="1"/>
          </p:nvPr>
        </p:nvSpPr>
        <p:spPr>
          <a:xfrm>
            <a:off x="71120" y="914399"/>
            <a:ext cx="12049760" cy="5176066"/>
          </a:xfrm>
        </p:spPr>
        <p:txBody>
          <a:bodyPr>
            <a:noAutofit/>
          </a:bodyPr>
          <a:lstStyle/>
          <a:p>
            <a:pPr marL="0" indent="0">
              <a:buNone/>
            </a:pPr>
            <a:r>
              <a:rPr lang="en-US" sz="1900" dirty="0">
                <a:effectLst>
                  <a:outerShdw blurRad="38100" dist="38100" dir="2700000" algn="tl">
                    <a:srgbClr val="000000">
                      <a:alpha val="43137"/>
                    </a:srgbClr>
                  </a:outerShdw>
                </a:effectLst>
              </a:rPr>
              <a:t>The following table shows the Post-Hoc Tukey HSD results for feature group within precision metric, which indicates which specific values (“weight”, “trans”, “</a:t>
            </a:r>
            <a:r>
              <a:rPr lang="en-US" sz="1900" dirty="0" err="1">
                <a:effectLst>
                  <a:outerShdw blurRad="38100" dist="38100" dir="2700000" algn="tl">
                    <a:srgbClr val="000000">
                      <a:alpha val="43137"/>
                    </a:srgbClr>
                  </a:outerShdw>
                </a:effectLst>
              </a:rPr>
              <a:t>conv</a:t>
            </a:r>
            <a:r>
              <a:rPr lang="en-US" sz="1900" dirty="0">
                <a:effectLst>
                  <a:outerShdw blurRad="38100" dist="38100" dir="2700000" algn="tl">
                    <a:srgbClr val="000000">
                      <a:alpha val="43137"/>
                    </a:srgbClr>
                  </a:outerShdw>
                </a:effectLst>
              </a:rPr>
              <a:t>”) are significantly different among them with context of treatment “precision” </a:t>
            </a:r>
            <a:r>
              <a:rPr lang="en-US" sz="1900" dirty="0"/>
              <a:t>(Gemini 2025).</a:t>
            </a:r>
            <a:endParaRPr lang="en-US" sz="1900" dirty="0" smtClean="0"/>
          </a:p>
          <a:p>
            <a:pPr marL="0" indent="0">
              <a:buNone/>
            </a:pPr>
            <a:endParaRPr lang="en-US" sz="1900" dirty="0" smtClean="0"/>
          </a:p>
          <a:p>
            <a:pPr marL="0" indent="0">
              <a:buNone/>
            </a:pPr>
            <a:endParaRPr lang="en-US" sz="1900" dirty="0"/>
          </a:p>
          <a:p>
            <a:pPr marL="0" indent="0">
              <a:buNone/>
            </a:pPr>
            <a:endParaRPr lang="en-US" sz="1900" dirty="0" smtClean="0"/>
          </a:p>
          <a:p>
            <a:pPr marL="0" indent="0">
              <a:buNone/>
            </a:pPr>
            <a:endParaRPr lang="en-US" sz="1900" dirty="0"/>
          </a:p>
          <a:p>
            <a:pPr marL="0" indent="0">
              <a:buNone/>
            </a:pPr>
            <a:r>
              <a:rPr lang="en-US" sz="1900" dirty="0"/>
              <a:t>For the result table above, the feature “</a:t>
            </a:r>
            <a:r>
              <a:rPr lang="en-US" sz="1900" dirty="0" err="1"/>
              <a:t>conv</a:t>
            </a:r>
            <a:r>
              <a:rPr lang="en-US" sz="1900" dirty="0"/>
              <a:t>” is significantly much larger than features “weight” and “trans” in precision metric because its absolute mean differences with respect to feature “weight” and feature “trans” are larger (|0.0252|, |0.0280|) with P-values (&lt; 0.001) are too smaller than 0.05. Because these differences are positive, the feature “</a:t>
            </a:r>
            <a:r>
              <a:rPr lang="en-US" sz="1900" dirty="0" err="1"/>
              <a:t>conv</a:t>
            </a:r>
            <a:r>
              <a:rPr lang="en-US" sz="1900" dirty="0"/>
              <a:t>” is significantly much worse than features “weight” and “trans”. Conversely, there is no significantly difference between feature “weight” and feature “trans” because the P-value (0.806) given their absolute mean difference (|–0.0028|) is larger than 0.05. </a:t>
            </a:r>
            <a:r>
              <a:rPr lang="en-US" sz="1900" dirty="0" smtClean="0"/>
              <a:t>Therefore (</a:t>
            </a:r>
            <a:r>
              <a:rPr lang="en-US" sz="1900" b="1" dirty="0" smtClean="0"/>
              <a:t>skip</a:t>
            </a:r>
            <a:r>
              <a:rPr lang="en-US" sz="1900" dirty="0" smtClean="0"/>
              <a:t>), </a:t>
            </a:r>
            <a:r>
              <a:rPr lang="en-US" sz="1900" dirty="0"/>
              <a:t>there is significant evidence to support the first hypothesis “MNN is the alternative of CNN” and there is no significant evidence to support the second hypothesis “attention is the alternative of CNN”, within precision metric. Of course, CNN is worse than both MNN and attention within precision metric. In other words, within precision metric, </a:t>
            </a:r>
            <a:r>
              <a:rPr lang="en-US" sz="1900" dirty="0" smtClean="0"/>
              <a:t>MNN </a:t>
            </a:r>
            <a:r>
              <a:rPr lang="en-US" sz="1900" dirty="0"/>
              <a:t>should be the alternative of </a:t>
            </a:r>
            <a:r>
              <a:rPr lang="en-US" sz="1900" dirty="0" smtClean="0"/>
              <a:t>CNN and </a:t>
            </a:r>
            <a:r>
              <a:rPr lang="en-US" sz="1900" dirty="0"/>
              <a:t>it is not necessary to replace MNN by attention but attention is slightly better than MNN because the mean difference between feature “weight” and feature “trans” is negative </a:t>
            </a:r>
            <a:r>
              <a:rPr lang="en-US" sz="1900" dirty="0" smtClean="0"/>
              <a:t>(weight </a:t>
            </a:r>
            <a:r>
              <a:rPr lang="en-US" sz="1900" dirty="0"/>
              <a:t>– </a:t>
            </a:r>
            <a:r>
              <a:rPr lang="en-US" sz="1900" dirty="0" smtClean="0"/>
              <a:t>trans) </a:t>
            </a:r>
            <a:r>
              <a:rPr lang="en-US" sz="1900" dirty="0"/>
              <a:t>= –0.0028</a:t>
            </a:r>
            <a:r>
              <a:rPr lang="en-US" sz="1900" dirty="0" smtClean="0"/>
              <a:t>.</a:t>
            </a:r>
            <a:endParaRPr lang="en-US" sz="1900" dirty="0"/>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55</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808257919"/>
              </p:ext>
            </p:extLst>
          </p:nvPr>
        </p:nvGraphicFramePr>
        <p:xfrm>
          <a:off x="838200" y="1800632"/>
          <a:ext cx="10515600" cy="1158240"/>
        </p:xfrm>
        <a:graphic>
          <a:graphicData uri="http://schemas.openxmlformats.org/drawingml/2006/table">
            <a:tbl>
              <a:tblPr firstRow="1" firstCol="1" bandRow="1">
                <a:tableStyleId>{5C22544A-7EE6-4342-B048-85BDC9FD1C3A}</a:tableStyleId>
              </a:tblPr>
              <a:tblGrid>
                <a:gridCol w="2103120">
                  <a:extLst>
                    <a:ext uri="{9D8B030D-6E8A-4147-A177-3AD203B41FA5}">
                      <a16:colId xmlns:a16="http://schemas.microsoft.com/office/drawing/2014/main" val="3599353703"/>
                    </a:ext>
                  </a:extLst>
                </a:gridCol>
                <a:gridCol w="2103120">
                  <a:extLst>
                    <a:ext uri="{9D8B030D-6E8A-4147-A177-3AD203B41FA5}">
                      <a16:colId xmlns:a16="http://schemas.microsoft.com/office/drawing/2014/main" val="1472891259"/>
                    </a:ext>
                  </a:extLst>
                </a:gridCol>
                <a:gridCol w="2103120">
                  <a:extLst>
                    <a:ext uri="{9D8B030D-6E8A-4147-A177-3AD203B41FA5}">
                      <a16:colId xmlns:a16="http://schemas.microsoft.com/office/drawing/2014/main" val="3396543405"/>
                    </a:ext>
                  </a:extLst>
                </a:gridCol>
                <a:gridCol w="2103120">
                  <a:extLst>
                    <a:ext uri="{9D8B030D-6E8A-4147-A177-3AD203B41FA5}">
                      <a16:colId xmlns:a16="http://schemas.microsoft.com/office/drawing/2014/main" val="248266169"/>
                    </a:ext>
                  </a:extLst>
                </a:gridCol>
                <a:gridCol w="2103120">
                  <a:extLst>
                    <a:ext uri="{9D8B030D-6E8A-4147-A177-3AD203B41FA5}">
                      <a16:colId xmlns:a16="http://schemas.microsoft.com/office/drawing/2014/main" val="1657140667"/>
                    </a:ext>
                  </a:extLst>
                </a:gridCol>
              </a:tblGrid>
              <a:tr h="0">
                <a:tc>
                  <a:txBody>
                    <a:bodyPr/>
                    <a:lstStyle/>
                    <a:p>
                      <a:pPr marL="0" marR="0" algn="ctr">
                        <a:spcBef>
                          <a:spcPts val="0"/>
                        </a:spcBef>
                        <a:spcAft>
                          <a:spcPts val="0"/>
                        </a:spcAft>
                      </a:pPr>
                      <a:r>
                        <a:rPr lang="en-US" sz="1900">
                          <a:effectLst/>
                          <a:latin typeface="Times New Roman" panose="02020603050405020304" pitchFamily="18" charset="0"/>
                          <a:cs typeface="Times New Roman" panose="02020603050405020304" pitchFamily="18" charset="0"/>
                        </a:rPr>
                        <a:t>Treatment 1</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900" dirty="0">
                          <a:effectLst/>
                          <a:latin typeface="Times New Roman" panose="02020603050405020304" pitchFamily="18" charset="0"/>
                          <a:cs typeface="Times New Roman" panose="02020603050405020304" pitchFamily="18" charset="0"/>
                        </a:rPr>
                        <a:t>Treatment 2</a:t>
                      </a:r>
                      <a:endParaRPr lang="en-US" sz="19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900" dirty="0" smtClean="0">
                          <a:effectLst/>
                          <a:latin typeface="Times New Roman" panose="02020603050405020304" pitchFamily="18" charset="0"/>
                          <a:cs typeface="Times New Roman" panose="02020603050405020304" pitchFamily="18" charset="0"/>
                        </a:rPr>
                        <a:t>Mean Difference</a:t>
                      </a:r>
                      <a:endParaRPr lang="en-US" sz="19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900" dirty="0" smtClean="0">
                          <a:effectLst/>
                          <a:latin typeface="Times New Roman" panose="02020603050405020304" pitchFamily="18" charset="0"/>
                          <a:cs typeface="Times New Roman" panose="02020603050405020304" pitchFamily="18" charset="0"/>
                        </a:rPr>
                        <a:t>Adjusted P-value</a:t>
                      </a:r>
                      <a:endParaRPr lang="en-US" sz="19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900">
                          <a:effectLst/>
                          <a:latin typeface="Times New Roman" panose="02020603050405020304" pitchFamily="18" charset="0"/>
                          <a:cs typeface="Times New Roman" panose="02020603050405020304" pitchFamily="18" charset="0"/>
                        </a:rPr>
                        <a:t>Significant</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85143400"/>
                  </a:ext>
                </a:extLst>
              </a:tr>
              <a:tr h="0">
                <a:tc>
                  <a:txBody>
                    <a:bodyPr/>
                    <a:lstStyle/>
                    <a:p>
                      <a:pPr marL="0" marR="0" algn="just">
                        <a:spcBef>
                          <a:spcPts val="0"/>
                        </a:spcBef>
                        <a:spcAft>
                          <a:spcPts val="0"/>
                        </a:spcAft>
                      </a:pPr>
                      <a:r>
                        <a:rPr lang="en-US" sz="1900" dirty="0" err="1">
                          <a:effectLst/>
                          <a:latin typeface="Times New Roman" panose="02020603050405020304" pitchFamily="18" charset="0"/>
                          <a:cs typeface="Times New Roman" panose="02020603050405020304" pitchFamily="18" charset="0"/>
                        </a:rPr>
                        <a:t>conv</a:t>
                      </a:r>
                      <a:endParaRPr lang="en-US" sz="19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trans</a:t>
                      </a:r>
                    </a:p>
                  </a:txBody>
                  <a:tcPr marL="68580" marR="68580" marT="0" marB="0"/>
                </a:tc>
                <a:tc>
                  <a:txBody>
                    <a:bodyPr/>
                    <a:lstStyle/>
                    <a:p>
                      <a:pPr marL="0" marR="0" algn="r">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0.0280</a:t>
                      </a:r>
                    </a:p>
                  </a:txBody>
                  <a:tcPr marL="68580" marR="68580" marT="0" marB="0"/>
                </a:tc>
                <a:tc>
                  <a:txBody>
                    <a:bodyPr/>
                    <a:lstStyle/>
                    <a:p>
                      <a:pPr marL="0" marR="0" algn="r">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&lt; 0.001</a:t>
                      </a:r>
                    </a:p>
                  </a:txBody>
                  <a:tcPr marL="68580" marR="68580" marT="0" marB="0"/>
                </a:tc>
                <a:tc>
                  <a:txBody>
                    <a:bodyPr/>
                    <a:lstStyle/>
                    <a:p>
                      <a:pPr marL="0" marR="0" algn="just">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Yes (trans &gt; conv)</a:t>
                      </a:r>
                    </a:p>
                  </a:txBody>
                  <a:tcPr marL="68580" marR="68580" marT="0" marB="0"/>
                </a:tc>
                <a:extLst>
                  <a:ext uri="{0D108BD9-81ED-4DB2-BD59-A6C34878D82A}">
                    <a16:rowId xmlns:a16="http://schemas.microsoft.com/office/drawing/2014/main" val="3212869863"/>
                  </a:ext>
                </a:extLst>
              </a:tr>
              <a:tr h="0">
                <a:tc>
                  <a:txBody>
                    <a:bodyPr/>
                    <a:lstStyle/>
                    <a:p>
                      <a:pPr marL="0" marR="0" algn="just">
                        <a:spcBef>
                          <a:spcPts val="0"/>
                        </a:spcBef>
                        <a:spcAft>
                          <a:spcPts val="0"/>
                        </a:spcAft>
                      </a:pPr>
                      <a:r>
                        <a:rPr lang="en-US" sz="1900">
                          <a:effectLst/>
                          <a:latin typeface="Times New Roman" panose="02020603050405020304" pitchFamily="18" charset="0"/>
                          <a:cs typeface="Times New Roman" panose="02020603050405020304" pitchFamily="18" charset="0"/>
                        </a:rPr>
                        <a:t>conv</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weight</a:t>
                      </a:r>
                    </a:p>
                  </a:txBody>
                  <a:tcPr marL="68580" marR="68580" marT="0" marB="0"/>
                </a:tc>
                <a:tc>
                  <a:txBody>
                    <a:bodyPr/>
                    <a:lstStyle/>
                    <a:p>
                      <a:pPr marL="0" marR="0" algn="r">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0.0252</a:t>
                      </a:r>
                    </a:p>
                  </a:txBody>
                  <a:tcPr marL="68580" marR="68580" marT="0" marB="0"/>
                </a:tc>
                <a:tc>
                  <a:txBody>
                    <a:bodyPr/>
                    <a:lstStyle/>
                    <a:p>
                      <a:pPr marL="0" marR="0" algn="r">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&lt; 0.001</a:t>
                      </a:r>
                    </a:p>
                  </a:txBody>
                  <a:tcPr marL="68580" marR="68580" marT="0" marB="0"/>
                </a:tc>
                <a:tc>
                  <a:txBody>
                    <a:bodyPr/>
                    <a:lstStyle/>
                    <a:p>
                      <a:pPr marL="0" marR="0" algn="just">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Yes (weight &gt; conv)</a:t>
                      </a:r>
                    </a:p>
                  </a:txBody>
                  <a:tcPr marL="68580" marR="68580" marT="0" marB="0"/>
                </a:tc>
                <a:extLst>
                  <a:ext uri="{0D108BD9-81ED-4DB2-BD59-A6C34878D82A}">
                    <a16:rowId xmlns:a16="http://schemas.microsoft.com/office/drawing/2014/main" val="1382717236"/>
                  </a:ext>
                </a:extLst>
              </a:tr>
              <a:tr h="0">
                <a:tc>
                  <a:txBody>
                    <a:bodyPr/>
                    <a:lstStyle/>
                    <a:p>
                      <a:pPr marL="0" marR="0" algn="just">
                        <a:spcBef>
                          <a:spcPts val="0"/>
                        </a:spcBef>
                        <a:spcAft>
                          <a:spcPts val="0"/>
                        </a:spcAft>
                      </a:pPr>
                      <a:r>
                        <a:rPr lang="en-US" sz="1900">
                          <a:effectLst/>
                          <a:latin typeface="Times New Roman" panose="02020603050405020304" pitchFamily="18" charset="0"/>
                          <a:cs typeface="Times New Roman" panose="02020603050405020304" pitchFamily="18" charset="0"/>
                        </a:rPr>
                        <a:t>trans</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weight</a:t>
                      </a:r>
                    </a:p>
                  </a:txBody>
                  <a:tcPr marL="68580" marR="68580" marT="0" marB="0"/>
                </a:tc>
                <a:tc>
                  <a:txBody>
                    <a:bodyPr/>
                    <a:lstStyle/>
                    <a:p>
                      <a:pPr marL="0" marR="0" algn="r">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–0.0028</a:t>
                      </a:r>
                    </a:p>
                  </a:txBody>
                  <a:tcPr marL="68580" marR="68580" marT="0" marB="0"/>
                </a:tc>
                <a:tc>
                  <a:txBody>
                    <a:bodyPr/>
                    <a:lstStyle/>
                    <a:p>
                      <a:pPr marL="0" marR="0" algn="r">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0.806</a:t>
                      </a:r>
                    </a:p>
                  </a:txBody>
                  <a:tcPr marL="68580" marR="68580" marT="0" marB="0"/>
                </a:tc>
                <a:tc>
                  <a:txBody>
                    <a:bodyPr/>
                    <a:lstStyle/>
                    <a:p>
                      <a:pPr marL="0" marR="0" algn="just">
                        <a:spcBef>
                          <a:spcPts val="0"/>
                        </a:spcBef>
                        <a:spcAft>
                          <a:spcPts val="0"/>
                        </a:spcAft>
                      </a:pPr>
                      <a:r>
                        <a:rPr lang="en-US" sz="1900" dirty="0">
                          <a:effectLst/>
                          <a:latin typeface="Times New Roman" panose="02020603050405020304" pitchFamily="18" charset="0"/>
                          <a:ea typeface="DengXian"/>
                          <a:cs typeface="Times New Roman" panose="02020603050405020304" pitchFamily="18" charset="0"/>
                        </a:rPr>
                        <a:t>No</a:t>
                      </a:r>
                    </a:p>
                  </a:txBody>
                  <a:tcPr marL="68580" marR="68580" marT="0" marB="0"/>
                </a:tc>
                <a:extLst>
                  <a:ext uri="{0D108BD9-81ED-4DB2-BD59-A6C34878D82A}">
                    <a16:rowId xmlns:a16="http://schemas.microsoft.com/office/drawing/2014/main" val="99367629"/>
                  </a:ext>
                </a:extLst>
              </a:tr>
            </a:tbl>
          </a:graphicData>
        </a:graphic>
      </p:graphicFrame>
    </p:spTree>
    <p:extLst>
      <p:ext uri="{BB962C8B-B14F-4D97-AF65-F5344CB8AC3E}">
        <p14:creationId xmlns:p14="http://schemas.microsoft.com/office/powerpoint/2010/main" val="409111433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Results and discussions </a:t>
            </a:r>
            <a:r>
              <a:rPr lang="en-US" dirty="0" smtClean="0"/>
              <a:t>(skip)</a:t>
            </a:r>
            <a:endParaRPr lang="en-US" dirty="0"/>
          </a:p>
        </p:txBody>
      </p:sp>
      <p:sp>
        <p:nvSpPr>
          <p:cNvPr id="3" name="Content Placeholder 2"/>
          <p:cNvSpPr>
            <a:spLocks noGrp="1"/>
          </p:cNvSpPr>
          <p:nvPr>
            <p:ph idx="1"/>
          </p:nvPr>
        </p:nvSpPr>
        <p:spPr>
          <a:xfrm>
            <a:off x="71120" y="914399"/>
            <a:ext cx="12049760" cy="5176066"/>
          </a:xfrm>
        </p:spPr>
        <p:txBody>
          <a:bodyPr>
            <a:noAutofit/>
          </a:bodyPr>
          <a:lstStyle/>
          <a:p>
            <a:pPr marL="0" indent="0">
              <a:buNone/>
            </a:pPr>
            <a:r>
              <a:rPr lang="en-US" sz="1900" dirty="0">
                <a:effectLst>
                  <a:outerShdw blurRad="38100" dist="38100" dir="2700000" algn="tl">
                    <a:srgbClr val="000000">
                      <a:alpha val="43137"/>
                    </a:srgbClr>
                  </a:outerShdw>
                </a:effectLst>
              </a:rPr>
              <a:t>The following table shows the Post-Hoc Tukey HSD results for feature group within recall metric, which indicates which specific values (“weight”, “trans”, “</a:t>
            </a:r>
            <a:r>
              <a:rPr lang="en-US" sz="1900" dirty="0" err="1">
                <a:effectLst>
                  <a:outerShdw blurRad="38100" dist="38100" dir="2700000" algn="tl">
                    <a:srgbClr val="000000">
                      <a:alpha val="43137"/>
                    </a:srgbClr>
                  </a:outerShdw>
                </a:effectLst>
              </a:rPr>
              <a:t>conv</a:t>
            </a:r>
            <a:r>
              <a:rPr lang="en-US" sz="1900" dirty="0">
                <a:effectLst>
                  <a:outerShdw blurRad="38100" dist="38100" dir="2700000" algn="tl">
                    <a:srgbClr val="000000">
                      <a:alpha val="43137"/>
                    </a:srgbClr>
                  </a:outerShdw>
                </a:effectLst>
              </a:rPr>
              <a:t>”) are significantly different among them with context of treatment “recall” </a:t>
            </a:r>
            <a:r>
              <a:rPr lang="en-US" sz="1900" dirty="0"/>
              <a:t>(Gemini 2025)</a:t>
            </a:r>
            <a:r>
              <a:rPr lang="en-US" sz="1900" dirty="0" smtClean="0"/>
              <a:t>.</a:t>
            </a:r>
          </a:p>
          <a:p>
            <a:pPr marL="0" indent="0">
              <a:buNone/>
            </a:pPr>
            <a:endParaRPr lang="en-US" sz="1900" dirty="0" smtClean="0"/>
          </a:p>
          <a:p>
            <a:pPr marL="0" indent="0">
              <a:buNone/>
            </a:pPr>
            <a:endParaRPr lang="en-US" sz="1900" dirty="0"/>
          </a:p>
          <a:p>
            <a:pPr marL="0" indent="0">
              <a:buNone/>
            </a:pPr>
            <a:endParaRPr lang="en-US" sz="1900" dirty="0" smtClean="0"/>
          </a:p>
          <a:p>
            <a:pPr marL="0" indent="0">
              <a:buNone/>
            </a:pPr>
            <a:endParaRPr lang="en-US" sz="1900" dirty="0"/>
          </a:p>
          <a:p>
            <a:pPr marL="0" indent="0">
              <a:buNone/>
            </a:pPr>
            <a:r>
              <a:rPr lang="en-US" sz="1900" dirty="0"/>
              <a:t>For the result table above, the feature “</a:t>
            </a:r>
            <a:r>
              <a:rPr lang="en-US" sz="1900" dirty="0" err="1"/>
              <a:t>conv</a:t>
            </a:r>
            <a:r>
              <a:rPr lang="en-US" sz="1900" dirty="0"/>
              <a:t>” is significantly much larger than features “weight” and “trans” in recall metric because its absolute mean differences with respect to feature “weight” and feature “trans” are larger (|0.3589|, |0.3393|) with P-values (&lt; 0.001) are too smaller than 0.05. Because these differences are positive, the feature “</a:t>
            </a:r>
            <a:r>
              <a:rPr lang="en-US" sz="1900" dirty="0" err="1"/>
              <a:t>conv</a:t>
            </a:r>
            <a:r>
              <a:rPr lang="en-US" sz="1900" dirty="0"/>
              <a:t>” is significantly much worse than features “weight” and “trans”. Conversely, there is no significantly difference between feature “weight” and feature “trans” because the P-value (0.4481) given their absolute mean difference (|0.0196|) is larger than 0.05. </a:t>
            </a:r>
            <a:r>
              <a:rPr lang="en-US" sz="1900" dirty="0" smtClean="0"/>
              <a:t>Therefore (</a:t>
            </a:r>
            <a:r>
              <a:rPr lang="en-US" sz="1900" b="1" dirty="0" smtClean="0"/>
              <a:t>skip</a:t>
            </a:r>
            <a:r>
              <a:rPr lang="en-US" sz="1900" dirty="0" smtClean="0"/>
              <a:t>), </a:t>
            </a:r>
            <a:r>
              <a:rPr lang="en-US" sz="1900" dirty="0"/>
              <a:t>there is significant evidence to support the first hypothesis “MNN is the alternative of CNN” and there is no significant evidence to support the second hypothesis “attention is the alternative of CNN”, within recall metric. Of course, CNN is worse than both MNN and attention within recall metric. In other words, within recall metric, </a:t>
            </a:r>
            <a:r>
              <a:rPr lang="en-US" sz="1900" dirty="0" smtClean="0"/>
              <a:t>MNN </a:t>
            </a:r>
            <a:r>
              <a:rPr lang="en-US" sz="1900" dirty="0"/>
              <a:t>should be the alternative of </a:t>
            </a:r>
            <a:r>
              <a:rPr lang="en-US" sz="1900" dirty="0" smtClean="0"/>
              <a:t>CNN and </a:t>
            </a:r>
            <a:r>
              <a:rPr lang="en-US" sz="1900" dirty="0"/>
              <a:t>it is not necessary to replace MNN by attention but attention is slightly worse than MNN because the mean difference between feature “weight” and feature “trans” is positive </a:t>
            </a:r>
            <a:r>
              <a:rPr lang="en-US" sz="1900" dirty="0" smtClean="0"/>
              <a:t>(weight </a:t>
            </a:r>
            <a:r>
              <a:rPr lang="en-US" sz="1900" dirty="0"/>
              <a:t>– </a:t>
            </a:r>
            <a:r>
              <a:rPr lang="en-US" sz="1900" dirty="0" smtClean="0"/>
              <a:t>trans) </a:t>
            </a:r>
            <a:r>
              <a:rPr lang="en-US" sz="1900" dirty="0"/>
              <a:t>= 0.0196</a:t>
            </a:r>
            <a:r>
              <a:rPr lang="en-US" sz="1900" dirty="0" smtClean="0"/>
              <a:t>.</a:t>
            </a:r>
            <a:endParaRPr lang="en-US" sz="1900" dirty="0"/>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56</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641260221"/>
              </p:ext>
            </p:extLst>
          </p:nvPr>
        </p:nvGraphicFramePr>
        <p:xfrm>
          <a:off x="838200" y="1800632"/>
          <a:ext cx="10515600" cy="1158240"/>
        </p:xfrm>
        <a:graphic>
          <a:graphicData uri="http://schemas.openxmlformats.org/drawingml/2006/table">
            <a:tbl>
              <a:tblPr firstRow="1" firstCol="1" bandRow="1">
                <a:tableStyleId>{5C22544A-7EE6-4342-B048-85BDC9FD1C3A}</a:tableStyleId>
              </a:tblPr>
              <a:tblGrid>
                <a:gridCol w="2103120">
                  <a:extLst>
                    <a:ext uri="{9D8B030D-6E8A-4147-A177-3AD203B41FA5}">
                      <a16:colId xmlns:a16="http://schemas.microsoft.com/office/drawing/2014/main" val="3599353703"/>
                    </a:ext>
                  </a:extLst>
                </a:gridCol>
                <a:gridCol w="2103120">
                  <a:extLst>
                    <a:ext uri="{9D8B030D-6E8A-4147-A177-3AD203B41FA5}">
                      <a16:colId xmlns:a16="http://schemas.microsoft.com/office/drawing/2014/main" val="1472891259"/>
                    </a:ext>
                  </a:extLst>
                </a:gridCol>
                <a:gridCol w="2103120">
                  <a:extLst>
                    <a:ext uri="{9D8B030D-6E8A-4147-A177-3AD203B41FA5}">
                      <a16:colId xmlns:a16="http://schemas.microsoft.com/office/drawing/2014/main" val="3396543405"/>
                    </a:ext>
                  </a:extLst>
                </a:gridCol>
                <a:gridCol w="2103120">
                  <a:extLst>
                    <a:ext uri="{9D8B030D-6E8A-4147-A177-3AD203B41FA5}">
                      <a16:colId xmlns:a16="http://schemas.microsoft.com/office/drawing/2014/main" val="248266169"/>
                    </a:ext>
                  </a:extLst>
                </a:gridCol>
                <a:gridCol w="2103120">
                  <a:extLst>
                    <a:ext uri="{9D8B030D-6E8A-4147-A177-3AD203B41FA5}">
                      <a16:colId xmlns:a16="http://schemas.microsoft.com/office/drawing/2014/main" val="1657140667"/>
                    </a:ext>
                  </a:extLst>
                </a:gridCol>
              </a:tblGrid>
              <a:tr h="0">
                <a:tc>
                  <a:txBody>
                    <a:bodyPr/>
                    <a:lstStyle/>
                    <a:p>
                      <a:pPr marL="0" marR="0" algn="ctr">
                        <a:spcBef>
                          <a:spcPts val="0"/>
                        </a:spcBef>
                        <a:spcAft>
                          <a:spcPts val="0"/>
                        </a:spcAft>
                      </a:pPr>
                      <a:r>
                        <a:rPr lang="en-US" sz="1900" dirty="0">
                          <a:effectLst/>
                          <a:latin typeface="Times New Roman" panose="02020603050405020304" pitchFamily="18" charset="0"/>
                          <a:cs typeface="Times New Roman" panose="02020603050405020304" pitchFamily="18" charset="0"/>
                        </a:rPr>
                        <a:t>Treatment 1</a:t>
                      </a:r>
                      <a:endParaRPr lang="en-US" sz="19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900" dirty="0">
                          <a:effectLst/>
                          <a:latin typeface="Times New Roman" panose="02020603050405020304" pitchFamily="18" charset="0"/>
                          <a:cs typeface="Times New Roman" panose="02020603050405020304" pitchFamily="18" charset="0"/>
                        </a:rPr>
                        <a:t>Treatment 2</a:t>
                      </a:r>
                      <a:endParaRPr lang="en-US" sz="19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900" dirty="0" smtClean="0">
                          <a:effectLst/>
                          <a:latin typeface="Times New Roman" panose="02020603050405020304" pitchFamily="18" charset="0"/>
                          <a:cs typeface="Times New Roman" panose="02020603050405020304" pitchFamily="18" charset="0"/>
                        </a:rPr>
                        <a:t>Mean Difference</a:t>
                      </a:r>
                      <a:endParaRPr lang="en-US" sz="19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900" dirty="0" smtClean="0">
                          <a:effectLst/>
                          <a:latin typeface="Times New Roman" panose="02020603050405020304" pitchFamily="18" charset="0"/>
                          <a:cs typeface="Times New Roman" panose="02020603050405020304" pitchFamily="18" charset="0"/>
                        </a:rPr>
                        <a:t>Adjusted P-value</a:t>
                      </a:r>
                      <a:endParaRPr lang="en-US" sz="19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900">
                          <a:effectLst/>
                          <a:latin typeface="Times New Roman" panose="02020603050405020304" pitchFamily="18" charset="0"/>
                          <a:cs typeface="Times New Roman" panose="02020603050405020304" pitchFamily="18" charset="0"/>
                        </a:rPr>
                        <a:t>Significant</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85143400"/>
                  </a:ext>
                </a:extLst>
              </a:tr>
              <a:tr h="0">
                <a:tc>
                  <a:txBody>
                    <a:bodyPr/>
                    <a:lstStyle/>
                    <a:p>
                      <a:pPr marL="0" marR="0" algn="just">
                        <a:spcBef>
                          <a:spcPts val="0"/>
                        </a:spcBef>
                        <a:spcAft>
                          <a:spcPts val="0"/>
                        </a:spcAft>
                      </a:pPr>
                      <a:r>
                        <a:rPr lang="en-US" sz="1900" dirty="0" err="1">
                          <a:effectLst/>
                          <a:latin typeface="Times New Roman" panose="02020603050405020304" pitchFamily="18" charset="0"/>
                          <a:cs typeface="Times New Roman" panose="02020603050405020304" pitchFamily="18" charset="0"/>
                        </a:rPr>
                        <a:t>conv</a:t>
                      </a:r>
                      <a:endParaRPr lang="en-US" sz="19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trans</a:t>
                      </a:r>
                    </a:p>
                  </a:txBody>
                  <a:tcPr marL="68580" marR="68580" marT="0" marB="0"/>
                </a:tc>
                <a:tc>
                  <a:txBody>
                    <a:bodyPr/>
                    <a:lstStyle/>
                    <a:p>
                      <a:pPr marL="0" marR="0" algn="r">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0.3393</a:t>
                      </a:r>
                    </a:p>
                  </a:txBody>
                  <a:tcPr marL="68580" marR="68580" marT="0" marB="0"/>
                </a:tc>
                <a:tc>
                  <a:txBody>
                    <a:bodyPr/>
                    <a:lstStyle/>
                    <a:p>
                      <a:pPr marL="0" marR="0" algn="r">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&lt; 0.001</a:t>
                      </a:r>
                    </a:p>
                  </a:txBody>
                  <a:tcPr marL="68580" marR="68580" marT="0" marB="0"/>
                </a:tc>
                <a:tc>
                  <a:txBody>
                    <a:bodyPr/>
                    <a:lstStyle/>
                    <a:p>
                      <a:pPr marL="0" marR="0" algn="just">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Yes (trans &gt; conv)</a:t>
                      </a:r>
                    </a:p>
                  </a:txBody>
                  <a:tcPr marL="68580" marR="68580" marT="0" marB="0"/>
                </a:tc>
                <a:extLst>
                  <a:ext uri="{0D108BD9-81ED-4DB2-BD59-A6C34878D82A}">
                    <a16:rowId xmlns:a16="http://schemas.microsoft.com/office/drawing/2014/main" val="3212869863"/>
                  </a:ext>
                </a:extLst>
              </a:tr>
              <a:tr h="0">
                <a:tc>
                  <a:txBody>
                    <a:bodyPr/>
                    <a:lstStyle/>
                    <a:p>
                      <a:pPr marL="0" marR="0" algn="just">
                        <a:spcBef>
                          <a:spcPts val="0"/>
                        </a:spcBef>
                        <a:spcAft>
                          <a:spcPts val="0"/>
                        </a:spcAft>
                      </a:pPr>
                      <a:r>
                        <a:rPr lang="en-US" sz="1900">
                          <a:effectLst/>
                          <a:latin typeface="Times New Roman" panose="02020603050405020304" pitchFamily="18" charset="0"/>
                          <a:cs typeface="Times New Roman" panose="02020603050405020304" pitchFamily="18" charset="0"/>
                        </a:rPr>
                        <a:t>conv</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weight</a:t>
                      </a:r>
                    </a:p>
                  </a:txBody>
                  <a:tcPr marL="68580" marR="68580" marT="0" marB="0"/>
                </a:tc>
                <a:tc>
                  <a:txBody>
                    <a:bodyPr/>
                    <a:lstStyle/>
                    <a:p>
                      <a:pPr marL="0" marR="0" algn="r">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0.3589</a:t>
                      </a:r>
                    </a:p>
                  </a:txBody>
                  <a:tcPr marL="68580" marR="68580" marT="0" marB="0"/>
                </a:tc>
                <a:tc>
                  <a:txBody>
                    <a:bodyPr/>
                    <a:lstStyle/>
                    <a:p>
                      <a:pPr marL="0" marR="0" algn="r">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&lt; 0.001</a:t>
                      </a:r>
                    </a:p>
                  </a:txBody>
                  <a:tcPr marL="68580" marR="68580" marT="0" marB="0"/>
                </a:tc>
                <a:tc>
                  <a:txBody>
                    <a:bodyPr/>
                    <a:lstStyle/>
                    <a:p>
                      <a:pPr marL="0" marR="0" algn="just">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Yes (weight &gt; conv)</a:t>
                      </a:r>
                    </a:p>
                  </a:txBody>
                  <a:tcPr marL="68580" marR="68580" marT="0" marB="0"/>
                </a:tc>
                <a:extLst>
                  <a:ext uri="{0D108BD9-81ED-4DB2-BD59-A6C34878D82A}">
                    <a16:rowId xmlns:a16="http://schemas.microsoft.com/office/drawing/2014/main" val="1382717236"/>
                  </a:ext>
                </a:extLst>
              </a:tr>
              <a:tr h="0">
                <a:tc>
                  <a:txBody>
                    <a:bodyPr/>
                    <a:lstStyle/>
                    <a:p>
                      <a:pPr marL="0" marR="0" algn="just">
                        <a:spcBef>
                          <a:spcPts val="0"/>
                        </a:spcBef>
                        <a:spcAft>
                          <a:spcPts val="0"/>
                        </a:spcAft>
                      </a:pPr>
                      <a:r>
                        <a:rPr lang="en-US" sz="1900">
                          <a:effectLst/>
                          <a:latin typeface="Times New Roman" panose="02020603050405020304" pitchFamily="18" charset="0"/>
                          <a:cs typeface="Times New Roman" panose="02020603050405020304" pitchFamily="18" charset="0"/>
                        </a:rPr>
                        <a:t>trans</a:t>
                      </a:r>
                      <a:endParaRPr lang="en-US" sz="19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weight</a:t>
                      </a:r>
                    </a:p>
                  </a:txBody>
                  <a:tcPr marL="68580" marR="68580" marT="0" marB="0"/>
                </a:tc>
                <a:tc>
                  <a:txBody>
                    <a:bodyPr/>
                    <a:lstStyle/>
                    <a:p>
                      <a:pPr marL="0" marR="0" algn="r">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0.0196</a:t>
                      </a:r>
                    </a:p>
                  </a:txBody>
                  <a:tcPr marL="68580" marR="68580" marT="0" marB="0"/>
                </a:tc>
                <a:tc>
                  <a:txBody>
                    <a:bodyPr/>
                    <a:lstStyle/>
                    <a:p>
                      <a:pPr marL="0" marR="0" algn="r">
                        <a:spcBef>
                          <a:spcPts val="0"/>
                        </a:spcBef>
                        <a:spcAft>
                          <a:spcPts val="0"/>
                        </a:spcAft>
                      </a:pPr>
                      <a:r>
                        <a:rPr lang="en-US" sz="1900">
                          <a:effectLst/>
                          <a:latin typeface="Times New Roman" panose="02020603050405020304" pitchFamily="18" charset="0"/>
                          <a:ea typeface="DengXian"/>
                          <a:cs typeface="Times New Roman" panose="02020603050405020304" pitchFamily="18" charset="0"/>
                        </a:rPr>
                        <a:t>0.4481</a:t>
                      </a:r>
                    </a:p>
                  </a:txBody>
                  <a:tcPr marL="68580" marR="68580" marT="0" marB="0"/>
                </a:tc>
                <a:tc>
                  <a:txBody>
                    <a:bodyPr/>
                    <a:lstStyle/>
                    <a:p>
                      <a:pPr marL="0" marR="0" algn="just">
                        <a:spcBef>
                          <a:spcPts val="0"/>
                        </a:spcBef>
                        <a:spcAft>
                          <a:spcPts val="0"/>
                        </a:spcAft>
                      </a:pPr>
                      <a:r>
                        <a:rPr lang="en-US" sz="1900" dirty="0">
                          <a:effectLst/>
                          <a:latin typeface="Times New Roman" panose="02020603050405020304" pitchFamily="18" charset="0"/>
                          <a:ea typeface="DengXian"/>
                          <a:cs typeface="Times New Roman" panose="02020603050405020304" pitchFamily="18" charset="0"/>
                        </a:rPr>
                        <a:t>No</a:t>
                      </a:r>
                    </a:p>
                  </a:txBody>
                  <a:tcPr marL="68580" marR="68580" marT="0" marB="0"/>
                </a:tc>
                <a:extLst>
                  <a:ext uri="{0D108BD9-81ED-4DB2-BD59-A6C34878D82A}">
                    <a16:rowId xmlns:a16="http://schemas.microsoft.com/office/drawing/2014/main" val="99367629"/>
                  </a:ext>
                </a:extLst>
              </a:tr>
            </a:tbl>
          </a:graphicData>
        </a:graphic>
      </p:graphicFrame>
    </p:spTree>
    <p:extLst>
      <p:ext uri="{BB962C8B-B14F-4D97-AF65-F5344CB8AC3E}">
        <p14:creationId xmlns:p14="http://schemas.microsoft.com/office/powerpoint/2010/main" val="348209186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Results and </a:t>
            </a:r>
            <a:r>
              <a:rPr lang="en-US" dirty="0" smtClean="0"/>
              <a:t>discussions (main)</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531993808"/>
              </p:ext>
            </p:extLst>
          </p:nvPr>
        </p:nvGraphicFramePr>
        <p:xfrm>
          <a:off x="76200" y="1330444"/>
          <a:ext cx="12039600" cy="2286000"/>
        </p:xfrm>
        <a:graphic>
          <a:graphicData uri="http://schemas.openxmlformats.org/drawingml/2006/table">
            <a:tbl>
              <a:tblPr firstRow="1" firstCol="1" bandRow="1">
                <a:tableStyleId>{5C22544A-7EE6-4342-B048-85BDC9FD1C3A}</a:tableStyleId>
              </a:tblPr>
              <a:tblGrid>
                <a:gridCol w="883920">
                  <a:extLst>
                    <a:ext uri="{9D8B030D-6E8A-4147-A177-3AD203B41FA5}">
                      <a16:colId xmlns:a16="http://schemas.microsoft.com/office/drawing/2014/main" val="3435752960"/>
                    </a:ext>
                  </a:extLst>
                </a:gridCol>
                <a:gridCol w="3159760">
                  <a:extLst>
                    <a:ext uri="{9D8B030D-6E8A-4147-A177-3AD203B41FA5}">
                      <a16:colId xmlns:a16="http://schemas.microsoft.com/office/drawing/2014/main" val="1991381918"/>
                    </a:ext>
                  </a:extLst>
                </a:gridCol>
                <a:gridCol w="4216400">
                  <a:extLst>
                    <a:ext uri="{9D8B030D-6E8A-4147-A177-3AD203B41FA5}">
                      <a16:colId xmlns:a16="http://schemas.microsoft.com/office/drawing/2014/main" val="1659599275"/>
                    </a:ext>
                  </a:extLst>
                </a:gridCol>
                <a:gridCol w="3779520">
                  <a:extLst>
                    <a:ext uri="{9D8B030D-6E8A-4147-A177-3AD203B41FA5}">
                      <a16:colId xmlns:a16="http://schemas.microsoft.com/office/drawing/2014/main" val="3435913487"/>
                    </a:ext>
                  </a:extLst>
                </a:gridCol>
              </a:tblGrid>
              <a:tr h="0">
                <a:tc>
                  <a:txBody>
                    <a:bodyPr/>
                    <a:lstStyle/>
                    <a:p>
                      <a:pPr marL="0" marR="0" algn="just">
                        <a:spcBef>
                          <a:spcPts val="0"/>
                        </a:spcBef>
                        <a:spcAft>
                          <a:spcPts val="0"/>
                        </a:spcAft>
                      </a:pPr>
                      <a:r>
                        <a:rPr lang="en-US" sz="1500">
                          <a:effectLst/>
                          <a:latin typeface="Times New Roman" panose="02020603050405020304" pitchFamily="18" charset="0"/>
                          <a:cs typeface="Times New Roman" panose="02020603050405020304" pitchFamily="18" charset="0"/>
                        </a:rPr>
                        <a:t> </a:t>
                      </a:r>
                      <a:endParaRPr lang="en-US" sz="1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500" dirty="0">
                          <a:effectLst/>
                          <a:latin typeface="Times New Roman" panose="02020603050405020304" pitchFamily="18" charset="0"/>
                          <a:cs typeface="Times New Roman" panose="02020603050405020304" pitchFamily="18" charset="0"/>
                        </a:rPr>
                        <a:t>Hypothesis 1</a:t>
                      </a:r>
                      <a:endParaRPr lang="en-US" sz="15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500">
                          <a:effectLst/>
                          <a:latin typeface="Times New Roman" panose="02020603050405020304" pitchFamily="18" charset="0"/>
                          <a:cs typeface="Times New Roman" panose="02020603050405020304" pitchFamily="18" charset="0"/>
                        </a:rPr>
                        <a:t>Hypothesis 2</a:t>
                      </a:r>
                      <a:endParaRPr lang="en-US" sz="1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500">
                          <a:effectLst/>
                          <a:latin typeface="Times New Roman" panose="02020603050405020304" pitchFamily="18" charset="0"/>
                          <a:cs typeface="Times New Roman" panose="02020603050405020304" pitchFamily="18" charset="0"/>
                        </a:rPr>
                        <a:t>Hypothesis 3</a:t>
                      </a:r>
                      <a:endParaRPr lang="en-US" sz="150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470923861"/>
                  </a:ext>
                </a:extLst>
              </a:tr>
              <a:tr h="0">
                <a:tc>
                  <a:txBody>
                    <a:bodyPr/>
                    <a:lstStyle/>
                    <a:p>
                      <a:pPr marL="0" marR="0" algn="just">
                        <a:spcBef>
                          <a:spcPts val="0"/>
                        </a:spcBef>
                        <a:spcAft>
                          <a:spcPts val="0"/>
                        </a:spcAft>
                      </a:pPr>
                      <a:r>
                        <a:rPr lang="en-US" sz="1500">
                          <a:effectLst/>
                          <a:latin typeface="Times New Roman" panose="02020603050405020304" pitchFamily="18" charset="0"/>
                          <a:cs typeface="Times New Roman" panose="02020603050405020304" pitchFamily="18" charset="0"/>
                        </a:rPr>
                        <a:t>accuracy</a:t>
                      </a:r>
                      <a:endParaRPr lang="en-US" sz="1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500" i="1" dirty="0">
                          <a:effectLst/>
                          <a:latin typeface="Times New Roman" panose="02020603050405020304" pitchFamily="18" charset="0"/>
                          <a:cs typeface="Times New Roman" panose="02020603050405020304" pitchFamily="18" charset="0"/>
                        </a:rPr>
                        <a:t>Not supported.</a:t>
                      </a:r>
                    </a:p>
                    <a:p>
                      <a:pPr marL="0" marR="0" algn="just">
                        <a:spcBef>
                          <a:spcPts val="0"/>
                        </a:spcBef>
                        <a:spcAft>
                          <a:spcPts val="0"/>
                        </a:spcAft>
                      </a:pPr>
                      <a:r>
                        <a:rPr lang="en-US" sz="1500" dirty="0">
                          <a:effectLst/>
                          <a:latin typeface="Times New Roman" panose="02020603050405020304" pitchFamily="18" charset="0"/>
                          <a:cs typeface="Times New Roman" panose="02020603050405020304" pitchFamily="18" charset="0"/>
                        </a:rPr>
                        <a:t>CNN is the best.</a:t>
                      </a:r>
                      <a:endParaRPr lang="en-US" sz="15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500" i="1" dirty="0">
                          <a:effectLst/>
                          <a:latin typeface="Times New Roman" panose="02020603050405020304" pitchFamily="18" charset="0"/>
                          <a:cs typeface="Times New Roman" panose="02020603050405020304" pitchFamily="18" charset="0"/>
                        </a:rPr>
                        <a:t>Not supported.</a:t>
                      </a:r>
                    </a:p>
                    <a:p>
                      <a:pPr marL="0" marR="0" algn="just">
                        <a:spcBef>
                          <a:spcPts val="0"/>
                        </a:spcBef>
                        <a:spcAft>
                          <a:spcPts val="0"/>
                        </a:spcAft>
                      </a:pPr>
                      <a:r>
                        <a:rPr lang="en-US" sz="1500" dirty="0">
                          <a:effectLst/>
                          <a:latin typeface="Times New Roman" panose="02020603050405020304" pitchFamily="18" charset="0"/>
                          <a:cs typeface="Times New Roman" panose="02020603050405020304" pitchFamily="18" charset="0"/>
                        </a:rPr>
                        <a:t>TB is slightly better than MNN but worse than CNN.</a:t>
                      </a:r>
                      <a:endParaRPr lang="en-US" sz="15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500" i="1" dirty="0">
                          <a:effectLst/>
                          <a:latin typeface="Times New Roman" panose="02020603050405020304" pitchFamily="18" charset="0"/>
                          <a:cs typeface="Times New Roman" panose="02020603050405020304" pitchFamily="18" charset="0"/>
                        </a:rPr>
                        <a:t>Supported.</a:t>
                      </a:r>
                    </a:p>
                    <a:p>
                      <a:pPr marL="0" marR="0" algn="just">
                        <a:spcBef>
                          <a:spcPts val="0"/>
                        </a:spcBef>
                        <a:spcAft>
                          <a:spcPts val="0"/>
                        </a:spcAft>
                      </a:pPr>
                      <a:r>
                        <a:rPr lang="en-US" sz="1500" dirty="0">
                          <a:effectLst/>
                          <a:latin typeface="Times New Roman" panose="02020603050405020304" pitchFamily="18" charset="0"/>
                          <a:cs typeface="Times New Roman" panose="02020603050405020304" pitchFamily="18" charset="0"/>
                        </a:rPr>
                        <a:t>Vector FEC is slightly better than matrix FEC.</a:t>
                      </a:r>
                      <a:endParaRPr lang="en-US" sz="15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977003956"/>
                  </a:ext>
                </a:extLst>
              </a:tr>
              <a:tr h="0">
                <a:tc>
                  <a:txBody>
                    <a:bodyPr/>
                    <a:lstStyle/>
                    <a:p>
                      <a:pPr marL="0" marR="0" algn="just">
                        <a:spcBef>
                          <a:spcPts val="0"/>
                        </a:spcBef>
                        <a:spcAft>
                          <a:spcPts val="0"/>
                        </a:spcAft>
                      </a:pPr>
                      <a:r>
                        <a:rPr lang="en-US" sz="1500">
                          <a:effectLst/>
                          <a:latin typeface="Times New Roman" panose="02020603050405020304" pitchFamily="18" charset="0"/>
                          <a:cs typeface="Times New Roman" panose="02020603050405020304" pitchFamily="18" charset="0"/>
                        </a:rPr>
                        <a:t>F1</a:t>
                      </a:r>
                      <a:endParaRPr lang="en-US" sz="1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500" i="1" dirty="0">
                          <a:effectLst/>
                          <a:latin typeface="Times New Roman" panose="02020603050405020304" pitchFamily="18" charset="0"/>
                          <a:cs typeface="Times New Roman" panose="02020603050405020304" pitchFamily="18" charset="0"/>
                        </a:rPr>
                        <a:t>Supported.</a:t>
                      </a:r>
                    </a:p>
                    <a:p>
                      <a:pPr marL="0" marR="0" algn="just">
                        <a:spcBef>
                          <a:spcPts val="0"/>
                        </a:spcBef>
                        <a:spcAft>
                          <a:spcPts val="0"/>
                        </a:spcAft>
                      </a:pPr>
                      <a:r>
                        <a:rPr lang="en-US" sz="1500" dirty="0">
                          <a:effectLst/>
                          <a:latin typeface="Times New Roman" panose="02020603050405020304" pitchFamily="18" charset="0"/>
                          <a:cs typeface="Times New Roman" panose="02020603050405020304" pitchFamily="18" charset="0"/>
                        </a:rPr>
                        <a:t>CNN is worse than both TB and MNN.</a:t>
                      </a:r>
                      <a:endParaRPr lang="en-US" sz="15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500" i="1" dirty="0">
                          <a:effectLst/>
                          <a:latin typeface="Times New Roman" panose="02020603050405020304" pitchFamily="18" charset="0"/>
                          <a:cs typeface="Times New Roman" panose="02020603050405020304" pitchFamily="18" charset="0"/>
                        </a:rPr>
                        <a:t>Not supported.</a:t>
                      </a:r>
                    </a:p>
                    <a:p>
                      <a:pPr marL="0" marR="0" algn="just">
                        <a:spcBef>
                          <a:spcPts val="0"/>
                        </a:spcBef>
                        <a:spcAft>
                          <a:spcPts val="0"/>
                        </a:spcAft>
                      </a:pPr>
                      <a:r>
                        <a:rPr lang="en-US" sz="1500" dirty="0">
                          <a:effectLst/>
                          <a:latin typeface="Times New Roman" panose="02020603050405020304" pitchFamily="18" charset="0"/>
                          <a:cs typeface="Times New Roman" panose="02020603050405020304" pitchFamily="18" charset="0"/>
                        </a:rPr>
                        <a:t>TB is slightly better than </a:t>
                      </a:r>
                      <a:r>
                        <a:rPr lang="en-US" sz="1500" dirty="0" smtClean="0">
                          <a:effectLst/>
                          <a:latin typeface="Times New Roman" panose="02020603050405020304" pitchFamily="18" charset="0"/>
                          <a:cs typeface="Times New Roman" panose="02020603050405020304" pitchFamily="18" charset="0"/>
                        </a:rPr>
                        <a:t>both MNN </a:t>
                      </a:r>
                      <a:r>
                        <a:rPr lang="en-US" sz="1500" dirty="0">
                          <a:effectLst/>
                          <a:latin typeface="Times New Roman" panose="02020603050405020304" pitchFamily="18" charset="0"/>
                          <a:cs typeface="Times New Roman" panose="02020603050405020304" pitchFamily="18" charset="0"/>
                        </a:rPr>
                        <a:t>and </a:t>
                      </a:r>
                      <a:r>
                        <a:rPr lang="en-US" sz="1500" dirty="0" smtClean="0">
                          <a:effectLst/>
                          <a:latin typeface="Times New Roman" panose="02020603050405020304" pitchFamily="18" charset="0"/>
                          <a:cs typeface="Times New Roman" panose="02020603050405020304" pitchFamily="18" charset="0"/>
                        </a:rPr>
                        <a:t>CNN</a:t>
                      </a:r>
                      <a:r>
                        <a:rPr lang="en-US" sz="1500" dirty="0">
                          <a:effectLst/>
                          <a:latin typeface="Times New Roman" panose="02020603050405020304" pitchFamily="18" charset="0"/>
                          <a:cs typeface="Times New Roman" panose="02020603050405020304" pitchFamily="18" charset="0"/>
                        </a:rPr>
                        <a:t>.</a:t>
                      </a:r>
                      <a:endParaRPr lang="en-US" sz="15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500" i="1" dirty="0">
                          <a:effectLst/>
                          <a:latin typeface="Times New Roman" panose="02020603050405020304" pitchFamily="18" charset="0"/>
                          <a:cs typeface="Times New Roman" panose="02020603050405020304" pitchFamily="18" charset="0"/>
                        </a:rPr>
                        <a:t>Supported.</a:t>
                      </a:r>
                    </a:p>
                    <a:p>
                      <a:pPr marL="0" marR="0" algn="just">
                        <a:spcBef>
                          <a:spcPts val="0"/>
                        </a:spcBef>
                        <a:spcAft>
                          <a:spcPts val="0"/>
                        </a:spcAft>
                      </a:pPr>
                      <a:r>
                        <a:rPr lang="en-US" sz="1500" dirty="0">
                          <a:effectLst/>
                          <a:latin typeface="Times New Roman" panose="02020603050405020304" pitchFamily="18" charset="0"/>
                          <a:cs typeface="Times New Roman" panose="02020603050405020304" pitchFamily="18" charset="0"/>
                        </a:rPr>
                        <a:t>Vector FEC is slightly better than matrix FEC.</a:t>
                      </a:r>
                      <a:endParaRPr lang="en-US" sz="15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603490994"/>
                  </a:ext>
                </a:extLst>
              </a:tr>
              <a:tr h="0">
                <a:tc>
                  <a:txBody>
                    <a:bodyPr/>
                    <a:lstStyle/>
                    <a:p>
                      <a:pPr marL="0" marR="0" algn="just">
                        <a:spcBef>
                          <a:spcPts val="0"/>
                        </a:spcBef>
                        <a:spcAft>
                          <a:spcPts val="0"/>
                        </a:spcAft>
                      </a:pPr>
                      <a:r>
                        <a:rPr lang="en-US" sz="1500">
                          <a:effectLst/>
                          <a:latin typeface="Times New Roman" panose="02020603050405020304" pitchFamily="18" charset="0"/>
                          <a:cs typeface="Times New Roman" panose="02020603050405020304" pitchFamily="18" charset="0"/>
                        </a:rPr>
                        <a:t>precision</a:t>
                      </a:r>
                      <a:endParaRPr lang="en-US" sz="1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500" i="1" dirty="0">
                          <a:effectLst/>
                          <a:latin typeface="Times New Roman" panose="02020603050405020304" pitchFamily="18" charset="0"/>
                          <a:cs typeface="Times New Roman" panose="02020603050405020304" pitchFamily="18" charset="0"/>
                        </a:rPr>
                        <a:t>Supported.</a:t>
                      </a:r>
                    </a:p>
                    <a:p>
                      <a:pPr marL="0" marR="0" algn="just">
                        <a:spcBef>
                          <a:spcPts val="0"/>
                        </a:spcBef>
                        <a:spcAft>
                          <a:spcPts val="0"/>
                        </a:spcAft>
                      </a:pPr>
                      <a:r>
                        <a:rPr lang="en-US" sz="1500" dirty="0">
                          <a:effectLst/>
                          <a:latin typeface="Times New Roman" panose="02020603050405020304" pitchFamily="18" charset="0"/>
                          <a:cs typeface="Times New Roman" panose="02020603050405020304" pitchFamily="18" charset="0"/>
                        </a:rPr>
                        <a:t>CNN is worse than both TB and MNN.</a:t>
                      </a:r>
                      <a:endParaRPr lang="en-US" sz="15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500" i="1" dirty="0">
                          <a:effectLst/>
                          <a:latin typeface="Times New Roman" panose="02020603050405020304" pitchFamily="18" charset="0"/>
                          <a:cs typeface="Times New Roman" panose="02020603050405020304" pitchFamily="18" charset="0"/>
                        </a:rPr>
                        <a:t>Not supported.</a:t>
                      </a:r>
                    </a:p>
                    <a:p>
                      <a:pPr marL="0" marR="0" algn="just">
                        <a:spcBef>
                          <a:spcPts val="0"/>
                        </a:spcBef>
                        <a:spcAft>
                          <a:spcPts val="0"/>
                        </a:spcAft>
                      </a:pPr>
                      <a:r>
                        <a:rPr lang="en-US" sz="1500" dirty="0">
                          <a:effectLst/>
                          <a:latin typeface="Times New Roman" panose="02020603050405020304" pitchFamily="18" charset="0"/>
                          <a:cs typeface="Times New Roman" panose="02020603050405020304" pitchFamily="18" charset="0"/>
                        </a:rPr>
                        <a:t>TB is slightly better than </a:t>
                      </a:r>
                      <a:r>
                        <a:rPr lang="en-US" sz="1500" dirty="0" smtClean="0">
                          <a:effectLst/>
                          <a:latin typeface="Times New Roman" panose="02020603050405020304" pitchFamily="18" charset="0"/>
                          <a:cs typeface="Times New Roman" panose="02020603050405020304" pitchFamily="18" charset="0"/>
                        </a:rPr>
                        <a:t>both MNN </a:t>
                      </a:r>
                      <a:r>
                        <a:rPr lang="en-US" sz="1500" dirty="0">
                          <a:effectLst/>
                          <a:latin typeface="Times New Roman" panose="02020603050405020304" pitchFamily="18" charset="0"/>
                          <a:cs typeface="Times New Roman" panose="02020603050405020304" pitchFamily="18" charset="0"/>
                        </a:rPr>
                        <a:t>and </a:t>
                      </a:r>
                      <a:r>
                        <a:rPr lang="en-US" sz="1500" dirty="0" smtClean="0">
                          <a:effectLst/>
                          <a:latin typeface="Times New Roman" panose="02020603050405020304" pitchFamily="18" charset="0"/>
                          <a:cs typeface="Times New Roman" panose="02020603050405020304" pitchFamily="18" charset="0"/>
                        </a:rPr>
                        <a:t>CNN</a:t>
                      </a:r>
                      <a:r>
                        <a:rPr lang="en-US" sz="1500" dirty="0">
                          <a:effectLst/>
                          <a:latin typeface="Times New Roman" panose="02020603050405020304" pitchFamily="18" charset="0"/>
                          <a:cs typeface="Times New Roman" panose="02020603050405020304" pitchFamily="18" charset="0"/>
                        </a:rPr>
                        <a:t>.</a:t>
                      </a:r>
                      <a:endParaRPr lang="en-US" sz="15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500" i="1" dirty="0">
                          <a:effectLst/>
                          <a:latin typeface="Times New Roman" panose="02020603050405020304" pitchFamily="18" charset="0"/>
                          <a:cs typeface="Times New Roman" panose="02020603050405020304" pitchFamily="18" charset="0"/>
                        </a:rPr>
                        <a:t>Supported.</a:t>
                      </a:r>
                    </a:p>
                    <a:p>
                      <a:pPr marL="0" marR="0" algn="just">
                        <a:spcBef>
                          <a:spcPts val="0"/>
                        </a:spcBef>
                        <a:spcAft>
                          <a:spcPts val="0"/>
                        </a:spcAft>
                      </a:pPr>
                      <a:r>
                        <a:rPr lang="en-US" sz="1500" dirty="0">
                          <a:effectLst/>
                          <a:latin typeface="Times New Roman" panose="02020603050405020304" pitchFamily="18" charset="0"/>
                          <a:cs typeface="Times New Roman" panose="02020603050405020304" pitchFamily="18" charset="0"/>
                        </a:rPr>
                        <a:t>Vector FEC is slightly better than matrix FEC.</a:t>
                      </a:r>
                      <a:endParaRPr lang="en-US" sz="15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191417799"/>
                  </a:ext>
                </a:extLst>
              </a:tr>
              <a:tr h="0">
                <a:tc>
                  <a:txBody>
                    <a:bodyPr/>
                    <a:lstStyle/>
                    <a:p>
                      <a:pPr marL="0" marR="0" algn="just">
                        <a:spcBef>
                          <a:spcPts val="0"/>
                        </a:spcBef>
                        <a:spcAft>
                          <a:spcPts val="0"/>
                        </a:spcAft>
                      </a:pPr>
                      <a:r>
                        <a:rPr lang="en-US" sz="1500">
                          <a:effectLst/>
                          <a:latin typeface="Times New Roman" panose="02020603050405020304" pitchFamily="18" charset="0"/>
                          <a:cs typeface="Times New Roman" panose="02020603050405020304" pitchFamily="18" charset="0"/>
                        </a:rPr>
                        <a:t>recall</a:t>
                      </a:r>
                      <a:endParaRPr lang="en-US" sz="150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500" i="1" dirty="0">
                          <a:effectLst/>
                          <a:latin typeface="Times New Roman" panose="02020603050405020304" pitchFamily="18" charset="0"/>
                          <a:cs typeface="Times New Roman" panose="02020603050405020304" pitchFamily="18" charset="0"/>
                        </a:rPr>
                        <a:t>Supported.</a:t>
                      </a:r>
                    </a:p>
                    <a:p>
                      <a:pPr marL="0" marR="0" algn="just">
                        <a:spcBef>
                          <a:spcPts val="0"/>
                        </a:spcBef>
                        <a:spcAft>
                          <a:spcPts val="0"/>
                        </a:spcAft>
                      </a:pPr>
                      <a:r>
                        <a:rPr lang="en-US" sz="1500" dirty="0">
                          <a:effectLst/>
                          <a:latin typeface="Times New Roman" panose="02020603050405020304" pitchFamily="18" charset="0"/>
                          <a:cs typeface="Times New Roman" panose="02020603050405020304" pitchFamily="18" charset="0"/>
                        </a:rPr>
                        <a:t>CNN is worse than both TB and MNN.</a:t>
                      </a:r>
                      <a:endParaRPr lang="en-US" sz="15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500" i="1" dirty="0">
                          <a:effectLst/>
                          <a:latin typeface="Times New Roman" panose="02020603050405020304" pitchFamily="18" charset="0"/>
                          <a:cs typeface="Times New Roman" panose="02020603050405020304" pitchFamily="18" charset="0"/>
                        </a:rPr>
                        <a:t>Not supported.</a:t>
                      </a:r>
                    </a:p>
                    <a:p>
                      <a:pPr marL="0" marR="0" algn="just">
                        <a:spcBef>
                          <a:spcPts val="0"/>
                        </a:spcBef>
                        <a:spcAft>
                          <a:spcPts val="0"/>
                        </a:spcAft>
                      </a:pPr>
                      <a:r>
                        <a:rPr lang="en-US" sz="1500" dirty="0">
                          <a:effectLst/>
                          <a:latin typeface="Times New Roman" panose="02020603050405020304" pitchFamily="18" charset="0"/>
                          <a:cs typeface="Times New Roman" panose="02020603050405020304" pitchFamily="18" charset="0"/>
                        </a:rPr>
                        <a:t>TB is slightly worse than MNN and better than CNN.</a:t>
                      </a:r>
                      <a:endParaRPr lang="en-US" sz="1500" dirty="0">
                        <a:effectLst/>
                        <a:latin typeface="Times New Roman" panose="02020603050405020304" pitchFamily="18" charset="0"/>
                        <a:ea typeface="DengXian"/>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500" i="1" dirty="0">
                          <a:effectLst/>
                          <a:latin typeface="Times New Roman" panose="02020603050405020304" pitchFamily="18" charset="0"/>
                          <a:cs typeface="Times New Roman" panose="02020603050405020304" pitchFamily="18" charset="0"/>
                        </a:rPr>
                        <a:t>Supported.</a:t>
                      </a:r>
                    </a:p>
                    <a:p>
                      <a:pPr marL="0" marR="0" algn="just">
                        <a:spcBef>
                          <a:spcPts val="0"/>
                        </a:spcBef>
                        <a:spcAft>
                          <a:spcPts val="0"/>
                        </a:spcAft>
                      </a:pPr>
                      <a:r>
                        <a:rPr lang="en-US" sz="1500" dirty="0">
                          <a:effectLst/>
                          <a:latin typeface="Times New Roman" panose="02020603050405020304" pitchFamily="18" charset="0"/>
                          <a:cs typeface="Times New Roman" panose="02020603050405020304" pitchFamily="18" charset="0"/>
                        </a:rPr>
                        <a:t>Vector FEC is slightly better than matrix FEC.</a:t>
                      </a:r>
                      <a:endParaRPr lang="en-US" sz="1500" dirty="0">
                        <a:effectLst/>
                        <a:latin typeface="Times New Roman" panose="02020603050405020304" pitchFamily="18" charset="0"/>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596536903"/>
                  </a:ext>
                </a:extLst>
              </a:tr>
            </a:tbl>
          </a:graphicData>
        </a:graphic>
      </p:graphicFrame>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57</a:t>
            </a:fld>
            <a:endParaRPr lang="en-US"/>
          </a:p>
        </p:txBody>
      </p:sp>
      <p:sp>
        <p:nvSpPr>
          <p:cNvPr id="8" name="Rectangle 7"/>
          <p:cNvSpPr/>
          <p:nvPr/>
        </p:nvSpPr>
        <p:spPr>
          <a:xfrm>
            <a:off x="76200" y="3647916"/>
            <a:ext cx="12039600" cy="2785378"/>
          </a:xfrm>
          <a:prstGeom prst="rect">
            <a:avLst/>
          </a:prstGeom>
        </p:spPr>
        <p:txBody>
          <a:bodyPr wrap="square">
            <a:spAutoFit/>
          </a:bodyPr>
          <a:lstStyle/>
          <a:p>
            <a:pPr algn="just"/>
            <a:r>
              <a:rPr lang="en-US" sz="1750" dirty="0">
                <a:latin typeface="Times New Roman" panose="02020603050405020304" pitchFamily="18" charset="0"/>
                <a:ea typeface="DengXian"/>
              </a:rPr>
              <a:t>Please pay attention that supporting is not acceptance, which means that supporting is slightly stronger than not rejecting. </a:t>
            </a:r>
            <a:r>
              <a:rPr lang="en-US" sz="1750">
                <a:effectLst>
                  <a:outerShdw blurRad="38100" dist="38100" dir="2700000" algn="tl">
                    <a:srgbClr val="000000">
                      <a:alpha val="43137"/>
                    </a:srgbClr>
                  </a:outerShdw>
                </a:effectLst>
                <a:latin typeface="Times New Roman" panose="02020603050405020304" pitchFamily="18" charset="0"/>
                <a:ea typeface="DengXian"/>
              </a:rPr>
              <a:t>The </a:t>
            </a:r>
            <a:r>
              <a:rPr lang="en-US" sz="1750" smtClean="0">
                <a:effectLst>
                  <a:outerShdw blurRad="38100" dist="38100" dir="2700000" algn="tl">
                    <a:srgbClr val="000000">
                      <a:alpha val="43137"/>
                    </a:srgbClr>
                  </a:outerShdw>
                </a:effectLst>
                <a:latin typeface="Times New Roman" panose="02020603050405020304" pitchFamily="18" charset="0"/>
                <a:ea typeface="DengXian"/>
              </a:rPr>
              <a:t>first </a:t>
            </a:r>
            <a:r>
              <a:rPr lang="en-US" sz="1750" dirty="0">
                <a:effectLst>
                  <a:outerShdw blurRad="38100" dist="38100" dir="2700000" algn="tl">
                    <a:srgbClr val="000000">
                      <a:alpha val="43137"/>
                    </a:srgbClr>
                  </a:outerShdw>
                </a:effectLst>
                <a:latin typeface="Times New Roman" panose="02020603050405020304" pitchFamily="18" charset="0"/>
                <a:ea typeface="DengXian"/>
              </a:rPr>
              <a:t>hypothesis </a:t>
            </a:r>
            <a:r>
              <a:rPr lang="en-US" sz="1750" dirty="0" smtClean="0">
                <a:effectLst>
                  <a:outerShdw blurRad="38100" dist="38100" dir="2700000" algn="tl">
                    <a:srgbClr val="000000">
                      <a:alpha val="43137"/>
                    </a:srgbClr>
                  </a:outerShdw>
                </a:effectLst>
                <a:latin typeface="Times New Roman" panose="02020603050405020304" pitchFamily="18" charset="0"/>
                <a:ea typeface="DengXian"/>
              </a:rPr>
              <a:t>“MNN </a:t>
            </a:r>
            <a:r>
              <a:rPr lang="en-US" sz="1750" dirty="0">
                <a:effectLst>
                  <a:outerShdw blurRad="38100" dist="38100" dir="2700000" algn="tl">
                    <a:srgbClr val="000000">
                      <a:alpha val="43137"/>
                    </a:srgbClr>
                  </a:outerShdw>
                </a:effectLst>
                <a:latin typeface="Times New Roman" panose="02020603050405020304" pitchFamily="18" charset="0"/>
                <a:ea typeface="DengXian"/>
              </a:rPr>
              <a:t>is the alternative of </a:t>
            </a:r>
            <a:r>
              <a:rPr lang="en-US" sz="1750" dirty="0" smtClean="0">
                <a:effectLst>
                  <a:outerShdw blurRad="38100" dist="38100" dir="2700000" algn="tl">
                    <a:srgbClr val="000000">
                      <a:alpha val="43137"/>
                    </a:srgbClr>
                  </a:outerShdw>
                </a:effectLst>
                <a:latin typeface="Times New Roman" panose="02020603050405020304" pitchFamily="18" charset="0"/>
                <a:ea typeface="DengXian"/>
              </a:rPr>
              <a:t>CNN” </a:t>
            </a:r>
            <a:r>
              <a:rPr lang="en-US" sz="1750" dirty="0">
                <a:effectLst>
                  <a:outerShdw blurRad="38100" dist="38100" dir="2700000" algn="tl">
                    <a:srgbClr val="000000">
                      <a:alpha val="43137"/>
                    </a:srgbClr>
                  </a:outerShdw>
                </a:effectLst>
                <a:latin typeface="Times New Roman" panose="02020603050405020304" pitchFamily="18" charset="0"/>
                <a:ea typeface="DengXian"/>
              </a:rPr>
              <a:t>is not supported by only accuracy metric but accuracy metric is the most important metric about accuracy aspect of classification method and so, CNN classifier is the best classifier in accuracy. The second hypothesis “attention is the alternative of CNN” is always not supported but TB is slightly better than </a:t>
            </a:r>
            <a:r>
              <a:rPr lang="en-US" sz="1750" dirty="0" smtClean="0">
                <a:effectLst>
                  <a:outerShdw blurRad="38100" dist="38100" dir="2700000" algn="tl">
                    <a:srgbClr val="000000">
                      <a:alpha val="43137"/>
                    </a:srgbClr>
                  </a:outerShdw>
                </a:effectLst>
                <a:latin typeface="Times New Roman" panose="02020603050405020304" pitchFamily="18" charset="0"/>
                <a:ea typeface="DengXian"/>
              </a:rPr>
              <a:t>MNN </a:t>
            </a:r>
            <a:r>
              <a:rPr lang="en-US" sz="1750" dirty="0">
                <a:effectLst>
                  <a:outerShdw blurRad="38100" dist="38100" dir="2700000" algn="tl">
                    <a:srgbClr val="000000">
                      <a:alpha val="43137"/>
                    </a:srgbClr>
                  </a:outerShdw>
                </a:effectLst>
                <a:latin typeface="Times New Roman" panose="02020603050405020304" pitchFamily="18" charset="0"/>
                <a:ea typeface="DengXian"/>
              </a:rPr>
              <a:t>(except recall metric) and better than CNN. Moreover, CNN classifier is </a:t>
            </a:r>
            <a:r>
              <a:rPr lang="en-US" sz="1750" dirty="0" smtClean="0">
                <a:effectLst>
                  <a:outerShdw blurRad="38100" dist="38100" dir="2700000" algn="tl">
                    <a:srgbClr val="000000">
                      <a:alpha val="43137"/>
                    </a:srgbClr>
                  </a:outerShdw>
                </a:effectLst>
                <a:latin typeface="Times New Roman" panose="02020603050405020304" pitchFamily="18" charset="0"/>
                <a:ea typeface="DengXian"/>
              </a:rPr>
              <a:t>worse </a:t>
            </a:r>
            <a:r>
              <a:rPr lang="en-US" sz="1750" dirty="0">
                <a:effectLst>
                  <a:outerShdw blurRad="38100" dist="38100" dir="2700000" algn="tl">
                    <a:srgbClr val="000000">
                      <a:alpha val="43137"/>
                    </a:srgbClr>
                  </a:outerShdw>
                </a:effectLst>
                <a:latin typeface="Times New Roman" panose="02020603050405020304" pitchFamily="18" charset="0"/>
                <a:ea typeface="DengXian"/>
              </a:rPr>
              <a:t>than both TB classifier and MNN classifier in F1 metric which is the compromiser of accuracy and diversity in image classification. This implies that TB classifier is the best classifier in harmonizing all factors (metrics). The third hypothesis “FFN of transformer should be MNN” is always supported although vector FEC is slightly better than matrix FEC, which implies that it is possible to replace traditional neural network (vector ANN) by matrix neural network (MNN) with note that vector ANN consumes much more computational resources due to boom problem of a huge number of parameters. Moreover, attention of transformer can overcome drawback of vector ANN in accuracy.</a:t>
            </a:r>
            <a:endParaRPr lang="en-US" sz="1750" dirty="0">
              <a:effectLst>
                <a:outerShdw blurRad="38100" dist="38100" dir="2700000" algn="tl">
                  <a:srgbClr val="000000">
                    <a:alpha val="43137"/>
                  </a:srgbClr>
                </a:outerShdw>
              </a:effectLst>
            </a:endParaRPr>
          </a:p>
        </p:txBody>
      </p:sp>
      <p:sp>
        <p:nvSpPr>
          <p:cNvPr id="9" name="Rectangle 8"/>
          <p:cNvSpPr/>
          <p:nvPr/>
        </p:nvSpPr>
        <p:spPr>
          <a:xfrm>
            <a:off x="76200" y="746682"/>
            <a:ext cx="12039600" cy="615553"/>
          </a:xfrm>
          <a:prstGeom prst="rect">
            <a:avLst/>
          </a:prstGeom>
        </p:spPr>
        <p:txBody>
          <a:bodyPr wrap="square">
            <a:spAutoFit/>
          </a:bodyPr>
          <a:lstStyle/>
          <a:p>
            <a:pPr algn="just"/>
            <a:r>
              <a:rPr lang="en-US" sz="1700" dirty="0">
                <a:latin typeface="Times New Roman" panose="02020603050405020304" pitchFamily="18" charset="0"/>
                <a:ea typeface="DengXian"/>
              </a:rPr>
              <a:t>In general, following table summarizes results of hypothesis testing on the three hypotheses: 1) MNN is the alternative of CNN, 2) attention is the alternative of CNN, and 3) FFN of transformer should be MNN.</a:t>
            </a:r>
            <a:endParaRPr lang="en-US" sz="1700" dirty="0"/>
          </a:p>
        </p:txBody>
      </p:sp>
    </p:spTree>
    <p:extLst>
      <p:ext uri="{BB962C8B-B14F-4D97-AF65-F5344CB8AC3E}">
        <p14:creationId xmlns:p14="http://schemas.microsoft.com/office/powerpoint/2010/main" val="43407816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Conclusions</a:t>
            </a:r>
          </a:p>
        </p:txBody>
      </p:sp>
      <p:sp>
        <p:nvSpPr>
          <p:cNvPr id="3" name="Content Placeholder 2"/>
          <p:cNvSpPr>
            <a:spLocks noGrp="1"/>
          </p:cNvSpPr>
          <p:nvPr>
            <p:ph idx="1"/>
          </p:nvPr>
        </p:nvSpPr>
        <p:spPr>
          <a:xfrm>
            <a:off x="71120" y="914399"/>
            <a:ext cx="12029440" cy="5176066"/>
          </a:xfrm>
        </p:spPr>
        <p:txBody>
          <a:bodyPr>
            <a:normAutofit/>
          </a:bodyPr>
          <a:lstStyle/>
          <a:p>
            <a:r>
              <a:rPr lang="en-US" sz="2100" dirty="0">
                <a:effectLst>
                  <a:outerShdw blurRad="38100" dist="38100" dir="2700000" algn="tl">
                    <a:srgbClr val="000000">
                      <a:alpha val="43137"/>
                    </a:srgbClr>
                  </a:outerShdw>
                </a:effectLst>
              </a:rPr>
              <a:t>In general, although it is not asserted that </a:t>
            </a:r>
            <a:r>
              <a:rPr lang="en-US" sz="2100" dirty="0" smtClean="0">
                <a:effectLst>
                  <a:outerShdw blurRad="38100" dist="38100" dir="2700000" algn="tl">
                    <a:srgbClr val="000000">
                      <a:alpha val="43137"/>
                    </a:srgbClr>
                  </a:outerShdw>
                </a:effectLst>
              </a:rPr>
              <a:t>matrix neural network (MNN) </a:t>
            </a:r>
            <a:r>
              <a:rPr lang="en-US" sz="2100" dirty="0">
                <a:effectLst>
                  <a:outerShdw blurRad="38100" dist="38100" dir="2700000" algn="tl">
                    <a:srgbClr val="000000">
                      <a:alpha val="43137"/>
                    </a:srgbClr>
                  </a:outerShdw>
                </a:effectLst>
              </a:rPr>
              <a:t>is the alternative of </a:t>
            </a:r>
            <a:r>
              <a:rPr lang="en-US" sz="2100" dirty="0" smtClean="0">
                <a:effectLst>
                  <a:outerShdw blurRad="38100" dist="38100" dir="2700000" algn="tl">
                    <a:srgbClr val="000000">
                      <a:alpha val="43137"/>
                    </a:srgbClr>
                  </a:outerShdw>
                </a:effectLst>
              </a:rPr>
              <a:t>convolutional neural network (CNN), </a:t>
            </a:r>
            <a:r>
              <a:rPr lang="en-US" sz="2100" dirty="0">
                <a:effectLst>
                  <a:outerShdw blurRad="38100" dist="38100" dir="2700000" algn="tl">
                    <a:srgbClr val="000000">
                      <a:alpha val="43137"/>
                    </a:srgbClr>
                  </a:outerShdw>
                </a:effectLst>
              </a:rPr>
              <a:t>transformer is </a:t>
            </a:r>
            <a:r>
              <a:rPr lang="en-US" sz="2100">
                <a:effectLst>
                  <a:outerShdw blurRad="38100" dist="38100" dir="2700000" algn="tl">
                    <a:srgbClr val="000000">
                      <a:alpha val="43137"/>
                    </a:srgbClr>
                  </a:outerShdw>
                </a:effectLst>
              </a:rPr>
              <a:t>surely </a:t>
            </a:r>
            <a:r>
              <a:rPr lang="en-US" sz="2100" smtClean="0">
                <a:effectLst>
                  <a:outerShdw blurRad="38100" dist="38100" dir="2700000" algn="tl">
                    <a:srgbClr val="000000">
                      <a:alpha val="43137"/>
                    </a:srgbClr>
                  </a:outerShdw>
                </a:effectLst>
              </a:rPr>
              <a:t>preeminent </a:t>
            </a:r>
            <a:r>
              <a:rPr lang="en-US" sz="2100" dirty="0">
                <a:effectLst>
                  <a:outerShdw blurRad="38100" dist="38100" dir="2700000" algn="tl">
                    <a:srgbClr val="000000">
                      <a:alpha val="43137"/>
                    </a:srgbClr>
                  </a:outerShdw>
                </a:effectLst>
              </a:rPr>
              <a:t>approach in deep learning because of three reasons: 1) its attention is an excellent mechanism to extract internal structure / relationship / feature of any kind of high-dimension data according to self-supervised learning, 2) transformer is different from the methodology of traditional ANN consisting of simple layers equipped by parametric weights when attention of transformer concerns both explicit information via value matrix and implicit information via query </a:t>
            </a:r>
            <a:r>
              <a:rPr lang="en-US" sz="2100" dirty="0" smtClean="0">
                <a:effectLst>
                  <a:outerShdw blurRad="38100" dist="38100" dir="2700000" algn="tl">
                    <a:srgbClr val="000000">
                      <a:alpha val="43137"/>
                    </a:srgbClr>
                  </a:outerShdw>
                </a:effectLst>
              </a:rPr>
              <a:t>matrix </a:t>
            </a:r>
            <a:r>
              <a:rPr lang="en-US" sz="2100" dirty="0">
                <a:effectLst>
                  <a:outerShdw blurRad="38100" dist="38100" dir="2700000" algn="tl">
                    <a:srgbClr val="000000">
                      <a:alpha val="43137"/>
                    </a:srgbClr>
                  </a:outerShdw>
                </a:effectLst>
              </a:rPr>
              <a:t>and key matrix, and 3) ANN and attention are incorporated into transformer so that deep learning still always takes advantages of excellent aspects of </a:t>
            </a:r>
            <a:r>
              <a:rPr lang="en-US" sz="2100" dirty="0" smtClean="0">
                <a:effectLst>
                  <a:outerShdw blurRad="38100" dist="38100" dir="2700000" algn="tl">
                    <a:srgbClr val="000000">
                      <a:alpha val="43137"/>
                    </a:srgbClr>
                  </a:outerShdw>
                </a:effectLst>
              </a:rPr>
              <a:t>ANN.</a:t>
            </a:r>
          </a:p>
          <a:p>
            <a:r>
              <a:rPr lang="en-US" sz="2100" dirty="0" smtClean="0">
                <a:effectLst>
                  <a:outerShdw blurRad="38100" dist="38100" dir="2700000" algn="tl">
                    <a:srgbClr val="000000">
                      <a:alpha val="43137"/>
                    </a:srgbClr>
                  </a:outerShdw>
                </a:effectLst>
              </a:rPr>
              <a:t>Again</a:t>
            </a:r>
            <a:r>
              <a:rPr lang="en-US" sz="2100" dirty="0">
                <a:effectLst>
                  <a:outerShdw blurRad="38100" dist="38100" dir="2700000" algn="tl">
                    <a:srgbClr val="000000">
                      <a:alpha val="43137"/>
                    </a:srgbClr>
                  </a:outerShdw>
                </a:effectLst>
              </a:rPr>
              <a:t>, although it is not asserted that MNN is the alternative of CNN, it is not strict to implement FFN of transformer by vector ANN. Therefore, it is totally possible that MNN and attention are incorporated into transformer</a:t>
            </a:r>
            <a:r>
              <a:rPr lang="en-US" sz="2100" dirty="0"/>
              <a:t> with note that MNN is the ANN implemented by parametric weight matrices in order to reduce significantly computational resources so that its accuracy (performance) is not decreased significantly. Attentional mechanism built in transformer can alleviate the drawback of MNN in performance, especially, in case of huge data. Moreover, for high-dimension data whose dimension is larger than 2, MNN is a possible technique to process such tensor-based data.</a:t>
            </a:r>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58</a:t>
            </a:fld>
            <a:endParaRPr lang="en-US"/>
          </a:p>
        </p:txBody>
      </p:sp>
    </p:spTree>
    <p:extLst>
      <p:ext uri="{BB962C8B-B14F-4D97-AF65-F5344CB8AC3E}">
        <p14:creationId xmlns:p14="http://schemas.microsoft.com/office/powerpoint/2010/main" val="380240108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71120" y="914399"/>
            <a:ext cx="12019280" cy="5176066"/>
          </a:xfrm>
        </p:spPr>
        <p:txBody>
          <a:bodyPr>
            <a:noAutofit/>
          </a:bodyPr>
          <a:lstStyle/>
          <a:p>
            <a:pPr marL="457200" indent="-457200">
              <a:buFont typeface="+mj-lt"/>
              <a:buAutoNum type="arabicPeriod"/>
            </a:pPr>
            <a:r>
              <a:rPr lang="en-US" sz="1800" dirty="0"/>
              <a:t>Chen, L., Li, S., Bai, Q., Yang, J., Jiang, S., &amp; Miao, Y. (2021, November 21). Review of Image Classification Algorithms Based on Convolutional Neural Networks. (S. </a:t>
            </a:r>
            <a:r>
              <a:rPr lang="en-US" sz="1800" dirty="0" err="1"/>
              <a:t>Paheding</a:t>
            </a:r>
            <a:r>
              <a:rPr lang="en-US" sz="1800" dirty="0"/>
              <a:t>, Z. </a:t>
            </a:r>
            <a:r>
              <a:rPr lang="en-US" sz="1800" dirty="0" err="1"/>
              <a:t>Alom</a:t>
            </a:r>
            <a:r>
              <a:rPr lang="en-US" sz="1800" dirty="0"/>
              <a:t>, M. </a:t>
            </a:r>
            <a:r>
              <a:rPr lang="en-US" sz="1800" dirty="0" err="1"/>
              <a:t>Maimaitijiang</a:t>
            </a:r>
            <a:r>
              <a:rPr lang="en-US" sz="1800" dirty="0"/>
              <a:t>, &amp; M. </a:t>
            </a:r>
            <a:r>
              <a:rPr lang="en-US" sz="1800" dirty="0" err="1"/>
              <a:t>Maimaitiyiming</a:t>
            </a:r>
            <a:r>
              <a:rPr lang="en-US" sz="1800" dirty="0"/>
              <a:t>, Eds.) </a:t>
            </a:r>
            <a:r>
              <a:rPr lang="en-US" sz="1800" i="1" dirty="0"/>
              <a:t>Remote Sensing, 13</a:t>
            </a:r>
            <a:r>
              <a:rPr lang="en-US" sz="1800" dirty="0"/>
              <a:t>(22), 4712-4763. doi:10.3390/rs13224712</a:t>
            </a:r>
          </a:p>
          <a:p>
            <a:pPr marL="457200" indent="-457200">
              <a:buFont typeface="+mj-lt"/>
              <a:buAutoNum type="arabicPeriod"/>
            </a:pPr>
            <a:r>
              <a:rPr lang="en-US" sz="1800" dirty="0" err="1"/>
              <a:t>D'Ascoli</a:t>
            </a:r>
            <a:r>
              <a:rPr lang="en-US" sz="1800" dirty="0"/>
              <a:t>, S., </a:t>
            </a:r>
            <a:r>
              <a:rPr lang="en-US" sz="1800" dirty="0" err="1"/>
              <a:t>Touvron</a:t>
            </a:r>
            <a:r>
              <a:rPr lang="en-US" sz="1800" dirty="0"/>
              <a:t>, H., Leavitt, M. L., </a:t>
            </a:r>
            <a:r>
              <a:rPr lang="en-US" sz="1800" dirty="0" err="1"/>
              <a:t>Morcos</a:t>
            </a:r>
            <a:r>
              <a:rPr lang="en-US" sz="1800" dirty="0"/>
              <a:t>, A. S., </a:t>
            </a:r>
            <a:r>
              <a:rPr lang="en-US" sz="1800" dirty="0" err="1"/>
              <a:t>Biroli</a:t>
            </a:r>
            <a:r>
              <a:rPr lang="en-US" sz="1800" dirty="0"/>
              <a:t>, G., &amp; </a:t>
            </a:r>
            <a:r>
              <a:rPr lang="en-US" sz="1800" dirty="0" err="1"/>
              <a:t>Sagun</a:t>
            </a:r>
            <a:r>
              <a:rPr lang="en-US" sz="1800" dirty="0"/>
              <a:t>, L. (2021). </a:t>
            </a:r>
            <a:r>
              <a:rPr lang="en-US" sz="1800" dirty="0" err="1"/>
              <a:t>ConViT</a:t>
            </a:r>
            <a:r>
              <a:rPr lang="en-US" sz="1800" dirty="0"/>
              <a:t>: Improving Vision Transformers with Soft Convolutional Inductive Biases. </a:t>
            </a:r>
            <a:r>
              <a:rPr lang="en-US" sz="1800" i="1" dirty="0"/>
              <a:t>Proceedings of the 38th International Conference on Machine Learning.</a:t>
            </a:r>
            <a:r>
              <a:rPr lang="en-US" sz="1800" dirty="0"/>
              <a:t> </a:t>
            </a:r>
            <a:r>
              <a:rPr lang="en-US" sz="1800" i="1" dirty="0"/>
              <a:t>139</a:t>
            </a:r>
            <a:r>
              <a:rPr lang="en-US" sz="1800" dirty="0"/>
              <a:t>, pp. 2286-2296. PMLR. Retrieved from https://proceedings.mlr.press/v139/d-ascoli21a.html</a:t>
            </a:r>
          </a:p>
          <a:p>
            <a:pPr marL="457200" indent="-457200">
              <a:buFont typeface="+mj-lt"/>
              <a:buAutoNum type="arabicPeriod"/>
            </a:pPr>
            <a:r>
              <a:rPr lang="en-US" sz="1800" dirty="0" err="1"/>
              <a:t>Dosovitskiy</a:t>
            </a:r>
            <a:r>
              <a:rPr lang="en-US" sz="1800" dirty="0"/>
              <a:t>, A., Beyer, L., </a:t>
            </a:r>
            <a:r>
              <a:rPr lang="en-US" sz="1800" dirty="0" err="1"/>
              <a:t>Kolesnikov</a:t>
            </a:r>
            <a:r>
              <a:rPr lang="en-US" sz="1800" dirty="0"/>
              <a:t>, A., </a:t>
            </a:r>
            <a:r>
              <a:rPr lang="en-US" sz="1800" dirty="0" err="1"/>
              <a:t>Weissenborn</a:t>
            </a:r>
            <a:r>
              <a:rPr lang="en-US" sz="1800" dirty="0"/>
              <a:t>, D., </a:t>
            </a:r>
            <a:r>
              <a:rPr lang="en-US" sz="1800" dirty="0" err="1"/>
              <a:t>Zhai</a:t>
            </a:r>
            <a:r>
              <a:rPr lang="en-US" sz="1800" dirty="0"/>
              <a:t>, X., </a:t>
            </a:r>
            <a:r>
              <a:rPr lang="en-US" sz="1800" dirty="0" err="1"/>
              <a:t>Unterthiner</a:t>
            </a:r>
            <a:r>
              <a:rPr lang="en-US" sz="1800" dirty="0"/>
              <a:t>, T., . . . </a:t>
            </a:r>
            <a:r>
              <a:rPr lang="en-US" sz="1800" dirty="0" err="1"/>
              <a:t>Houlsby</a:t>
            </a:r>
            <a:r>
              <a:rPr lang="en-US" sz="1800" dirty="0"/>
              <a:t>, N. (2020). An Image is Worth 16x16 Words: Transformers for Image Recognition at Scale. </a:t>
            </a:r>
            <a:r>
              <a:rPr lang="en-US" sz="1800" i="1" dirty="0" err="1"/>
              <a:t>arXiv</a:t>
            </a:r>
            <a:r>
              <a:rPr lang="en-US" sz="1800" i="1" dirty="0"/>
              <a:t> Computer Vision and Pattern Recognition</a:t>
            </a:r>
            <a:r>
              <a:rPr lang="en-US" sz="1800" dirty="0"/>
              <a:t>. doi:10.48550/arXiv.2010.11929</a:t>
            </a:r>
          </a:p>
          <a:p>
            <a:pPr marL="457200" indent="-457200">
              <a:buFont typeface="+mj-lt"/>
              <a:buAutoNum type="arabicPeriod"/>
            </a:pPr>
            <a:r>
              <a:rPr lang="en-US" sz="1800" dirty="0"/>
              <a:t>Gao, J., </a:t>
            </a:r>
            <a:r>
              <a:rPr lang="en-US" sz="1800" dirty="0" err="1"/>
              <a:t>Guo</a:t>
            </a:r>
            <a:r>
              <a:rPr lang="en-US" sz="1800" dirty="0"/>
              <a:t>, Y., &amp; Wang, Z. (2016, December 9). Matrix Neural Networks. </a:t>
            </a:r>
            <a:r>
              <a:rPr lang="en-US" sz="1800" i="1" dirty="0" err="1"/>
              <a:t>arXiv</a:t>
            </a:r>
            <a:r>
              <a:rPr lang="en-US" sz="1800" i="1" dirty="0"/>
              <a:t> Preprints</a:t>
            </a:r>
            <a:r>
              <a:rPr lang="en-US" sz="1800" dirty="0"/>
              <a:t>, 1-28. doi:10.48550/arXiv.1601.03805</a:t>
            </a:r>
          </a:p>
          <a:p>
            <a:pPr marL="457200" indent="-457200">
              <a:buFont typeface="+mj-lt"/>
              <a:buAutoNum type="arabicPeriod"/>
            </a:pPr>
            <a:r>
              <a:rPr lang="en-US" sz="1800" dirty="0"/>
              <a:t>He, K., Zhang, X., Ren, S., &amp; Sun, J. (2016). Deep Residual Learning for Image Recognition. </a:t>
            </a:r>
            <a:r>
              <a:rPr lang="en-US" sz="1800" i="1" dirty="0"/>
              <a:t>Proceedings of the 2016 IEEE Conference on Computer Vision and Pattern Recognition (CVPR 2016)</a:t>
            </a:r>
            <a:r>
              <a:rPr lang="en-US" sz="1800" dirty="0"/>
              <a:t> (pp. 770-778). IEEE. doi:10.1109/CVPR.2016.90</a:t>
            </a:r>
          </a:p>
          <a:p>
            <a:pPr marL="457200" indent="-457200">
              <a:buFont typeface="+mj-lt"/>
              <a:buAutoNum type="arabicPeriod"/>
            </a:pPr>
            <a:r>
              <a:rPr lang="en-US" sz="1800" dirty="0" err="1"/>
              <a:t>Krizhevsky</a:t>
            </a:r>
            <a:r>
              <a:rPr lang="en-US" sz="1800" dirty="0"/>
              <a:t>, A., </a:t>
            </a:r>
            <a:r>
              <a:rPr lang="en-US" sz="1800" dirty="0" err="1"/>
              <a:t>Sutskever</a:t>
            </a:r>
            <a:r>
              <a:rPr lang="en-US" sz="1800" dirty="0"/>
              <a:t>, I., &amp; Hinton, G. E. (2012). ImageNet Classification with Deep Convolutional Neural Networks. (F. Pereira, C. Burges, L. </a:t>
            </a:r>
            <a:r>
              <a:rPr lang="en-US" sz="1800" dirty="0" err="1"/>
              <a:t>Bottou</a:t>
            </a:r>
            <a:r>
              <a:rPr lang="en-US" sz="1800" dirty="0"/>
              <a:t>, &amp; K. Weinberger, Eds.) </a:t>
            </a:r>
            <a:r>
              <a:rPr lang="en-US" sz="1800" i="1" dirty="0"/>
              <a:t>Advances in Neural Information Processing Systems 25 (NIPS 2012)</a:t>
            </a:r>
            <a:r>
              <a:rPr lang="en-US" sz="1800" dirty="0"/>
              <a:t>. doi:10.1145/3065386</a:t>
            </a:r>
          </a:p>
          <a:p>
            <a:pPr marL="457200" indent="-457200">
              <a:buFont typeface="+mj-lt"/>
              <a:buAutoNum type="arabicPeriod"/>
            </a:pPr>
            <a:endParaRPr lang="en-US" sz="1800" dirty="0"/>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59</a:t>
            </a:fld>
            <a:endParaRPr lang="en-US"/>
          </a:p>
        </p:txBody>
      </p:sp>
    </p:spTree>
    <p:extLst>
      <p:ext uri="{BB962C8B-B14F-4D97-AF65-F5344CB8AC3E}">
        <p14:creationId xmlns:p14="http://schemas.microsoft.com/office/powerpoint/2010/main" val="192906479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71120" y="914399"/>
            <a:ext cx="12019280" cy="5176066"/>
          </a:xfrm>
        </p:spPr>
        <p:txBody>
          <a:bodyPr>
            <a:normAutofit fontScale="62500" lnSpcReduction="20000"/>
          </a:bodyPr>
          <a:lstStyle/>
          <a:p>
            <a:pPr marL="514350" indent="-514350">
              <a:lnSpc>
                <a:spcPct val="120000"/>
              </a:lnSpc>
              <a:buFont typeface="+mj-lt"/>
              <a:buAutoNum type="arabicPeriod" startAt="7"/>
            </a:pPr>
            <a:r>
              <a:rPr lang="en-US" dirty="0" err="1" smtClean="0"/>
              <a:t>LeCun</a:t>
            </a:r>
            <a:r>
              <a:rPr lang="en-US" dirty="0"/>
              <a:t>, Y., </a:t>
            </a:r>
            <a:r>
              <a:rPr lang="en-US" dirty="0" err="1"/>
              <a:t>Bottou</a:t>
            </a:r>
            <a:r>
              <a:rPr lang="en-US" dirty="0"/>
              <a:t>, L., </a:t>
            </a:r>
            <a:r>
              <a:rPr lang="en-US" dirty="0" err="1"/>
              <a:t>Bengio</a:t>
            </a:r>
            <a:r>
              <a:rPr lang="en-US" dirty="0"/>
              <a:t>, Y., &amp; </a:t>
            </a:r>
            <a:r>
              <a:rPr lang="en-US" dirty="0" err="1"/>
              <a:t>Haffner</a:t>
            </a:r>
            <a:r>
              <a:rPr lang="en-US" dirty="0"/>
              <a:t>, P. (1998, November 30). Gradient-Based Learning Applied to Document Recognition. </a:t>
            </a:r>
            <a:r>
              <a:rPr lang="en-US" i="1" dirty="0"/>
              <a:t>Proceedings of the IEEE, 86</a:t>
            </a:r>
            <a:r>
              <a:rPr lang="en-US" dirty="0"/>
              <a:t>(11), 2278-2324. doi:10.1109/5.726791</a:t>
            </a:r>
          </a:p>
          <a:p>
            <a:pPr marL="514350" indent="-514350">
              <a:lnSpc>
                <a:spcPct val="120000"/>
              </a:lnSpc>
              <a:buFont typeface="+mj-lt"/>
              <a:buAutoNum type="arabicPeriod" startAt="7"/>
            </a:pPr>
            <a:r>
              <a:rPr lang="en-US" dirty="0"/>
              <a:t>Lin, M., Chen, Q., &amp; Yan, S. (2014, March 4). Network In Network. </a:t>
            </a:r>
            <a:r>
              <a:rPr lang="en-US" i="1" dirty="0" err="1"/>
              <a:t>arXiv</a:t>
            </a:r>
            <a:r>
              <a:rPr lang="en-US" i="1" dirty="0"/>
              <a:t> Neural and Evolutionary Computing</a:t>
            </a:r>
            <a:r>
              <a:rPr lang="en-US" dirty="0"/>
              <a:t>. doi:10.48550/arXiv.1312.4400</a:t>
            </a:r>
          </a:p>
          <a:p>
            <a:pPr marL="514350" indent="-514350">
              <a:lnSpc>
                <a:spcPct val="120000"/>
              </a:lnSpc>
              <a:buFont typeface="+mj-lt"/>
              <a:buAutoNum type="arabicPeriod" startAt="7"/>
            </a:pPr>
            <a:r>
              <a:rPr lang="en-US" dirty="0" err="1"/>
              <a:t>Simonyan</a:t>
            </a:r>
            <a:r>
              <a:rPr lang="en-US" dirty="0"/>
              <a:t>, K., &amp; Zisserman, A. (2015, April 10). Very Deep Convolutional Networks for Large-Scale Image Recognition. </a:t>
            </a:r>
            <a:r>
              <a:rPr lang="en-US" i="1" dirty="0" err="1"/>
              <a:t>arXiv</a:t>
            </a:r>
            <a:r>
              <a:rPr lang="en-US" i="1" dirty="0"/>
              <a:t> Computer Vision and Pattern Recognition</a:t>
            </a:r>
            <a:r>
              <a:rPr lang="en-US" dirty="0"/>
              <a:t>. doi:10.48550/arXiv.1409.1556</a:t>
            </a:r>
          </a:p>
          <a:p>
            <a:pPr marL="514350" indent="-514350">
              <a:lnSpc>
                <a:spcPct val="120000"/>
              </a:lnSpc>
              <a:buFont typeface="+mj-lt"/>
              <a:buAutoNum type="arabicPeriod" startAt="7"/>
            </a:pPr>
            <a:r>
              <a:rPr lang="en-US" dirty="0" err="1"/>
              <a:t>Szegedy</a:t>
            </a:r>
            <a:r>
              <a:rPr lang="en-US" dirty="0"/>
              <a:t>, C., Liu, W., </a:t>
            </a:r>
            <a:r>
              <a:rPr lang="en-US" dirty="0" err="1"/>
              <a:t>Jia</a:t>
            </a:r>
            <a:r>
              <a:rPr lang="en-US" dirty="0"/>
              <a:t>, Y., </a:t>
            </a:r>
            <a:r>
              <a:rPr lang="en-US" dirty="0" err="1"/>
              <a:t>Sermanet</a:t>
            </a:r>
            <a:r>
              <a:rPr lang="en-US" dirty="0"/>
              <a:t>, P., Reed, S., </a:t>
            </a:r>
            <a:r>
              <a:rPr lang="en-US" dirty="0" err="1"/>
              <a:t>Anguelov</a:t>
            </a:r>
            <a:r>
              <a:rPr lang="en-US" dirty="0"/>
              <a:t>, D., . . . </a:t>
            </a:r>
            <a:r>
              <a:rPr lang="en-US" dirty="0" err="1"/>
              <a:t>Rabinovich</a:t>
            </a:r>
            <a:r>
              <a:rPr lang="en-US" dirty="0"/>
              <a:t>, A. (2015). Going Deeper With Convolutions. </a:t>
            </a:r>
            <a:r>
              <a:rPr lang="en-US" i="1" dirty="0"/>
              <a:t>Proceedings of the IEEE Conference on Computer Vision and Pattern Recognition (CVPR 2015)</a:t>
            </a:r>
            <a:r>
              <a:rPr lang="en-US" dirty="0"/>
              <a:t> (pp. 1-9). IEEE. Retrieved from https://www.cv-foundation.org/openaccess/content_cvpr_2015/html/Szegedy_Going_Deeper_With_2015_CVPR_paper.html</a:t>
            </a:r>
          </a:p>
          <a:p>
            <a:pPr marL="514350" indent="-514350">
              <a:lnSpc>
                <a:spcPct val="120000"/>
              </a:lnSpc>
              <a:buFont typeface="+mj-lt"/>
              <a:buAutoNum type="arabicPeriod" startAt="7"/>
            </a:pPr>
            <a:r>
              <a:rPr lang="en-US" dirty="0" err="1"/>
              <a:t>Vaswani</a:t>
            </a:r>
            <a:r>
              <a:rPr lang="en-US" dirty="0"/>
              <a:t>, A., </a:t>
            </a:r>
            <a:r>
              <a:rPr lang="en-US" dirty="0" err="1"/>
              <a:t>Shazeer</a:t>
            </a:r>
            <a:r>
              <a:rPr lang="en-US" dirty="0"/>
              <a:t>, N., </a:t>
            </a:r>
            <a:r>
              <a:rPr lang="en-US" dirty="0" err="1"/>
              <a:t>Parmar</a:t>
            </a:r>
            <a:r>
              <a:rPr lang="en-US" dirty="0"/>
              <a:t>, N., </a:t>
            </a:r>
            <a:r>
              <a:rPr lang="en-US" dirty="0" err="1"/>
              <a:t>Uszkoreit</a:t>
            </a:r>
            <a:r>
              <a:rPr lang="en-US" dirty="0"/>
              <a:t>, J., Jones, L., Gomez, A. N., . . . </a:t>
            </a:r>
            <a:r>
              <a:rPr lang="en-US" dirty="0" err="1"/>
              <a:t>Polosukhin</a:t>
            </a:r>
            <a:r>
              <a:rPr lang="en-US" dirty="0"/>
              <a:t>, I. (2017). Attention Is All You Need. In I. </a:t>
            </a:r>
            <a:r>
              <a:rPr lang="en-US" dirty="0" err="1"/>
              <a:t>Guyon</a:t>
            </a:r>
            <a:r>
              <a:rPr lang="en-US" dirty="0"/>
              <a:t>, U. Von </a:t>
            </a:r>
            <a:r>
              <a:rPr lang="en-US" dirty="0" err="1"/>
              <a:t>Luxburg</a:t>
            </a:r>
            <a:r>
              <a:rPr lang="en-US" dirty="0"/>
              <a:t>, S. </a:t>
            </a:r>
            <a:r>
              <a:rPr lang="en-US" dirty="0" err="1"/>
              <a:t>Bengio</a:t>
            </a:r>
            <a:r>
              <a:rPr lang="en-US" dirty="0"/>
              <a:t>, H. Wallach, R. Fergus, &amp; S. </a:t>
            </a:r>
            <a:r>
              <a:rPr lang="en-US" dirty="0" err="1"/>
              <a:t>Vishwanathan</a:t>
            </a:r>
            <a:r>
              <a:rPr lang="en-US" dirty="0"/>
              <a:t> (Ed.), </a:t>
            </a:r>
            <a:r>
              <a:rPr lang="en-US" i="1" dirty="0"/>
              <a:t>Advances in Neural Information Processing Systems (NIPS 2017).</a:t>
            </a:r>
            <a:r>
              <a:rPr lang="en-US" dirty="0"/>
              <a:t> </a:t>
            </a:r>
            <a:r>
              <a:rPr lang="en-US" i="1" dirty="0"/>
              <a:t>30.</a:t>
            </a:r>
            <a:r>
              <a:rPr lang="en-US" dirty="0"/>
              <a:t> Long Beach: </a:t>
            </a:r>
            <a:r>
              <a:rPr lang="en-US" dirty="0" err="1"/>
              <a:t>NeurIPS</a:t>
            </a:r>
            <a:r>
              <a:rPr lang="en-US" dirty="0"/>
              <a:t>. Retrieved from https://arxiv.org/abs/1706.03762</a:t>
            </a:r>
          </a:p>
          <a:p>
            <a:pPr marL="514350" indent="-514350">
              <a:lnSpc>
                <a:spcPct val="120000"/>
              </a:lnSpc>
              <a:buFont typeface="+mj-lt"/>
              <a:buAutoNum type="arabicPeriod" startAt="7"/>
            </a:pPr>
            <a:r>
              <a:rPr lang="en-US" dirty="0"/>
              <a:t>Wang, F., Jiang, M., Qian, C., Yang, S., Li, C., Zhang, H., . . . Tang, X. (2017, April 23). Residual Attention Network for Image Classification. </a:t>
            </a:r>
            <a:r>
              <a:rPr lang="en-US" i="1" dirty="0"/>
              <a:t>Proceedings of the IEEE Conference on Computer Vision and Pattern Recognition (CVPR 2017)</a:t>
            </a:r>
            <a:r>
              <a:rPr lang="en-US" dirty="0"/>
              <a:t> (pp. 3156-3164). IEEE. Retrieved from https://openaccess.thecvf.com/content_cvpr_2017/html/Wang_Residual_Attention_Network_CVPR_2017_paper.html</a:t>
            </a:r>
          </a:p>
          <a:p>
            <a:pPr marL="514350" indent="-514350">
              <a:buFont typeface="+mj-lt"/>
              <a:buAutoNum type="arabicPeriod" startAt="7"/>
            </a:pPr>
            <a:endParaRPr lang="en-US" dirty="0"/>
          </a:p>
        </p:txBody>
      </p:sp>
      <p:sp>
        <p:nvSpPr>
          <p:cNvPr id="4" name="Date Placeholder 3"/>
          <p:cNvSpPr>
            <a:spLocks noGrp="1"/>
          </p:cNvSpPr>
          <p:nvPr>
            <p:ph type="dt" sz="half" idx="10"/>
          </p:nvPr>
        </p:nvSpPr>
        <p:spPr/>
        <p:txBody>
          <a:bodyPr/>
          <a:lstStyle/>
          <a:p>
            <a:r>
              <a:rPr lang="en-US" smtClean="0"/>
              <a:t>3/4/2026</a:t>
            </a:r>
            <a:endParaRPr lang="en-US"/>
          </a:p>
        </p:txBody>
      </p:sp>
      <p:sp>
        <p:nvSpPr>
          <p:cNvPr id="5" name="Footer Placeholder 4"/>
          <p:cNvSpPr>
            <a:spLocks noGrp="1"/>
          </p:cNvSpPr>
          <p:nvPr>
            <p:ph type="ftr" sz="quarter" idx="11"/>
          </p:nvPr>
        </p:nvSpPr>
        <p:spPr/>
        <p:txBody>
          <a:bodyPr/>
          <a:lstStyle/>
          <a:p>
            <a:r>
              <a:rPr lang="en-US" smtClean="0"/>
              <a:t>Matrix neural network - Loc Nguyen</a:t>
            </a:r>
            <a:endParaRPr lang="en-US"/>
          </a:p>
        </p:txBody>
      </p:sp>
      <p:sp>
        <p:nvSpPr>
          <p:cNvPr id="6" name="Slide Number Placeholder 5"/>
          <p:cNvSpPr>
            <a:spLocks noGrp="1"/>
          </p:cNvSpPr>
          <p:nvPr>
            <p:ph type="sldNum" sz="quarter" idx="12"/>
          </p:nvPr>
        </p:nvSpPr>
        <p:spPr/>
        <p:txBody>
          <a:bodyPr/>
          <a:lstStyle/>
          <a:p>
            <a:fld id="{5DB5036F-1FF2-46C4-8D2B-59C7E3B91952}" type="slidenum">
              <a:rPr lang="en-US" smtClean="0"/>
              <a:pPr/>
              <a:t>60</a:t>
            </a:fld>
            <a:endParaRPr lang="en-US"/>
          </a:p>
        </p:txBody>
      </p:sp>
    </p:spTree>
    <p:extLst>
      <p:ext uri="{BB962C8B-B14F-4D97-AF65-F5344CB8AC3E}">
        <p14:creationId xmlns:p14="http://schemas.microsoft.com/office/powerpoint/2010/main" val="106554904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8159"/>
            <a:ext cx="10515600" cy="660486"/>
          </a:xfrm>
        </p:spPr>
        <p:txBody>
          <a:bodyPr>
            <a:noAutofit/>
          </a:bodyPr>
          <a:lstStyle/>
          <a:p>
            <a:pPr algn="ctr"/>
            <a:r>
              <a:rPr lang="en-US" sz="5000" dirty="0">
                <a:effectLst>
                  <a:outerShdw blurRad="38100" dist="38100" dir="2700000" algn="tl">
                    <a:srgbClr val="000000">
                      <a:alpha val="43137"/>
                    </a:srgbClr>
                  </a:outerShdw>
                </a:effectLst>
              </a:rPr>
              <a:t>Thank you for </a:t>
            </a:r>
            <a:r>
              <a:rPr lang="en-US" sz="5000" dirty="0" smtClean="0">
                <a:effectLst>
                  <a:outerShdw blurRad="38100" dist="38100" dir="2700000" algn="tl">
                    <a:srgbClr val="000000">
                      <a:alpha val="43137"/>
                    </a:srgbClr>
                  </a:outerShdw>
                </a:effectLst>
              </a:rPr>
              <a:t>listening</a:t>
            </a:r>
            <a:endParaRPr lang="en-US" sz="5000" dirty="0">
              <a:effectLst>
                <a:outerShdw blurRad="38100" dist="38100" dir="2700000" algn="tl">
                  <a:srgbClr val="000000">
                    <a:alpha val="43137"/>
                  </a:srgbClr>
                </a:outerShdw>
              </a:effectLst>
            </a:endParaRPr>
          </a:p>
        </p:txBody>
      </p:sp>
      <p:sp>
        <p:nvSpPr>
          <p:cNvPr id="4" name="Slide Number Placeholder 3"/>
          <p:cNvSpPr>
            <a:spLocks noGrp="1"/>
          </p:cNvSpPr>
          <p:nvPr>
            <p:ph type="sldNum" sz="quarter" idx="12"/>
          </p:nvPr>
        </p:nvSpPr>
        <p:spPr/>
        <p:txBody>
          <a:bodyPr/>
          <a:lstStyle/>
          <a:p>
            <a:fld id="{5DB5036F-1FF2-46C4-8D2B-59C7E3B91952}" type="slidenum">
              <a:rPr lang="en-US" smtClean="0"/>
              <a:pPr/>
              <a:t>61</a:t>
            </a:fld>
            <a:endParaRPr lang="en-US"/>
          </a:p>
        </p:txBody>
      </p:sp>
      <p:sp>
        <p:nvSpPr>
          <p:cNvPr id="3" name="Footer Placeholder 2"/>
          <p:cNvSpPr>
            <a:spLocks noGrp="1"/>
          </p:cNvSpPr>
          <p:nvPr>
            <p:ph type="ftr" sz="quarter" idx="11"/>
          </p:nvPr>
        </p:nvSpPr>
        <p:spPr/>
        <p:txBody>
          <a:bodyPr/>
          <a:lstStyle/>
          <a:p>
            <a:r>
              <a:rPr lang="en-US" smtClean="0"/>
              <a:t>Matrix neural network - Loc Nguyen</a:t>
            </a:r>
            <a:endParaRPr lang="en-US"/>
          </a:p>
        </p:txBody>
      </p:sp>
      <p:sp>
        <p:nvSpPr>
          <p:cNvPr id="5" name="Date Placeholder 4"/>
          <p:cNvSpPr>
            <a:spLocks noGrp="1"/>
          </p:cNvSpPr>
          <p:nvPr>
            <p:ph type="dt" sz="half" idx="10"/>
          </p:nvPr>
        </p:nvSpPr>
        <p:spPr/>
        <p:txBody>
          <a:bodyPr/>
          <a:lstStyle/>
          <a:p>
            <a:r>
              <a:rPr lang="en-US" smtClean="0"/>
              <a:t>3/4/2026</a:t>
            </a:r>
            <a:endParaRPr lang="en-US"/>
          </a:p>
        </p:txBody>
      </p:sp>
    </p:spTree>
    <p:extLst>
      <p:ext uri="{BB962C8B-B14F-4D97-AF65-F5344CB8AC3E}">
        <p14:creationId xmlns:p14="http://schemas.microsoft.com/office/powerpoint/2010/main" val="132660889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2583</TotalTime>
  <Words>10414</Words>
  <Application>Microsoft Office PowerPoint</Application>
  <PresentationFormat>Widescreen</PresentationFormat>
  <Paragraphs>1134</Paragraphs>
  <Slides>61</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DengXian</vt:lpstr>
      <vt:lpstr>Arial</vt:lpstr>
      <vt:lpstr>Calibri</vt:lpstr>
      <vt:lpstr>Cambria Math</vt:lpstr>
      <vt:lpstr>Times New Roman</vt:lpstr>
      <vt:lpstr>Office Theme</vt:lpstr>
      <vt:lpstr>Is matrix neural network the alternative of convolutional neural network?</vt:lpstr>
      <vt:lpstr>Abstract</vt:lpstr>
      <vt:lpstr>Table of contents</vt:lpstr>
      <vt:lpstr>1. Introduction (main)</vt:lpstr>
      <vt:lpstr>1. Introduction (main)</vt:lpstr>
      <vt:lpstr>1. Introduction(main)</vt:lpstr>
      <vt:lpstr>1. Introduction (main)</vt:lpstr>
      <vt:lpstr>1. Introduction</vt:lpstr>
      <vt:lpstr>2. Related works (main)</vt:lpstr>
      <vt:lpstr>2. Related works (skip)</vt:lpstr>
      <vt:lpstr>2. Related works (skip)</vt:lpstr>
      <vt:lpstr>2. Related works (skip)</vt:lpstr>
      <vt:lpstr>2. Related works</vt:lpstr>
      <vt:lpstr>3. Matrix neural network (main)</vt:lpstr>
      <vt:lpstr>3. Matrix neural network</vt:lpstr>
      <vt:lpstr>3. Matrix neural network (skip)</vt:lpstr>
      <vt:lpstr>3. Matrix neural network (skip)</vt:lpstr>
      <vt:lpstr>3. Matrix neural network (skip)</vt:lpstr>
      <vt:lpstr>3. Matrix neural network (main)</vt:lpstr>
      <vt:lpstr>3. Matrix neural network</vt:lpstr>
      <vt:lpstr>3. Matrix neural network</vt:lpstr>
      <vt:lpstr>3. Matrix neural network (main)</vt:lpstr>
      <vt:lpstr>3. Matrix neural network</vt:lpstr>
      <vt:lpstr>3. Matrix neural network (main)</vt:lpstr>
      <vt:lpstr>3. Matrix neural network</vt:lpstr>
      <vt:lpstr>3. Matrix neural network</vt:lpstr>
      <vt:lpstr>3. Matrix neural network (skip)</vt:lpstr>
      <vt:lpstr>3. Matrix neural network (skip)</vt:lpstr>
      <vt:lpstr>3. Matrix neural network (main)</vt:lpstr>
      <vt:lpstr>3. Matrix neural network</vt:lpstr>
      <vt:lpstr>3. Matrix neural network</vt:lpstr>
      <vt:lpstr>3. Matrix neural network (main)</vt:lpstr>
      <vt:lpstr>3. Matrix neural network (main)</vt:lpstr>
      <vt:lpstr>3. Matrix neural network</vt:lpstr>
      <vt:lpstr>4. Experimental design (main)</vt:lpstr>
      <vt:lpstr>4. Experimental design</vt:lpstr>
      <vt:lpstr>4. Experimental design (main)</vt:lpstr>
      <vt:lpstr>4. Experimental design (skip)</vt:lpstr>
      <vt:lpstr>4. Experimental design</vt:lpstr>
      <vt:lpstr>4. Experimental design (skip)</vt:lpstr>
      <vt:lpstr>4. Experimental design (skip)</vt:lpstr>
      <vt:lpstr>5. Results and discussions (main)</vt:lpstr>
      <vt:lpstr>5. Results and discussions (skip)</vt:lpstr>
      <vt:lpstr>5. Results and discussions (skip)</vt:lpstr>
      <vt:lpstr>5. Results and discussions (main)</vt:lpstr>
      <vt:lpstr>5. Results and discussions (skip)</vt:lpstr>
      <vt:lpstr>5. Results and discussions (skip)</vt:lpstr>
      <vt:lpstr>5. Results and discussions (skip)</vt:lpstr>
      <vt:lpstr>5. Results and discussions (main)</vt:lpstr>
      <vt:lpstr>5. Results and discussions</vt:lpstr>
      <vt:lpstr>5. Results and discussions (main)</vt:lpstr>
      <vt:lpstr>5. Results and discussions (main)</vt:lpstr>
      <vt:lpstr>5. Results and discussions (skip)</vt:lpstr>
      <vt:lpstr>5. Results and discussions (skip)</vt:lpstr>
      <vt:lpstr>5. Results and discussions (skip)</vt:lpstr>
      <vt:lpstr>5. Results and discussions (skip)</vt:lpstr>
      <vt:lpstr>5. Results and discussions (main)</vt:lpstr>
      <vt:lpstr>6. Conclusions</vt:lpstr>
      <vt:lpstr>References</vt:lpstr>
      <vt:lpstr>References</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Loc Nguyen</dc:creator>
  <cp:lastModifiedBy>USER</cp:lastModifiedBy>
  <cp:revision>505</cp:revision>
  <dcterms:created xsi:type="dcterms:W3CDTF">2017-06-28T03:43:04Z</dcterms:created>
  <dcterms:modified xsi:type="dcterms:W3CDTF">2026-09-25T09:18:09Z</dcterms:modified>
</cp:coreProperties>
</file>