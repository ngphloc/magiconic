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3"/>
  </p:notesMasterIdLst>
  <p:handoutMasterIdLst>
    <p:handoutMasterId r:id="rId64"/>
  </p:handoutMasterIdLst>
  <p:sldIdLst>
    <p:sldId id="256" r:id="rId2"/>
    <p:sldId id="313" r:id="rId3"/>
    <p:sldId id="314" r:id="rId4"/>
    <p:sldId id="366" r:id="rId5"/>
    <p:sldId id="371" r:id="rId6"/>
    <p:sldId id="373" r:id="rId7"/>
    <p:sldId id="374" r:id="rId8"/>
    <p:sldId id="379" r:id="rId9"/>
    <p:sldId id="375" r:id="rId10"/>
    <p:sldId id="376" r:id="rId11"/>
    <p:sldId id="377" r:id="rId12"/>
    <p:sldId id="378" r:id="rId13"/>
    <p:sldId id="423" r:id="rId14"/>
    <p:sldId id="367" r:id="rId15"/>
    <p:sldId id="380" r:id="rId16"/>
    <p:sldId id="420" r:id="rId17"/>
    <p:sldId id="421" r:id="rId18"/>
    <p:sldId id="422" r:id="rId19"/>
    <p:sldId id="381" r:id="rId20"/>
    <p:sldId id="382" r:id="rId21"/>
    <p:sldId id="383" r:id="rId22"/>
    <p:sldId id="384" r:id="rId23"/>
    <p:sldId id="385" r:id="rId24"/>
    <p:sldId id="386" r:id="rId25"/>
    <p:sldId id="387" r:id="rId26"/>
    <p:sldId id="388" r:id="rId27"/>
    <p:sldId id="389" r:id="rId28"/>
    <p:sldId id="390" r:id="rId29"/>
    <p:sldId id="391" r:id="rId30"/>
    <p:sldId id="392" r:id="rId31"/>
    <p:sldId id="393" r:id="rId32"/>
    <p:sldId id="394" r:id="rId33"/>
    <p:sldId id="395" r:id="rId34"/>
    <p:sldId id="396" r:id="rId35"/>
    <p:sldId id="368" r:id="rId36"/>
    <p:sldId id="397" r:id="rId37"/>
    <p:sldId id="398" r:id="rId38"/>
    <p:sldId id="399" r:id="rId39"/>
    <p:sldId id="400" r:id="rId40"/>
    <p:sldId id="401" r:id="rId41"/>
    <p:sldId id="402" r:id="rId42"/>
    <p:sldId id="369" r:id="rId43"/>
    <p:sldId id="403" r:id="rId44"/>
    <p:sldId id="404" r:id="rId45"/>
    <p:sldId id="405" r:id="rId46"/>
    <p:sldId id="407" r:id="rId47"/>
    <p:sldId id="408" r:id="rId48"/>
    <p:sldId id="409" r:id="rId49"/>
    <p:sldId id="410" r:id="rId50"/>
    <p:sldId id="411" r:id="rId51"/>
    <p:sldId id="412" r:id="rId52"/>
    <p:sldId id="413" r:id="rId53"/>
    <p:sldId id="415" r:id="rId54"/>
    <p:sldId id="414" r:id="rId55"/>
    <p:sldId id="416" r:id="rId56"/>
    <p:sldId id="417" r:id="rId57"/>
    <p:sldId id="418" r:id="rId58"/>
    <p:sldId id="372" r:id="rId59"/>
    <p:sldId id="419" r:id="rId60"/>
    <p:sldId id="370" r:id="rId61"/>
    <p:sldId id="311" r:id="rId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533" autoAdjust="0"/>
  </p:normalViewPr>
  <p:slideViewPr>
    <p:cSldViewPr snapToGrid="0">
      <p:cViewPr varScale="1">
        <p:scale>
          <a:sx n="63" d="100"/>
          <a:sy n="63" d="100"/>
        </p:scale>
        <p:origin x="804" y="6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56" d="100"/>
          <a:sy n="56" d="100"/>
        </p:scale>
        <p:origin x="2856" y="7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2A3D5FF-0CEC-49D8-BF8A-0B00BB65258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C5ADA447-B21B-4FBA-A3C9-575D56E9B35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76B30CB-839A-47A6-9532-260122BEAE9C}" type="datetimeFigureOut">
              <a:rPr lang="en-US" smtClean="0"/>
              <a:t>6/14/2026</a:t>
            </a:fld>
            <a:endParaRPr lang="en-US"/>
          </a:p>
        </p:txBody>
      </p:sp>
      <p:sp>
        <p:nvSpPr>
          <p:cNvPr id="4" name="Footer Placeholder 3">
            <a:extLst>
              <a:ext uri="{FF2B5EF4-FFF2-40B4-BE49-F238E27FC236}">
                <a16:creationId xmlns:a16="http://schemas.microsoft.com/office/drawing/2014/main" id="{003E0C6A-F00E-45DE-9607-30984D64025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B8D0529-25A5-4112-9369-21C35E3F785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14DF5EF-899D-4A93-BF6E-10CBE4B2D858}" type="slidenum">
              <a:rPr lang="en-US" smtClean="0"/>
              <a:t>‹#›</a:t>
            </a:fld>
            <a:endParaRPr lang="en-US"/>
          </a:p>
        </p:txBody>
      </p:sp>
    </p:spTree>
    <p:extLst>
      <p:ext uri="{BB962C8B-B14F-4D97-AF65-F5344CB8AC3E}">
        <p14:creationId xmlns:p14="http://schemas.microsoft.com/office/powerpoint/2010/main" val="148935806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6BD8EF-833A-4756-9DE8-262172883D9B}" type="datetimeFigureOut">
              <a:rPr lang="en-US" smtClean="0"/>
              <a:t>6/14/2026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3153D4-6007-4D70-A0D5-F421EBC11E1D}" type="slidenum">
              <a:rPr lang="en-US" smtClean="0"/>
              <a:t>‹#›</a:t>
            </a:fld>
            <a:endParaRPr lang="en-US"/>
          </a:p>
        </p:txBody>
      </p:sp>
    </p:spTree>
    <p:extLst>
      <p:ext uri="{BB962C8B-B14F-4D97-AF65-F5344CB8AC3E}">
        <p14:creationId xmlns:p14="http://schemas.microsoft.com/office/powerpoint/2010/main" val="1119136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1pPr>
    <a:lvl2pPr marL="4572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2pPr>
    <a:lvl3pPr marL="9144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3pPr>
    <a:lvl4pPr marL="13716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4pPr>
    <a:lvl5pPr marL="1828800" algn="l" defTabSz="914400" rtl="0" eaLnBrk="1" latinLnBrk="0" hangingPunct="1">
      <a:defRPr sz="1200" kern="1200">
        <a:solidFill>
          <a:schemeClr val="tx1"/>
        </a:solidFill>
        <a:latin typeface="Times New Roman" panose="02020603050405020304" pitchFamily="18" charset="0"/>
        <a:ea typeface="+mn-ea"/>
        <a:cs typeface="Times New Roman" panose="02020603050405020304" pitchFamily="18"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83153D4-6007-4D70-A0D5-F421EBC11E1D}" type="slidenum">
              <a:rPr lang="en-US" smtClean="0"/>
              <a:t>1</a:t>
            </a:fld>
            <a:endParaRPr lang="en-US"/>
          </a:p>
        </p:txBody>
      </p:sp>
    </p:spTree>
    <p:extLst>
      <p:ext uri="{BB962C8B-B14F-4D97-AF65-F5344CB8AC3E}">
        <p14:creationId xmlns:p14="http://schemas.microsoft.com/office/powerpoint/2010/main" val="24466420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3153D4-6007-4D70-A0D5-F421EBC11E1D}" type="slidenum">
              <a:rPr lang="en-US" smtClean="0"/>
              <a:t>14</a:t>
            </a:fld>
            <a:endParaRPr lang="en-US"/>
          </a:p>
        </p:txBody>
      </p:sp>
    </p:spTree>
    <p:extLst>
      <p:ext uri="{BB962C8B-B14F-4D97-AF65-F5344CB8AC3E}">
        <p14:creationId xmlns:p14="http://schemas.microsoft.com/office/powerpoint/2010/main" val="16886593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There are some mathematical calculations to estimate MNN parameters.</a:t>
            </a:r>
            <a:endParaRPr lang="en-US" dirty="0"/>
          </a:p>
        </p:txBody>
      </p:sp>
      <p:sp>
        <p:nvSpPr>
          <p:cNvPr id="4" name="Slide Number Placeholder 3"/>
          <p:cNvSpPr>
            <a:spLocks noGrp="1"/>
          </p:cNvSpPr>
          <p:nvPr>
            <p:ph type="sldNum" sz="quarter" idx="10"/>
          </p:nvPr>
        </p:nvSpPr>
        <p:spPr/>
        <p:txBody>
          <a:bodyPr/>
          <a:lstStyle/>
          <a:p>
            <a:fld id="{583153D4-6007-4D70-A0D5-F421EBC11E1D}" type="slidenum">
              <a:rPr lang="en-US" smtClean="0"/>
              <a:t>16</a:t>
            </a:fld>
            <a:endParaRPr lang="en-US"/>
          </a:p>
        </p:txBody>
      </p:sp>
    </p:spTree>
    <p:extLst>
      <p:ext uri="{BB962C8B-B14F-4D97-AF65-F5344CB8AC3E}">
        <p14:creationId xmlns:p14="http://schemas.microsoft.com/office/powerpoint/2010/main" val="19482532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Some mathematical calculations to estimate</a:t>
            </a:r>
            <a:r>
              <a:rPr lang="en-US" baseline="0" dirty="0" smtClean="0"/>
              <a:t> transformer parameters.</a:t>
            </a:r>
            <a:endParaRPr lang="en-US" dirty="0"/>
          </a:p>
        </p:txBody>
      </p:sp>
      <p:sp>
        <p:nvSpPr>
          <p:cNvPr id="4" name="Slide Number Placeholder 3"/>
          <p:cNvSpPr>
            <a:spLocks noGrp="1"/>
          </p:cNvSpPr>
          <p:nvPr>
            <p:ph type="sldNum" sz="quarter" idx="10"/>
          </p:nvPr>
        </p:nvSpPr>
        <p:spPr/>
        <p:txBody>
          <a:bodyPr/>
          <a:lstStyle/>
          <a:p>
            <a:fld id="{583153D4-6007-4D70-A0D5-F421EBC11E1D}" type="slidenum">
              <a:rPr lang="en-US" smtClean="0"/>
              <a:t>28</a:t>
            </a:fld>
            <a:endParaRPr lang="en-US"/>
          </a:p>
        </p:txBody>
      </p:sp>
    </p:spTree>
    <p:extLst>
      <p:ext uri="{BB962C8B-B14F-4D97-AF65-F5344CB8AC3E}">
        <p14:creationId xmlns:p14="http://schemas.microsoft.com/office/powerpoint/2010/main" val="5988907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83153D4-6007-4D70-A0D5-F421EBC11E1D}" type="slidenum">
              <a:rPr lang="en-US" smtClean="0"/>
              <a:t>42</a:t>
            </a:fld>
            <a:endParaRPr lang="en-US"/>
          </a:p>
        </p:txBody>
      </p:sp>
    </p:spTree>
    <p:extLst>
      <p:ext uri="{BB962C8B-B14F-4D97-AF65-F5344CB8AC3E}">
        <p14:creationId xmlns:p14="http://schemas.microsoft.com/office/powerpoint/2010/main" val="36407053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583153D4-6007-4D70-A0D5-F421EBC11E1D}" type="slidenum">
              <a:rPr lang="en-US" smtClean="0"/>
              <a:t>61</a:t>
            </a:fld>
            <a:endParaRPr lang="en-US"/>
          </a:p>
        </p:txBody>
      </p:sp>
    </p:spTree>
    <p:extLst>
      <p:ext uri="{BB962C8B-B14F-4D97-AF65-F5344CB8AC3E}">
        <p14:creationId xmlns:p14="http://schemas.microsoft.com/office/powerpoint/2010/main" val="39629042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normAutofit/>
          </a:bodyPr>
          <a:lstStyle>
            <a:lvl1pPr algn="ctr">
              <a:defRPr sz="55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41610907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117986"/>
            <a:ext cx="10515600" cy="660486"/>
          </a:xfrm>
        </p:spPr>
        <p:txBody>
          <a:bodyPr/>
          <a:lstStyle>
            <a:lvl1pPr>
              <a:lnSpc>
                <a:spcPct val="100000"/>
              </a:lnSpc>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p:nvPr>
        </p:nvSpPr>
        <p:spPr>
          <a:xfrm>
            <a:off x="838200" y="914399"/>
            <a:ext cx="10515600" cy="5176066"/>
          </a:xfrm>
        </p:spPr>
        <p:txBody>
          <a:bodyPr/>
          <a:lstStyle>
            <a:lvl1pPr algn="just">
              <a:lnSpc>
                <a:spcPct val="100000"/>
              </a:lnSpc>
              <a:spcBef>
                <a:spcPts val="0"/>
              </a:spcBef>
              <a:defRPr>
                <a:latin typeface="Times New Roman" panose="02020603050405020304" pitchFamily="18" charset="0"/>
                <a:cs typeface="Times New Roman" panose="02020603050405020304" pitchFamily="18" charset="0"/>
              </a:defRPr>
            </a:lvl1pPr>
            <a:lvl2pPr algn="just">
              <a:lnSpc>
                <a:spcPct val="100000"/>
              </a:lnSpc>
              <a:spcBef>
                <a:spcPts val="0"/>
              </a:spcBef>
              <a:defRPr>
                <a:latin typeface="Times New Roman" panose="02020603050405020304" pitchFamily="18" charset="0"/>
                <a:cs typeface="Times New Roman" panose="02020603050405020304" pitchFamily="18" charset="0"/>
              </a:defRPr>
            </a:lvl2pPr>
            <a:lvl3pPr algn="just">
              <a:lnSpc>
                <a:spcPct val="100000"/>
              </a:lnSpc>
              <a:spcBef>
                <a:spcPts val="0"/>
              </a:spcBef>
              <a:defRPr>
                <a:latin typeface="Times New Roman" panose="02020603050405020304" pitchFamily="18" charset="0"/>
                <a:cs typeface="Times New Roman" panose="02020603050405020304" pitchFamily="18" charset="0"/>
              </a:defRPr>
            </a:lvl3pPr>
            <a:lvl4pPr algn="just">
              <a:lnSpc>
                <a:spcPct val="100000"/>
              </a:lnSpc>
              <a:spcBef>
                <a:spcPts val="0"/>
              </a:spcBef>
              <a:defRPr>
                <a:latin typeface="Times New Roman" panose="02020603050405020304" pitchFamily="18" charset="0"/>
                <a:cs typeface="Times New Roman" panose="02020603050405020304" pitchFamily="18" charset="0"/>
              </a:defRPr>
            </a:lvl4pPr>
            <a:lvl5pPr algn="just">
              <a:lnSpc>
                <a:spcPct val="100000"/>
              </a:lnSpc>
              <a:spcBef>
                <a:spcPts val="0"/>
              </a:spcBef>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2872447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latin typeface="Times New Roman" panose="02020603050405020304" pitchFamily="18" charset="0"/>
                <a:cs typeface="Times New Roman" panose="02020603050405020304" pitchFamily="18"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20083479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6" name="Footer Placeholder 5"/>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7" name="Slide Number Placeholder 6"/>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1060933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Times New Roman" panose="02020603050405020304" pitchFamily="18" charset="0"/>
                <a:cs typeface="Times New Roman" panose="02020603050405020304" pitchFamily="18"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Times New Roman" panose="02020603050405020304" pitchFamily="18" charset="0"/>
                <a:cs typeface="Times New Roman" panose="02020603050405020304" pitchFamily="18"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8" name="Footer Placeholder 7"/>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9" name="Slide Number Placeholder 8"/>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1867996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Date Placeholder 2"/>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4" name="Footer Placeholder 3"/>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5" name="Slide Number Placeholder 4"/>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6567009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3" name="Footer Placeholder 2"/>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4" name="Slide Number Placeholder 3"/>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39593421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atin typeface="Times New Roman" panose="02020603050405020304" pitchFamily="18" charset="0"/>
                <a:cs typeface="Times New Roman" panose="02020603050405020304" pitchFamily="18" charset="0"/>
              </a:defRPr>
            </a:lvl1pPr>
            <a:lvl2pPr>
              <a:defRPr sz="2800">
                <a:latin typeface="Times New Roman" panose="02020603050405020304" pitchFamily="18" charset="0"/>
                <a:cs typeface="Times New Roman" panose="02020603050405020304" pitchFamily="18" charset="0"/>
              </a:defRPr>
            </a:lvl2pPr>
            <a:lvl3pPr>
              <a:defRPr sz="2400">
                <a:latin typeface="Times New Roman" panose="02020603050405020304" pitchFamily="18" charset="0"/>
                <a:cs typeface="Times New Roman" panose="02020603050405020304" pitchFamily="18" charset="0"/>
              </a:defRPr>
            </a:lvl3pPr>
            <a:lvl4pPr>
              <a:defRPr sz="2000">
                <a:latin typeface="Times New Roman" panose="02020603050405020304" pitchFamily="18" charset="0"/>
                <a:cs typeface="Times New Roman" panose="02020603050405020304" pitchFamily="18" charset="0"/>
              </a:defRPr>
            </a:lvl4pPr>
            <a:lvl5pPr>
              <a:defRPr sz="2000">
                <a:latin typeface="Times New Roman" panose="02020603050405020304" pitchFamily="18" charset="0"/>
                <a:cs typeface="Times New Roman" panose="02020603050405020304" pitchFamily="18" charset="0"/>
              </a:defRPr>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atin typeface="Times New Roman" panose="02020603050405020304" pitchFamily="18" charset="0"/>
                <a:cs typeface="Times New Roman" panose="02020603050405020304" pitchFamily="18"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6" name="Footer Placeholder 5"/>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7" name="Slide Number Placeholder 6"/>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772492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atin typeface="Times New Roman" panose="02020603050405020304" pitchFamily="18" charset="0"/>
                <a:cs typeface="Times New Roman" panose="02020603050405020304" pitchFamily="18"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atin typeface="Times New Roman" panose="02020603050405020304" pitchFamily="18" charset="0"/>
                <a:cs typeface="Times New Roman" panose="02020603050405020304" pitchFamily="18"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6" name="Footer Placeholder 5"/>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7" name="Slide Number Placeholder 6"/>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600367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Vertical Text Placeholder 2"/>
          <p:cNvSpPr>
            <a:spLocks noGrp="1"/>
          </p:cNvSpPr>
          <p:nvPr>
            <p:ph type="body" orient="vert" idx="1"/>
          </p:nvPr>
        </p:nvSpPr>
        <p:spPr/>
        <p:txBody>
          <a:bodyPr vert="eaVert"/>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13498228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11"/>
          </p:nvPr>
        </p:nvSpPr>
        <p:spPr/>
        <p:txBody>
          <a:bodyPr/>
          <a:lstStyle>
            <a:lvl1pPr>
              <a:defRPr>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lvl1pPr>
              <a:defRPr>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34533150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216842"/>
            <a:ext cx="10515600" cy="660486"/>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223319"/>
            <a:ext cx="10515600" cy="4953644"/>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Times New Roman" panose="02020603050405020304" pitchFamily="18" charset="0"/>
                <a:cs typeface="Times New Roman" panose="02020603050405020304" pitchFamily="18" charset="0"/>
              </a:defRPr>
            </a:lvl1pPr>
          </a:lstStyle>
          <a:p>
            <a:r>
              <a:rPr lang="en-US" smtClean="0"/>
              <a:t>3/4/2026</a:t>
            </a:r>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Times New Roman" panose="02020603050405020304" pitchFamily="18" charset="0"/>
                <a:cs typeface="Times New Roman" panose="02020603050405020304" pitchFamily="18" charset="0"/>
              </a:defRPr>
            </a:lvl1pPr>
          </a:lstStyle>
          <a:p>
            <a:r>
              <a:rPr lang="en-US" smtClean="0"/>
              <a:t>Matrix neural network - Loc Nguyen</a:t>
            </a:r>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Times New Roman" panose="02020603050405020304" pitchFamily="18" charset="0"/>
                <a:cs typeface="Times New Roman" panose="02020603050405020304" pitchFamily="18" charset="0"/>
              </a:defRPr>
            </a:lvl1pPr>
          </a:lstStyle>
          <a:p>
            <a:fld id="{5DB5036F-1FF2-46C4-8D2B-59C7E3B91952}" type="slidenum">
              <a:rPr lang="en-US" smtClean="0"/>
              <a:pPr/>
              <a:t>‹#›</a:t>
            </a:fld>
            <a:endParaRPr lang="en-US"/>
          </a:p>
        </p:txBody>
      </p:sp>
    </p:spTree>
    <p:extLst>
      <p:ext uri="{BB962C8B-B14F-4D97-AF65-F5344CB8AC3E}">
        <p14:creationId xmlns:p14="http://schemas.microsoft.com/office/powerpoint/2010/main" val="4878035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35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87287" y="949111"/>
            <a:ext cx="10217426" cy="2387600"/>
          </a:xfrm>
        </p:spPr>
        <p:txBody>
          <a:bodyPr>
            <a:normAutofit/>
          </a:bodyPr>
          <a:lstStyle/>
          <a:p>
            <a:r>
              <a:rPr lang="en-US" sz="3500" b="1" dirty="0"/>
              <a:t>Is matrix neural network the alternative of convolutional neural network?</a:t>
            </a:r>
            <a:endParaRPr lang="en-US" sz="3500" dirty="0"/>
          </a:p>
        </p:txBody>
      </p:sp>
      <p:sp>
        <p:nvSpPr>
          <p:cNvPr id="3" name="Subtitle 2"/>
          <p:cNvSpPr>
            <a:spLocks noGrp="1"/>
          </p:cNvSpPr>
          <p:nvPr>
            <p:ph type="subTitle" idx="1"/>
          </p:nvPr>
        </p:nvSpPr>
        <p:spPr>
          <a:xfrm>
            <a:off x="1524000" y="3534803"/>
            <a:ext cx="9144000" cy="1655762"/>
          </a:xfrm>
        </p:spPr>
        <p:txBody>
          <a:bodyPr>
            <a:normAutofit lnSpcReduction="10000"/>
          </a:bodyPr>
          <a:lstStyle/>
          <a:p>
            <a:r>
              <a:rPr lang="en-US" dirty="0" smtClean="0"/>
              <a:t>Professor Dr. </a:t>
            </a:r>
            <a:r>
              <a:rPr lang="en-US" dirty="0"/>
              <a:t>Loc </a:t>
            </a:r>
            <a:r>
              <a:rPr lang="en-US" dirty="0" smtClean="0"/>
              <a:t>Nguyen, PhD</a:t>
            </a:r>
            <a:r>
              <a:rPr lang="en-US" dirty="0"/>
              <a:t>, </a:t>
            </a:r>
            <a:r>
              <a:rPr lang="en-US" dirty="0" smtClean="0"/>
              <a:t>Postdoc</a:t>
            </a:r>
            <a:endParaRPr lang="en-US" dirty="0"/>
          </a:p>
          <a:p>
            <a:r>
              <a:rPr lang="en-US" dirty="0" smtClean="0"/>
              <a:t>Loc Nguyen’s Academic Network, </a:t>
            </a:r>
            <a:r>
              <a:rPr lang="en-US" dirty="0"/>
              <a:t>Vietnam</a:t>
            </a:r>
          </a:p>
          <a:p>
            <a:r>
              <a:rPr lang="en-US" dirty="0"/>
              <a:t>Email: ng_phloc@yahoo.com</a:t>
            </a:r>
          </a:p>
          <a:p>
            <a:r>
              <a:rPr lang="en-US" dirty="0"/>
              <a:t>Homepage: www.locnguyen.net</a:t>
            </a:r>
          </a:p>
          <a:p>
            <a:endParaRPr lang="en-US" dirty="0"/>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Date Placeholder 5"/>
          <p:cNvSpPr>
            <a:spLocks noGrp="1"/>
          </p:cNvSpPr>
          <p:nvPr>
            <p:ph type="dt" sz="half" idx="10"/>
          </p:nvPr>
        </p:nvSpPr>
        <p:spPr/>
        <p:txBody>
          <a:bodyPr/>
          <a:lstStyle/>
          <a:p>
            <a:r>
              <a:rPr lang="en-US" smtClean="0"/>
              <a:t>3/4/2026</a:t>
            </a:r>
            <a:endParaRPr lang="en-US"/>
          </a:p>
        </p:txBody>
      </p:sp>
      <p:sp>
        <p:nvSpPr>
          <p:cNvPr id="7" name="Slide Number Placeholder 6"/>
          <p:cNvSpPr>
            <a:spLocks noGrp="1"/>
          </p:cNvSpPr>
          <p:nvPr>
            <p:ph type="sldNum" sz="quarter" idx="12"/>
          </p:nvPr>
        </p:nvSpPr>
        <p:spPr/>
        <p:txBody>
          <a:bodyPr/>
          <a:lstStyle/>
          <a:p>
            <a:fld id="{5DB5036F-1FF2-46C4-8D2B-59C7E3B91952}" type="slidenum">
              <a:rPr lang="en-US" smtClean="0"/>
              <a:pPr/>
              <a:t>1</a:t>
            </a:fld>
            <a:endParaRPr lang="en-US"/>
          </a:p>
        </p:txBody>
      </p:sp>
    </p:spTree>
    <p:extLst>
      <p:ext uri="{BB962C8B-B14F-4D97-AF65-F5344CB8AC3E}">
        <p14:creationId xmlns:p14="http://schemas.microsoft.com/office/powerpoint/2010/main" val="646808029"/>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Abstract</a:t>
            </a:r>
          </a:p>
        </p:txBody>
      </p:sp>
      <p:sp>
        <p:nvSpPr>
          <p:cNvPr id="3" name="Content Placeholder 2"/>
          <p:cNvSpPr>
            <a:spLocks noGrp="1"/>
          </p:cNvSpPr>
          <p:nvPr>
            <p:ph idx="1"/>
          </p:nvPr>
        </p:nvSpPr>
        <p:spPr>
          <a:xfrm>
            <a:off x="142240" y="914399"/>
            <a:ext cx="11856720" cy="5176066"/>
          </a:xfrm>
        </p:spPr>
        <p:txBody>
          <a:bodyPr>
            <a:noAutofit/>
          </a:bodyPr>
          <a:lstStyle/>
          <a:p>
            <a:pPr marL="0" indent="0">
              <a:buNone/>
            </a:pPr>
            <a:r>
              <a:rPr lang="en-US" sz="1900" dirty="0"/>
              <a:t>Currently (2025), deep learning is the most important and popular methodology in artificial intelligence (AI) and artificial neural network (ANN) is the foundation of deep learning. The main drawback of ANN is the boom problem of a huge number of parametric weights when ANN in deep learning establishes a large number of hidden layers</a:t>
            </a:r>
            <a:r>
              <a:rPr lang="en-US" sz="1900" dirty="0" smtClean="0"/>
              <a:t>. </a:t>
            </a:r>
            <a:r>
              <a:rPr lang="en-US" sz="1900" dirty="0"/>
              <a:t>The excellent solution for image processing within context of deep </a:t>
            </a:r>
            <a:r>
              <a:rPr lang="en-US" sz="1900" dirty="0" smtClean="0"/>
              <a:t>learning is convolutional </a:t>
            </a:r>
            <a:r>
              <a:rPr lang="en-US" sz="1900" dirty="0"/>
              <a:t>neural network (CNN</a:t>
            </a:r>
            <a:r>
              <a:rPr lang="en-US" sz="1900" dirty="0" smtClean="0"/>
              <a:t>) where </a:t>
            </a:r>
            <a:r>
              <a:rPr lang="en-US" sz="1900" dirty="0"/>
              <a:t>a so-called filtering kernel which is often 3x3 </a:t>
            </a:r>
            <a:r>
              <a:rPr lang="en-US" sz="1900" dirty="0" smtClean="0"/>
              <a:t>or </a:t>
            </a:r>
            <a:r>
              <a:rPr lang="en-US" sz="1900" dirty="0"/>
              <a:t>5x5 matrix which is convoluted over entire image </a:t>
            </a:r>
            <a:r>
              <a:rPr lang="en-US" sz="1900" dirty="0" smtClean="0"/>
              <a:t>data. Another </a:t>
            </a:r>
            <a:r>
              <a:rPr lang="en-US" sz="1900" dirty="0"/>
              <a:t>solution of the boom problem is that large parametric weight vector is organized as matrix that is the same structure of 2-dimension data like image, which leads to a so-called matrix neural network (MNN</a:t>
            </a:r>
            <a:r>
              <a:rPr lang="en-US" sz="1900" dirty="0" smtClean="0"/>
              <a:t>). </a:t>
            </a:r>
            <a:r>
              <a:rPr lang="en-US" sz="1900" dirty="0"/>
              <a:t>Computation cost of MNN is decreased significantly in comparison with ANN but it is necessary to test the effectiveness of MNN with respect to </a:t>
            </a:r>
            <a:r>
              <a:rPr lang="en-US" sz="1900" dirty="0" smtClean="0"/>
              <a:t>CNN according to the </a:t>
            </a:r>
            <a:r>
              <a:rPr lang="en-US" sz="1900" dirty="0"/>
              <a:t>main hypothesis “whether MNN is the alternative of CNN</a:t>
            </a:r>
            <a:r>
              <a:rPr lang="en-US" sz="1900" dirty="0" smtClean="0"/>
              <a:t>”.</a:t>
            </a:r>
            <a:r>
              <a:rPr lang="en-US" sz="1900" dirty="0"/>
              <a:t> </a:t>
            </a:r>
            <a:r>
              <a:rPr lang="en-US" sz="1900" dirty="0" smtClean="0"/>
              <a:t>Moreover</a:t>
            </a:r>
            <a:r>
              <a:rPr lang="en-US" sz="1900" dirty="0"/>
              <a:t>, transformer which is the new trend (2025) in AI and deep learning, which aims to improve/replace traditional ANN by self-supervised learning, in which attention is the significant mechanism of self-supervised learning</a:t>
            </a:r>
            <a:r>
              <a:rPr lang="en-US" sz="1900" dirty="0" smtClean="0"/>
              <a:t>.</a:t>
            </a:r>
            <a:r>
              <a:rPr lang="en-US" sz="1900" dirty="0"/>
              <a:t> Therefore, the implicit deep meanings of attention and filtering kernel are similar, which represents feature of data, which does not go beyond parametric weights too. </a:t>
            </a:r>
            <a:r>
              <a:rPr lang="en-US" sz="1900" dirty="0">
                <a:effectLst>
                  <a:outerShdw blurRad="38100" dist="38100" dir="2700000" algn="tl">
                    <a:srgbClr val="000000">
                      <a:alpha val="43137"/>
                    </a:srgbClr>
                  </a:outerShdw>
                </a:effectLst>
              </a:rPr>
              <a:t>In general, the research has two goals: 1) explaining and implementing ANN, CNN, and transformer (attention) and 2) applying analysis of variance (ANOVA) into evaluating the effectiveness of ANN, CNN, and transformer (attention) within context of image classification. The ultimate result is that it is not asserted that MNN is the alternative of CNN but MNN can be an optional choice for implementing ANN in context of image processing instead of focusing on the unique CNN solution.</a:t>
            </a:r>
            <a:r>
              <a:rPr lang="en-US" sz="1900" dirty="0"/>
              <a:t> Moreover, the incorporation of MNN and attention in implementing transformer produces a compromising solution of high performance and computational cost.</a:t>
            </a:r>
          </a:p>
        </p:txBody>
      </p:sp>
      <p:sp>
        <p:nvSpPr>
          <p:cNvPr id="4" name="Slide Number Placeholder 3"/>
          <p:cNvSpPr>
            <a:spLocks noGrp="1"/>
          </p:cNvSpPr>
          <p:nvPr>
            <p:ph type="sldNum" sz="quarter" idx="12"/>
          </p:nvPr>
        </p:nvSpPr>
        <p:spPr/>
        <p:txBody>
          <a:bodyPr/>
          <a:lstStyle/>
          <a:p>
            <a:fld id="{5DB5036F-1FF2-46C4-8D2B-59C7E3B91952}" type="slidenum">
              <a:rPr lang="en-US" smtClean="0"/>
              <a:pPr/>
              <a:t>2</a:t>
            </a:fld>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Date Placeholder 5"/>
          <p:cNvSpPr>
            <a:spLocks noGrp="1"/>
          </p:cNvSpPr>
          <p:nvPr>
            <p:ph type="dt" sz="half" idx="10"/>
          </p:nvPr>
        </p:nvSpPr>
        <p:spPr/>
        <p:txBody>
          <a:bodyPr/>
          <a:lstStyle/>
          <a:p>
            <a:r>
              <a:rPr lang="en-US" smtClean="0"/>
              <a:t>3/4/2026</a:t>
            </a:r>
            <a:endParaRPr lang="en-US"/>
          </a:p>
        </p:txBody>
      </p:sp>
    </p:spTree>
    <p:extLst>
      <p:ext uri="{BB962C8B-B14F-4D97-AF65-F5344CB8AC3E}">
        <p14:creationId xmlns:p14="http://schemas.microsoft.com/office/powerpoint/2010/main" val="295312069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effectLst>
                  <a:outerShdw blurRad="38100" dist="38100" dir="2700000" algn="tl">
                    <a:srgbClr val="000000">
                      <a:alpha val="43137"/>
                    </a:srgbClr>
                  </a:outerShdw>
                </a:effectLst>
              </a:rPr>
              <a:t>Table of contents</a:t>
            </a:r>
          </a:p>
        </p:txBody>
      </p:sp>
      <p:sp>
        <p:nvSpPr>
          <p:cNvPr id="3" name="Content Placeholder 2"/>
          <p:cNvSpPr>
            <a:spLocks noGrp="1"/>
          </p:cNvSpPr>
          <p:nvPr>
            <p:ph idx="1"/>
          </p:nvPr>
        </p:nvSpPr>
        <p:spPr/>
        <p:txBody>
          <a:bodyPr/>
          <a:lstStyle/>
          <a:p>
            <a:pPr marL="457200" indent="-457200">
              <a:buFont typeface="+mj-lt"/>
              <a:buAutoNum type="arabicPeriod"/>
            </a:pPr>
            <a:r>
              <a:rPr lang="en-US" dirty="0"/>
              <a:t>Introduction</a:t>
            </a:r>
          </a:p>
          <a:p>
            <a:pPr marL="457200" indent="-457200">
              <a:buFont typeface="+mj-lt"/>
              <a:buAutoNum type="arabicPeriod"/>
            </a:pPr>
            <a:r>
              <a:rPr lang="en-US" dirty="0" smtClean="0"/>
              <a:t>Related works</a:t>
            </a:r>
          </a:p>
          <a:p>
            <a:pPr marL="457200" indent="-457200">
              <a:buFont typeface="+mj-lt"/>
              <a:buAutoNum type="arabicPeriod"/>
            </a:pPr>
            <a:r>
              <a:rPr lang="en-US" dirty="0"/>
              <a:t>Matrix neural network</a:t>
            </a:r>
          </a:p>
          <a:p>
            <a:pPr marL="457200" indent="-457200">
              <a:buFont typeface="+mj-lt"/>
              <a:buAutoNum type="arabicPeriod"/>
            </a:pPr>
            <a:r>
              <a:rPr lang="en-US" dirty="0"/>
              <a:t>Experimental </a:t>
            </a:r>
            <a:r>
              <a:rPr lang="en-US" dirty="0" smtClean="0"/>
              <a:t>design</a:t>
            </a:r>
          </a:p>
          <a:p>
            <a:pPr marL="457200" indent="-457200">
              <a:buFont typeface="+mj-lt"/>
              <a:buAutoNum type="arabicPeriod"/>
            </a:pPr>
            <a:r>
              <a:rPr lang="en-US" dirty="0"/>
              <a:t>Results and discussions</a:t>
            </a:r>
          </a:p>
          <a:p>
            <a:pPr marL="457200" indent="-457200">
              <a:buFont typeface="+mj-lt"/>
              <a:buAutoNum type="arabicPeriod"/>
            </a:pPr>
            <a:r>
              <a:rPr lang="en-US" dirty="0"/>
              <a:t>Conclusions</a:t>
            </a:r>
          </a:p>
        </p:txBody>
      </p:sp>
      <p:sp>
        <p:nvSpPr>
          <p:cNvPr id="4" name="Slide Number Placeholder 3"/>
          <p:cNvSpPr>
            <a:spLocks noGrp="1"/>
          </p:cNvSpPr>
          <p:nvPr>
            <p:ph type="sldNum" sz="quarter" idx="12"/>
          </p:nvPr>
        </p:nvSpPr>
        <p:spPr/>
        <p:txBody>
          <a:bodyPr/>
          <a:lstStyle/>
          <a:p>
            <a:fld id="{5DB5036F-1FF2-46C4-8D2B-59C7E3B91952}" type="slidenum">
              <a:rPr lang="en-US" smtClean="0"/>
              <a:pPr/>
              <a:t>3</a:t>
            </a:fld>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Date Placeholder 5"/>
          <p:cNvSpPr>
            <a:spLocks noGrp="1"/>
          </p:cNvSpPr>
          <p:nvPr>
            <p:ph type="dt" sz="half" idx="10"/>
          </p:nvPr>
        </p:nvSpPr>
        <p:spPr/>
        <p:txBody>
          <a:bodyPr/>
          <a:lstStyle/>
          <a:p>
            <a:r>
              <a:rPr lang="en-US" smtClean="0"/>
              <a:t>3/4/2026</a:t>
            </a:r>
            <a:endParaRPr lang="en-US"/>
          </a:p>
        </p:txBody>
      </p:sp>
    </p:spTree>
    <p:extLst>
      <p:ext uri="{BB962C8B-B14F-4D97-AF65-F5344CB8AC3E}">
        <p14:creationId xmlns:p14="http://schemas.microsoft.com/office/powerpoint/2010/main" val="311224152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1. </a:t>
            </a:r>
            <a:r>
              <a:rPr lang="en-US" dirty="0" smtClean="0"/>
              <a:t>Introduction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Autofit/>
              </a:bodyPr>
              <a:lstStyle/>
              <a:p>
                <a:r>
                  <a:rPr lang="en-US" sz="2300" i="1" dirty="0" smtClean="0">
                    <a:effectLst>
                      <a:outerShdw blurRad="38100" dist="38100" dir="2700000" algn="tl">
                        <a:srgbClr val="000000">
                          <a:alpha val="43137"/>
                        </a:srgbClr>
                      </a:outerShdw>
                    </a:effectLst>
                  </a:rPr>
                  <a:t>Artificial </a:t>
                </a:r>
                <a:r>
                  <a:rPr lang="en-US" sz="2300" i="1" dirty="0">
                    <a:effectLst>
                      <a:outerShdw blurRad="38100" dist="38100" dir="2700000" algn="tl">
                        <a:srgbClr val="000000">
                          <a:alpha val="43137"/>
                        </a:srgbClr>
                      </a:outerShdw>
                    </a:effectLst>
                  </a:rPr>
                  <a:t>neural network</a:t>
                </a:r>
                <a:r>
                  <a:rPr lang="en-US" sz="2300" dirty="0">
                    <a:effectLst>
                      <a:outerShdw blurRad="38100" dist="38100" dir="2700000" algn="tl">
                        <a:srgbClr val="000000">
                          <a:alpha val="43137"/>
                        </a:srgbClr>
                      </a:outerShdw>
                    </a:effectLst>
                  </a:rPr>
                  <a:t> (</a:t>
                </a:r>
                <a:r>
                  <a:rPr lang="en-US" sz="2300" i="1" dirty="0">
                    <a:effectLst>
                      <a:outerShdw blurRad="38100" dist="38100" dir="2700000" algn="tl">
                        <a:srgbClr val="000000">
                          <a:alpha val="43137"/>
                        </a:srgbClr>
                      </a:outerShdw>
                    </a:effectLst>
                  </a:rPr>
                  <a:t>ANN</a:t>
                </a:r>
                <a:r>
                  <a:rPr lang="en-US" sz="2300" dirty="0">
                    <a:effectLst>
                      <a:outerShdw blurRad="38100" dist="38100" dir="2700000" algn="tl">
                        <a:srgbClr val="000000">
                          <a:alpha val="43137"/>
                        </a:srgbClr>
                      </a:outerShdw>
                    </a:effectLst>
                  </a:rPr>
                  <a:t>)</a:t>
                </a:r>
                <a:r>
                  <a:rPr lang="en-US" sz="2300" dirty="0" smtClean="0">
                    <a:effectLst>
                      <a:outerShdw blurRad="38100" dist="38100" dir="2700000" algn="tl">
                        <a:srgbClr val="000000">
                          <a:alpha val="43137"/>
                        </a:srgbClr>
                      </a:outerShdw>
                    </a:effectLst>
                  </a:rPr>
                  <a:t> </a:t>
                </a:r>
                <a:r>
                  <a:rPr lang="en-US" sz="2300" dirty="0">
                    <a:effectLst>
                      <a:outerShdw blurRad="38100" dist="38100" dir="2700000" algn="tl">
                        <a:srgbClr val="000000">
                          <a:alpha val="43137"/>
                        </a:srgbClr>
                      </a:outerShdw>
                    </a:effectLst>
                  </a:rPr>
                  <a:t>which simulates human neural network consists of one input </a:t>
                </a:r>
                <a:r>
                  <a:rPr lang="en-US" sz="2300" dirty="0" smtClean="0">
                    <a:effectLst>
                      <a:outerShdw blurRad="38100" dist="38100" dir="2700000" algn="tl">
                        <a:srgbClr val="000000">
                          <a:alpha val="43137"/>
                        </a:srgbClr>
                      </a:outerShdw>
                    </a:effectLst>
                  </a:rPr>
                  <a:t>layer, </a:t>
                </a:r>
                <a:r>
                  <a:rPr lang="en-US" sz="2300" dirty="0">
                    <a:effectLst>
                      <a:outerShdw blurRad="38100" dist="38100" dir="2700000" algn="tl">
                        <a:srgbClr val="000000">
                          <a:alpha val="43137"/>
                        </a:srgbClr>
                      </a:outerShdw>
                    </a:effectLst>
                  </a:rPr>
                  <a:t>many enough hidden layers, and one output layer so that the information is entered input layer</a:t>
                </a:r>
                <a:r>
                  <a:rPr lang="en-US" sz="2300" dirty="0"/>
                  <a:t>, then is propagated through hidden layers, and finally evaluated at output layer </a:t>
                </a:r>
                <a:r>
                  <a:rPr lang="en-US" sz="2300" dirty="0" smtClean="0"/>
                  <a:t>according </a:t>
                </a:r>
                <a:r>
                  <a:rPr lang="en-US" sz="2300" dirty="0"/>
                  <a:t>to a so-called </a:t>
                </a:r>
                <a:r>
                  <a:rPr lang="en-US" sz="2300" i="1" dirty="0"/>
                  <a:t>propagation </a:t>
                </a:r>
                <a:r>
                  <a:rPr lang="en-US" sz="2300" i="1" dirty="0" smtClean="0"/>
                  <a:t>rule</a:t>
                </a:r>
                <a:r>
                  <a:rPr lang="en-US" sz="2300" dirty="0"/>
                  <a:t> </a:t>
                </a:r>
                <a:r>
                  <a:rPr lang="en-US" sz="2300" dirty="0" smtClean="0"/>
                  <a:t>in which </a:t>
                </a:r>
                <a:r>
                  <a:rPr lang="en-US" sz="2300" i="1" dirty="0" err="1"/>
                  <a:t>W</a:t>
                </a:r>
                <a:r>
                  <a:rPr lang="en-US" sz="2300" i="1" baseline="-25000" dirty="0" err="1"/>
                  <a:t>k</a:t>
                </a:r>
                <a:r>
                  <a:rPr lang="en-US" sz="2300" dirty="0"/>
                  <a:t> and </a:t>
                </a:r>
                <a:r>
                  <a:rPr lang="en-US" sz="2300" dirty="0" err="1"/>
                  <a:t>Θ</a:t>
                </a:r>
                <a:r>
                  <a:rPr lang="en-US" sz="2300" i="1" baseline="-25000" dirty="0" err="1"/>
                  <a:t>k</a:t>
                </a:r>
                <a:r>
                  <a:rPr lang="en-US" sz="2300" dirty="0"/>
                  <a:t> are </a:t>
                </a:r>
                <a:r>
                  <a:rPr lang="en-US" sz="2300" dirty="0" smtClean="0"/>
                  <a:t>weight parameter and </a:t>
                </a:r>
                <a:r>
                  <a:rPr lang="en-US" sz="2300" dirty="0"/>
                  <a:t>bias parameter at layer </a:t>
                </a:r>
                <a:r>
                  <a:rPr lang="en-US" sz="2300" i="1" dirty="0" smtClean="0"/>
                  <a:t>k </a:t>
                </a:r>
                <a:r>
                  <a:rPr lang="en-US" sz="2300" dirty="0" smtClean="0"/>
                  <a:t>among </a:t>
                </a:r>
                <a:r>
                  <a:rPr lang="en-US" sz="2300" dirty="0"/>
                  <a:t>a series of </a:t>
                </a:r>
                <a:r>
                  <a:rPr lang="en-US" sz="2300" dirty="0" smtClean="0"/>
                  <a:t>layers </a:t>
                </a:r>
                <a:r>
                  <a:rPr lang="en-US" sz="2300" b="1" i="1" dirty="0"/>
                  <a:t>x</a:t>
                </a:r>
                <a:r>
                  <a:rPr lang="en-US" sz="2300" baseline="-25000" dirty="0"/>
                  <a:t>0</a:t>
                </a:r>
                <a:r>
                  <a:rPr lang="en-US" sz="2300" dirty="0"/>
                  <a:t>, </a:t>
                </a:r>
                <a:r>
                  <a:rPr lang="en-US" sz="2300" b="1" i="1" dirty="0"/>
                  <a:t>x</a:t>
                </a:r>
                <a:r>
                  <a:rPr lang="en-US" sz="2300" baseline="-25000" dirty="0"/>
                  <a:t>1</a:t>
                </a:r>
                <a:r>
                  <a:rPr lang="en-US" sz="2300" dirty="0"/>
                  <a:t>, </a:t>
                </a:r>
                <a:r>
                  <a:rPr lang="en-US" sz="2300" b="1" i="1" dirty="0"/>
                  <a:t>x</a:t>
                </a:r>
                <a:r>
                  <a:rPr lang="en-US" sz="2300" baseline="-25000" dirty="0"/>
                  <a:t>2</a:t>
                </a:r>
                <a:r>
                  <a:rPr lang="en-US" sz="2300" dirty="0"/>
                  <a:t>,…, </a:t>
                </a:r>
                <a:r>
                  <a:rPr lang="en-US" sz="2300" b="1" i="1" dirty="0" err="1" smtClean="0"/>
                  <a:t>x</a:t>
                </a:r>
                <a:r>
                  <a:rPr lang="en-US" sz="2300" i="1" baseline="-25000" dirty="0" err="1" smtClean="0"/>
                  <a:t>K</a:t>
                </a:r>
                <a:r>
                  <a:rPr lang="en-US" sz="2300" i="1" dirty="0"/>
                  <a:t> </a:t>
                </a:r>
                <a:r>
                  <a:rPr lang="en-US" sz="2300" dirty="0" smtClean="0"/>
                  <a:t>known as </a:t>
                </a:r>
                <a:r>
                  <a:rPr lang="en-US" sz="2300" dirty="0"/>
                  <a:t>common representation of </a:t>
                </a:r>
                <a:r>
                  <a:rPr lang="en-US" sz="2300" dirty="0" smtClean="0"/>
                  <a:t>ANN which is </a:t>
                </a:r>
                <a:r>
                  <a:rPr lang="en-US" sz="2300" i="1" dirty="0"/>
                  <a:t>feedforward network</a:t>
                </a:r>
                <a:r>
                  <a:rPr lang="en-US" sz="2300" dirty="0"/>
                  <a:t> (FFN</a:t>
                </a:r>
                <a:r>
                  <a:rPr lang="en-US" sz="230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2300" i="1">
                              <a:latin typeface="Cambria Math" panose="02040503050406030204" pitchFamily="18" charset="0"/>
                            </a:rPr>
                          </m:ctrlPr>
                        </m:sSubPr>
                        <m:e>
                          <m:r>
                            <a:rPr lang="en-US" sz="2300" b="1" i="1">
                              <a:latin typeface="Cambria Math" panose="02040503050406030204" pitchFamily="18" charset="0"/>
                            </a:rPr>
                            <m:t>𝒙</m:t>
                          </m:r>
                        </m:e>
                        <m:sub>
                          <m:r>
                            <a:rPr lang="en-US" sz="2300" i="1">
                              <a:latin typeface="Cambria Math" panose="02040503050406030204" pitchFamily="18" charset="0"/>
                            </a:rPr>
                            <m:t>𝑘</m:t>
                          </m:r>
                        </m:sub>
                      </m:sSub>
                      <m:r>
                        <a:rPr lang="en-US" sz="2300" i="1">
                          <a:latin typeface="Cambria Math" panose="02040503050406030204" pitchFamily="18" charset="0"/>
                        </a:rPr>
                        <m:t>=</m:t>
                      </m:r>
                      <m:r>
                        <a:rPr lang="en-US" sz="2300" i="1">
                          <a:latin typeface="Cambria Math" panose="02040503050406030204" pitchFamily="18" charset="0"/>
                        </a:rPr>
                        <m:t>𝑓</m:t>
                      </m:r>
                      <m:d>
                        <m:dPr>
                          <m:ctrlPr>
                            <a:rPr lang="en-US" sz="2300" i="1">
                              <a:latin typeface="Cambria Math" panose="02040503050406030204" pitchFamily="18" charset="0"/>
                            </a:rPr>
                          </m:ctrlPr>
                        </m:dPr>
                        <m:e>
                          <m:sSub>
                            <m:sSubPr>
                              <m:ctrlPr>
                                <a:rPr lang="en-US" sz="2300" i="1">
                                  <a:latin typeface="Cambria Math" panose="02040503050406030204" pitchFamily="18" charset="0"/>
                                </a:rPr>
                              </m:ctrlPr>
                            </m:sSubPr>
                            <m:e>
                              <m:acc>
                                <m:accPr>
                                  <m:chr m:val="̂"/>
                                  <m:ctrlPr>
                                    <a:rPr lang="en-US" sz="2300" i="1">
                                      <a:latin typeface="Cambria Math" panose="02040503050406030204" pitchFamily="18" charset="0"/>
                                    </a:rPr>
                                  </m:ctrlPr>
                                </m:accPr>
                                <m:e>
                                  <m:r>
                                    <a:rPr lang="en-US" sz="2300" b="1" i="1">
                                      <a:latin typeface="Cambria Math" panose="02040503050406030204" pitchFamily="18" charset="0"/>
                                    </a:rPr>
                                    <m:t>𝒙</m:t>
                                  </m:r>
                                </m:e>
                              </m:acc>
                            </m:e>
                            <m:sub>
                              <m:r>
                                <a:rPr lang="en-US" sz="2300" i="1">
                                  <a:latin typeface="Cambria Math" panose="02040503050406030204" pitchFamily="18" charset="0"/>
                                </a:rPr>
                                <m:t>𝑘</m:t>
                              </m:r>
                              <m:r>
                                <a:rPr lang="en-US" sz="2300" i="1">
                                  <a:latin typeface="Cambria Math" panose="02040503050406030204" pitchFamily="18" charset="0"/>
                                </a:rPr>
                                <m:t>−1</m:t>
                              </m:r>
                            </m:sub>
                          </m:sSub>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i="1">
                                  <a:latin typeface="Cambria Math" panose="02040503050406030204" pitchFamily="18" charset="0"/>
                                </a:rPr>
                                <m:t>𝑊</m:t>
                              </m:r>
                            </m:e>
                            <m:sub>
                              <m:r>
                                <a:rPr lang="en-US" sz="2300" i="1">
                                  <a:latin typeface="Cambria Math" panose="02040503050406030204" pitchFamily="18" charset="0"/>
                                </a:rPr>
                                <m:t>𝑘</m:t>
                              </m:r>
                            </m:sub>
                          </m:sSub>
                          <m:sSub>
                            <m:sSubPr>
                              <m:ctrlPr>
                                <a:rPr lang="en-US" sz="2300" i="1">
                                  <a:latin typeface="Cambria Math" panose="02040503050406030204" pitchFamily="18" charset="0"/>
                                </a:rPr>
                              </m:ctrlPr>
                            </m:sSubPr>
                            <m:e>
                              <m:r>
                                <a:rPr lang="en-US" sz="2300" b="1" i="1">
                                  <a:latin typeface="Cambria Math" panose="02040503050406030204" pitchFamily="18" charset="0"/>
                                </a:rPr>
                                <m:t>𝒙</m:t>
                              </m:r>
                            </m:e>
                            <m:sub>
                              <m:r>
                                <a:rPr lang="en-US" sz="2300" i="1">
                                  <a:latin typeface="Cambria Math" panose="02040503050406030204" pitchFamily="18" charset="0"/>
                                </a:rPr>
                                <m:t>𝑘</m:t>
                              </m:r>
                              <m:r>
                                <a:rPr lang="en-US" sz="2300" i="1">
                                  <a:latin typeface="Cambria Math" panose="02040503050406030204" pitchFamily="18" charset="0"/>
                                </a:rPr>
                                <m:t>−1</m:t>
                              </m:r>
                            </m:sub>
                          </m:sSub>
                          <m:r>
                            <a:rPr lang="en-US" sz="2300" i="1">
                              <a:latin typeface="Cambria Math" panose="02040503050406030204" pitchFamily="18" charset="0"/>
                            </a:rPr>
                            <m:t>+</m:t>
                          </m:r>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e>
                      </m:d>
                      <m:r>
                        <a:rPr lang="en-US" sz="2300" i="1">
                          <a:latin typeface="Cambria Math" panose="02040503050406030204" pitchFamily="18" charset="0"/>
                        </a:rPr>
                        <m:t>,∀</m:t>
                      </m:r>
                      <m:r>
                        <a:rPr lang="en-US" sz="2300" i="1">
                          <a:latin typeface="Cambria Math" panose="02040503050406030204" pitchFamily="18" charset="0"/>
                        </a:rPr>
                        <m:t>𝑘</m:t>
                      </m:r>
                      <m:r>
                        <a:rPr lang="en-US" sz="2300" i="1">
                          <a:latin typeface="Cambria Math" panose="02040503050406030204" pitchFamily="18" charset="0"/>
                        </a:rPr>
                        <m:t>=</m:t>
                      </m:r>
                      <m:acc>
                        <m:accPr>
                          <m:chr m:val="̅"/>
                          <m:ctrlPr>
                            <a:rPr lang="en-US" sz="2300" i="1">
                              <a:latin typeface="Cambria Math" panose="02040503050406030204" pitchFamily="18" charset="0"/>
                            </a:rPr>
                          </m:ctrlPr>
                        </m:accPr>
                        <m:e>
                          <m:r>
                            <a:rPr lang="en-US" sz="2300" i="1">
                              <a:latin typeface="Cambria Math" panose="02040503050406030204" pitchFamily="18" charset="0"/>
                            </a:rPr>
                            <m:t>1,</m:t>
                          </m:r>
                          <m:r>
                            <a:rPr lang="en-US" sz="2300" i="1">
                              <a:latin typeface="Cambria Math" panose="02040503050406030204" pitchFamily="18" charset="0"/>
                            </a:rPr>
                            <m:t>𝐾</m:t>
                          </m:r>
                        </m:e>
                      </m:acc>
                    </m:oMath>
                  </m:oMathPara>
                </a14:m>
                <a:endParaRPr lang="en-US" sz="2300" dirty="0" smtClean="0"/>
              </a:p>
              <a:p>
                <a:r>
                  <a:rPr lang="en-US" sz="2300" dirty="0"/>
                  <a:t>Classification is the most popular method belonging to supervised </a:t>
                </a:r>
                <a:r>
                  <a:rPr lang="en-US" sz="2300" dirty="0" smtClean="0"/>
                  <a:t>learning, which is the context of this research.</a:t>
                </a:r>
                <a:r>
                  <a:rPr lang="en-US" sz="2300" dirty="0"/>
                  <a:t> </a:t>
                </a:r>
                <a:r>
                  <a:rPr lang="en-US" sz="2300" dirty="0" smtClean="0">
                    <a:effectLst>
                      <a:outerShdw blurRad="38100" dist="38100" dir="2700000" algn="tl">
                        <a:srgbClr val="000000">
                          <a:alpha val="43137"/>
                        </a:srgbClr>
                      </a:outerShdw>
                    </a:effectLst>
                  </a:rPr>
                  <a:t>Training </a:t>
                </a:r>
                <a:r>
                  <a:rPr lang="en-US" sz="2300" dirty="0">
                    <a:effectLst>
                      <a:outerShdw blurRad="38100" dist="38100" dir="2700000" algn="tl">
                        <a:srgbClr val="000000">
                          <a:alpha val="43137"/>
                        </a:srgbClr>
                      </a:outerShdw>
                    </a:effectLst>
                  </a:rPr>
                  <a:t>FFN classifier (ANN classifier) aims to minimize the so-called </a:t>
                </a:r>
                <a:r>
                  <a:rPr lang="en-US" sz="2300" i="1" dirty="0">
                    <a:effectLst>
                      <a:outerShdw blurRad="38100" dist="38100" dir="2700000" algn="tl">
                        <a:srgbClr val="000000">
                          <a:alpha val="43137"/>
                        </a:srgbClr>
                      </a:outerShdw>
                    </a:effectLst>
                  </a:rPr>
                  <a:t>cross-entropy loss function</a:t>
                </a:r>
                <a:r>
                  <a:rPr lang="en-US" sz="2300" dirty="0"/>
                  <a:t> loss(</a:t>
                </a:r>
                <a:r>
                  <a:rPr lang="en-US" sz="2300" b="1" i="1" dirty="0" err="1"/>
                  <a:t>x</a:t>
                </a:r>
                <a:r>
                  <a:rPr lang="en-US" sz="2300" i="1" baseline="-25000" dirty="0" err="1"/>
                  <a:t>K</a:t>
                </a:r>
                <a:r>
                  <a:rPr lang="en-US" sz="2300" dirty="0" smtClean="0"/>
                  <a:t>)</a:t>
                </a:r>
                <a:r>
                  <a:rPr lang="en-US" sz="2300" dirty="0"/>
                  <a:t> given the last output vector </a:t>
                </a:r>
                <a:r>
                  <a:rPr lang="en-US" sz="2300" b="1" i="1" dirty="0" err="1"/>
                  <a:t>x</a:t>
                </a:r>
                <a:r>
                  <a:rPr lang="en-US" sz="2300" i="1" baseline="-25000" dirty="0" err="1"/>
                  <a:t>K</a:t>
                </a:r>
                <a:r>
                  <a:rPr lang="en-US" sz="2300" dirty="0"/>
                  <a:t> </a:t>
                </a:r>
                <a:r>
                  <a:rPr lang="en-US" sz="2300" dirty="0" smtClean="0"/>
                  <a:t>and </a:t>
                </a:r>
                <a:r>
                  <a:rPr lang="en-US" sz="2300" dirty="0"/>
                  <a:t>the real class probability </a:t>
                </a:r>
                <a:r>
                  <a:rPr lang="en-US" sz="2300" b="1" i="1" dirty="0"/>
                  <a:t>p</a:t>
                </a:r>
                <a:r>
                  <a:rPr lang="en-US" sz="2300" dirty="0"/>
                  <a:t> = (</a:t>
                </a:r>
                <a:r>
                  <a:rPr lang="en-US" sz="2300" i="1" dirty="0"/>
                  <a:t>p</a:t>
                </a:r>
                <a:r>
                  <a:rPr lang="en-US" sz="2300" baseline="-25000" dirty="0"/>
                  <a:t>1</a:t>
                </a:r>
                <a:r>
                  <a:rPr lang="en-US" sz="2300" dirty="0"/>
                  <a:t>, </a:t>
                </a:r>
                <a:r>
                  <a:rPr lang="en-US" sz="2300" i="1" dirty="0"/>
                  <a:t>p</a:t>
                </a:r>
                <a:r>
                  <a:rPr lang="en-US" sz="2300" baseline="-25000" dirty="0"/>
                  <a:t>2</a:t>
                </a:r>
                <a:r>
                  <a:rPr lang="en-US" sz="2300" dirty="0"/>
                  <a:t>,…, </a:t>
                </a:r>
                <a:r>
                  <a:rPr lang="en-US" sz="2300" i="1" dirty="0" err="1"/>
                  <a:t>p</a:t>
                </a:r>
                <a:r>
                  <a:rPr lang="en-US" sz="2300" i="1" baseline="-25000" dirty="0" err="1"/>
                  <a:t>n</a:t>
                </a:r>
                <a:r>
                  <a:rPr lang="en-US" sz="2300" dirty="0"/>
                  <a:t>)</a:t>
                </a:r>
                <a:r>
                  <a:rPr lang="en-US" sz="2300" i="1" baseline="30000" dirty="0"/>
                  <a:t>T</a:t>
                </a:r>
                <a:r>
                  <a:rPr lang="en-US" sz="2300" dirty="0"/>
                  <a:t> of such vector </a:t>
                </a:r>
                <a:r>
                  <a:rPr lang="en-US" sz="2300" b="1" i="1" dirty="0" err="1" smtClean="0"/>
                  <a:t>x</a:t>
                </a:r>
                <a:r>
                  <a:rPr lang="en-US" sz="2300" i="1" baseline="-25000" dirty="0" err="1" smtClean="0"/>
                  <a:t>K</a:t>
                </a:r>
                <a:r>
                  <a:rPr lang="en-US" sz="2300" dirty="0" smtClean="0"/>
                  <a:t>.</a:t>
                </a:r>
              </a:p>
              <a:p>
                <a:pPr marL="0" indent="0">
                  <a:buNone/>
                </a:pPr>
                <a14:m>
                  <m:oMathPara xmlns:m="http://schemas.openxmlformats.org/officeDocument/2006/math">
                    <m:oMathParaPr>
                      <m:jc m:val="centerGroup"/>
                    </m:oMathParaPr>
                    <m:oMath xmlns:m="http://schemas.openxmlformats.org/officeDocument/2006/math">
                      <m:r>
                        <m:rPr>
                          <m:sty m:val="p"/>
                        </m:rPr>
                        <a:rPr lang="en-US" sz="2300">
                          <a:latin typeface="Cambria Math" panose="02040503050406030204" pitchFamily="18" charset="0"/>
                        </a:rPr>
                        <m:t>loss</m:t>
                      </m:r>
                      <m:d>
                        <m:dPr>
                          <m:ctrlPr>
                            <a:rPr lang="en-US" sz="2300" i="1">
                              <a:latin typeface="Cambria Math" panose="02040503050406030204" pitchFamily="18" charset="0"/>
                            </a:rPr>
                          </m:ctrlPr>
                        </m:dPr>
                        <m:e>
                          <m:sSub>
                            <m:sSubPr>
                              <m:ctrlPr>
                                <a:rPr lang="en-US" sz="2300" i="1">
                                  <a:latin typeface="Cambria Math" panose="02040503050406030204" pitchFamily="18" charset="0"/>
                                </a:rPr>
                              </m:ctrlPr>
                            </m:sSubPr>
                            <m:e>
                              <m:r>
                                <a:rPr lang="en-US" sz="2300" b="1" i="1">
                                  <a:latin typeface="Cambria Math" panose="02040503050406030204" pitchFamily="18" charset="0"/>
                                </a:rPr>
                                <m:t>𝒙</m:t>
                              </m:r>
                            </m:e>
                            <m:sub>
                              <m:r>
                                <a:rPr lang="en-US" sz="2300" i="1">
                                  <a:latin typeface="Cambria Math" panose="02040503050406030204" pitchFamily="18" charset="0"/>
                                </a:rPr>
                                <m:t>𝐾</m:t>
                              </m:r>
                            </m:sub>
                          </m:sSub>
                        </m:e>
                      </m:d>
                      <m:r>
                        <a:rPr lang="en-US" sz="2300" i="1">
                          <a:latin typeface="Cambria Math" panose="02040503050406030204" pitchFamily="18" charset="0"/>
                        </a:rPr>
                        <m:t>=−</m:t>
                      </m:r>
                      <m:nary>
                        <m:naryPr>
                          <m:chr m:val="∑"/>
                          <m:limLoc m:val="undOvr"/>
                          <m:ctrlPr>
                            <a:rPr lang="en-US" sz="2300" i="1">
                              <a:latin typeface="Cambria Math" panose="02040503050406030204" pitchFamily="18" charset="0"/>
                            </a:rPr>
                          </m:ctrlPr>
                        </m:naryPr>
                        <m:sub>
                          <m:r>
                            <a:rPr lang="en-US" sz="2300" i="1">
                              <a:latin typeface="Cambria Math" panose="02040503050406030204" pitchFamily="18" charset="0"/>
                            </a:rPr>
                            <m:t>𝑖</m:t>
                          </m:r>
                          <m:r>
                            <a:rPr lang="en-US" sz="2300" i="1">
                              <a:latin typeface="Cambria Math" panose="02040503050406030204" pitchFamily="18" charset="0"/>
                            </a:rPr>
                            <m:t>=1</m:t>
                          </m:r>
                        </m:sub>
                        <m:sup>
                          <m:r>
                            <a:rPr lang="en-US" sz="2300" i="1">
                              <a:latin typeface="Cambria Math" panose="02040503050406030204" pitchFamily="18" charset="0"/>
                            </a:rPr>
                            <m:t>𝑛</m:t>
                          </m:r>
                        </m:sup>
                        <m:e>
                          <m:sSub>
                            <m:sSubPr>
                              <m:ctrlPr>
                                <a:rPr lang="en-US" sz="2300" i="1">
                                  <a:latin typeface="Cambria Math" panose="02040503050406030204" pitchFamily="18" charset="0"/>
                                </a:rPr>
                              </m:ctrlPr>
                            </m:sSubPr>
                            <m:e>
                              <m:r>
                                <a:rPr lang="en-US" sz="2300" i="1">
                                  <a:latin typeface="Cambria Math" panose="02040503050406030204" pitchFamily="18" charset="0"/>
                                </a:rPr>
                                <m:t>𝑝</m:t>
                              </m:r>
                            </m:e>
                            <m:sub>
                              <m:r>
                                <a:rPr lang="en-US" sz="2300" i="1">
                                  <a:latin typeface="Cambria Math" panose="02040503050406030204" pitchFamily="18" charset="0"/>
                                </a:rPr>
                                <m:t>𝑖</m:t>
                              </m:r>
                            </m:sub>
                          </m:sSub>
                          <m:r>
                            <m:rPr>
                              <m:sty m:val="p"/>
                            </m:rPr>
                            <a:rPr lang="en-US" sz="2300">
                              <a:latin typeface="Cambria Math" panose="02040503050406030204" pitchFamily="18" charset="0"/>
                            </a:rPr>
                            <m:t>log</m:t>
                          </m:r>
                          <m:d>
                            <m:dPr>
                              <m:ctrlPr>
                                <a:rPr lang="en-US" sz="2300" i="1">
                                  <a:latin typeface="Cambria Math" panose="02040503050406030204" pitchFamily="18" charset="0"/>
                                </a:rPr>
                              </m:ctrlPr>
                            </m:dPr>
                            <m:e>
                              <m:sSub>
                                <m:sSubPr>
                                  <m:ctrlPr>
                                    <a:rPr lang="en-US" sz="2300" i="1">
                                      <a:latin typeface="Cambria Math" panose="02040503050406030204" pitchFamily="18" charset="0"/>
                                    </a:rPr>
                                  </m:ctrlPr>
                                </m:sSubPr>
                                <m:e>
                                  <m:acc>
                                    <m:accPr>
                                      <m:chr m:val="̂"/>
                                      <m:ctrlPr>
                                        <a:rPr lang="en-US" sz="2300" i="1">
                                          <a:latin typeface="Cambria Math" panose="02040503050406030204" pitchFamily="18" charset="0"/>
                                        </a:rPr>
                                      </m:ctrlPr>
                                    </m:accPr>
                                    <m:e>
                                      <m:r>
                                        <a:rPr lang="en-US" sz="2300" i="1">
                                          <a:latin typeface="Cambria Math" panose="02040503050406030204" pitchFamily="18" charset="0"/>
                                        </a:rPr>
                                        <m:t>𝑝</m:t>
                                      </m:r>
                                    </m:e>
                                  </m:acc>
                                </m:e>
                                <m:sub>
                                  <m:r>
                                    <a:rPr lang="en-US" sz="2300" i="1">
                                      <a:latin typeface="Cambria Math" panose="02040503050406030204" pitchFamily="18" charset="0"/>
                                    </a:rPr>
                                    <m:t>𝑖</m:t>
                                  </m:r>
                                </m:sub>
                              </m:sSub>
                            </m:e>
                          </m:d>
                        </m:e>
                      </m:nary>
                    </m:oMath>
                  </m:oMathPara>
                </a14:m>
                <a:endParaRPr lang="en-US" sz="2300" dirty="0" smtClean="0"/>
              </a:p>
              <a:p>
                <a:pPr marL="0" indent="0">
                  <a:buNone/>
                </a:pPr>
                <a14:m>
                  <m:oMathPara xmlns:m="http://schemas.openxmlformats.org/officeDocument/2006/math">
                    <m:oMathParaPr>
                      <m:jc m:val="centerGroup"/>
                    </m:oMathParaPr>
                    <m:oMath xmlns:m="http://schemas.openxmlformats.org/officeDocument/2006/math">
                      <m:sSub>
                        <m:sSubPr>
                          <m:ctrlPr>
                            <a:rPr lang="en-US" sz="2300" i="1">
                              <a:latin typeface="Cambria Math" panose="02040503050406030204" pitchFamily="18" charset="0"/>
                            </a:rPr>
                          </m:ctrlPr>
                        </m:sSubPr>
                        <m:e>
                          <m:acc>
                            <m:accPr>
                              <m:chr m:val="̂"/>
                              <m:ctrlPr>
                                <a:rPr lang="en-US" sz="2300" i="1">
                                  <a:latin typeface="Cambria Math" panose="02040503050406030204" pitchFamily="18" charset="0"/>
                                </a:rPr>
                              </m:ctrlPr>
                            </m:accPr>
                            <m:e>
                              <m:r>
                                <a:rPr lang="en-US" sz="2300" i="1">
                                  <a:latin typeface="Cambria Math" panose="02040503050406030204" pitchFamily="18" charset="0"/>
                                </a:rPr>
                                <m:t>𝑝</m:t>
                              </m:r>
                            </m:e>
                          </m:acc>
                        </m:e>
                        <m:sub>
                          <m:r>
                            <a:rPr lang="en-US" sz="2300" i="1">
                              <a:latin typeface="Cambria Math" panose="02040503050406030204" pitchFamily="18" charset="0"/>
                            </a:rPr>
                            <m:t>𝑖</m:t>
                          </m:r>
                        </m:sub>
                      </m:sSub>
                      <m:r>
                        <a:rPr lang="en-US" sz="2300" i="1">
                          <a:latin typeface="Cambria Math" panose="02040503050406030204" pitchFamily="18" charset="0"/>
                        </a:rPr>
                        <m:t>=</m:t>
                      </m:r>
                      <m:r>
                        <m:rPr>
                          <m:sty m:val="p"/>
                        </m:rPr>
                        <a:rPr lang="en-US" sz="2300">
                          <a:latin typeface="Cambria Math" panose="02040503050406030204" pitchFamily="18" charset="0"/>
                        </a:rPr>
                        <m:t>softmax</m:t>
                      </m:r>
                      <m:d>
                        <m:dPr>
                          <m:ctrlPr>
                            <a:rPr lang="en-US" sz="2300" i="1">
                              <a:latin typeface="Cambria Math" panose="02040503050406030204" pitchFamily="18" charset="0"/>
                            </a:rPr>
                          </m:ctrlPr>
                        </m:dPr>
                        <m:e>
                          <m:sSub>
                            <m:sSubPr>
                              <m:ctrlPr>
                                <a:rPr lang="en-US" sz="2300" i="1">
                                  <a:latin typeface="Cambria Math" panose="02040503050406030204" pitchFamily="18" charset="0"/>
                                </a:rPr>
                              </m:ctrlPr>
                            </m:sSubPr>
                            <m:e>
                              <m:r>
                                <a:rPr lang="en-US" sz="2300" i="1">
                                  <a:latin typeface="Cambria Math" panose="02040503050406030204" pitchFamily="18" charset="0"/>
                                </a:rPr>
                                <m:t>𝑥</m:t>
                              </m:r>
                            </m:e>
                            <m:sub>
                              <m:r>
                                <a:rPr lang="en-US" sz="2300" i="1">
                                  <a:latin typeface="Cambria Math" panose="02040503050406030204" pitchFamily="18" charset="0"/>
                                </a:rPr>
                                <m:t>𝐾𝑖</m:t>
                              </m:r>
                            </m:sub>
                          </m:sSub>
                        </m:e>
                      </m:d>
                    </m:oMath>
                  </m:oMathPara>
                </a14:m>
                <a:endParaRPr lang="en-US" sz="23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659" t="-1060" r="-963" b="-2473"/>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a:t>
            </a:fld>
            <a:endParaRPr lang="en-US"/>
          </a:p>
        </p:txBody>
      </p:sp>
    </p:spTree>
    <p:extLst>
      <p:ext uri="{BB962C8B-B14F-4D97-AF65-F5344CB8AC3E}">
        <p14:creationId xmlns:p14="http://schemas.microsoft.com/office/powerpoint/2010/main" val="223761041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1. </a:t>
            </a:r>
            <a:r>
              <a:rPr lang="en-US" dirty="0" smtClean="0"/>
              <a:t>Introduction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 y="914399"/>
                <a:ext cx="11988800" cy="5176066"/>
              </a:xfrm>
            </p:spPr>
            <p:txBody>
              <a:bodyPr>
                <a:noAutofit/>
              </a:bodyPr>
              <a:lstStyle/>
              <a:p>
                <a:pPr marL="0" indent="0">
                  <a:buNone/>
                </a:pPr>
                <a:r>
                  <a:rPr lang="en-US" sz="2000" dirty="0" smtClean="0">
                    <a:effectLst>
                      <a:outerShdw blurRad="38100" dist="38100" dir="2700000" algn="tl">
                        <a:srgbClr val="000000">
                          <a:alpha val="43137"/>
                        </a:srgbClr>
                      </a:outerShdw>
                    </a:effectLst>
                  </a:rPr>
                  <a:t>The parameters </a:t>
                </a:r>
                <a:r>
                  <a:rPr lang="en-US" sz="2000" i="1" dirty="0"/>
                  <a:t>W</a:t>
                </a:r>
                <a:r>
                  <a:rPr lang="en-US" sz="2000" i="1" baseline="-25000" dirty="0"/>
                  <a:t>K</a:t>
                </a:r>
                <a:r>
                  <a:rPr lang="en-US" sz="2000" dirty="0"/>
                  <a:t> and Θ</a:t>
                </a:r>
                <a:r>
                  <a:rPr lang="en-US" sz="2000" i="1" baseline="-25000" dirty="0"/>
                  <a:t>K</a:t>
                </a:r>
                <a:r>
                  <a:rPr lang="en-US" sz="2000" dirty="0"/>
                  <a:t> at the last layer </a:t>
                </a:r>
                <a:r>
                  <a:rPr lang="en-US" sz="2000" i="1" dirty="0"/>
                  <a:t>K</a:t>
                </a:r>
                <a:r>
                  <a:rPr lang="en-US" sz="2000" dirty="0"/>
                  <a:t> </a:t>
                </a:r>
                <a:r>
                  <a:rPr lang="en-US" sz="2000" dirty="0" smtClean="0">
                    <a:effectLst>
                      <a:outerShdw blurRad="38100" dist="38100" dir="2700000" algn="tl">
                        <a:srgbClr val="000000">
                          <a:alpha val="43137"/>
                        </a:srgbClr>
                      </a:outerShdw>
                    </a:effectLst>
                  </a:rPr>
                  <a:t>are </a:t>
                </a:r>
                <a:r>
                  <a:rPr lang="en-US" sz="2000" dirty="0">
                    <a:effectLst>
                      <a:outerShdw blurRad="38100" dist="38100" dir="2700000" algn="tl">
                        <a:srgbClr val="000000">
                          <a:alpha val="43137"/>
                        </a:srgbClr>
                      </a:outerShdw>
                    </a:effectLst>
                  </a:rPr>
                  <a:t>estimated by stochastic gradient descent (</a:t>
                </a:r>
                <a:r>
                  <a:rPr lang="en-US" sz="2000" b="1" dirty="0">
                    <a:effectLst>
                      <a:outerShdw blurRad="38100" dist="38100" dir="2700000" algn="tl">
                        <a:srgbClr val="000000">
                          <a:alpha val="43137"/>
                        </a:srgbClr>
                      </a:outerShdw>
                    </a:effectLst>
                  </a:rPr>
                  <a:t>SGD</a:t>
                </a:r>
                <a:r>
                  <a:rPr lang="en-US" sz="2000" dirty="0">
                    <a:effectLst>
                      <a:outerShdw blurRad="38100" dist="38100" dir="2700000" algn="tl">
                        <a:srgbClr val="000000">
                          <a:alpha val="43137"/>
                        </a:srgbClr>
                      </a:outerShdw>
                    </a:effectLst>
                  </a:rPr>
                  <a:t>) </a:t>
                </a:r>
                <a:r>
                  <a:rPr lang="en-US" sz="2000" dirty="0" smtClean="0">
                    <a:effectLst>
                      <a:outerShdw blurRad="38100" dist="38100" dir="2700000" algn="tl">
                        <a:srgbClr val="000000">
                          <a:alpha val="43137"/>
                        </a:srgbClr>
                      </a:outerShdw>
                    </a:effectLst>
                  </a:rPr>
                  <a:t>algorithm associated with </a:t>
                </a:r>
                <a:r>
                  <a:rPr lang="en-US" sz="2000" b="1" dirty="0" smtClean="0">
                    <a:effectLst>
                      <a:outerShdw blurRad="38100" dist="38100" dir="2700000" algn="tl">
                        <a:srgbClr val="000000">
                          <a:alpha val="43137"/>
                        </a:srgbClr>
                      </a:outerShdw>
                    </a:effectLst>
                  </a:rPr>
                  <a:t>backpropagation</a:t>
                </a:r>
                <a:r>
                  <a:rPr lang="en-US" sz="2000" dirty="0" smtClean="0">
                    <a:effectLst>
                      <a:outerShdw blurRad="38100" dist="38100" dir="2700000" algn="tl">
                        <a:srgbClr val="000000">
                          <a:alpha val="43137"/>
                        </a:srgbClr>
                      </a:outerShdw>
                    </a:effectLst>
                  </a:rPr>
                  <a:t> algorithm</a:t>
                </a:r>
                <a:r>
                  <a:rPr lang="en-US" sz="2000" dirty="0" smtClean="0"/>
                  <a:t> as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𝑊</m:t>
                        </m:r>
                      </m:e>
                      <m:sub>
                        <m:r>
                          <a:rPr lang="en-US" sz="2000" i="1">
                            <a:latin typeface="Cambria Math" panose="02040503050406030204" pitchFamily="18" charset="0"/>
                          </a:rPr>
                          <m:t>𝐾</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𝑊</m:t>
                        </m:r>
                      </m:e>
                      <m:sub>
                        <m:r>
                          <a:rPr lang="en-US" sz="2000" i="1">
                            <a:latin typeface="Cambria Math" panose="02040503050406030204" pitchFamily="18" charset="0"/>
                          </a:rPr>
                          <m:t>𝐾</m:t>
                        </m:r>
                      </m:sub>
                    </m:sSub>
                    <m:r>
                      <a:rPr lang="en-US" sz="2000" i="1">
                        <a:latin typeface="Cambria Math" panose="02040503050406030204" pitchFamily="18" charset="0"/>
                      </a:rPr>
                      <m:t>+</m:t>
                    </m:r>
                    <m:r>
                      <a:rPr lang="en-US" sz="2000" i="1">
                        <a:latin typeface="Cambria Math" panose="02040503050406030204" pitchFamily="18" charset="0"/>
                      </a:rPr>
                      <m:t>𝛾</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a:rPr lang="en-US" sz="2000" i="1">
                                <a:latin typeface="Cambria Math" panose="02040503050406030204" pitchFamily="18" charset="0"/>
                              </a:rPr>
                              <m:t>𝑊</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oMath>
                </a14:m>
                <a:r>
                  <a:rPr lang="en-US" sz="2000" dirty="0" smtClean="0"/>
                  <a:t> and </a:t>
                </a:r>
                <a14:m>
                  <m:oMath xmlns:m="http://schemas.openxmlformats.org/officeDocument/2006/math">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𝐾</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𝐾</m:t>
                        </m:r>
                      </m:sub>
                    </m:sSub>
                    <m:r>
                      <a:rPr lang="en-US" sz="2000" i="1">
                        <a:latin typeface="Cambria Math" panose="02040503050406030204" pitchFamily="18" charset="0"/>
                      </a:rPr>
                      <m:t>+</m:t>
                    </m:r>
                    <m:r>
                      <a:rPr lang="en-US" sz="2000" i="1">
                        <a:latin typeface="Cambria Math" panose="02040503050406030204" pitchFamily="18" charset="0"/>
                      </a:rPr>
                      <m:t>𝛾</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oMath>
                </a14:m>
                <a:r>
                  <a:rPr lang="en-US" sz="2000" dirty="0" smtClean="0"/>
                  <a:t> where </a:t>
                </a:r>
                <a:r>
                  <a:rPr lang="en-US" sz="2000" i="1" dirty="0"/>
                  <a:t>γ</a:t>
                </a:r>
                <a:r>
                  <a:rPr lang="en-US" sz="2000" dirty="0"/>
                  <a:t> (0 &lt; </a:t>
                </a:r>
                <a:r>
                  <a:rPr lang="en-US" sz="2000" i="1" dirty="0"/>
                  <a:t>γ</a:t>
                </a:r>
                <a:r>
                  <a:rPr lang="en-US" sz="2000" dirty="0"/>
                  <a:t> ≤ 1) is learning </a:t>
                </a:r>
                <a:r>
                  <a:rPr lang="en-US" sz="2000" dirty="0" smtClean="0"/>
                  <a:t>rate, </a:t>
                </a:r>
                <a:r>
                  <a:rPr lang="en-US" sz="2000" dirty="0"/>
                  <a:t>which </a:t>
                </a:r>
                <a:r>
                  <a:rPr lang="en-US" sz="2000" dirty="0" smtClean="0"/>
                  <a:t>is </a:t>
                </a:r>
                <a:r>
                  <a:rPr lang="en-US" sz="2000" dirty="0"/>
                  <a:t>determined based on the cross-entropy gradient ∇loss(</a:t>
                </a:r>
                <a:r>
                  <a:rPr lang="en-US" sz="2000" b="1" i="1" dirty="0"/>
                  <a:t>x</a:t>
                </a:r>
                <a:r>
                  <a:rPr lang="en-US" sz="2000" dirty="0"/>
                  <a:t>) that is calculated as </a:t>
                </a:r>
                <a:r>
                  <a:rPr lang="en-US" sz="2000" dirty="0" smtClean="0"/>
                  <a:t>follows:</a:t>
                </a:r>
              </a:p>
              <a:p>
                <a:pPr marL="0" indent="0">
                  <a:buNone/>
                </a:pPr>
                <a14:m>
                  <m:oMathPara xmlns:m="http://schemas.openxmlformats.org/officeDocument/2006/math">
                    <m:oMathParaPr>
                      <m:jc m:val="centerGroup"/>
                    </m:oMathParaPr>
                    <m:oMath xmlns:m="http://schemas.openxmlformats.org/officeDocument/2006/math">
                      <m:r>
                        <a:rPr lang="en-US" sz="2000">
                          <a:latin typeface="Cambria Math" panose="02040503050406030204" pitchFamily="18" charset="0"/>
                        </a:rPr>
                        <m:t>𝛻</m:t>
                      </m:r>
                      <m:r>
                        <m:rPr>
                          <m:sty m:val="p"/>
                        </m:rPr>
                        <a:rPr lang="en-US" sz="2000">
                          <a:latin typeface="Cambria Math" panose="02040503050406030204" pitchFamily="18" charset="0"/>
                        </a:rPr>
                        <m:t>loss</m:t>
                      </m:r>
                      <m:d>
                        <m:dPr>
                          <m:ctrlPr>
                            <a:rPr lang="en-US" sz="2000" i="1">
                              <a:latin typeface="Cambria Math" panose="02040503050406030204" pitchFamily="18" charset="0"/>
                            </a:rPr>
                          </m:ctrlPr>
                        </m:dPr>
                        <m:e>
                          <m:r>
                            <a:rPr lang="en-US" sz="2000" b="1" i="1">
                              <a:latin typeface="Cambria Math" panose="02040503050406030204" pitchFamily="18" charset="0"/>
                            </a:rPr>
                            <m:t>𝒙</m:t>
                          </m:r>
                        </m:e>
                      </m:d>
                      <m:r>
                        <a:rPr lang="en-US" sz="2000" i="1">
                          <a:latin typeface="Cambria Math" panose="02040503050406030204" pitchFamily="18" charset="0"/>
                        </a:rPr>
                        <m:t>=−</m:t>
                      </m:r>
                      <m:sSub>
                        <m:sSubPr>
                          <m:ctrlPr>
                            <a:rPr lang="en-US" sz="2000" i="1">
                              <a:latin typeface="Cambria Math" panose="02040503050406030204" pitchFamily="18" charset="0"/>
                            </a:rPr>
                          </m:ctrlPr>
                        </m:sSubPr>
                        <m:e>
                          <m:d>
                            <m:dPr>
                              <m:ctrlPr>
                                <a:rPr lang="en-US" sz="2000" i="1">
                                  <a:latin typeface="Cambria Math" panose="02040503050406030204" pitchFamily="18" charset="0"/>
                                </a:rPr>
                              </m:ctrlPr>
                            </m:dPr>
                            <m:e>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𝑛</m:t>
                                  </m:r>
                                </m:sup>
                                <m:e>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𝑖</m:t>
                                      </m:r>
                                    </m:sub>
                                  </m:sSub>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𝛿</m:t>
                                          </m:r>
                                        </m:e>
                                        <m:sub>
                                          <m:r>
                                            <a:rPr lang="en-US" sz="2000" i="1">
                                              <a:latin typeface="Cambria Math" panose="02040503050406030204" pitchFamily="18" charset="0"/>
                                            </a:rPr>
                                            <m:t>𝑖𝑗</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𝑝</m:t>
                                              </m:r>
                                            </m:e>
                                          </m:acc>
                                        </m:e>
                                        <m:sub>
                                          <m:r>
                                            <a:rPr lang="en-US" sz="2000" i="1">
                                              <a:latin typeface="Cambria Math" panose="02040503050406030204" pitchFamily="18" charset="0"/>
                                            </a:rPr>
                                            <m:t>𝑗</m:t>
                                          </m:r>
                                        </m:sub>
                                      </m:sSub>
                                    </m:e>
                                  </m:d>
                                </m:e>
                              </m:nary>
                            </m:e>
                          </m:d>
                        </m:e>
                        <m:sub>
                          <m:r>
                            <a:rPr lang="en-US" sz="2000" i="1">
                              <a:latin typeface="Cambria Math" panose="02040503050406030204" pitchFamily="18" charset="0"/>
                            </a:rPr>
                            <m:t>𝑗</m:t>
                          </m:r>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1,</m:t>
                              </m:r>
                              <m:r>
                                <a:rPr lang="en-US" sz="2000" i="1">
                                  <a:latin typeface="Cambria Math" panose="02040503050406030204" pitchFamily="18" charset="0"/>
                                </a:rPr>
                                <m:t>𝑛</m:t>
                              </m:r>
                            </m:e>
                          </m:acc>
                        </m:sub>
                      </m:sSub>
                    </m:oMath>
                  </m:oMathPara>
                </a14:m>
                <a:endParaRPr lang="en-US" sz="2000" dirty="0" smtClean="0"/>
              </a:p>
              <a:p>
                <a:pPr marL="0" indent="0">
                  <a:buNone/>
                </a:pPr>
                <a:r>
                  <a:rPr lang="en-US" sz="2000" dirty="0" smtClean="0"/>
                  <a:t>Where,</a:t>
                </a:r>
              </a:p>
              <a:p>
                <a:pPr marL="0" indent="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𝛿</m:t>
                          </m:r>
                        </m:e>
                        <m:sub>
                          <m:r>
                            <a:rPr lang="en-US" sz="2000" i="1">
                              <a:latin typeface="Cambria Math" panose="02040503050406030204" pitchFamily="18" charset="0"/>
                            </a:rPr>
                            <m:t>𝑖𝑗</m:t>
                          </m:r>
                        </m:sub>
                      </m:sSub>
                      <m:r>
                        <m:rPr>
                          <m:aln/>
                        </m:rPr>
                        <a:rPr lang="en-US" sz="2000" i="1">
                          <a:latin typeface="Cambria Math" panose="02040503050406030204" pitchFamily="18" charset="0"/>
                        </a:rPr>
                        <m:t>=</m:t>
                      </m:r>
                      <m:d>
                        <m:dPr>
                          <m:begChr m:val="{"/>
                          <m:endChr m:val=""/>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r>
                                  <a:rPr lang="en-US" sz="2000" i="1">
                                    <a:latin typeface="Cambria Math" panose="02040503050406030204" pitchFamily="18" charset="0"/>
                                  </a:rPr>
                                  <m:t>1 </m:t>
                                </m:r>
                                <m:r>
                                  <m:rPr>
                                    <m:sty m:val="p"/>
                                  </m:rPr>
                                  <a:rPr lang="en-US" sz="2000">
                                    <a:latin typeface="Cambria Math" panose="02040503050406030204" pitchFamily="18" charset="0"/>
                                  </a:rPr>
                                  <m:t>if</m:t>
                                </m:r>
                                <m:r>
                                  <a:rPr lang="en-US" sz="2000" i="1">
                                    <a:latin typeface="Cambria Math" panose="02040503050406030204" pitchFamily="18" charset="0"/>
                                  </a:rPr>
                                  <m:t> </m:t>
                                </m:r>
                                <m:r>
                                  <a:rPr lang="en-US" sz="2000" i="1">
                                    <a:latin typeface="Cambria Math" panose="02040503050406030204" pitchFamily="18" charset="0"/>
                                  </a:rPr>
                                  <m:t>𝑖</m:t>
                                </m:r>
                                <m:r>
                                  <a:rPr lang="en-US" sz="2000" i="1">
                                    <a:latin typeface="Cambria Math" panose="02040503050406030204" pitchFamily="18" charset="0"/>
                                  </a:rPr>
                                  <m:t>=</m:t>
                                </m:r>
                                <m:r>
                                  <a:rPr lang="en-US" sz="2000" i="1">
                                    <a:latin typeface="Cambria Math" panose="02040503050406030204" pitchFamily="18" charset="0"/>
                                  </a:rPr>
                                  <m:t>𝑗</m:t>
                                </m:r>
                              </m:e>
                            </m:mr>
                            <m:mr>
                              <m:e>
                                <m:r>
                                  <a:rPr lang="en-US" sz="2000" i="1">
                                    <a:latin typeface="Cambria Math" panose="02040503050406030204" pitchFamily="18" charset="0"/>
                                  </a:rPr>
                                  <m:t>0 </m:t>
                                </m:r>
                                <m:r>
                                  <m:rPr>
                                    <m:sty m:val="p"/>
                                  </m:rPr>
                                  <a:rPr lang="en-US" sz="2000">
                                    <a:latin typeface="Cambria Math" panose="02040503050406030204" pitchFamily="18" charset="0"/>
                                  </a:rPr>
                                  <m:t>if</m:t>
                                </m:r>
                                <m:r>
                                  <a:rPr lang="en-US" sz="2000" i="1">
                                    <a:latin typeface="Cambria Math" panose="02040503050406030204" pitchFamily="18" charset="0"/>
                                  </a:rPr>
                                  <m:t> </m:t>
                                </m:r>
                                <m:r>
                                  <a:rPr lang="en-US" sz="2000" i="1">
                                    <a:latin typeface="Cambria Math" panose="02040503050406030204" pitchFamily="18" charset="0"/>
                                  </a:rPr>
                                  <m:t>𝑖</m:t>
                                </m:r>
                                <m:r>
                                  <a:rPr lang="en-US" sz="2000" i="1">
                                    <a:latin typeface="Cambria Math" panose="02040503050406030204" pitchFamily="18" charset="0"/>
                                  </a:rPr>
                                  <m:t>≠</m:t>
                                </m:r>
                                <m:r>
                                  <a:rPr lang="en-US" sz="2000" i="1">
                                    <a:latin typeface="Cambria Math" panose="02040503050406030204" pitchFamily="18" charset="0"/>
                                  </a:rPr>
                                  <m:t>𝑗</m:t>
                                </m:r>
                              </m:e>
                            </m:mr>
                          </m:m>
                        </m:e>
                      </m:d>
                      <m:r>
                        <a:rPr lang="en-US" sz="2000" b="0" i="1" smtClean="0">
                          <a:latin typeface="Cambria Math" panose="02040503050406030204" pitchFamily="18" charset="0"/>
                        </a:rPr>
                        <m:t> </m:t>
                      </m:r>
                      <m:r>
                        <m:rPr>
                          <m:sty m:val="p"/>
                        </m:rPr>
                        <a:rPr lang="en-US" sz="2000" b="0" i="0" smtClean="0">
                          <a:latin typeface="Cambria Math" panose="02040503050406030204" pitchFamily="18" charset="0"/>
                        </a:rPr>
                        <m:t>and</m:t>
                      </m:r>
                      <m:r>
                        <a:rPr lang="en-US" sz="2000" b="0" i="1" smtClean="0">
                          <a:latin typeface="Cambria Math" panose="02040503050406030204" pitchFamily="18" charset="0"/>
                        </a:rPr>
                        <m:t> </m:t>
                      </m:r>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𝑝</m:t>
                              </m:r>
                            </m:e>
                          </m:acc>
                        </m:e>
                        <m:sub>
                          <m:r>
                            <a:rPr lang="en-US" sz="2000" i="1">
                              <a:latin typeface="Cambria Math" panose="02040503050406030204" pitchFamily="18" charset="0"/>
                            </a:rPr>
                            <m:t>𝑗</m:t>
                          </m:r>
                        </m:sub>
                      </m:sSub>
                      <m:r>
                        <m:rPr>
                          <m:aln/>
                        </m:rPr>
                        <a:rPr lang="en-US" sz="2000" i="1">
                          <a:latin typeface="Cambria Math" panose="02040503050406030204" pitchFamily="18" charset="0"/>
                        </a:rPr>
                        <m:t>=</m:t>
                      </m:r>
                      <m:r>
                        <m:rPr>
                          <m:sty m:val="p"/>
                        </m:rPr>
                        <a:rPr lang="en-US" sz="2000">
                          <a:latin typeface="Cambria Math" panose="02040503050406030204" pitchFamily="18" charset="0"/>
                        </a:rPr>
                        <m:t>softmax</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𝑥</m:t>
                              </m:r>
                            </m:e>
                            <m:sub>
                              <m:r>
                                <a:rPr lang="en-US" sz="2000" i="1">
                                  <a:latin typeface="Cambria Math" panose="02040503050406030204" pitchFamily="18" charset="0"/>
                                </a:rPr>
                                <m:t>𝑗</m:t>
                              </m:r>
                            </m:sub>
                          </m:sSub>
                        </m:e>
                      </m:d>
                    </m:oMath>
                  </m:oMathPara>
                </a14:m>
                <a:endParaRPr lang="en-US" sz="2000" dirty="0"/>
              </a:p>
              <a:p>
                <a:pPr marL="0" indent="0">
                  <a:buNone/>
                </a:pPr>
                <a:r>
                  <a:rPr lang="en-US" sz="2000" dirty="0" smtClean="0"/>
                  <a:t>All </a:t>
                </a:r>
                <a:r>
                  <a:rPr lang="en-US" sz="2000" dirty="0"/>
                  <a:t>gradients </a:t>
                </a:r>
                <a14:m>
                  <m:oMath xmlns:m="http://schemas.openxmlformats.org/officeDocument/2006/math">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a:rPr lang="en-US" sz="2000" i="1">
                                <a:latin typeface="Cambria Math" panose="02040503050406030204" pitchFamily="18" charset="0"/>
                              </a:rPr>
                              <m:t>𝑊</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oMath>
                </a14:m>
                <a:r>
                  <a:rPr lang="en-US" sz="2000" dirty="0"/>
                  <a:t> and </a:t>
                </a:r>
                <a14:m>
                  <m:oMath xmlns:m="http://schemas.openxmlformats.org/officeDocument/2006/math">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oMath>
                </a14:m>
                <a:r>
                  <a:rPr lang="en-US" sz="2000" dirty="0"/>
                  <a:t> </a:t>
                </a:r>
                <a:r>
                  <a:rPr lang="en-US" sz="2000" dirty="0" smtClean="0"/>
                  <a:t>will be determined, which is the core of training ANN in classification:</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000" i="1">
                              <a:latin typeface="Cambria Math" panose="02040503050406030204" pitchFamily="18" charset="0"/>
                            </a:rPr>
                          </m:ctrlPr>
                        </m:mP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a:rPr lang="en-US" sz="2000" i="1">
                                        <a:latin typeface="Cambria Math" panose="02040503050406030204" pitchFamily="18" charset="0"/>
                                      </a:rPr>
                                      <m:t>𝑊</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r>
                              <m:rPr>
                                <m:aln/>
                              </m:rPr>
                              <a:rPr lang="en-US" sz="2000" i="1">
                                <a:latin typeface="Cambria Math" panose="02040503050406030204" pitchFamily="18" charset="0"/>
                              </a:rPr>
                              <m:t>=</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e>
                            </m:d>
                            <m:sSubSup>
                              <m:sSubSupPr>
                                <m:ctrlPr>
                                  <a:rPr lang="en-US" sz="2000" i="1">
                                    <a:latin typeface="Cambria Math" panose="02040503050406030204" pitchFamily="18" charset="0"/>
                                  </a:rPr>
                                </m:ctrlPr>
                              </m:sSubSupPr>
                              <m:e>
                                <m:r>
                                  <a:rPr lang="en-US" sz="2000" b="1" i="1">
                                    <a:latin typeface="Cambria Math" panose="02040503050406030204" pitchFamily="18" charset="0"/>
                                  </a:rPr>
                                  <m:t>𝒙</m:t>
                                </m:r>
                              </m:e>
                              <m:sub>
                                <m:r>
                                  <a:rPr lang="en-US" sz="2000" i="1">
                                    <a:latin typeface="Cambria Math" panose="02040503050406030204" pitchFamily="18" charset="0"/>
                                  </a:rPr>
                                  <m:t>𝑘</m:t>
                                </m:r>
                                <m:r>
                                  <a:rPr lang="en-US" sz="2000" i="1">
                                    <a:latin typeface="Cambria Math" panose="02040503050406030204" pitchFamily="18" charset="0"/>
                                  </a:rPr>
                                  <m:t>−1</m:t>
                                </m:r>
                              </m:sub>
                              <m:sup>
                                <m:r>
                                  <a:rPr lang="en-US" sz="2000" i="1">
                                    <a:latin typeface="Cambria Math" panose="02040503050406030204" pitchFamily="18" charset="0"/>
                                  </a:rPr>
                                  <m:t>𝑇</m:t>
                                </m:r>
                              </m:sup>
                            </m:sSubSup>
                            <m:r>
                              <a:rPr lang="en-US" sz="2000" i="1">
                                <a:latin typeface="Cambria Math" panose="02040503050406030204" pitchFamily="18" charset="0"/>
                              </a:rPr>
                              <m:t>,∀</m:t>
                            </m:r>
                            <m:r>
                              <a:rPr lang="en-US" sz="2000" i="1">
                                <a:latin typeface="Cambria Math" panose="02040503050406030204" pitchFamily="18" charset="0"/>
                              </a:rPr>
                              <m:t>𝑘</m:t>
                            </m:r>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1,</m:t>
                                </m:r>
                                <m:r>
                                  <a:rPr lang="en-US" sz="2000" i="1">
                                    <a:latin typeface="Cambria Math" panose="02040503050406030204" pitchFamily="18" charset="0"/>
                                  </a:rPr>
                                  <m:t>𝐾</m:t>
                                </m:r>
                              </m:e>
                            </m:acc>
                          </m:e>
                        </m:m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𝐾</m:t>
                                    </m:r>
                                  </m:sub>
                                </m:sSub>
                              </m:sub>
                            </m:sSub>
                            <m:r>
                              <a:rPr lang="en-US" sz="2000" i="1">
                                <a:latin typeface="Cambria Math" panose="02040503050406030204" pitchFamily="18" charset="0"/>
                              </a:rPr>
                              <m:t>𝑙</m:t>
                            </m:r>
                            <m:r>
                              <a:rPr lang="en-US" sz="2000" i="1">
                                <a:latin typeface="Cambria Math" panose="02040503050406030204" pitchFamily="18" charset="0"/>
                              </a:rPr>
                              <m:t>=</m:t>
                            </m:r>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𝑓</m:t>
                                        </m:r>
                                      </m:e>
                                      <m:sub>
                                        <m:sSub>
                                          <m:sSubPr>
                                            <m:ctrlPr>
                                              <a:rPr lang="en-US" sz="2000" i="1">
                                                <a:latin typeface="Cambria Math" panose="02040503050406030204" pitchFamily="18" charset="0"/>
                                              </a:rPr>
                                            </m:ctrlPr>
                                          </m:sSubPr>
                                          <m:e>
                                            <m:r>
                                              <a:rPr lang="en-US" sz="2000" b="1" i="1">
                                                <a:latin typeface="Cambria Math" panose="02040503050406030204" pitchFamily="18" charset="0"/>
                                              </a:rPr>
                                              <m:t>𝒙</m:t>
                                            </m:r>
                                          </m:e>
                                          <m:sub>
                                            <m:r>
                                              <a:rPr lang="en-US" sz="2000" i="1">
                                                <a:latin typeface="Cambria Math" panose="02040503050406030204" pitchFamily="18" charset="0"/>
                                              </a:rPr>
                                              <m:t>𝐾</m:t>
                                            </m:r>
                                          </m:sub>
                                        </m:sSub>
                                      </m:sub>
                                      <m:sup>
                                        <m:r>
                                          <a:rPr lang="en-US" sz="2000" i="1">
                                            <a:latin typeface="Cambria Math" panose="02040503050406030204" pitchFamily="18" charset="0"/>
                                          </a:rPr>
                                          <m:t>′</m:t>
                                        </m:r>
                                      </m:sup>
                                    </m:sSubSup>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𝒙</m:t>
                                                </m:r>
                                              </m:e>
                                            </m:acc>
                                          </m:e>
                                          <m:sub>
                                            <m:r>
                                              <a:rPr lang="en-US" sz="2000" i="1">
                                                <a:latin typeface="Cambria Math" panose="02040503050406030204" pitchFamily="18" charset="0"/>
                                              </a:rPr>
                                              <m:t>𝐾</m:t>
                                            </m:r>
                                            <m:r>
                                              <a:rPr lang="en-US" sz="2000" i="1">
                                                <a:latin typeface="Cambria Math" panose="02040503050406030204" pitchFamily="18" charset="0"/>
                                              </a:rPr>
                                              <m:t>−1</m:t>
                                            </m:r>
                                          </m:sub>
                                        </m:sSub>
                                      </m:e>
                                    </m:d>
                                  </m:e>
                                </m:d>
                              </m:e>
                              <m:sup>
                                <m:r>
                                  <a:rPr lang="en-US" sz="2000" i="1">
                                    <a:latin typeface="Cambria Math" panose="02040503050406030204" pitchFamily="18" charset="0"/>
                                  </a:rPr>
                                  <m:t>𝑇</m:t>
                                </m:r>
                              </m:sup>
                            </m:sSup>
                            <m:sSubSup>
                              <m:sSubSupPr>
                                <m:ctrlPr>
                                  <a:rPr lang="en-US" sz="2000" i="1">
                                    <a:latin typeface="Cambria Math" panose="02040503050406030204" pitchFamily="18" charset="0"/>
                                  </a:rPr>
                                </m:ctrlPr>
                              </m:sSubSupPr>
                              <m:e>
                                <m:d>
                                  <m:dPr>
                                    <m:ctrlPr>
                                      <a:rPr lang="en-US" sz="2000" i="1">
                                        <a:latin typeface="Cambria Math" panose="02040503050406030204" pitchFamily="18" charset="0"/>
                                      </a:rPr>
                                    </m:ctrlPr>
                                  </m:dPr>
                                  <m:e>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𝑛</m:t>
                                        </m:r>
                                      </m:sup>
                                      <m:e>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𝑖</m:t>
                                            </m:r>
                                          </m:sub>
                                        </m:sSub>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𝛿</m:t>
                                                </m:r>
                                              </m:e>
                                              <m:sub>
                                                <m:r>
                                                  <a:rPr lang="en-US" sz="2000" i="1">
                                                    <a:latin typeface="Cambria Math" panose="02040503050406030204" pitchFamily="18" charset="0"/>
                                                  </a:rPr>
                                                  <m:t>𝑖𝑗</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𝑝</m:t>
                                                    </m:r>
                                                  </m:e>
                                                </m:acc>
                                              </m:e>
                                              <m:sub>
                                                <m:r>
                                                  <a:rPr lang="en-US" sz="2000" i="1">
                                                    <a:latin typeface="Cambria Math" panose="02040503050406030204" pitchFamily="18" charset="0"/>
                                                  </a:rPr>
                                                  <m:t>𝑗</m:t>
                                                </m:r>
                                              </m:sub>
                                            </m:sSub>
                                          </m:e>
                                        </m:d>
                                      </m:e>
                                    </m:nary>
                                  </m:e>
                                </m:d>
                              </m:e>
                              <m:sub>
                                <m:r>
                                  <a:rPr lang="en-US" sz="2000" i="1">
                                    <a:latin typeface="Cambria Math" panose="02040503050406030204" pitchFamily="18" charset="0"/>
                                  </a:rPr>
                                  <m:t>𝑗</m:t>
                                </m:r>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1,</m:t>
                                    </m:r>
                                    <m:r>
                                      <a:rPr lang="en-US" sz="2000" i="1">
                                        <a:latin typeface="Cambria Math" panose="02040503050406030204" pitchFamily="18" charset="0"/>
                                      </a:rPr>
                                      <m:t>𝑛</m:t>
                                    </m:r>
                                  </m:e>
                                </m:acc>
                              </m:sub>
                              <m:sup>
                                <m:r>
                                  <a:rPr lang="en-US" sz="2000" i="1">
                                    <a:latin typeface="Cambria Math" panose="02040503050406030204" pitchFamily="18" charset="0"/>
                                  </a:rPr>
                                  <m:t>𝑇</m:t>
                                </m:r>
                              </m:sup>
                            </m:sSubSup>
                          </m:e>
                        </m:m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a:rPr lang="en-US" sz="2000" i="1">
                                <a:latin typeface="Cambria Math" panose="02040503050406030204" pitchFamily="18" charset="0"/>
                              </a:rPr>
                              <m:t>𝑙</m:t>
                            </m:r>
                            <m:r>
                              <a:rPr lang="en-US" sz="2000" i="1">
                                <a:latin typeface="Cambria Math" panose="02040503050406030204" pitchFamily="18" charset="0"/>
                              </a:rPr>
                              <m:t>=</m:t>
                            </m:r>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𝑓</m:t>
                                        </m:r>
                                      </m:e>
                                      <m:sub>
                                        <m:sSub>
                                          <m:sSubPr>
                                            <m:ctrlPr>
                                              <a:rPr lang="en-US" sz="2000" i="1">
                                                <a:latin typeface="Cambria Math" panose="02040503050406030204" pitchFamily="18" charset="0"/>
                                              </a:rPr>
                                            </m:ctrlPr>
                                          </m:sSubPr>
                                          <m:e>
                                            <m:r>
                                              <a:rPr lang="en-US" sz="2000" b="1" i="1">
                                                <a:latin typeface="Cambria Math" panose="02040503050406030204" pitchFamily="18" charset="0"/>
                                              </a:rPr>
                                              <m:t>𝒙</m:t>
                                            </m:r>
                                          </m:e>
                                          <m:sub>
                                            <m:r>
                                              <a:rPr lang="en-US" sz="2000" i="1">
                                                <a:latin typeface="Cambria Math" panose="02040503050406030204" pitchFamily="18" charset="0"/>
                                              </a:rPr>
                                              <m:t>𝑘</m:t>
                                            </m:r>
                                          </m:sub>
                                        </m:sSub>
                                      </m:sub>
                                      <m:sup>
                                        <m:r>
                                          <a:rPr lang="en-US" sz="2000" i="1">
                                            <a:latin typeface="Cambria Math" panose="02040503050406030204" pitchFamily="18" charset="0"/>
                                          </a:rPr>
                                          <m:t>′</m:t>
                                        </m:r>
                                      </m:sup>
                                    </m:sSubSup>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𝒙</m:t>
                                                </m:r>
                                              </m:e>
                                            </m:acc>
                                          </m:e>
                                          <m:sub>
                                            <m:r>
                                              <a:rPr lang="en-US" sz="2000" i="1">
                                                <a:latin typeface="Cambria Math" panose="02040503050406030204" pitchFamily="18" charset="0"/>
                                              </a:rPr>
                                              <m:t>𝑘</m:t>
                                            </m:r>
                                            <m:r>
                                              <a:rPr lang="en-US" sz="2000" i="1">
                                                <a:latin typeface="Cambria Math" panose="02040503050406030204" pitchFamily="18" charset="0"/>
                                              </a:rPr>
                                              <m:t>−1</m:t>
                                            </m:r>
                                          </m:sub>
                                        </m:sSub>
                                      </m:e>
                                    </m:d>
                                  </m:e>
                                </m:d>
                              </m:e>
                              <m:sup>
                                <m:r>
                                  <a:rPr lang="en-US" sz="2000" i="1">
                                    <a:latin typeface="Cambria Math" panose="02040503050406030204" pitchFamily="18" charset="0"/>
                                  </a:rPr>
                                  <m:t>𝑇</m:t>
                                </m:r>
                              </m:sup>
                            </m:sSup>
                            <m:sSubSup>
                              <m:sSubSupPr>
                                <m:ctrlPr>
                                  <a:rPr lang="en-US" sz="2000" i="1">
                                    <a:latin typeface="Cambria Math" panose="02040503050406030204" pitchFamily="18" charset="0"/>
                                  </a:rPr>
                                </m:ctrlPr>
                              </m:sSubSupPr>
                              <m:e>
                                <m:r>
                                  <a:rPr lang="en-US" sz="2000" i="1">
                                    <a:latin typeface="Cambria Math" panose="02040503050406030204" pitchFamily="18" charset="0"/>
                                  </a:rPr>
                                  <m:t>𝑊</m:t>
                                </m:r>
                              </m:e>
                              <m:sub>
                                <m:r>
                                  <a:rPr lang="en-US" sz="2000" i="1">
                                    <a:latin typeface="Cambria Math" panose="02040503050406030204" pitchFamily="18" charset="0"/>
                                  </a:rPr>
                                  <m:t>𝑘</m:t>
                                </m:r>
                                <m:r>
                                  <a:rPr lang="en-US" sz="2000" i="1">
                                    <a:latin typeface="Cambria Math" panose="02040503050406030204" pitchFamily="18" charset="0"/>
                                  </a:rPr>
                                  <m:t>+1</m:t>
                                </m:r>
                              </m:sub>
                              <m:sup>
                                <m:r>
                                  <a:rPr lang="en-US" sz="2000" i="1">
                                    <a:latin typeface="Cambria Math" panose="02040503050406030204" pitchFamily="18" charset="0"/>
                                  </a:rPr>
                                  <m:t>𝑇</m:t>
                                </m:r>
                              </m:sup>
                            </m:sSubSup>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r>
                                      <a:rPr lang="en-US" sz="2000" i="1">
                                        <a:latin typeface="Cambria Math" panose="02040503050406030204" pitchFamily="18" charset="0"/>
                                      </a:rPr>
                                      <m:t>+1</m:t>
                                    </m:r>
                                  </m:sub>
                                </m:sSub>
                              </m:sub>
                            </m:sSub>
                            <m:r>
                              <a:rPr lang="en-US" sz="2000" i="1">
                                <a:latin typeface="Cambria Math" panose="02040503050406030204" pitchFamily="18" charset="0"/>
                              </a:rPr>
                              <m:t>𝑙</m:t>
                            </m:r>
                            <m:r>
                              <a:rPr lang="en-US" sz="2000" i="1">
                                <a:latin typeface="Cambria Math" panose="02040503050406030204" pitchFamily="18" charset="0"/>
                              </a:rPr>
                              <m:t> </m:t>
                            </m:r>
                            <m:r>
                              <m:rPr>
                                <m:sty m:val="p"/>
                              </m:rPr>
                              <a:rPr lang="en-US" sz="2000">
                                <a:latin typeface="Cambria Math" panose="02040503050406030204" pitchFamily="18" charset="0"/>
                              </a:rPr>
                              <m:t>if</m:t>
                            </m:r>
                            <m:r>
                              <a:rPr lang="en-US" sz="2000" i="1">
                                <a:latin typeface="Cambria Math" panose="02040503050406030204" pitchFamily="18" charset="0"/>
                              </a:rPr>
                              <m:t> </m:t>
                            </m:r>
                            <m:r>
                              <a:rPr lang="en-US" sz="2000" i="1">
                                <a:latin typeface="Cambria Math" panose="02040503050406030204" pitchFamily="18" charset="0"/>
                              </a:rPr>
                              <m:t>𝑘</m:t>
                            </m:r>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1,</m:t>
                                </m:r>
                                <m:r>
                                  <a:rPr lang="en-US" sz="2000" i="1">
                                    <a:latin typeface="Cambria Math" panose="02040503050406030204" pitchFamily="18" charset="0"/>
                                  </a:rPr>
                                  <m:t>𝐾</m:t>
                                </m:r>
                                <m:r>
                                  <a:rPr lang="en-US" sz="2000" i="1">
                                    <a:latin typeface="Cambria Math" panose="02040503050406030204" pitchFamily="18" charset="0"/>
                                  </a:rPr>
                                  <m:t>−1</m:t>
                                </m:r>
                              </m:e>
                            </m:acc>
                          </m:e>
                        </m:mr>
                      </m:m>
                    </m:oMath>
                  </m:oMathPara>
                </a14:m>
                <a:endParaRPr lang="en-US" sz="2000" dirty="0" smtClean="0"/>
              </a:p>
              <a:p>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 y="914399"/>
                <a:ext cx="11988800" cy="5176066"/>
              </a:xfrm>
              <a:blipFill>
                <a:blip r:embed="rId2"/>
                <a:stretch>
                  <a:fillRect l="-559" t="-707" r="-712"/>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a:t>
            </a:fld>
            <a:endParaRPr lang="en-US"/>
          </a:p>
        </p:txBody>
      </p:sp>
    </p:spTree>
    <p:extLst>
      <p:ext uri="{BB962C8B-B14F-4D97-AF65-F5344CB8AC3E}">
        <p14:creationId xmlns:p14="http://schemas.microsoft.com/office/powerpoint/2010/main" val="330508474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1. </a:t>
            </a:r>
            <a:r>
              <a:rPr lang="en-US" dirty="0" smtClean="0"/>
              <a:t>Introduction(main)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29440" cy="5176066"/>
              </a:xfrm>
            </p:spPr>
            <p:txBody>
              <a:bodyPr>
                <a:noAutofit/>
              </a:bodyPr>
              <a:lstStyle/>
              <a:p>
                <a:pPr marL="0" indent="0">
                  <a:buNone/>
                </a:pPr>
                <a:r>
                  <a:rPr lang="en-US" sz="2150" dirty="0" smtClean="0">
                    <a:effectLst>
                      <a:outerShdw blurRad="38100" dist="38100" dir="2700000" algn="tl">
                        <a:srgbClr val="000000">
                          <a:alpha val="43137"/>
                        </a:srgbClr>
                      </a:outerShdw>
                    </a:effectLst>
                  </a:rPr>
                  <a:t>Convolutional </a:t>
                </a:r>
                <a:r>
                  <a:rPr lang="en-US" sz="2150" dirty="0">
                    <a:effectLst>
                      <a:outerShdw blurRad="38100" dist="38100" dir="2700000" algn="tl">
                        <a:srgbClr val="000000">
                          <a:alpha val="43137"/>
                        </a:srgbClr>
                      </a:outerShdw>
                    </a:effectLst>
                  </a:rPr>
                  <a:t>neural network (CNN) is invented to solve such boom </a:t>
                </a:r>
                <a:r>
                  <a:rPr lang="en-US" sz="2150" dirty="0" smtClean="0">
                    <a:effectLst>
                      <a:outerShdw blurRad="38100" dist="38100" dir="2700000" algn="tl">
                        <a:srgbClr val="000000">
                          <a:alpha val="43137"/>
                        </a:srgbClr>
                      </a:outerShdw>
                    </a:effectLst>
                  </a:rPr>
                  <a:t>problem where high-resolution </a:t>
                </a:r>
                <a:r>
                  <a:rPr lang="en-US" sz="2150" dirty="0">
                    <a:effectLst>
                      <a:outerShdw blurRad="38100" dist="38100" dir="2700000" algn="tl">
                        <a:srgbClr val="000000">
                          <a:alpha val="43137"/>
                        </a:srgbClr>
                      </a:outerShdw>
                    </a:effectLst>
                  </a:rPr>
                  <a:t>image causes </a:t>
                </a:r>
                <a:r>
                  <a:rPr lang="en-US" sz="2150" dirty="0" smtClean="0">
                    <a:effectLst>
                      <a:outerShdw blurRad="38100" dist="38100" dir="2700000" algn="tl">
                        <a:srgbClr val="000000">
                          <a:alpha val="43137"/>
                        </a:srgbClr>
                      </a:outerShdw>
                    </a:effectLst>
                  </a:rPr>
                  <a:t>a </a:t>
                </a:r>
                <a:r>
                  <a:rPr lang="en-US" sz="2150" dirty="0">
                    <a:effectLst>
                      <a:outerShdw blurRad="38100" dist="38100" dir="2700000" algn="tl">
                        <a:srgbClr val="000000">
                          <a:alpha val="43137"/>
                        </a:srgbClr>
                      </a:outerShdw>
                    </a:effectLst>
                  </a:rPr>
                  <a:t>huge number of </a:t>
                </a:r>
                <a:r>
                  <a:rPr lang="en-US" sz="2150" dirty="0" smtClean="0">
                    <a:effectLst>
                      <a:outerShdw blurRad="38100" dist="38100" dir="2700000" algn="tl">
                        <a:srgbClr val="000000">
                          <a:alpha val="43137"/>
                        </a:srgbClr>
                      </a:outerShdw>
                    </a:effectLst>
                  </a:rPr>
                  <a:t>parameters so that CNN </a:t>
                </a:r>
                <a:r>
                  <a:rPr lang="en-US" sz="2150" dirty="0">
                    <a:effectLst>
                      <a:outerShdw blurRad="38100" dist="38100" dir="2700000" algn="tl">
                        <a:srgbClr val="000000">
                          <a:alpha val="43137"/>
                        </a:srgbClr>
                      </a:outerShdw>
                    </a:effectLst>
                  </a:rPr>
                  <a:t>has two connected parts: 1) the first part called </a:t>
                </a:r>
                <a:r>
                  <a:rPr lang="en-US" sz="2150" i="1" dirty="0">
                    <a:effectLst>
                      <a:outerShdw blurRad="38100" dist="38100" dir="2700000" algn="tl">
                        <a:srgbClr val="000000">
                          <a:alpha val="43137"/>
                        </a:srgbClr>
                      </a:outerShdw>
                    </a:effectLst>
                  </a:rPr>
                  <a:t>convolutional network</a:t>
                </a:r>
                <a:r>
                  <a:rPr lang="en-US" sz="2150" dirty="0">
                    <a:effectLst>
                      <a:outerShdw blurRad="38100" dist="38100" dir="2700000" algn="tl">
                        <a:srgbClr val="000000">
                          <a:alpha val="43137"/>
                        </a:srgbClr>
                      </a:outerShdw>
                    </a:effectLst>
                  </a:rPr>
                  <a:t> consists of a set of sequential convolutional layers which of them is filtered by a </a:t>
                </a:r>
                <a:r>
                  <a:rPr lang="en-US" sz="2150" i="1" dirty="0" err="1">
                    <a:effectLst>
                      <a:outerShdw blurRad="38100" dist="38100" dir="2700000" algn="tl">
                        <a:srgbClr val="000000">
                          <a:alpha val="43137"/>
                        </a:srgbClr>
                      </a:outerShdw>
                    </a:effectLst>
                  </a:rPr>
                  <a:t>k</a:t>
                </a:r>
                <a:r>
                  <a:rPr lang="en-US" sz="2150" dirty="0" err="1">
                    <a:effectLst>
                      <a:outerShdw blurRad="38100" dist="38100" dir="2700000" algn="tl">
                        <a:srgbClr val="000000">
                          <a:alpha val="43137"/>
                        </a:srgbClr>
                      </a:outerShdw>
                    </a:effectLst>
                  </a:rPr>
                  <a:t>x</a:t>
                </a:r>
                <a:r>
                  <a:rPr lang="en-US" sz="2150" i="1" dirty="0" err="1">
                    <a:effectLst>
                      <a:outerShdw blurRad="38100" dist="38100" dir="2700000" algn="tl">
                        <a:srgbClr val="000000">
                          <a:alpha val="43137"/>
                        </a:srgbClr>
                      </a:outerShdw>
                    </a:effectLst>
                  </a:rPr>
                  <a:t>k</a:t>
                </a:r>
                <a:r>
                  <a:rPr lang="en-US" sz="2150" dirty="0">
                    <a:effectLst>
                      <a:outerShdw blurRad="38100" dist="38100" dir="2700000" algn="tl">
                        <a:srgbClr val="000000">
                          <a:alpha val="43137"/>
                        </a:srgbClr>
                      </a:outerShdw>
                    </a:effectLst>
                  </a:rPr>
                  <a:t> filter </a:t>
                </a:r>
                <a:r>
                  <a:rPr lang="en-US" sz="2150" dirty="0" smtClean="0">
                    <a:effectLst>
                      <a:outerShdw blurRad="38100" dist="38100" dir="2700000" algn="tl">
                        <a:srgbClr val="000000">
                          <a:alpha val="43137"/>
                        </a:srgbClr>
                      </a:outerShdw>
                    </a:effectLst>
                  </a:rPr>
                  <a:t>in order to produce image feature and </a:t>
                </a:r>
                <a:r>
                  <a:rPr lang="en-US" sz="2150" dirty="0">
                    <a:effectLst>
                      <a:outerShdw blurRad="38100" dist="38100" dir="2700000" algn="tl">
                        <a:srgbClr val="000000">
                          <a:alpha val="43137"/>
                        </a:srgbClr>
                      </a:outerShdw>
                    </a:effectLst>
                  </a:rPr>
                  <a:t>2) the second part called fully connected network or dense network </a:t>
                </a:r>
                <a:r>
                  <a:rPr lang="en-US" sz="2150" dirty="0" smtClean="0">
                    <a:effectLst>
                      <a:outerShdw blurRad="38100" dist="38100" dir="2700000" algn="tl">
                        <a:srgbClr val="000000">
                          <a:alpha val="43137"/>
                        </a:srgbClr>
                      </a:outerShdw>
                    </a:effectLst>
                  </a:rPr>
                  <a:t>performs </a:t>
                </a:r>
                <a:r>
                  <a:rPr lang="en-US" sz="2150" i="1" dirty="0" smtClean="0">
                    <a:effectLst>
                      <a:outerShdw blurRad="38100" dist="38100" dir="2700000" algn="tl">
                        <a:srgbClr val="000000">
                          <a:alpha val="43137"/>
                        </a:srgbClr>
                      </a:outerShdw>
                    </a:effectLst>
                  </a:rPr>
                  <a:t>image classification</a:t>
                </a:r>
                <a:r>
                  <a:rPr lang="en-US" sz="2150" dirty="0" smtClean="0">
                    <a:effectLst>
                      <a:outerShdw blurRad="38100" dist="38100" dir="2700000" algn="tl">
                        <a:srgbClr val="000000">
                          <a:alpha val="43137"/>
                        </a:srgbClr>
                      </a:outerShdw>
                    </a:effectLst>
                  </a:rPr>
                  <a:t> </a:t>
                </a:r>
                <a:r>
                  <a:rPr lang="en-US" sz="2150" dirty="0">
                    <a:effectLst>
                      <a:outerShdw blurRad="38100" dist="38100" dir="2700000" algn="tl">
                        <a:srgbClr val="000000">
                          <a:alpha val="43137"/>
                        </a:srgbClr>
                      </a:outerShdw>
                    </a:effectLst>
                  </a:rPr>
                  <a:t>task on such feature</a:t>
                </a:r>
                <a:r>
                  <a:rPr lang="en-US" sz="2150" dirty="0" smtClean="0"/>
                  <a:t>.</a:t>
                </a:r>
                <a:r>
                  <a:rPr lang="en-US" sz="2150" dirty="0"/>
                  <a:t> For instance, </a:t>
                </a:r>
                <a:r>
                  <a:rPr lang="en-US" sz="2150" dirty="0" smtClean="0"/>
                  <a:t>given </a:t>
                </a:r>
                <a:r>
                  <a:rPr lang="en-US" sz="2150" i="1" dirty="0"/>
                  <a:t>K</a:t>
                </a:r>
                <a:r>
                  <a:rPr lang="en-US" sz="2150" dirty="0"/>
                  <a:t>-layer CNN whose layers are </a:t>
                </a:r>
                <a:r>
                  <a:rPr lang="en-US" sz="2150" b="1" i="1" dirty="0"/>
                  <a:t>X</a:t>
                </a:r>
                <a:r>
                  <a:rPr lang="en-US" sz="2150" baseline="-25000" dirty="0"/>
                  <a:t>0</a:t>
                </a:r>
                <a:r>
                  <a:rPr lang="en-US" sz="2150" dirty="0"/>
                  <a:t>, </a:t>
                </a:r>
                <a:r>
                  <a:rPr lang="en-US" sz="2150" b="1" i="1" dirty="0"/>
                  <a:t>X</a:t>
                </a:r>
                <a:r>
                  <a:rPr lang="en-US" sz="2150" baseline="-25000" dirty="0"/>
                  <a:t>1</a:t>
                </a:r>
                <a:r>
                  <a:rPr lang="en-US" sz="2150" dirty="0"/>
                  <a:t>, </a:t>
                </a:r>
                <a:r>
                  <a:rPr lang="en-US" sz="2150" b="1" i="1" dirty="0"/>
                  <a:t>X</a:t>
                </a:r>
                <a:r>
                  <a:rPr lang="en-US" sz="2150" baseline="-25000" dirty="0"/>
                  <a:t>2</a:t>
                </a:r>
                <a:r>
                  <a:rPr lang="en-US" sz="2150" dirty="0"/>
                  <a:t>,…, </a:t>
                </a:r>
                <a:r>
                  <a:rPr lang="en-US" sz="2150" b="1" i="1" dirty="0"/>
                  <a:t>X</a:t>
                </a:r>
                <a:r>
                  <a:rPr lang="en-US" sz="2150" i="1" baseline="-25000" dirty="0"/>
                  <a:t>K</a:t>
                </a:r>
                <a:r>
                  <a:rPr lang="en-US" sz="2150" dirty="0"/>
                  <a:t> where each </a:t>
                </a:r>
                <a:r>
                  <a:rPr lang="en-US" sz="2150" i="1" dirty="0"/>
                  <a:t>convolutional layer</a:t>
                </a:r>
                <a:r>
                  <a:rPr lang="en-US" sz="2150" dirty="0"/>
                  <a:t> </a:t>
                </a:r>
                <a:r>
                  <a:rPr lang="en-US" sz="2150" b="1" i="1" dirty="0" err="1"/>
                  <a:t>X</a:t>
                </a:r>
                <a:r>
                  <a:rPr lang="en-US" sz="2150" i="1" baseline="-25000" dirty="0" err="1"/>
                  <a:t>k</a:t>
                </a:r>
                <a:r>
                  <a:rPr lang="en-US" sz="2150" dirty="0"/>
                  <a:t> has parametric filter weight  matrix </a:t>
                </a:r>
                <a:r>
                  <a:rPr lang="en-US" sz="2150" i="1" dirty="0"/>
                  <a:t>W</a:t>
                </a:r>
                <a:r>
                  <a:rPr lang="en-US" sz="2150" baseline="30000" dirty="0"/>
                  <a:t>(</a:t>
                </a:r>
                <a:r>
                  <a:rPr lang="en-US" sz="2150" i="1" baseline="30000" dirty="0"/>
                  <a:t>k</a:t>
                </a:r>
                <a:r>
                  <a:rPr lang="en-US" sz="2150" baseline="30000" dirty="0"/>
                  <a:t>)</a:t>
                </a:r>
                <a:r>
                  <a:rPr lang="en-US" sz="2150" dirty="0"/>
                  <a:t> and parametric filter bias </a:t>
                </a:r>
                <a:r>
                  <a:rPr lang="en-US" sz="2150" i="1" dirty="0"/>
                  <a:t>θ</a:t>
                </a:r>
                <a:r>
                  <a:rPr lang="en-US" sz="2150" baseline="30000" dirty="0"/>
                  <a:t>(</a:t>
                </a:r>
                <a:r>
                  <a:rPr lang="en-US" sz="2150" i="1" baseline="30000" dirty="0"/>
                  <a:t>k</a:t>
                </a:r>
                <a:r>
                  <a:rPr lang="en-US" sz="2150" baseline="30000" dirty="0" smtClean="0"/>
                  <a:t>)</a:t>
                </a:r>
                <a:r>
                  <a:rPr lang="en-US" sz="2150" dirty="0"/>
                  <a:t> </a:t>
                </a:r>
                <a:r>
                  <a:rPr lang="en-US" sz="2150" dirty="0" smtClean="0"/>
                  <a:t>where </a:t>
                </a:r>
                <a:r>
                  <a:rPr lang="en-US" sz="2150" i="1" dirty="0"/>
                  <a:t>W</a:t>
                </a:r>
                <a:r>
                  <a:rPr lang="en-US" sz="2150" baseline="30000" dirty="0"/>
                  <a:t>(</a:t>
                </a:r>
                <a:r>
                  <a:rPr lang="en-US" sz="2150" i="1" baseline="30000" dirty="0"/>
                  <a:t>k</a:t>
                </a:r>
                <a:r>
                  <a:rPr lang="en-US" sz="2150" baseline="30000" dirty="0"/>
                  <a:t>)</a:t>
                </a:r>
                <a:r>
                  <a:rPr lang="en-US" sz="2150" dirty="0"/>
                  <a:t> </a:t>
                </a:r>
                <a:r>
                  <a:rPr lang="en-US" sz="2150" dirty="0" smtClean="0"/>
                  <a:t>is called </a:t>
                </a:r>
                <a:r>
                  <a:rPr lang="en-US" sz="2150" i="1" dirty="0" smtClean="0"/>
                  <a:t>filter</a:t>
                </a:r>
                <a:r>
                  <a:rPr lang="en-US" sz="2150" dirty="0" smtClean="0"/>
                  <a:t>, kernel </a:t>
                </a:r>
                <a:r>
                  <a:rPr lang="en-US" sz="2150" dirty="0"/>
                  <a:t>or filtering </a:t>
                </a:r>
                <a:r>
                  <a:rPr lang="en-US" sz="2150" dirty="0" smtClean="0"/>
                  <a:t>kernel.</a:t>
                </a:r>
              </a:p>
              <a:p>
                <a:pPr marL="0" indent="0">
                  <a:buNone/>
                </a:pPr>
                <a14:m>
                  <m:oMathPara xmlns:m="http://schemas.openxmlformats.org/officeDocument/2006/math">
                    <m:oMathParaPr>
                      <m:jc m:val="centerGroup"/>
                    </m:oMathParaPr>
                    <m:oMath xmlns:m="http://schemas.openxmlformats.org/officeDocument/2006/math">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𝑘</m:t>
                              </m:r>
                            </m:e>
                          </m:d>
                        </m:sup>
                      </m:sSubSup>
                      <m:r>
                        <a:rPr lang="en-US" sz="2150" i="1">
                          <a:latin typeface="Cambria Math" panose="02040503050406030204" pitchFamily="18" charset="0"/>
                        </a:rPr>
                        <m:t>=</m:t>
                      </m:r>
                      <m:r>
                        <a:rPr lang="en-US" sz="2150" i="1">
                          <a:latin typeface="Cambria Math" panose="02040503050406030204" pitchFamily="18" charset="0"/>
                        </a:rPr>
                        <m:t>𝑓</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acc>
                                <m:accPr>
                                  <m:chr m:val="̂"/>
                                  <m:ctrlPr>
                                    <a:rPr lang="en-US" sz="2150" i="1">
                                      <a:latin typeface="Cambria Math" panose="02040503050406030204" pitchFamily="18" charset="0"/>
                                    </a:rPr>
                                  </m:ctrlPr>
                                </m:accPr>
                                <m:e>
                                  <m:r>
                                    <a:rPr lang="en-US" sz="2150" i="1">
                                      <a:latin typeface="Cambria Math" panose="02040503050406030204" pitchFamily="18" charset="0"/>
                                    </a:rPr>
                                    <m:t>𝑥</m:t>
                                  </m:r>
                                </m:e>
                              </m:acc>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𝑘</m:t>
                                  </m:r>
                                  <m:r>
                                    <a:rPr lang="en-US" sz="2150" i="1">
                                      <a:latin typeface="Cambria Math" panose="02040503050406030204" pitchFamily="18" charset="0"/>
                                    </a:rPr>
                                    <m:t>−1</m:t>
                                  </m:r>
                                </m:e>
                              </m:d>
                            </m:sup>
                          </m:sSubSup>
                          <m:r>
                            <a:rPr lang="en-US" sz="2150" i="1">
                              <a:latin typeface="Cambria Math" panose="02040503050406030204" pitchFamily="18" charset="0"/>
                            </a:rPr>
                            <m:t>=</m:t>
                          </m:r>
                          <m:d>
                            <m:dPr>
                              <m:ctrlPr>
                                <a:rPr lang="en-US" sz="2150" i="1">
                                  <a:latin typeface="Cambria Math" panose="02040503050406030204" pitchFamily="18" charset="0"/>
                                </a:rPr>
                              </m:ctrlPr>
                            </m:dPr>
                            <m:e>
                              <m:nary>
                                <m:naryPr>
                                  <m:chr m:val="∑"/>
                                  <m:limLoc m:val="undOvr"/>
                                  <m:supHide m:val="on"/>
                                  <m:ctrlPr>
                                    <a:rPr lang="en-US" sz="2150" i="1">
                                      <a:latin typeface="Cambria Math" panose="02040503050406030204" pitchFamily="18" charset="0"/>
                                    </a:rPr>
                                  </m:ctrlPr>
                                </m:naryPr>
                                <m:sub>
                                  <m:r>
                                    <a:rPr lang="en-US" sz="2150" i="1">
                                      <a:latin typeface="Cambria Math" panose="02040503050406030204" pitchFamily="18" charset="0"/>
                                    </a:rPr>
                                    <m:t>𝑢</m:t>
                                  </m:r>
                                  <m:r>
                                    <a:rPr lang="en-US" sz="2150" i="1">
                                      <a:latin typeface="Cambria Math" panose="02040503050406030204" pitchFamily="18" charset="0"/>
                                    </a:rPr>
                                    <m:t>,</m:t>
                                  </m:r>
                                  <m:r>
                                    <a:rPr lang="en-US" sz="2150" i="1">
                                      <a:latin typeface="Cambria Math" panose="02040503050406030204" pitchFamily="18" charset="0"/>
                                    </a:rPr>
                                    <m:t>𝑣</m:t>
                                  </m:r>
                                </m:sub>
                                <m:sup/>
                                <m:e>
                                  <m:sSubSup>
                                    <m:sSubSupPr>
                                      <m:ctrlPr>
                                        <a:rPr lang="en-US" sz="2150" i="1">
                                          <a:latin typeface="Cambria Math" panose="02040503050406030204" pitchFamily="18" charset="0"/>
                                        </a:rPr>
                                      </m:ctrlPr>
                                    </m:sSubSupPr>
                                    <m:e>
                                      <m:r>
                                        <a:rPr lang="en-US" sz="2150" i="1">
                                          <a:latin typeface="Cambria Math" panose="02040503050406030204" pitchFamily="18" charset="0"/>
                                        </a:rPr>
                                        <m:t>𝑤</m:t>
                                      </m:r>
                                    </m:e>
                                    <m:sub>
                                      <m:r>
                                        <a:rPr lang="en-US" sz="2150" i="1">
                                          <a:latin typeface="Cambria Math" panose="02040503050406030204" pitchFamily="18" charset="0"/>
                                        </a:rPr>
                                        <m:t>𝑢𝑣</m:t>
                                      </m:r>
                                    </m:sub>
                                    <m:sup>
                                      <m:d>
                                        <m:dPr>
                                          <m:ctrlPr>
                                            <a:rPr lang="en-US" sz="2150" i="1">
                                              <a:latin typeface="Cambria Math" panose="02040503050406030204" pitchFamily="18" charset="0"/>
                                            </a:rPr>
                                          </m:ctrlPr>
                                        </m:dPr>
                                        <m:e>
                                          <m:r>
                                            <a:rPr lang="en-US" sz="2150" i="1">
                                              <a:latin typeface="Cambria Math" panose="02040503050406030204" pitchFamily="18" charset="0"/>
                                            </a:rPr>
                                            <m:t>𝑘</m:t>
                                          </m:r>
                                        </m:e>
                                      </m:d>
                                    </m:sup>
                                  </m:sSubSup>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m:t>
                                      </m:r>
                                      <m:r>
                                        <a:rPr lang="en-US" sz="2150" i="1">
                                          <a:latin typeface="Cambria Math" panose="02040503050406030204" pitchFamily="18" charset="0"/>
                                        </a:rPr>
                                        <m:t>+</m:t>
                                      </m:r>
                                      <m:r>
                                        <a:rPr lang="en-US" sz="2150" i="1">
                                          <a:latin typeface="Cambria Math" panose="02040503050406030204" pitchFamily="18" charset="0"/>
                                        </a:rPr>
                                        <m:t>𝑢</m:t>
                                      </m:r>
                                      <m:r>
                                        <a:rPr lang="en-US" sz="2150" i="1">
                                          <a:latin typeface="Cambria Math" panose="02040503050406030204" pitchFamily="18" charset="0"/>
                                        </a:rPr>
                                        <m:t>,</m:t>
                                      </m:r>
                                      <m:r>
                                        <a:rPr lang="en-US" sz="2150" i="1">
                                          <a:latin typeface="Cambria Math" panose="02040503050406030204" pitchFamily="18" charset="0"/>
                                        </a:rPr>
                                        <m:t>𝑗</m:t>
                                      </m:r>
                                      <m:r>
                                        <a:rPr lang="en-US" sz="2150" i="1">
                                          <a:latin typeface="Cambria Math" panose="02040503050406030204" pitchFamily="18" charset="0"/>
                                        </a:rPr>
                                        <m:t>+</m:t>
                                      </m:r>
                                      <m:r>
                                        <a:rPr lang="en-US" sz="2150" i="1">
                                          <a:latin typeface="Cambria Math" panose="02040503050406030204" pitchFamily="18" charset="0"/>
                                        </a:rPr>
                                        <m:t>𝑣</m:t>
                                      </m:r>
                                    </m:sub>
                                    <m:sup>
                                      <m:d>
                                        <m:dPr>
                                          <m:ctrlPr>
                                            <a:rPr lang="en-US" sz="2150" i="1">
                                              <a:latin typeface="Cambria Math" panose="02040503050406030204" pitchFamily="18" charset="0"/>
                                            </a:rPr>
                                          </m:ctrlPr>
                                        </m:dPr>
                                        <m:e>
                                          <m:r>
                                            <a:rPr lang="en-US" sz="2150" i="1">
                                              <a:latin typeface="Cambria Math" panose="02040503050406030204" pitchFamily="18" charset="0"/>
                                            </a:rPr>
                                            <m:t>𝑘</m:t>
                                          </m:r>
                                          <m:r>
                                            <a:rPr lang="en-US" sz="2150" i="1">
                                              <a:latin typeface="Cambria Math" panose="02040503050406030204" pitchFamily="18" charset="0"/>
                                            </a:rPr>
                                            <m:t>−1</m:t>
                                          </m:r>
                                        </m:e>
                                      </m:d>
                                    </m:sup>
                                  </m:sSubSup>
                                </m:e>
                              </m:nary>
                            </m:e>
                          </m:d>
                          <m:r>
                            <a:rPr lang="en-US" sz="2150" i="1">
                              <a:latin typeface="Cambria Math" panose="02040503050406030204" pitchFamily="18" charset="0"/>
                            </a:rPr>
                            <m:t>+</m:t>
                          </m:r>
                          <m:sSup>
                            <m:sSupPr>
                              <m:ctrlPr>
                                <a:rPr lang="en-US" sz="2150" i="1">
                                  <a:latin typeface="Cambria Math" panose="02040503050406030204" pitchFamily="18" charset="0"/>
                                </a:rPr>
                              </m:ctrlPr>
                            </m:sSupPr>
                            <m:e>
                              <m:r>
                                <a:rPr lang="en-US" sz="2150" i="1">
                                  <a:latin typeface="Cambria Math" panose="02040503050406030204" pitchFamily="18" charset="0"/>
                                </a:rPr>
                                <m:t>𝜃</m:t>
                              </m:r>
                            </m:e>
                            <m:sup>
                              <m:d>
                                <m:dPr>
                                  <m:ctrlPr>
                                    <a:rPr lang="en-US" sz="2150" i="1">
                                      <a:latin typeface="Cambria Math" panose="02040503050406030204" pitchFamily="18" charset="0"/>
                                    </a:rPr>
                                  </m:ctrlPr>
                                </m:dPr>
                                <m:e>
                                  <m:r>
                                    <a:rPr lang="en-US" sz="2150" i="1">
                                      <a:latin typeface="Cambria Math" panose="02040503050406030204" pitchFamily="18" charset="0"/>
                                    </a:rPr>
                                    <m:t>𝑘</m:t>
                                  </m:r>
                                </m:e>
                              </m:d>
                            </m:sup>
                          </m:sSup>
                        </m:e>
                      </m:d>
                    </m:oMath>
                  </m:oMathPara>
                </a14:m>
                <a:endParaRPr lang="en-US" sz="2150" dirty="0" smtClean="0"/>
              </a:p>
              <a:p>
                <a:pPr marL="0" indent="0">
                  <a:buNone/>
                </a:pPr>
                <a:r>
                  <a:rPr lang="en-US" sz="2150" dirty="0"/>
                  <a:t>Let </a:t>
                </a:r>
                <a14:m>
                  <m:oMath xmlns:m="http://schemas.openxmlformats.org/officeDocument/2006/math">
                    <m:r>
                      <a:rPr lang="en-US" sz="2150" i="1">
                        <a:latin typeface="Cambria Math" panose="02040503050406030204" pitchFamily="18" charset="0"/>
                      </a:rPr>
                      <m:t>𝑙</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oMath>
                </a14:m>
                <a:r>
                  <a:rPr lang="en-US" sz="2150" dirty="0"/>
                  <a:t> be the </a:t>
                </a:r>
                <a:r>
                  <a:rPr lang="en-US" sz="2150" i="1" dirty="0"/>
                  <a:t>likelihood function</a:t>
                </a:r>
                <a:r>
                  <a:rPr lang="en-US" sz="2150" dirty="0"/>
                  <a:t> which takes </a:t>
                </a:r>
                <a14:m>
                  <m:oMath xmlns:m="http://schemas.openxmlformats.org/officeDocument/2006/math">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oMath>
                </a14:m>
                <a:r>
                  <a:rPr lang="en-US" sz="2150" dirty="0"/>
                  <a:t> as its input at the last layer </a:t>
                </a:r>
                <a:r>
                  <a:rPr lang="en-US" sz="2150" b="1" i="1" dirty="0"/>
                  <a:t>X</a:t>
                </a:r>
                <a:r>
                  <a:rPr lang="en-US" sz="2150" i="1" baseline="-25000" dirty="0"/>
                  <a:t>K</a:t>
                </a:r>
                <a:r>
                  <a:rPr lang="en-US" sz="2150" dirty="0"/>
                  <a:t>, as usual, </a:t>
                </a:r>
                <a14:m>
                  <m:oMath xmlns:m="http://schemas.openxmlformats.org/officeDocument/2006/math">
                    <m:r>
                      <a:rPr lang="en-US" sz="2150" i="1">
                        <a:latin typeface="Cambria Math" panose="02040503050406030204" pitchFamily="18" charset="0"/>
                      </a:rPr>
                      <m:t>𝑙</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oMath>
                </a14:m>
                <a:r>
                  <a:rPr lang="en-US" sz="2150" dirty="0"/>
                  <a:t> is the negative of error </a:t>
                </a:r>
                <a:r>
                  <a:rPr lang="en-US" sz="2150" dirty="0" smtClean="0"/>
                  <a:t>function </a:t>
                </a:r>
                <a14:m>
                  <m:oMath xmlns:m="http://schemas.openxmlformats.org/officeDocument/2006/math">
                    <m:r>
                      <a:rPr lang="en-US" sz="2150" i="1">
                        <a:latin typeface="Cambria Math" panose="02040503050406030204" pitchFamily="18" charset="0"/>
                      </a:rPr>
                      <m:t>𝑙</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r>
                      <a:rPr lang="en-US" sz="2150" i="1">
                        <a:latin typeface="Cambria Math" panose="02040503050406030204" pitchFamily="18" charset="0"/>
                      </a:rPr>
                      <m:t>=−</m:t>
                    </m:r>
                    <m:r>
                      <a:rPr lang="en-US" sz="2150" i="1">
                        <a:latin typeface="Cambria Math" panose="02040503050406030204" pitchFamily="18" charset="0"/>
                      </a:rPr>
                      <m:t>𝜀</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oMath>
                </a14:m>
                <a:r>
                  <a:rPr lang="en-US" sz="2150" dirty="0" smtClean="0"/>
                  <a:t>.</a:t>
                </a:r>
                <a:r>
                  <a:rPr lang="en-US" sz="2150" dirty="0"/>
                  <a:t> Let </a:t>
                </a:r>
                <a:r>
                  <a:rPr lang="en-US" sz="2150" i="1" dirty="0"/>
                  <a:t>l</a:t>
                </a:r>
                <a:r>
                  <a:rPr lang="en-US" sz="2150" dirty="0"/>
                  <a:t>(</a:t>
                </a:r>
                <a:r>
                  <a:rPr lang="en-US" sz="2150" b="1" i="1" dirty="0"/>
                  <a:t>X</a:t>
                </a:r>
                <a:r>
                  <a:rPr lang="en-US" sz="2150" i="1" baseline="-25000" dirty="0"/>
                  <a:t>K</a:t>
                </a:r>
                <a:r>
                  <a:rPr lang="en-US" sz="2150" dirty="0"/>
                  <a:t>) be the entire likelihood </a:t>
                </a:r>
                <a:r>
                  <a:rPr lang="en-US" sz="2150" dirty="0" smtClean="0"/>
                  <a:t>function.</a:t>
                </a:r>
              </a:p>
              <a:p>
                <a:pPr marL="0" indent="0">
                  <a:buNone/>
                </a:pPr>
                <a14:m>
                  <m:oMathPara xmlns:m="http://schemas.openxmlformats.org/officeDocument/2006/math">
                    <m:oMathParaPr>
                      <m:jc m:val="centerGroup"/>
                    </m:oMathParaPr>
                    <m:oMath xmlns:m="http://schemas.openxmlformats.org/officeDocument/2006/math">
                      <m:r>
                        <a:rPr lang="en-US" sz="2150" i="1">
                          <a:latin typeface="Cambria Math" panose="02040503050406030204" pitchFamily="18" charset="0"/>
                        </a:rPr>
                        <m:t>𝑙</m:t>
                      </m:r>
                      <m:d>
                        <m:dPr>
                          <m:ctrlPr>
                            <a:rPr lang="en-US" sz="2150" i="1">
                              <a:latin typeface="Cambria Math" panose="02040503050406030204" pitchFamily="18" charset="0"/>
                            </a:rPr>
                          </m:ctrlPr>
                        </m:dPr>
                        <m:e>
                          <m:sSub>
                            <m:sSubPr>
                              <m:ctrlPr>
                                <a:rPr lang="en-US" sz="2150" i="1">
                                  <a:latin typeface="Cambria Math" panose="02040503050406030204" pitchFamily="18" charset="0"/>
                                </a:rPr>
                              </m:ctrlPr>
                            </m:sSubPr>
                            <m:e>
                              <m:r>
                                <a:rPr lang="en-US" sz="2150" b="1" i="1">
                                  <a:latin typeface="Cambria Math" panose="02040503050406030204" pitchFamily="18" charset="0"/>
                                </a:rPr>
                                <m:t>𝑿</m:t>
                              </m:r>
                            </m:e>
                            <m:sub>
                              <m:r>
                                <a:rPr lang="en-US" sz="2150" i="1">
                                  <a:latin typeface="Cambria Math" panose="02040503050406030204" pitchFamily="18" charset="0"/>
                                </a:rPr>
                                <m:t>𝐾</m:t>
                              </m:r>
                            </m:sub>
                          </m:sSub>
                        </m:e>
                      </m:d>
                      <m:r>
                        <a:rPr lang="en-US" sz="2150" i="1">
                          <a:latin typeface="Cambria Math" panose="02040503050406030204" pitchFamily="18" charset="0"/>
                        </a:rPr>
                        <m:t>=</m:t>
                      </m:r>
                      <m:nary>
                        <m:naryPr>
                          <m:chr m:val="∑"/>
                          <m:limLoc m:val="undOvr"/>
                          <m:supHide m:val="on"/>
                          <m:ctrlPr>
                            <a:rPr lang="en-US" sz="2150" i="1">
                              <a:latin typeface="Cambria Math" panose="02040503050406030204" pitchFamily="18" charset="0"/>
                            </a:rPr>
                          </m:ctrlPr>
                        </m:naryPr>
                        <m:sub>
                          <m:r>
                            <a:rPr lang="en-US" sz="2150" i="1">
                              <a:latin typeface="Cambria Math" panose="02040503050406030204" pitchFamily="18" charset="0"/>
                            </a:rPr>
                            <m:t>𝑖</m:t>
                          </m:r>
                          <m:r>
                            <a:rPr lang="en-US" sz="2150" i="1">
                              <a:latin typeface="Cambria Math" panose="02040503050406030204" pitchFamily="18" charset="0"/>
                            </a:rPr>
                            <m:t>,</m:t>
                          </m:r>
                          <m:r>
                            <a:rPr lang="en-US" sz="2150" i="1">
                              <a:latin typeface="Cambria Math" panose="02040503050406030204" pitchFamily="18" charset="0"/>
                            </a:rPr>
                            <m:t>𝑗</m:t>
                          </m:r>
                        </m:sub>
                        <m:sup/>
                        <m:e>
                          <m:r>
                            <a:rPr lang="en-US" sz="2150" i="1">
                              <a:latin typeface="Cambria Math" panose="02040503050406030204" pitchFamily="18" charset="0"/>
                            </a:rPr>
                            <m:t>𝑙</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e>
                      </m:nary>
                      <m:r>
                        <a:rPr lang="en-US" sz="2150" i="1">
                          <a:latin typeface="Cambria Math" panose="02040503050406030204" pitchFamily="18" charset="0"/>
                        </a:rPr>
                        <m:t>=</m:t>
                      </m:r>
                      <m:nary>
                        <m:naryPr>
                          <m:chr m:val="∑"/>
                          <m:limLoc m:val="undOvr"/>
                          <m:supHide m:val="on"/>
                          <m:ctrlPr>
                            <a:rPr lang="en-US" sz="2150" i="1">
                              <a:latin typeface="Cambria Math" panose="02040503050406030204" pitchFamily="18" charset="0"/>
                            </a:rPr>
                          </m:ctrlPr>
                        </m:naryPr>
                        <m:sub>
                          <m:r>
                            <a:rPr lang="en-US" sz="2150" i="1">
                              <a:latin typeface="Cambria Math" panose="02040503050406030204" pitchFamily="18" charset="0"/>
                            </a:rPr>
                            <m:t>𝑖</m:t>
                          </m:r>
                        </m:sub>
                        <m:sup/>
                        <m:e>
                          <m:nary>
                            <m:naryPr>
                              <m:chr m:val="∑"/>
                              <m:limLoc m:val="undOvr"/>
                              <m:supHide m:val="on"/>
                              <m:ctrlPr>
                                <a:rPr lang="en-US" sz="2150" i="1">
                                  <a:latin typeface="Cambria Math" panose="02040503050406030204" pitchFamily="18" charset="0"/>
                                </a:rPr>
                              </m:ctrlPr>
                            </m:naryPr>
                            <m:sub>
                              <m:r>
                                <a:rPr lang="en-US" sz="2150" i="1">
                                  <a:latin typeface="Cambria Math" panose="02040503050406030204" pitchFamily="18" charset="0"/>
                                </a:rPr>
                                <m:t>𝑗</m:t>
                              </m:r>
                            </m:sub>
                            <m:sup/>
                            <m:e>
                              <m:r>
                                <a:rPr lang="en-US" sz="2150" i="1">
                                  <a:latin typeface="Cambria Math" panose="02040503050406030204" pitchFamily="18" charset="0"/>
                                </a:rPr>
                                <m:t>𝑙</m:t>
                              </m:r>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𝑥</m:t>
                                      </m:r>
                                    </m:e>
                                    <m:sub>
                                      <m:r>
                                        <a:rPr lang="en-US" sz="2150" i="1">
                                          <a:latin typeface="Cambria Math" panose="02040503050406030204" pitchFamily="18" charset="0"/>
                                        </a:rPr>
                                        <m:t>𝑖𝑗</m:t>
                                      </m:r>
                                    </m:sub>
                                    <m:sup>
                                      <m:d>
                                        <m:dPr>
                                          <m:ctrlPr>
                                            <a:rPr lang="en-US" sz="2150" i="1">
                                              <a:latin typeface="Cambria Math" panose="02040503050406030204" pitchFamily="18" charset="0"/>
                                            </a:rPr>
                                          </m:ctrlPr>
                                        </m:dPr>
                                        <m:e>
                                          <m:r>
                                            <a:rPr lang="en-US" sz="2150" i="1">
                                              <a:latin typeface="Cambria Math" panose="02040503050406030204" pitchFamily="18" charset="0"/>
                                            </a:rPr>
                                            <m:t>𝐾</m:t>
                                          </m:r>
                                        </m:e>
                                      </m:d>
                                    </m:sup>
                                  </m:sSubSup>
                                </m:e>
                              </m:d>
                            </m:e>
                          </m:nary>
                        </m:e>
                      </m:nary>
                    </m:oMath>
                  </m:oMathPara>
                </a14:m>
                <a:endParaRPr lang="en-US" sz="2150" dirty="0"/>
              </a:p>
              <a:p>
                <a:endParaRPr lang="en-US" sz="2150" dirty="0"/>
              </a:p>
              <a:p>
                <a:pPr marL="0" indent="0">
                  <a:buNone/>
                </a:pPr>
                <a:endParaRPr lang="en-US" sz="2150" dirty="0"/>
              </a:p>
              <a:p>
                <a:pPr marL="0" indent="0">
                  <a:buNone/>
                </a:pPr>
                <a:endParaRPr lang="en-US" sz="2150" dirty="0" smtClean="0"/>
              </a:p>
              <a:p>
                <a:pPr marL="0" indent="0">
                  <a:buNone/>
                </a:pPr>
                <a:endParaRPr lang="en-US" sz="21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29440" cy="5176066"/>
              </a:xfrm>
              <a:blipFill>
                <a:blip r:embed="rId2"/>
                <a:stretch>
                  <a:fillRect l="-710" t="-824" r="-862"/>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6</a:t>
            </a:fld>
            <a:endParaRPr lang="en-US"/>
          </a:p>
        </p:txBody>
      </p:sp>
    </p:spTree>
    <p:extLst>
      <p:ext uri="{BB962C8B-B14F-4D97-AF65-F5344CB8AC3E}">
        <p14:creationId xmlns:p14="http://schemas.microsoft.com/office/powerpoint/2010/main" val="380681663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1. </a:t>
            </a:r>
            <a:r>
              <a:rPr lang="en-US" dirty="0" smtClean="0"/>
              <a:t>Introduction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09120" cy="5176066"/>
              </a:xfrm>
            </p:spPr>
            <p:txBody>
              <a:bodyPr>
                <a:noAutofit/>
              </a:bodyPr>
              <a:lstStyle/>
              <a:p>
                <a:pPr marL="0" indent="0">
                  <a:buNone/>
                </a:pPr>
                <a:r>
                  <a:rPr lang="en-US" sz="2000" dirty="0" smtClean="0">
                    <a:effectLst>
                      <a:outerShdw blurRad="38100" dist="38100" dir="2700000" algn="tl">
                        <a:srgbClr val="000000">
                          <a:alpha val="43137"/>
                        </a:srgbClr>
                      </a:outerShdw>
                    </a:effectLst>
                  </a:rPr>
                  <a:t>Training CNN which is to maximize the likelihood </a:t>
                </a:r>
                <a:r>
                  <a:rPr lang="en-US" sz="2000" i="1" dirty="0">
                    <a:effectLst>
                      <a:outerShdw blurRad="38100" dist="38100" dir="2700000" algn="tl">
                        <a:srgbClr val="000000">
                          <a:alpha val="43137"/>
                        </a:srgbClr>
                      </a:outerShdw>
                    </a:effectLst>
                  </a:rPr>
                  <a:t>l</a:t>
                </a:r>
                <a:r>
                  <a:rPr lang="en-US" sz="2000" dirty="0">
                    <a:effectLst>
                      <a:outerShdw blurRad="38100" dist="38100" dir="2700000" algn="tl">
                        <a:srgbClr val="000000">
                          <a:alpha val="43137"/>
                        </a:srgbClr>
                      </a:outerShdw>
                    </a:effectLst>
                  </a:rPr>
                  <a:t>(</a:t>
                </a:r>
                <a:r>
                  <a:rPr lang="en-US" sz="2000" b="1" i="1" dirty="0">
                    <a:effectLst>
                      <a:outerShdw blurRad="38100" dist="38100" dir="2700000" algn="tl">
                        <a:srgbClr val="000000">
                          <a:alpha val="43137"/>
                        </a:srgbClr>
                      </a:outerShdw>
                    </a:effectLst>
                  </a:rPr>
                  <a:t>X</a:t>
                </a:r>
                <a:r>
                  <a:rPr lang="en-US" sz="2000" i="1" baseline="-25000" dirty="0">
                    <a:effectLst>
                      <a:outerShdw blurRad="38100" dist="38100" dir="2700000" algn="tl">
                        <a:srgbClr val="000000">
                          <a:alpha val="43137"/>
                        </a:srgbClr>
                      </a:outerShdw>
                    </a:effectLst>
                  </a:rPr>
                  <a:t>K</a:t>
                </a:r>
                <a:r>
                  <a:rPr lang="en-US" sz="2000" dirty="0" smtClean="0">
                    <a:effectLst>
                      <a:outerShdw blurRad="38100" dist="38100" dir="2700000" algn="tl">
                        <a:srgbClr val="000000">
                          <a:alpha val="43137"/>
                        </a:srgbClr>
                      </a:outerShdw>
                    </a:effectLst>
                  </a:rPr>
                  <a:t>) is implemented by association of SGD algorithm and backpropagation algorithm</a:t>
                </a:r>
                <a:r>
                  <a:rPr lang="en-US" sz="2000" dirty="0" smtClean="0"/>
                  <a:t>, which is in turn to calculate the likelihood gradients with respect to parametric </a:t>
                </a:r>
                <a:r>
                  <a:rPr lang="en-US" sz="2000" dirty="0"/>
                  <a:t>filter </a:t>
                </a:r>
                <a:r>
                  <a:rPr lang="en-US" sz="2000" i="1" dirty="0" err="1" smtClean="0"/>
                  <a:t>w</a:t>
                </a:r>
                <a:r>
                  <a:rPr lang="en-US" sz="2000" i="1" baseline="-25000" dirty="0" err="1" smtClean="0"/>
                  <a:t>uv</a:t>
                </a:r>
                <a:r>
                  <a:rPr lang="en-US" sz="2000" baseline="30000" dirty="0" smtClean="0"/>
                  <a:t>(</a:t>
                </a:r>
                <a:r>
                  <a:rPr lang="en-US" sz="2000" i="1" baseline="30000" dirty="0" smtClean="0"/>
                  <a:t>k</a:t>
                </a:r>
                <a:r>
                  <a:rPr lang="en-US" sz="2000" baseline="30000" dirty="0" smtClean="0"/>
                  <a:t>)</a:t>
                </a:r>
                <a:r>
                  <a:rPr lang="en-US" sz="2000" dirty="0" smtClean="0"/>
                  <a:t> </a:t>
                </a:r>
                <a:r>
                  <a:rPr lang="en-US" sz="2000" dirty="0"/>
                  <a:t>and parametric bias </a:t>
                </a:r>
                <a:r>
                  <a:rPr lang="en-US" sz="2000" i="1" dirty="0" smtClean="0"/>
                  <a:t>θ</a:t>
                </a:r>
                <a:r>
                  <a:rPr lang="en-US" sz="2000" baseline="30000" dirty="0" smtClean="0"/>
                  <a:t>(</a:t>
                </a:r>
                <a:r>
                  <a:rPr lang="en-US" sz="2000" i="1" baseline="30000" dirty="0" smtClean="0"/>
                  <a:t>k</a:t>
                </a:r>
                <a:r>
                  <a:rPr lang="en-US" sz="2000" baseline="30000" dirty="0" smtClean="0"/>
                  <a:t>)</a:t>
                </a:r>
                <a:r>
                  <a:rPr lang="en-US" sz="2000" dirty="0" smtClean="0"/>
                  <a:t>:</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000" i="1">
                              <a:latin typeface="Cambria Math" panose="02040503050406030204" pitchFamily="18" charset="0"/>
                            </a:rPr>
                          </m:ctrlPr>
                        </m:mPr>
                        <m:mr>
                          <m:e>
                            <m:sSubSup>
                              <m:sSubSupPr>
                                <m:ctrlPr>
                                  <a:rPr lang="en-US" sz="2000" i="1">
                                    <a:latin typeface="Cambria Math" panose="02040503050406030204" pitchFamily="18" charset="0"/>
                                  </a:rPr>
                                </m:ctrlPr>
                              </m:sSubSupPr>
                              <m:e>
                                <m:r>
                                  <a:rPr lang="en-US" sz="2000" i="1">
                                    <a:latin typeface="Cambria Math" panose="02040503050406030204" pitchFamily="18" charset="0"/>
                                  </a:rPr>
                                  <m:t>𝑤</m:t>
                                </m:r>
                              </m:e>
                              <m:sub>
                                <m:r>
                                  <a:rPr lang="en-US" sz="2000" i="1">
                                    <a:latin typeface="Cambria Math" panose="02040503050406030204" pitchFamily="18" charset="0"/>
                                  </a:rPr>
                                  <m:t>𝑢𝑣</m:t>
                                </m:r>
                              </m:sub>
                              <m:sup>
                                <m:d>
                                  <m:dPr>
                                    <m:ctrlPr>
                                      <a:rPr lang="en-US" sz="2000" i="1">
                                        <a:latin typeface="Cambria Math" panose="02040503050406030204" pitchFamily="18" charset="0"/>
                                      </a:rPr>
                                    </m:ctrlPr>
                                  </m:dPr>
                                  <m:e>
                                    <m:r>
                                      <a:rPr lang="en-US" sz="2000" b="0" i="1" smtClean="0">
                                        <a:latin typeface="Cambria Math" panose="02040503050406030204" pitchFamily="18" charset="0"/>
                                      </a:rPr>
                                      <m:t>𝑘</m:t>
                                    </m:r>
                                  </m:e>
                                </m:d>
                              </m:sup>
                            </m:sSubSup>
                            <m:r>
                              <a:rPr lang="en-US" sz="2000" i="1">
                                <a:latin typeface="Cambria Math" panose="02040503050406030204" pitchFamily="18" charset="0"/>
                              </a:rPr>
                              <m:t>=</m:t>
                            </m:r>
                            <m:sSubSup>
                              <m:sSubSupPr>
                                <m:ctrlPr>
                                  <a:rPr lang="en-US" sz="2000" i="1">
                                    <a:latin typeface="Cambria Math" panose="02040503050406030204" pitchFamily="18" charset="0"/>
                                  </a:rPr>
                                </m:ctrlPr>
                              </m:sSubSupPr>
                              <m:e>
                                <m:r>
                                  <a:rPr lang="en-US" sz="2000" i="1">
                                    <a:latin typeface="Cambria Math" panose="02040503050406030204" pitchFamily="18" charset="0"/>
                                  </a:rPr>
                                  <m:t>𝑤</m:t>
                                </m:r>
                              </m:e>
                              <m:sub>
                                <m:r>
                                  <a:rPr lang="en-US" sz="2000" i="1">
                                    <a:latin typeface="Cambria Math" panose="02040503050406030204" pitchFamily="18" charset="0"/>
                                  </a:rPr>
                                  <m:t>𝑢𝑣</m:t>
                                </m:r>
                              </m:sub>
                              <m:sup>
                                <m:d>
                                  <m:dPr>
                                    <m:ctrlPr>
                                      <a:rPr lang="en-US" sz="2000" i="1">
                                        <a:latin typeface="Cambria Math" panose="02040503050406030204" pitchFamily="18" charset="0"/>
                                      </a:rPr>
                                    </m:ctrlPr>
                                  </m:dPr>
                                  <m:e>
                                    <m:r>
                                      <a:rPr lang="en-US" sz="2000" b="0" i="1" smtClean="0">
                                        <a:latin typeface="Cambria Math" panose="02040503050406030204" pitchFamily="18" charset="0"/>
                                      </a:rPr>
                                      <m:t>𝑘</m:t>
                                    </m:r>
                                  </m:e>
                                </m:d>
                              </m:sup>
                            </m:sSubSup>
                            <m:r>
                              <a:rPr lang="en-US" sz="2000" i="1">
                                <a:latin typeface="Cambria Math" panose="02040503050406030204" pitchFamily="18" charset="0"/>
                              </a:rPr>
                              <m:t>+</m:t>
                            </m:r>
                            <m:r>
                              <a:rPr lang="en-US" sz="2000" i="1">
                                <a:latin typeface="Cambria Math" panose="02040503050406030204" pitchFamily="18" charset="0"/>
                              </a:rPr>
                              <m:t>𝛾</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bSup>
                                  <m:sSubSupPr>
                                    <m:ctrlPr>
                                      <a:rPr lang="en-US" sz="2000" i="1">
                                        <a:latin typeface="Cambria Math" panose="02040503050406030204" pitchFamily="18" charset="0"/>
                                      </a:rPr>
                                    </m:ctrlPr>
                                  </m:sSubSupPr>
                                  <m:e>
                                    <m:r>
                                      <a:rPr lang="en-US" sz="2000" i="1">
                                        <a:latin typeface="Cambria Math" panose="02040503050406030204" pitchFamily="18" charset="0"/>
                                      </a:rPr>
                                      <m:t>𝑤</m:t>
                                    </m:r>
                                  </m:e>
                                  <m:sub>
                                    <m:r>
                                      <a:rPr lang="en-US" sz="2000" i="1">
                                        <a:latin typeface="Cambria Math" panose="02040503050406030204" pitchFamily="18" charset="0"/>
                                      </a:rPr>
                                      <m:t>𝑢𝑣</m:t>
                                    </m:r>
                                  </m:sub>
                                  <m:sup>
                                    <m:d>
                                      <m:dPr>
                                        <m:ctrlPr>
                                          <a:rPr lang="en-US" sz="2000" i="1">
                                            <a:latin typeface="Cambria Math" panose="02040503050406030204" pitchFamily="18" charset="0"/>
                                          </a:rPr>
                                        </m:ctrlPr>
                                      </m:dPr>
                                      <m:e>
                                        <m:r>
                                          <a:rPr lang="en-US" sz="2000" i="1">
                                            <a:latin typeface="Cambria Math" panose="02040503050406030204" pitchFamily="18" charset="0"/>
                                          </a:rPr>
                                          <m:t>𝐾</m:t>
                                        </m:r>
                                      </m:e>
                                    </m:d>
                                  </m:sup>
                                </m:sSubSup>
                              </m:sub>
                            </m:sSub>
                            <m:r>
                              <a:rPr lang="en-US" sz="2000" i="1">
                                <a:latin typeface="Cambria Math" panose="02040503050406030204" pitchFamily="18" charset="0"/>
                              </a:rPr>
                              <m:t>𝑙</m:t>
                            </m:r>
                            <m:r>
                              <a:rPr lang="en-US" sz="2000" b="0" i="1" smtClean="0">
                                <a:latin typeface="Cambria Math" panose="02040503050406030204" pitchFamily="18" charset="0"/>
                              </a:rPr>
                              <m:t> </m:t>
                            </m:r>
                            <m:r>
                              <m:rPr>
                                <m:sty m:val="p"/>
                              </m:rPr>
                              <a:rPr lang="en-US" sz="2000" b="0" i="0" smtClean="0">
                                <a:latin typeface="Cambria Math" panose="02040503050406030204" pitchFamily="18" charset="0"/>
                              </a:rPr>
                              <m:t>and</m:t>
                            </m:r>
                            <m:r>
                              <a:rPr lang="en-US" sz="2000" b="0" i="1" smtClean="0">
                                <a:latin typeface="Cambria Math" panose="02040503050406030204" pitchFamily="18" charset="0"/>
                              </a:rPr>
                              <m:t> </m:t>
                            </m:r>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b="0" i="1" smtClean="0">
                                        <a:latin typeface="Cambria Math" panose="02040503050406030204" pitchFamily="18" charset="0"/>
                                      </a:rPr>
                                      <m:t>𝑘</m:t>
                                    </m:r>
                                  </m:e>
                                </m:d>
                              </m:sup>
                            </m:sSup>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b="0" i="1" smtClean="0">
                                        <a:latin typeface="Cambria Math" panose="02040503050406030204" pitchFamily="18" charset="0"/>
                                      </a:rPr>
                                      <m:t>𝑘</m:t>
                                    </m:r>
                                  </m:e>
                                </m:d>
                              </m:sup>
                            </m:sSup>
                            <m:r>
                              <a:rPr lang="en-US" sz="2000" i="1">
                                <a:latin typeface="Cambria Math" panose="02040503050406030204" pitchFamily="18" charset="0"/>
                              </a:rPr>
                              <m:t>+</m:t>
                            </m:r>
                            <m:r>
                              <a:rPr lang="en-US" sz="2000" i="1">
                                <a:latin typeface="Cambria Math" panose="02040503050406030204" pitchFamily="18" charset="0"/>
                              </a:rPr>
                              <m:t>𝛾</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b="0" i="1" smtClean="0">
                                            <a:latin typeface="Cambria Math" panose="02040503050406030204" pitchFamily="18" charset="0"/>
                                          </a:rPr>
                                          <m:t>𝑘</m:t>
                                        </m:r>
                                      </m:e>
                                    </m:d>
                                  </m:sup>
                                </m:sSup>
                              </m:sub>
                            </m:sSub>
                            <m:r>
                              <a:rPr lang="en-US" sz="2000" i="1">
                                <a:latin typeface="Cambria Math" panose="02040503050406030204" pitchFamily="18" charset="0"/>
                              </a:rPr>
                              <m:t>𝑙</m:t>
                            </m:r>
                          </m:e>
                        </m:mr>
                      </m:m>
                    </m:oMath>
                  </m:oMathPara>
                </a14:m>
                <a:endParaRPr lang="en-US" sz="2000" dirty="0"/>
              </a:p>
              <a:p>
                <a:pPr marL="0" indent="0">
                  <a:buNone/>
                </a:pPr>
                <a:r>
                  <a:rPr lang="en-US" sz="2000" dirty="0" smtClean="0"/>
                  <a:t>By error backpropagation, </a:t>
                </a:r>
                <a:r>
                  <a:rPr lang="en-US" sz="2000" dirty="0"/>
                  <a:t>necessary gradients for training CNN are summarized from </a:t>
                </a:r>
                <a:r>
                  <a:rPr lang="en-US" sz="2000" i="1" dirty="0"/>
                  <a:t>k</a:t>
                </a:r>
                <a:r>
                  <a:rPr lang="en-US" sz="2000" dirty="0"/>
                  <a:t>=</a:t>
                </a:r>
                <a:r>
                  <a:rPr lang="en-US" sz="2000" i="1" dirty="0"/>
                  <a:t>K</a:t>
                </a:r>
                <a:r>
                  <a:rPr lang="en-US" sz="2000" dirty="0"/>
                  <a:t> down </a:t>
                </a:r>
                <a:r>
                  <a:rPr lang="en-US" sz="2000" i="1" dirty="0"/>
                  <a:t>k</a:t>
                </a:r>
                <a:r>
                  <a:rPr lang="en-US" sz="2000" dirty="0"/>
                  <a:t>=1 as </a:t>
                </a:r>
                <a:r>
                  <a:rPr lang="en-US" sz="2000" dirty="0" smtClean="0"/>
                  <a:t>follows:</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000" i="1">
                              <a:latin typeface="Cambria Math" panose="02040503050406030204" pitchFamily="18" charset="0"/>
                            </a:rPr>
                          </m:ctrlPr>
                        </m:mP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Sup>
                                  <m:sSubSupPr>
                                    <m:ctrlPr>
                                      <a:rPr lang="en-US" sz="2000" i="1">
                                        <a:latin typeface="Cambria Math" panose="02040503050406030204" pitchFamily="18" charset="0"/>
                                      </a:rPr>
                                    </m:ctrlPr>
                                  </m:sSubSupPr>
                                  <m:e>
                                    <m:r>
                                      <a:rPr lang="en-US" sz="2000" i="1">
                                        <a:latin typeface="Cambria Math" panose="02040503050406030204" pitchFamily="18" charset="0"/>
                                      </a:rPr>
                                      <m:t>𝑤</m:t>
                                    </m:r>
                                  </m:e>
                                  <m:sub>
                                    <m:r>
                                      <a:rPr lang="en-US" sz="2000" i="1">
                                        <a:latin typeface="Cambria Math" panose="02040503050406030204" pitchFamily="18" charset="0"/>
                                      </a:rPr>
                                      <m:t>𝑢𝑣</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sub>
                            </m:sSub>
                            <m:r>
                              <a:rPr lang="en-US" sz="2000" i="1">
                                <a:latin typeface="Cambria Math" panose="02040503050406030204" pitchFamily="18" charset="0"/>
                              </a:rPr>
                              <m:t>𝑙</m:t>
                            </m:r>
                            <m:r>
                              <a:rPr lang="en-US" sz="2000" i="1">
                                <a:latin typeface="Cambria Math" panose="02040503050406030204" pitchFamily="18" charset="0"/>
                              </a:rPr>
                              <m:t>=</m:t>
                            </m:r>
                            <m:nary>
                              <m:naryPr>
                                <m:chr m:val="∑"/>
                                <m:limLoc m:val="undOvr"/>
                                <m:supHide m:val="on"/>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m:t>
                                </m:r>
                                <m:r>
                                  <a:rPr lang="en-US" sz="2000" i="1">
                                    <a:latin typeface="Cambria Math" panose="02040503050406030204" pitchFamily="18" charset="0"/>
                                  </a:rPr>
                                  <m:t>𝑢</m:t>
                                </m:r>
                                <m:r>
                                  <a:rPr lang="en-US" sz="2000" i="1">
                                    <a:latin typeface="Cambria Math" panose="02040503050406030204" pitchFamily="18" charset="0"/>
                                  </a:rPr>
                                  <m:t>,</m:t>
                                </m:r>
                                <m:r>
                                  <a:rPr lang="en-US" sz="2000" i="1">
                                    <a:latin typeface="Cambria Math" panose="02040503050406030204" pitchFamily="18" charset="0"/>
                                  </a:rPr>
                                  <m:t>𝑗</m:t>
                                </m:r>
                                <m:r>
                                  <a:rPr lang="en-US" sz="2000" i="1">
                                    <a:latin typeface="Cambria Math" panose="02040503050406030204" pitchFamily="18" charset="0"/>
                                  </a:rPr>
                                  <m:t>:</m:t>
                                </m:r>
                                <m:r>
                                  <a:rPr lang="en-US" sz="2000" i="1">
                                    <a:latin typeface="Cambria Math" panose="02040503050406030204" pitchFamily="18" charset="0"/>
                                  </a:rPr>
                                  <m:t>𝑣</m:t>
                                </m:r>
                              </m:sub>
                              <m:sup/>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m:t>
                                    </m:r>
                                    <m:r>
                                      <a:rPr lang="en-US" sz="2000" i="1">
                                        <a:latin typeface="Cambria Math" panose="02040503050406030204" pitchFamily="18" charset="0"/>
                                      </a:rPr>
                                      <m:t>+</m:t>
                                    </m:r>
                                    <m:r>
                                      <a:rPr lang="en-US" sz="2000" i="1">
                                        <a:latin typeface="Cambria Math" panose="02040503050406030204" pitchFamily="18" charset="0"/>
                                      </a:rPr>
                                      <m:t>𝑢</m:t>
                                    </m:r>
                                    <m:r>
                                      <a:rPr lang="en-US" sz="2000" i="1">
                                        <a:latin typeface="Cambria Math" panose="02040503050406030204" pitchFamily="18" charset="0"/>
                                      </a:rPr>
                                      <m:t>,</m:t>
                                    </m:r>
                                    <m:r>
                                      <a:rPr lang="en-US" sz="2000" i="1">
                                        <a:latin typeface="Cambria Math" panose="02040503050406030204" pitchFamily="18" charset="0"/>
                                      </a:rPr>
                                      <m:t>𝑗</m:t>
                                    </m:r>
                                    <m:r>
                                      <a:rPr lang="en-US" sz="2000" i="1">
                                        <a:latin typeface="Cambria Math" panose="02040503050406030204" pitchFamily="18" charset="0"/>
                                      </a:rPr>
                                      <m:t>+</m:t>
                                    </m:r>
                                    <m:r>
                                      <a:rPr lang="en-US" sz="2000" i="1">
                                        <a:latin typeface="Cambria Math" panose="02040503050406030204" pitchFamily="18" charset="0"/>
                                      </a:rPr>
                                      <m:t>𝑣</m:t>
                                    </m:r>
                                  </m:sub>
                                  <m:sup>
                                    <m:d>
                                      <m:dPr>
                                        <m:ctrlPr>
                                          <a:rPr lang="en-US" sz="2000" i="1">
                                            <a:latin typeface="Cambria Math" panose="02040503050406030204" pitchFamily="18" charset="0"/>
                                          </a:rPr>
                                        </m:ctrlPr>
                                      </m:dPr>
                                      <m:e>
                                        <m:r>
                                          <a:rPr lang="en-US" sz="2000" i="1">
                                            <a:latin typeface="Cambria Math" panose="02040503050406030204" pitchFamily="18" charset="0"/>
                                          </a:rPr>
                                          <m:t>𝑘</m:t>
                                        </m:r>
                                        <m:r>
                                          <a:rPr lang="en-US" sz="2000" i="1">
                                            <a:latin typeface="Cambria Math" panose="02040503050406030204" pitchFamily="18" charset="0"/>
                                          </a:rPr>
                                          <m:t>−1</m:t>
                                        </m:r>
                                      </m:e>
                                    </m:d>
                                  </m:sup>
                                </m:sSubSup>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e>
                                </m:d>
                              </m:e>
                            </m:nary>
                          </m:e>
                        </m:m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p>
                              </m:sub>
                            </m:sSub>
                            <m:r>
                              <a:rPr lang="en-US" sz="2000" i="1">
                                <a:latin typeface="Cambria Math" panose="02040503050406030204" pitchFamily="18" charset="0"/>
                              </a:rPr>
                              <m:t>𝑙</m:t>
                            </m:r>
                            <m:r>
                              <a:rPr lang="en-US" sz="2000" i="1">
                                <a:latin typeface="Cambria Math" panose="02040503050406030204" pitchFamily="18" charset="0"/>
                              </a:rPr>
                              <m:t>=</m:t>
                            </m:r>
                            <m:nary>
                              <m:naryPr>
                                <m:chr m:val="∑"/>
                                <m:limLoc m:val="undOvr"/>
                                <m:supHide m:val="on"/>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m:t>
                                </m:r>
                                <m:r>
                                  <a:rPr lang="en-US" sz="2000" i="1">
                                    <a:latin typeface="Cambria Math" panose="02040503050406030204" pitchFamily="18" charset="0"/>
                                  </a:rPr>
                                  <m:t>𝑗</m:t>
                                </m:r>
                              </m:sub>
                              <m:sup/>
                              <m:e>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e>
                                </m:d>
                              </m:e>
                            </m:nary>
                          </m:e>
                        </m:m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e>
                            </m:d>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𝑓</m:t>
                                </m:r>
                              </m:e>
                              <m:sup>
                                <m:r>
                                  <a:rPr lang="en-US" sz="2000" i="1">
                                    <a:latin typeface="Cambria Math" panose="02040503050406030204" pitchFamily="18" charset="0"/>
                                  </a:rPr>
                                  <m:t>′</m:t>
                                </m:r>
                              </m:sup>
                            </m:sSup>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acc>
                                      <m:accPr>
                                        <m:chr m:val="̂"/>
                                        <m:ctrlPr>
                                          <a:rPr lang="en-US" sz="2000" i="1">
                                            <a:latin typeface="Cambria Math" panose="02040503050406030204" pitchFamily="18" charset="0"/>
                                          </a:rPr>
                                        </m:ctrlPr>
                                      </m:accPr>
                                      <m:e>
                                        <m:r>
                                          <a:rPr lang="en-US" sz="2000" i="1">
                                            <a:latin typeface="Cambria Math" panose="02040503050406030204" pitchFamily="18" charset="0"/>
                                          </a:rPr>
                                          <m:t>𝑥</m:t>
                                        </m:r>
                                      </m:e>
                                    </m:acc>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r>
                                          <a:rPr lang="en-US" sz="2000" i="1">
                                            <a:latin typeface="Cambria Math" panose="02040503050406030204" pitchFamily="18" charset="0"/>
                                          </a:rPr>
                                          <m:t>−1</m:t>
                                        </m:r>
                                      </m:e>
                                    </m:d>
                                  </m:sup>
                                </m:sSubSup>
                              </m:e>
                            </m:d>
                            <m:sSub>
                              <m:sSubPr>
                                <m:ctrlPr>
                                  <a:rPr lang="en-US" sz="2000" i="1">
                                    <a:latin typeface="Cambria Math" panose="02040503050406030204" pitchFamily="18" charset="0"/>
                                  </a:rPr>
                                </m:ctrlPr>
                              </m:sSubPr>
                              <m:e>
                                <m:r>
                                  <a:rPr lang="en-US" sz="2000">
                                    <a:latin typeface="Cambria Math" panose="02040503050406030204" pitchFamily="18" charset="0"/>
                                  </a:rPr>
                                  <m:t>𝛻</m:t>
                                </m:r>
                              </m:e>
                              <m:sub>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e>
                            </m:d>
                          </m:e>
                        </m:mr>
                        <m:mr>
                          <m:e>
                            <m:sSub>
                              <m:sSubPr>
                                <m:ctrlPr>
                                  <a:rPr lang="en-US" sz="2000" i="1">
                                    <a:latin typeface="Cambria Math" panose="02040503050406030204" pitchFamily="18" charset="0"/>
                                  </a:rPr>
                                </m:ctrlPr>
                              </m:sSubPr>
                              <m:e>
                                <m:r>
                                  <a:rPr lang="en-US" sz="2000">
                                    <a:latin typeface="Cambria Math" panose="02040503050406030204" pitchFamily="18" charset="0"/>
                                  </a:rPr>
                                  <m:t>𝛻</m:t>
                                </m:r>
                              </m:e>
                              <m:sub>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𝑘</m:t>
                                        </m:r>
                                      </m:e>
                                    </m:d>
                                  </m:sup>
                                </m:sSubSup>
                              </m:e>
                            </m:d>
                            <m:r>
                              <a:rPr lang="en-US" sz="2000" i="1">
                                <a:latin typeface="Cambria Math" panose="02040503050406030204" pitchFamily="18" charset="0"/>
                              </a:rPr>
                              <m:t>≅</m:t>
                            </m:r>
                            <m:d>
                              <m:dPr>
                                <m:begChr m:val="{"/>
                                <m:endChr m:val=""/>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sSup>
                                        <m:sSupPr>
                                          <m:ctrlPr>
                                            <a:rPr lang="en-US" sz="2000" i="1">
                                              <a:latin typeface="Cambria Math" panose="02040503050406030204" pitchFamily="18" charset="0"/>
                                            </a:rPr>
                                          </m:ctrlPr>
                                        </m:sSupPr>
                                        <m:e>
                                          <m:r>
                                            <a:rPr lang="en-US" sz="2000" i="1">
                                              <a:latin typeface="Cambria Math" panose="02040503050406030204" pitchFamily="18" charset="0"/>
                                            </a:rPr>
                                            <m:t>𝑙</m:t>
                                          </m:r>
                                        </m:e>
                                        <m:sup>
                                          <m:r>
                                            <a:rPr lang="en-US" sz="2000" i="1">
                                              <a:latin typeface="Cambria Math" panose="02040503050406030204" pitchFamily="18" charset="0"/>
                                            </a:rPr>
                                            <m:t>′</m:t>
                                          </m:r>
                                        </m:sup>
                                      </m:sSup>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r>
                                                <a:rPr lang="en-US" sz="2000" i="1">
                                                  <a:latin typeface="Cambria Math" panose="02040503050406030204" pitchFamily="18" charset="0"/>
                                                </a:rPr>
                                                <m:t>𝑖𝑗</m:t>
                                              </m:r>
                                            </m:sub>
                                            <m:sup>
                                              <m:d>
                                                <m:dPr>
                                                  <m:ctrlPr>
                                                    <a:rPr lang="en-US" sz="2000" i="1">
                                                      <a:latin typeface="Cambria Math" panose="02040503050406030204" pitchFamily="18" charset="0"/>
                                                    </a:rPr>
                                                  </m:ctrlPr>
                                                </m:dPr>
                                                <m:e>
                                                  <m:r>
                                                    <a:rPr lang="en-US" sz="2000" i="1">
                                                      <a:latin typeface="Cambria Math" panose="02040503050406030204" pitchFamily="18" charset="0"/>
                                                    </a:rPr>
                                                    <m:t>𝐾</m:t>
                                                  </m:r>
                                                </m:e>
                                              </m:d>
                                            </m:sup>
                                          </m:sSubSup>
                                        </m:e>
                                      </m:d>
                                      <m:r>
                                        <a:rPr lang="en-US" sz="2000" i="1">
                                          <a:latin typeface="Cambria Math" panose="02040503050406030204" pitchFamily="18" charset="0"/>
                                        </a:rPr>
                                        <m:t> </m:t>
                                      </m:r>
                                      <m:r>
                                        <m:rPr>
                                          <m:sty m:val="p"/>
                                        </m:rPr>
                                        <a:rPr lang="en-US" sz="2000">
                                          <a:latin typeface="Cambria Math" panose="02040503050406030204" pitchFamily="18" charset="0"/>
                                        </a:rPr>
                                        <m:t>if</m:t>
                                      </m:r>
                                      <m:r>
                                        <a:rPr lang="en-US" sz="2000" i="1">
                                          <a:latin typeface="Cambria Math" panose="02040503050406030204" pitchFamily="18" charset="0"/>
                                        </a:rPr>
                                        <m:t> </m:t>
                                      </m:r>
                                      <m:r>
                                        <a:rPr lang="en-US" sz="2000" i="1">
                                          <a:latin typeface="Cambria Math" panose="02040503050406030204" pitchFamily="18" charset="0"/>
                                        </a:rPr>
                                        <m:t>𝑘</m:t>
                                      </m:r>
                                      <m:r>
                                        <a:rPr lang="en-US" sz="2000" i="1">
                                          <a:latin typeface="Cambria Math" panose="02040503050406030204" pitchFamily="18" charset="0"/>
                                        </a:rPr>
                                        <m:t>=</m:t>
                                      </m:r>
                                      <m:r>
                                        <a:rPr lang="en-US" sz="2000" i="1">
                                          <a:latin typeface="Cambria Math" panose="02040503050406030204" pitchFamily="18" charset="0"/>
                                        </a:rPr>
                                        <m:t>𝐾</m:t>
                                      </m:r>
                                    </m:e>
                                  </m:mr>
                                  <m:mr>
                                    <m:e>
                                      <m:nary>
                                        <m:naryPr>
                                          <m:chr m:val="∑"/>
                                          <m:limLoc m:val="undOvr"/>
                                          <m:supHide m:val="on"/>
                                          <m:ctrlPr>
                                            <a:rPr lang="en-US" sz="2000" i="1">
                                              <a:latin typeface="Cambria Math" panose="02040503050406030204" pitchFamily="18" charset="0"/>
                                            </a:rPr>
                                          </m:ctrlPr>
                                        </m:naryPr>
                                        <m:sub>
                                          <m:sSup>
                                            <m:sSupPr>
                                              <m:ctrlPr>
                                                <a:rPr lang="en-US" sz="2000" i="1">
                                                  <a:latin typeface="Cambria Math" panose="02040503050406030204" pitchFamily="18" charset="0"/>
                                                </a:rPr>
                                              </m:ctrlPr>
                                            </m:sSupPr>
                                            <m:e>
                                              <m:r>
                                                <a:rPr lang="en-US" sz="2000" i="1">
                                                  <a:latin typeface="Cambria Math" panose="02040503050406030204" pitchFamily="18" charset="0"/>
                                                </a:rPr>
                                                <m:t>𝑖</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𝑖</m:t>
                                          </m:r>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𝑗</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𝑗</m:t>
                                          </m:r>
                                        </m:sub>
                                        <m:sup/>
                                        <m:e>
                                          <m:sSubSup>
                                            <m:sSubSupPr>
                                              <m:ctrlPr>
                                                <a:rPr lang="en-US" sz="2000" i="1">
                                                  <a:latin typeface="Cambria Math" panose="02040503050406030204" pitchFamily="18" charset="0"/>
                                                </a:rPr>
                                              </m:ctrlPr>
                                            </m:sSubSupPr>
                                            <m:e>
                                              <m:r>
                                                <a:rPr lang="en-US" sz="2000" i="1">
                                                  <a:latin typeface="Cambria Math" panose="02040503050406030204" pitchFamily="18" charset="0"/>
                                                </a:rPr>
                                                <m:t>𝑤</m:t>
                                              </m:r>
                                            </m:e>
                                            <m:sub>
                                              <m:sSup>
                                                <m:sSupPr>
                                                  <m:ctrlPr>
                                                    <a:rPr lang="en-US" sz="2000" i="1">
                                                      <a:latin typeface="Cambria Math" panose="02040503050406030204" pitchFamily="18" charset="0"/>
                                                    </a:rPr>
                                                  </m:ctrlPr>
                                                </m:sSupPr>
                                                <m:e>
                                                  <m:r>
                                                    <a:rPr lang="en-US" sz="2000" i="1">
                                                      <a:latin typeface="Cambria Math" panose="02040503050406030204" pitchFamily="18" charset="0"/>
                                                    </a:rPr>
                                                    <m:t>𝑢</m:t>
                                                  </m:r>
                                                </m:e>
                                                <m:sup>
                                                  <m:r>
                                                    <a:rPr lang="en-US" sz="2000" i="1">
                                                      <a:latin typeface="Cambria Math" panose="02040503050406030204" pitchFamily="18" charset="0"/>
                                                    </a:rPr>
                                                    <m:t>′</m:t>
                                                  </m:r>
                                                </m:sup>
                                              </m:sSup>
                                              <m:sSup>
                                                <m:sSupPr>
                                                  <m:ctrlPr>
                                                    <a:rPr lang="en-US" sz="2000" i="1">
                                                      <a:latin typeface="Cambria Math" panose="02040503050406030204" pitchFamily="18" charset="0"/>
                                                    </a:rPr>
                                                  </m:ctrlPr>
                                                </m:sSupPr>
                                                <m:e>
                                                  <m:r>
                                                    <a:rPr lang="en-US" sz="2000" i="1">
                                                      <a:latin typeface="Cambria Math" panose="02040503050406030204" pitchFamily="18" charset="0"/>
                                                    </a:rPr>
                                                    <m:t>𝑣</m:t>
                                                  </m:r>
                                                </m:e>
                                                <m:sup>
                                                  <m:r>
                                                    <a:rPr lang="en-US" sz="2000" i="1">
                                                      <a:latin typeface="Cambria Math" panose="02040503050406030204" pitchFamily="18" charset="0"/>
                                                    </a:rPr>
                                                    <m:t>′</m:t>
                                                  </m:r>
                                                </m:sup>
                                              </m:sSup>
                                            </m:sub>
                                            <m:sup>
                                              <m:d>
                                                <m:dPr>
                                                  <m:ctrlPr>
                                                    <a:rPr lang="en-US" sz="2000" i="1">
                                                      <a:latin typeface="Cambria Math" panose="02040503050406030204" pitchFamily="18" charset="0"/>
                                                    </a:rPr>
                                                  </m:ctrlPr>
                                                </m:dPr>
                                                <m:e>
                                                  <m:r>
                                                    <a:rPr lang="en-US" sz="2000" i="1">
                                                      <a:latin typeface="Cambria Math" panose="02040503050406030204" pitchFamily="18" charset="0"/>
                                                    </a:rPr>
                                                    <m:t>𝑘</m:t>
                                                  </m:r>
                                                  <m:r>
                                                    <a:rPr lang="en-US" sz="2000" i="1">
                                                      <a:latin typeface="Cambria Math" panose="02040503050406030204" pitchFamily="18" charset="0"/>
                                                    </a:rPr>
                                                    <m:t>+1</m:t>
                                                  </m:r>
                                                </m:e>
                                              </m:d>
                                            </m:sup>
                                          </m:sSubSup>
                                          <m:sSub>
                                            <m:sSubPr>
                                              <m:ctrlPr>
                                                <a:rPr lang="en-US" sz="2000" i="1">
                                                  <a:latin typeface="Cambria Math" panose="02040503050406030204" pitchFamily="18" charset="0"/>
                                                </a:rPr>
                                              </m:ctrlPr>
                                            </m:sSubPr>
                                            <m:e>
                                              <m:r>
                                                <a:rPr lang="en-US" sz="2000">
                                                  <a:latin typeface="Cambria Math" panose="02040503050406030204" pitchFamily="18" charset="0"/>
                                                </a:rPr>
                                                <m:t>𝛻</m:t>
                                              </m:r>
                                            </m:e>
                                            <m:sub>
                                              <m:sSup>
                                                <m:sSupPr>
                                                  <m:ctrlPr>
                                                    <a:rPr lang="en-US" sz="2000" i="1">
                                                      <a:latin typeface="Cambria Math" panose="02040503050406030204" pitchFamily="18" charset="0"/>
                                                    </a:rPr>
                                                  </m:ctrlPr>
                                                </m:sSupPr>
                                                <m:e>
                                                  <m:r>
                                                    <a:rPr lang="en-US" sz="2000" i="1">
                                                      <a:latin typeface="Cambria Math" panose="02040503050406030204" pitchFamily="18" charset="0"/>
                                                    </a:rPr>
                                                    <m:t>𝜃</m:t>
                                                  </m:r>
                                                </m:e>
                                                <m:sup>
                                                  <m:d>
                                                    <m:dPr>
                                                      <m:ctrlPr>
                                                        <a:rPr lang="en-US" sz="2000" i="1">
                                                          <a:latin typeface="Cambria Math" panose="02040503050406030204" pitchFamily="18" charset="0"/>
                                                        </a:rPr>
                                                      </m:ctrlPr>
                                                    </m:dPr>
                                                    <m:e>
                                                      <m:r>
                                                        <a:rPr lang="en-US" sz="2000" i="1">
                                                          <a:latin typeface="Cambria Math" panose="02040503050406030204" pitchFamily="18" charset="0"/>
                                                        </a:rPr>
                                                        <m:t>𝑘</m:t>
                                                      </m:r>
                                                      <m:r>
                                                        <a:rPr lang="en-US" sz="2000" i="1">
                                                          <a:latin typeface="Cambria Math" panose="02040503050406030204" pitchFamily="18" charset="0"/>
                                                        </a:rPr>
                                                        <m:t>+1</m:t>
                                                      </m:r>
                                                    </m:e>
                                                  </m:d>
                                                </m:sup>
                                              </m:sSup>
                                            </m:sub>
                                          </m:sSub>
                                          <m:r>
                                            <a:rPr lang="en-US" sz="2000" i="1">
                                              <a:latin typeface="Cambria Math" panose="02040503050406030204" pitchFamily="18" charset="0"/>
                                            </a:rPr>
                                            <m:t>𝑙</m:t>
                                          </m:r>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𝑥</m:t>
                                                  </m:r>
                                                </m:e>
                                                <m:sub>
                                                  <m:sSup>
                                                    <m:sSupPr>
                                                      <m:ctrlPr>
                                                        <a:rPr lang="en-US" sz="2000" i="1">
                                                          <a:latin typeface="Cambria Math" panose="02040503050406030204" pitchFamily="18" charset="0"/>
                                                        </a:rPr>
                                                      </m:ctrlPr>
                                                    </m:sSupPr>
                                                    <m:e>
                                                      <m:r>
                                                        <a:rPr lang="en-US" sz="2000" i="1">
                                                          <a:latin typeface="Cambria Math" panose="02040503050406030204" pitchFamily="18" charset="0"/>
                                                        </a:rPr>
                                                        <m:t>𝑖</m:t>
                                                      </m:r>
                                                    </m:e>
                                                    <m:sup>
                                                      <m:r>
                                                        <a:rPr lang="en-US" sz="2000" i="1">
                                                          <a:latin typeface="Cambria Math" panose="02040503050406030204" pitchFamily="18" charset="0"/>
                                                        </a:rPr>
                                                        <m:t>′</m:t>
                                                      </m:r>
                                                    </m:sup>
                                                  </m:sSup>
                                                  <m:sSup>
                                                    <m:sSupPr>
                                                      <m:ctrlPr>
                                                        <a:rPr lang="en-US" sz="2000" i="1">
                                                          <a:latin typeface="Cambria Math" panose="02040503050406030204" pitchFamily="18" charset="0"/>
                                                        </a:rPr>
                                                      </m:ctrlPr>
                                                    </m:sSupPr>
                                                    <m:e>
                                                      <m:r>
                                                        <a:rPr lang="en-US" sz="2000" i="1">
                                                          <a:latin typeface="Cambria Math" panose="02040503050406030204" pitchFamily="18" charset="0"/>
                                                        </a:rPr>
                                                        <m:t>𝑗</m:t>
                                                      </m:r>
                                                    </m:e>
                                                    <m:sup>
                                                      <m:r>
                                                        <a:rPr lang="en-US" sz="2000" i="1">
                                                          <a:latin typeface="Cambria Math" panose="02040503050406030204" pitchFamily="18" charset="0"/>
                                                        </a:rPr>
                                                        <m:t>′</m:t>
                                                      </m:r>
                                                    </m:sup>
                                                  </m:sSup>
                                                </m:sub>
                                                <m:sup>
                                                  <m:d>
                                                    <m:dPr>
                                                      <m:ctrlPr>
                                                        <a:rPr lang="en-US" sz="2000" i="1">
                                                          <a:latin typeface="Cambria Math" panose="02040503050406030204" pitchFamily="18" charset="0"/>
                                                        </a:rPr>
                                                      </m:ctrlPr>
                                                    </m:dPr>
                                                    <m:e>
                                                      <m:r>
                                                        <a:rPr lang="en-US" sz="2000" i="1">
                                                          <a:latin typeface="Cambria Math" panose="02040503050406030204" pitchFamily="18" charset="0"/>
                                                        </a:rPr>
                                                        <m:t>𝑘</m:t>
                                                      </m:r>
                                                      <m:r>
                                                        <a:rPr lang="en-US" sz="2000" i="1">
                                                          <a:latin typeface="Cambria Math" panose="02040503050406030204" pitchFamily="18" charset="0"/>
                                                        </a:rPr>
                                                        <m:t>+1</m:t>
                                                      </m:r>
                                                    </m:e>
                                                  </m:d>
                                                </m:sup>
                                              </m:sSubSup>
                                            </m:e>
                                          </m:d>
                                        </m:e>
                                      </m:nary>
                                      <m:r>
                                        <a:rPr lang="en-US" sz="2000" i="1">
                                          <a:latin typeface="Cambria Math" panose="02040503050406030204" pitchFamily="18" charset="0"/>
                                        </a:rPr>
                                        <m:t> </m:t>
                                      </m:r>
                                      <m:r>
                                        <m:rPr>
                                          <m:sty m:val="p"/>
                                        </m:rPr>
                                        <a:rPr lang="en-US" sz="2000">
                                          <a:latin typeface="Cambria Math" panose="02040503050406030204" pitchFamily="18" charset="0"/>
                                        </a:rPr>
                                        <m:t>if</m:t>
                                      </m:r>
                                      <m:r>
                                        <a:rPr lang="en-US" sz="2000" i="1">
                                          <a:latin typeface="Cambria Math" panose="02040503050406030204" pitchFamily="18" charset="0"/>
                                        </a:rPr>
                                        <m:t> </m:t>
                                      </m:r>
                                      <m:r>
                                        <a:rPr lang="en-US" sz="2000" i="1">
                                          <a:latin typeface="Cambria Math" panose="02040503050406030204" pitchFamily="18" charset="0"/>
                                        </a:rPr>
                                        <m:t>𝑘</m:t>
                                      </m:r>
                                      <m:r>
                                        <a:rPr lang="en-US" sz="2000" i="1">
                                          <a:latin typeface="Cambria Math" panose="02040503050406030204" pitchFamily="18" charset="0"/>
                                        </a:rPr>
                                        <m:t>&lt;</m:t>
                                      </m:r>
                                      <m:r>
                                        <a:rPr lang="en-US" sz="2000" i="1">
                                          <a:latin typeface="Cambria Math" panose="02040503050406030204" pitchFamily="18" charset="0"/>
                                        </a:rPr>
                                        <m:t>𝐾</m:t>
                                      </m:r>
                                    </m:e>
                                  </m:mr>
                                </m:m>
                              </m:e>
                            </m:d>
                          </m:e>
                        </m:mr>
                      </m:m>
                    </m:oMath>
                  </m:oMathPara>
                </a14:m>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09120" cy="5176066"/>
              </a:xfrm>
              <a:blipFill>
                <a:blip r:embed="rId2"/>
                <a:stretch>
                  <a:fillRect l="-558" t="-707" r="-761" b="-2945"/>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7</a:t>
            </a:fld>
            <a:endParaRPr lang="en-US"/>
          </a:p>
        </p:txBody>
      </p:sp>
    </p:spTree>
    <p:extLst>
      <p:ext uri="{BB962C8B-B14F-4D97-AF65-F5344CB8AC3E}">
        <p14:creationId xmlns:p14="http://schemas.microsoft.com/office/powerpoint/2010/main" val="216668312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1. Introduction</a:t>
            </a:r>
          </a:p>
        </p:txBody>
      </p:sp>
      <p:sp>
        <p:nvSpPr>
          <p:cNvPr id="3" name="Content Placeholder 2"/>
          <p:cNvSpPr>
            <a:spLocks noGrp="1"/>
          </p:cNvSpPr>
          <p:nvPr>
            <p:ph idx="1"/>
          </p:nvPr>
        </p:nvSpPr>
        <p:spPr>
          <a:xfrm>
            <a:off x="91440" y="914399"/>
            <a:ext cx="11998960" cy="5176066"/>
          </a:xfrm>
        </p:spPr>
        <p:txBody>
          <a:bodyPr>
            <a:normAutofit/>
          </a:bodyPr>
          <a:lstStyle/>
          <a:p>
            <a:r>
              <a:rPr lang="en-US" sz="2600" dirty="0"/>
              <a:t>Although it is no doubt about the preeminence of </a:t>
            </a:r>
            <a:r>
              <a:rPr lang="en-US" sz="2600" dirty="0" smtClean="0"/>
              <a:t>CNN </a:t>
            </a:r>
            <a:r>
              <a:rPr lang="en-US" sz="2600" dirty="0"/>
              <a:t>in training image data, it is not meaningful enough to expend CNN into other high-dimension data different from image because CNN filter is appropriate to extract image feature. Moreover, data is changed or distorted after it goes through CNN so that original data with complete or full meaning is not kept intact within CNN methodology. Therefore, this research focuses on evaluating the hypothesis “whether matrix neural network is the alternative of </a:t>
            </a:r>
            <a:r>
              <a:rPr lang="en-US" sz="2600" dirty="0" smtClean="0"/>
              <a:t>CNN” </a:t>
            </a:r>
            <a:r>
              <a:rPr lang="en-US" sz="2600" dirty="0"/>
              <a:t>and so, image classification by CNN and matrix neural network called deep image classification is applied into testing the </a:t>
            </a:r>
            <a:r>
              <a:rPr lang="en-US" sz="2600" dirty="0" smtClean="0"/>
              <a:t>hypothesis.</a:t>
            </a:r>
          </a:p>
          <a:p>
            <a:r>
              <a:rPr lang="en-US" sz="2600" dirty="0" smtClean="0">
                <a:effectLst>
                  <a:outerShdw blurRad="38100" dist="38100" dir="2700000" algn="tl">
                    <a:srgbClr val="000000">
                      <a:alpha val="43137"/>
                    </a:srgbClr>
                  </a:outerShdw>
                </a:effectLst>
              </a:rPr>
              <a:t>The </a:t>
            </a:r>
            <a:r>
              <a:rPr lang="en-US" sz="2600" dirty="0">
                <a:effectLst>
                  <a:outerShdw blurRad="38100" dist="38100" dir="2700000" algn="tl">
                    <a:srgbClr val="000000">
                      <a:alpha val="43137"/>
                    </a:srgbClr>
                  </a:outerShdw>
                </a:effectLst>
              </a:rPr>
              <a:t>next section mentions some other works related to deep image classification and the later section describes the main methodology of this research which focuses on matrix neural network</a:t>
            </a:r>
            <a:r>
              <a:rPr lang="en-US" sz="2600" dirty="0"/>
              <a:t>.</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8</a:t>
            </a:fld>
            <a:endParaRPr lang="en-US"/>
          </a:p>
        </p:txBody>
      </p:sp>
    </p:spTree>
    <p:extLst>
      <p:ext uri="{BB962C8B-B14F-4D97-AF65-F5344CB8AC3E}">
        <p14:creationId xmlns:p14="http://schemas.microsoft.com/office/powerpoint/2010/main" val="217680536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2. Related works (main)</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r>
              <a:rPr lang="en-US" sz="2600" dirty="0"/>
              <a:t>As a convention, convolutional layer is called </a:t>
            </a:r>
            <a:r>
              <a:rPr lang="en-US" sz="2600" i="1" dirty="0"/>
              <a:t>c-layer</a:t>
            </a:r>
            <a:r>
              <a:rPr lang="en-US" sz="2600" dirty="0"/>
              <a:t> with filtering kernel (filter) and pooling layer with pooling kernel is called </a:t>
            </a:r>
            <a:r>
              <a:rPr lang="en-US" sz="2600" i="1" dirty="0"/>
              <a:t>p-layer</a:t>
            </a:r>
            <a:r>
              <a:rPr lang="en-US" sz="2600" dirty="0"/>
              <a:t> whereas traditional layer in dense network with parametric weights is simply called </a:t>
            </a:r>
            <a:r>
              <a:rPr lang="en-US" sz="2600" i="1" dirty="0" smtClean="0"/>
              <a:t>w</a:t>
            </a:r>
            <a:r>
              <a:rPr lang="en-US" sz="2600" dirty="0" smtClean="0"/>
              <a:t>-</a:t>
            </a:r>
            <a:r>
              <a:rPr lang="en-US" sz="2600" i="1" dirty="0" smtClean="0"/>
              <a:t>layer</a:t>
            </a:r>
            <a:r>
              <a:rPr lang="en-US" sz="2600" dirty="0" smtClean="0"/>
              <a:t>.</a:t>
            </a:r>
          </a:p>
          <a:p>
            <a:r>
              <a:rPr lang="en-US" sz="2600" dirty="0" smtClean="0">
                <a:effectLst>
                  <a:outerShdw blurRad="38100" dist="38100" dir="2700000" algn="tl">
                    <a:srgbClr val="000000">
                      <a:alpha val="43137"/>
                    </a:srgbClr>
                  </a:outerShdw>
                </a:effectLst>
              </a:rPr>
              <a:t>CNN-based </a:t>
            </a:r>
            <a:r>
              <a:rPr lang="en-US" sz="2600" dirty="0">
                <a:effectLst>
                  <a:outerShdw blurRad="38100" dist="38100" dir="2700000" algn="tl">
                    <a:srgbClr val="000000">
                      <a:alpha val="43137"/>
                    </a:srgbClr>
                  </a:outerShdw>
                </a:effectLst>
              </a:rPr>
              <a:t>classification methods are grouped in three approaches (Chen, et al., 2021): 1) traditional CNN-based approach called </a:t>
            </a:r>
            <a:r>
              <a:rPr lang="en-US" sz="2600" i="1" dirty="0">
                <a:effectLst>
                  <a:outerShdw blurRad="38100" dist="38100" dir="2700000" algn="tl">
                    <a:srgbClr val="000000">
                      <a:alpha val="43137"/>
                    </a:srgbClr>
                  </a:outerShdw>
                </a:effectLst>
              </a:rPr>
              <a:t>classic approach</a:t>
            </a:r>
            <a:r>
              <a:rPr lang="en-US" sz="2600" dirty="0">
                <a:effectLst>
                  <a:outerShdw blurRad="38100" dist="38100" dir="2700000" algn="tl">
                    <a:srgbClr val="000000">
                      <a:alpha val="43137"/>
                    </a:srgbClr>
                  </a:outerShdw>
                </a:effectLst>
              </a:rPr>
              <a:t> conforms strictly definition of CNN including two networks such as convolutional network (convolutional layers + pooling layers) and dense network, 2) </a:t>
            </a:r>
            <a:r>
              <a:rPr lang="en-US" sz="2600" i="1" dirty="0">
                <a:effectLst>
                  <a:outerShdw blurRad="38100" dist="38100" dir="2700000" algn="tl">
                    <a:srgbClr val="000000">
                      <a:alpha val="43137"/>
                    </a:srgbClr>
                  </a:outerShdw>
                </a:effectLst>
              </a:rPr>
              <a:t>Inception-based approach</a:t>
            </a:r>
            <a:r>
              <a:rPr lang="en-US" sz="2600" dirty="0">
                <a:effectLst>
                  <a:outerShdw blurRad="38100" dist="38100" dir="2700000" algn="tl">
                    <a:srgbClr val="000000">
                      <a:alpha val="43137"/>
                    </a:srgbClr>
                  </a:outerShdw>
                </a:effectLst>
              </a:rPr>
              <a:t> follows the concept of Inception, 3) </a:t>
            </a:r>
            <a:r>
              <a:rPr lang="en-US" sz="2600" i="1" dirty="0">
                <a:effectLst>
                  <a:outerShdw blurRad="38100" dist="38100" dir="2700000" algn="tl">
                    <a:srgbClr val="000000">
                      <a:alpha val="43137"/>
                    </a:srgbClr>
                  </a:outerShdw>
                </a:effectLst>
              </a:rPr>
              <a:t>residual approach</a:t>
            </a:r>
            <a:r>
              <a:rPr lang="en-US" sz="2600" dirty="0">
                <a:effectLst>
                  <a:outerShdw blurRad="38100" dist="38100" dir="2700000" algn="tl">
                    <a:srgbClr val="000000">
                      <a:alpha val="43137"/>
                    </a:srgbClr>
                  </a:outerShdw>
                </a:effectLst>
              </a:rPr>
              <a:t> follows the concept of residual network aiming to solve overfitting problem due to another problem of gradient vanishing, 4) </a:t>
            </a:r>
            <a:r>
              <a:rPr lang="en-US" sz="2600" i="1" dirty="0">
                <a:effectLst>
                  <a:outerShdw blurRad="38100" dist="38100" dir="2700000" algn="tl">
                    <a:srgbClr val="000000">
                      <a:alpha val="43137"/>
                    </a:srgbClr>
                  </a:outerShdw>
                </a:effectLst>
              </a:rPr>
              <a:t>attention-based approach</a:t>
            </a:r>
            <a:r>
              <a:rPr lang="en-US" sz="2600" dirty="0">
                <a:effectLst>
                  <a:outerShdw blurRad="38100" dist="38100" dir="2700000" algn="tl">
                    <a:srgbClr val="000000">
                      <a:alpha val="43137"/>
                    </a:srgbClr>
                  </a:outerShdw>
                </a:effectLst>
              </a:rPr>
              <a:t> applies attention mechanism into CNN classifier, 5) </a:t>
            </a:r>
            <a:r>
              <a:rPr lang="en-US" sz="2600" i="1" dirty="0">
                <a:effectLst>
                  <a:outerShdw blurRad="38100" dist="38100" dir="2700000" algn="tl">
                    <a:srgbClr val="000000">
                      <a:alpha val="43137"/>
                    </a:srgbClr>
                  </a:outerShdw>
                </a:effectLst>
              </a:rPr>
              <a:t>transformer-based approach</a:t>
            </a:r>
            <a:r>
              <a:rPr lang="en-US" sz="2600" dirty="0">
                <a:effectLst>
                  <a:outerShdw blurRad="38100" dist="38100" dir="2700000" algn="tl">
                    <a:srgbClr val="000000">
                      <a:alpha val="43137"/>
                    </a:srgbClr>
                  </a:outerShdw>
                </a:effectLst>
              </a:rPr>
              <a:t> which is the most recent approach until now (2025) applies transformer developed in large language model (LLM) into CNN-based </a:t>
            </a:r>
            <a:r>
              <a:rPr lang="en-US" sz="2600" dirty="0" smtClean="0">
                <a:effectLst>
                  <a:outerShdw blurRad="38100" dist="38100" dir="2700000" algn="tl">
                    <a:srgbClr val="000000">
                      <a:alpha val="43137"/>
                    </a:srgbClr>
                  </a:outerShdw>
                </a:effectLst>
              </a:rPr>
              <a:t>classifier</a:t>
            </a:r>
            <a:r>
              <a:rPr lang="en-US" sz="2600" dirty="0" smtClean="0"/>
              <a:t>.</a:t>
            </a:r>
            <a:endParaRPr lang="en-US" sz="26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9</a:t>
            </a:fld>
            <a:endParaRPr lang="en-US"/>
          </a:p>
        </p:txBody>
      </p:sp>
    </p:spTree>
    <p:extLst>
      <p:ext uri="{BB962C8B-B14F-4D97-AF65-F5344CB8AC3E}">
        <p14:creationId xmlns:p14="http://schemas.microsoft.com/office/powerpoint/2010/main" val="53112049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 Related </a:t>
            </a:r>
            <a:r>
              <a:rPr lang="en-US" dirty="0" smtClean="0"/>
              <a:t>works (skip)</a:t>
            </a:r>
            <a:endParaRPr lang="en-US" dirty="0"/>
          </a:p>
        </p:txBody>
      </p:sp>
      <p:sp>
        <p:nvSpPr>
          <p:cNvPr id="3" name="Content Placeholder 2"/>
          <p:cNvSpPr>
            <a:spLocks noGrp="1"/>
          </p:cNvSpPr>
          <p:nvPr>
            <p:ph idx="1"/>
          </p:nvPr>
        </p:nvSpPr>
        <p:spPr>
          <a:xfrm>
            <a:off x="91440" y="914399"/>
            <a:ext cx="12009120" cy="5176066"/>
          </a:xfrm>
        </p:spPr>
        <p:txBody>
          <a:bodyPr>
            <a:noAutofit/>
          </a:bodyPr>
          <a:lstStyle/>
          <a:p>
            <a:r>
              <a:rPr lang="en-US" sz="2000" dirty="0"/>
              <a:t>In 1998, </a:t>
            </a:r>
            <a:r>
              <a:rPr lang="en-US" sz="2000" dirty="0" err="1"/>
              <a:t>LeCun</a:t>
            </a:r>
            <a:r>
              <a:rPr lang="en-US" sz="2000" dirty="0"/>
              <a:t> et al. (</a:t>
            </a:r>
            <a:r>
              <a:rPr lang="en-US" sz="2000" dirty="0" err="1"/>
              <a:t>LeCun</a:t>
            </a:r>
            <a:r>
              <a:rPr lang="en-US" sz="2000" dirty="0"/>
              <a:t>, </a:t>
            </a:r>
            <a:r>
              <a:rPr lang="en-US" sz="2000" dirty="0" err="1"/>
              <a:t>Bottou</a:t>
            </a:r>
            <a:r>
              <a:rPr lang="en-US" sz="2000" dirty="0"/>
              <a:t>, </a:t>
            </a:r>
            <a:r>
              <a:rPr lang="en-US" sz="2000" dirty="0" err="1"/>
              <a:t>Bengio</a:t>
            </a:r>
            <a:r>
              <a:rPr lang="en-US" sz="2000" dirty="0"/>
              <a:t>, &amp; </a:t>
            </a:r>
            <a:r>
              <a:rPr lang="en-US" sz="2000" dirty="0" err="1"/>
              <a:t>Haffner</a:t>
            </a:r>
            <a:r>
              <a:rPr lang="en-US" sz="2000" dirty="0"/>
              <a:t>, 1998) developed </a:t>
            </a:r>
            <a:r>
              <a:rPr lang="en-US" sz="2000" dirty="0" err="1">
                <a:effectLst>
                  <a:outerShdw blurRad="38100" dist="38100" dir="2700000" algn="tl">
                    <a:srgbClr val="000000">
                      <a:alpha val="43137"/>
                    </a:srgbClr>
                  </a:outerShdw>
                </a:effectLst>
              </a:rPr>
              <a:t>LeNet</a:t>
            </a:r>
            <a:r>
              <a:rPr lang="en-US" sz="2000" dirty="0">
                <a:effectLst>
                  <a:outerShdw blurRad="38100" dist="38100" dir="2700000" algn="tl">
                    <a:srgbClr val="000000">
                      <a:alpha val="43137"/>
                    </a:srgbClr>
                  </a:outerShdw>
                </a:effectLst>
              </a:rPr>
              <a:t> model well-known as pioneering research which established fundamental principles of classic approach for CNN classifier</a:t>
            </a:r>
            <a:r>
              <a:rPr lang="en-US" sz="2000" dirty="0"/>
              <a:t>. </a:t>
            </a:r>
            <a:r>
              <a:rPr lang="en-US" sz="2000" dirty="0" err="1"/>
              <a:t>LeNet</a:t>
            </a:r>
            <a:r>
              <a:rPr lang="en-US" sz="2000" dirty="0"/>
              <a:t> model also called LeNet-5 network consists of two successive network such as convolutional network and dense network where convolutional network has 4 c-layers and dense network has 3 w-layers, which means that LeNet-5 has 7 layers</a:t>
            </a:r>
            <a:r>
              <a:rPr lang="en-US" sz="2000" dirty="0" smtClean="0"/>
              <a:t>.</a:t>
            </a:r>
          </a:p>
          <a:p>
            <a:r>
              <a:rPr lang="en-US" sz="2000" dirty="0"/>
              <a:t>More than ten years later, in 2012, </a:t>
            </a:r>
            <a:r>
              <a:rPr lang="en-US" sz="2000" dirty="0" err="1"/>
              <a:t>Krizhevsky</a:t>
            </a:r>
            <a:r>
              <a:rPr lang="en-US" sz="2000" dirty="0"/>
              <a:t> et al. (</a:t>
            </a:r>
            <a:r>
              <a:rPr lang="en-US" sz="2000" dirty="0" err="1"/>
              <a:t>Krizhevsky</a:t>
            </a:r>
            <a:r>
              <a:rPr lang="en-US" sz="2000" dirty="0"/>
              <a:t>, </a:t>
            </a:r>
            <a:r>
              <a:rPr lang="en-US" sz="2000" dirty="0" err="1"/>
              <a:t>Sutskever</a:t>
            </a:r>
            <a:r>
              <a:rPr lang="en-US" sz="2000" dirty="0"/>
              <a:t>, &amp; Hinton, 2012) proposed </a:t>
            </a:r>
            <a:r>
              <a:rPr lang="en-US" sz="2000" dirty="0" err="1">
                <a:effectLst>
                  <a:outerShdw blurRad="38100" dist="38100" dir="2700000" algn="tl">
                    <a:srgbClr val="000000">
                      <a:alpha val="43137"/>
                    </a:srgbClr>
                  </a:outerShdw>
                </a:effectLst>
              </a:rPr>
              <a:t>AlexNet</a:t>
            </a:r>
            <a:r>
              <a:rPr lang="en-US" sz="2000" dirty="0">
                <a:effectLst>
                  <a:outerShdw blurRad="38100" dist="38100" dir="2700000" algn="tl">
                    <a:srgbClr val="000000">
                      <a:alpha val="43137"/>
                    </a:srgbClr>
                  </a:outerShdw>
                </a:effectLst>
              </a:rPr>
              <a:t> model which gave better result in CNN classification consists of two successive networks such as convolutional network and dense network</a:t>
            </a:r>
            <a:r>
              <a:rPr lang="en-US" sz="2000" dirty="0"/>
              <a:t> where convolutional network has 8 c-layers and dense network has 3 w-layers, which means that </a:t>
            </a:r>
            <a:r>
              <a:rPr lang="en-US" sz="2000" dirty="0" err="1"/>
              <a:t>AlexNet</a:t>
            </a:r>
            <a:r>
              <a:rPr lang="en-US" sz="2000" dirty="0"/>
              <a:t> has 11 layers</a:t>
            </a:r>
            <a:r>
              <a:rPr lang="en-US" sz="2000" dirty="0" smtClean="0"/>
              <a:t>. </a:t>
            </a:r>
            <a:r>
              <a:rPr lang="en-US" sz="2000" dirty="0" err="1"/>
              <a:t>AlexNet</a:t>
            </a:r>
            <a:r>
              <a:rPr lang="en-US" sz="2000" dirty="0" smtClean="0"/>
              <a:t> </a:t>
            </a:r>
            <a:r>
              <a:rPr lang="en-US" sz="2000" dirty="0"/>
              <a:t>still belongs to classic approach </a:t>
            </a:r>
            <a:r>
              <a:rPr lang="en-US" sz="2000" dirty="0" smtClean="0"/>
              <a:t>but </a:t>
            </a:r>
            <a:r>
              <a:rPr lang="en-US" sz="2000" dirty="0"/>
              <a:t>there are many significant improvements of </a:t>
            </a:r>
            <a:r>
              <a:rPr lang="en-US" sz="2000" dirty="0" err="1"/>
              <a:t>AlexNet</a:t>
            </a:r>
            <a:r>
              <a:rPr lang="en-US" sz="2000" dirty="0"/>
              <a:t> in comparison with LeNet-5 (Chen, et al., 2021, p. 10</a:t>
            </a:r>
            <a:r>
              <a:rPr lang="en-US" sz="2000" dirty="0" smtClean="0"/>
              <a:t>).</a:t>
            </a:r>
          </a:p>
          <a:p>
            <a:r>
              <a:rPr lang="en-US" sz="2000" dirty="0">
                <a:effectLst>
                  <a:outerShdw blurRad="38100" dist="38100" dir="2700000" algn="tl">
                    <a:srgbClr val="000000">
                      <a:alpha val="43137"/>
                    </a:srgbClr>
                  </a:outerShdw>
                </a:effectLst>
              </a:rPr>
              <a:t>The VGG model </a:t>
            </a:r>
            <a:r>
              <a:rPr lang="en-US" sz="2000" dirty="0"/>
              <a:t>developed by </a:t>
            </a:r>
            <a:r>
              <a:rPr lang="en-US" sz="2000" dirty="0" err="1"/>
              <a:t>Simonyan</a:t>
            </a:r>
            <a:r>
              <a:rPr lang="en-US" sz="2000" dirty="0"/>
              <a:t> and Zisserman (</a:t>
            </a:r>
            <a:r>
              <a:rPr lang="en-US" sz="2000" dirty="0" err="1"/>
              <a:t>Simonyan</a:t>
            </a:r>
            <a:r>
              <a:rPr lang="en-US" sz="2000" dirty="0"/>
              <a:t> &amp; Zisserman, 2015), which </a:t>
            </a:r>
            <a:r>
              <a:rPr lang="en-US" sz="2000" dirty="0">
                <a:effectLst>
                  <a:outerShdw blurRad="38100" dist="38100" dir="2700000" algn="tl">
                    <a:srgbClr val="000000">
                      <a:alpha val="43137"/>
                    </a:srgbClr>
                  </a:outerShdw>
                </a:effectLst>
              </a:rPr>
              <a:t>belongs to classic approach, aims to define a well-structured model by modular architecture</a:t>
            </a:r>
            <a:r>
              <a:rPr lang="en-US" sz="2000" dirty="0"/>
              <a:t>. Exactly, VGG architecture still includes convolutional network and dense network but its convolutional network is modularized into five blocks and each </a:t>
            </a:r>
            <a:r>
              <a:rPr lang="en-US" sz="2000" i="1" dirty="0"/>
              <a:t>bock</a:t>
            </a:r>
            <a:r>
              <a:rPr lang="en-US" sz="2000" dirty="0"/>
              <a:t> has some c-layers and one p-layer (Gemini 2025). Output dimension is decreased doubly block-after-block, which is called </a:t>
            </a:r>
            <a:r>
              <a:rPr lang="en-US" sz="2000" i="1" dirty="0"/>
              <a:t>dimensionality reduction</a:t>
            </a:r>
            <a:r>
              <a:rPr lang="en-US" sz="2000" dirty="0"/>
              <a:t>, whereas the number of filters (filtering kernels) is increased doubly block-after-block, which is called </a:t>
            </a:r>
            <a:r>
              <a:rPr lang="en-US" sz="2000" i="1" dirty="0"/>
              <a:t>filter progression</a:t>
            </a:r>
            <a:r>
              <a:rPr lang="en-US" sz="2000" dirty="0"/>
              <a:t> (Gemini 2025).</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10</a:t>
            </a:fld>
            <a:endParaRPr lang="en-US"/>
          </a:p>
        </p:txBody>
      </p:sp>
    </p:spTree>
    <p:extLst>
      <p:ext uri="{BB962C8B-B14F-4D97-AF65-F5344CB8AC3E}">
        <p14:creationId xmlns:p14="http://schemas.microsoft.com/office/powerpoint/2010/main" val="79069346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 Related </a:t>
            </a:r>
            <a:r>
              <a:rPr lang="en-US" dirty="0" smtClean="0"/>
              <a:t>works (skip)</a:t>
            </a:r>
            <a:endParaRPr lang="en-US" dirty="0"/>
          </a:p>
        </p:txBody>
      </p:sp>
      <p:sp>
        <p:nvSpPr>
          <p:cNvPr id="3" name="Content Placeholder 2"/>
          <p:cNvSpPr>
            <a:spLocks noGrp="1"/>
          </p:cNvSpPr>
          <p:nvPr>
            <p:ph idx="1"/>
          </p:nvPr>
        </p:nvSpPr>
        <p:spPr>
          <a:xfrm>
            <a:off x="101600" y="914399"/>
            <a:ext cx="12009120" cy="5176066"/>
          </a:xfrm>
        </p:spPr>
        <p:txBody>
          <a:bodyPr>
            <a:noAutofit/>
          </a:bodyPr>
          <a:lstStyle/>
          <a:p>
            <a:r>
              <a:rPr lang="en-US" sz="2100" dirty="0"/>
              <a:t>Network-in-network (</a:t>
            </a:r>
            <a:r>
              <a:rPr lang="en-US" sz="2100" dirty="0" err="1"/>
              <a:t>NiN</a:t>
            </a:r>
            <a:r>
              <a:rPr lang="en-US" sz="2100" dirty="0"/>
              <a:t>) model proposed by Lin et al. (Lin, Chen, &amp; Yan, 2014) which is the last generation one belonging to classic approach is an significantly methodology in CNN based classification because </a:t>
            </a:r>
            <a:r>
              <a:rPr lang="en-US" sz="2100" dirty="0" err="1">
                <a:effectLst>
                  <a:outerShdw blurRad="38100" dist="38100" dir="2700000" algn="tl">
                    <a:srgbClr val="000000">
                      <a:alpha val="43137"/>
                    </a:srgbClr>
                  </a:outerShdw>
                </a:effectLst>
              </a:rPr>
              <a:t>NiN</a:t>
            </a:r>
            <a:r>
              <a:rPr lang="en-US" sz="2100" dirty="0">
                <a:effectLst>
                  <a:outerShdw blurRad="38100" dist="38100" dir="2700000" algn="tl">
                    <a:srgbClr val="000000">
                      <a:alpha val="43137"/>
                    </a:srgbClr>
                  </a:outerShdw>
                </a:effectLst>
              </a:rPr>
              <a:t> decreases significantly complexity of linear filter operator in multi-channels </a:t>
            </a:r>
            <a:r>
              <a:rPr lang="en-US" sz="2100" dirty="0" smtClean="0">
                <a:effectLst>
                  <a:outerShdw blurRad="38100" dist="38100" dir="2700000" algn="tl">
                    <a:srgbClr val="000000">
                      <a:alpha val="43137"/>
                    </a:srgbClr>
                  </a:outerShdw>
                </a:effectLst>
              </a:rPr>
              <a:t>by proposing a so-called </a:t>
            </a:r>
            <a:r>
              <a:rPr lang="en-US" sz="2100" i="1" dirty="0" smtClean="0">
                <a:effectLst>
                  <a:outerShdw blurRad="38100" dist="38100" dir="2700000" algn="tl">
                    <a:srgbClr val="000000">
                      <a:alpha val="43137"/>
                    </a:srgbClr>
                  </a:outerShdw>
                </a:effectLst>
              </a:rPr>
              <a:t>micro </a:t>
            </a:r>
            <a:r>
              <a:rPr lang="en-US" sz="2100" i="1" dirty="0">
                <a:effectLst>
                  <a:outerShdw blurRad="38100" dist="38100" dir="2700000" algn="tl">
                    <a:srgbClr val="000000">
                      <a:alpha val="43137"/>
                    </a:srgbClr>
                  </a:outerShdw>
                </a:effectLst>
              </a:rPr>
              <a:t>filtering kernel</a:t>
            </a:r>
            <a:r>
              <a:rPr lang="en-US" sz="2100" dirty="0">
                <a:effectLst>
                  <a:outerShdw blurRad="38100" dist="38100" dir="2700000" algn="tl">
                    <a:srgbClr val="000000">
                      <a:alpha val="43137"/>
                    </a:srgbClr>
                  </a:outerShdw>
                </a:effectLst>
              </a:rPr>
              <a:t> </a:t>
            </a:r>
            <a:r>
              <a:rPr lang="en-US" sz="2100" dirty="0" smtClean="0"/>
              <a:t>which is </a:t>
            </a:r>
            <a:r>
              <a:rPr lang="en-US" sz="2100" dirty="0"/>
              <a:t>1x1 window including only one </a:t>
            </a:r>
            <a:r>
              <a:rPr lang="en-US" sz="2100" dirty="0" smtClean="0"/>
              <a:t>weight. As a result, given </a:t>
            </a:r>
            <a:r>
              <a:rPr lang="en-US" sz="2100" dirty="0"/>
              <a:t>any two successive convolutional layers </a:t>
            </a:r>
            <a:r>
              <a:rPr lang="en-US" sz="2100" dirty="0" smtClean="0"/>
              <a:t>in </a:t>
            </a:r>
            <a:r>
              <a:rPr lang="en-US" sz="2100" dirty="0" err="1" smtClean="0"/>
              <a:t>NiN</a:t>
            </a:r>
            <a:r>
              <a:rPr lang="en-US" sz="2100" dirty="0" smtClean="0"/>
              <a:t>, </a:t>
            </a:r>
            <a:r>
              <a:rPr lang="en-US" sz="2100" dirty="0"/>
              <a:t>there is a sub-network between the two c-layers, called multilayer perceptron convolutional network (</a:t>
            </a:r>
            <a:r>
              <a:rPr lang="en-US" sz="2100" i="1" dirty="0" err="1"/>
              <a:t>mlpconv</a:t>
            </a:r>
            <a:r>
              <a:rPr lang="en-US" sz="2100" dirty="0"/>
              <a:t>) including some sub-layers called </a:t>
            </a:r>
            <a:r>
              <a:rPr lang="en-US" sz="2100" i="1" dirty="0" smtClean="0"/>
              <a:t>micro-layers</a:t>
            </a:r>
            <a:r>
              <a:rPr lang="en-US" sz="2100" dirty="0" smtClean="0"/>
              <a:t> whose filtering kernels are </a:t>
            </a:r>
            <a:r>
              <a:rPr lang="en-US" sz="2100" dirty="0"/>
              <a:t>micro filtering </a:t>
            </a:r>
            <a:r>
              <a:rPr lang="en-US" sz="2100" dirty="0" smtClean="0"/>
              <a:t>kernels, which supports </a:t>
            </a:r>
            <a:r>
              <a:rPr lang="en-US" sz="2100" i="1" dirty="0"/>
              <a:t>cross </a:t>
            </a:r>
            <a:r>
              <a:rPr lang="en-US" sz="2100" i="1" dirty="0" smtClean="0"/>
              <a:t>max-pooling </a:t>
            </a:r>
            <a:r>
              <a:rPr lang="en-US" sz="2100" dirty="0" smtClean="0"/>
              <a:t>over many image channels</a:t>
            </a:r>
            <a:r>
              <a:rPr lang="en-US" sz="2100" i="1" dirty="0" smtClean="0"/>
              <a:t>.</a:t>
            </a:r>
          </a:p>
          <a:p>
            <a:r>
              <a:rPr lang="en-US" sz="2100" dirty="0" err="1">
                <a:effectLst>
                  <a:outerShdw blurRad="38100" dist="38100" dir="2700000" algn="tl">
                    <a:srgbClr val="000000">
                      <a:alpha val="43137"/>
                    </a:srgbClr>
                  </a:outerShdw>
                </a:effectLst>
              </a:rPr>
              <a:t>GoogleLeNet</a:t>
            </a:r>
            <a:r>
              <a:rPr lang="en-US" sz="2100" dirty="0">
                <a:effectLst>
                  <a:outerShdw blurRad="38100" dist="38100" dir="2700000" algn="tl">
                    <a:srgbClr val="000000">
                      <a:alpha val="43137"/>
                    </a:srgbClr>
                  </a:outerShdw>
                </a:effectLst>
              </a:rPr>
              <a:t> also called Inception V1</a:t>
            </a:r>
            <a:r>
              <a:rPr lang="en-US" sz="2100" dirty="0"/>
              <a:t> developed by </a:t>
            </a:r>
            <a:r>
              <a:rPr lang="en-US" sz="2100" dirty="0" err="1"/>
              <a:t>Szegedy</a:t>
            </a:r>
            <a:r>
              <a:rPr lang="en-US" sz="2100" dirty="0"/>
              <a:t> et al. (</a:t>
            </a:r>
            <a:r>
              <a:rPr lang="en-US" sz="2100" dirty="0" err="1"/>
              <a:t>Szegedy</a:t>
            </a:r>
            <a:r>
              <a:rPr lang="en-US" sz="2100" dirty="0"/>
              <a:t>, et al., 2015) </a:t>
            </a:r>
            <a:r>
              <a:rPr lang="en-US" sz="2100" dirty="0">
                <a:effectLst>
                  <a:outerShdw blurRad="38100" dist="38100" dir="2700000" algn="tl">
                    <a:srgbClr val="000000">
                      <a:alpha val="43137"/>
                    </a:srgbClr>
                  </a:outerShdw>
                </a:effectLst>
              </a:rPr>
              <a:t>improved CNN based classifier through a far distance by proposing the concept of Inception model where Inception inherits from both the modular mechanism of VGG and the micro-filtering operator of </a:t>
            </a:r>
            <a:r>
              <a:rPr lang="en-US" sz="2100" dirty="0" err="1">
                <a:effectLst>
                  <a:outerShdw blurRad="38100" dist="38100" dir="2700000" algn="tl">
                    <a:srgbClr val="000000">
                      <a:alpha val="43137"/>
                    </a:srgbClr>
                  </a:outerShdw>
                </a:effectLst>
              </a:rPr>
              <a:t>NiN</a:t>
            </a:r>
            <a:r>
              <a:rPr lang="en-US" sz="2100" dirty="0"/>
              <a:t> so that every Inception module has some convolutional layers which include: 1) normal filtering kernel with matrix kernel, 2) 1x1 micro-filtering kernel with one weight, 3) max-pooling kernel, and 4) global average pool (GAP). Especially, the most important aspect of Inception is that these convolutional layers are operated in parallel so that the final layer called filter concatenation layer will concatenate outputs of such convolutional layers in depth according to predefined number of channels.</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11</a:t>
            </a:fld>
            <a:endParaRPr lang="en-US"/>
          </a:p>
        </p:txBody>
      </p:sp>
    </p:spTree>
    <p:extLst>
      <p:ext uri="{BB962C8B-B14F-4D97-AF65-F5344CB8AC3E}">
        <p14:creationId xmlns:p14="http://schemas.microsoft.com/office/powerpoint/2010/main" val="150260956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 Related </a:t>
            </a:r>
            <a:r>
              <a:rPr lang="en-US" dirty="0" smtClean="0"/>
              <a:t>works (skip)</a:t>
            </a:r>
            <a:endParaRPr lang="en-US" dirty="0"/>
          </a:p>
        </p:txBody>
      </p:sp>
      <p:sp>
        <p:nvSpPr>
          <p:cNvPr id="3" name="Content Placeholder 2"/>
          <p:cNvSpPr>
            <a:spLocks noGrp="1"/>
          </p:cNvSpPr>
          <p:nvPr>
            <p:ph idx="1"/>
          </p:nvPr>
        </p:nvSpPr>
        <p:spPr>
          <a:xfrm>
            <a:off x="71120" y="914399"/>
            <a:ext cx="12049760" cy="5176066"/>
          </a:xfrm>
        </p:spPr>
        <p:txBody>
          <a:bodyPr>
            <a:noAutofit/>
          </a:bodyPr>
          <a:lstStyle/>
          <a:p>
            <a:r>
              <a:rPr lang="en-US" sz="2000" dirty="0"/>
              <a:t>The overfitting problem which occurs frequently in </a:t>
            </a:r>
            <a:r>
              <a:rPr lang="en-US" sz="2000" dirty="0" smtClean="0"/>
              <a:t>deep </a:t>
            </a:r>
            <a:r>
              <a:rPr lang="en-US" sz="2000" dirty="0"/>
              <a:t>neural network (DNN) with many hidden </a:t>
            </a:r>
            <a:r>
              <a:rPr lang="en-US" sz="2000" dirty="0" smtClean="0"/>
              <a:t>layers, </a:t>
            </a:r>
            <a:r>
              <a:rPr lang="en-US" sz="2000" dirty="0"/>
              <a:t>which decrease significantly </a:t>
            </a:r>
            <a:r>
              <a:rPr lang="en-US" sz="2000" dirty="0" smtClean="0"/>
              <a:t>accuracy. </a:t>
            </a:r>
            <a:r>
              <a:rPr lang="en-US" sz="2000" dirty="0"/>
              <a:t>The main cause of overfitting problem is the event that gradient of activation function become too small nearly zero after a chain of gradient calculations by </a:t>
            </a:r>
            <a:r>
              <a:rPr lang="en-US" sz="2000" dirty="0" smtClean="0"/>
              <a:t>SGD </a:t>
            </a:r>
            <a:r>
              <a:rPr lang="en-US" sz="2000" dirty="0"/>
              <a:t>algorithm and backpropagation algorithm, which is known as </a:t>
            </a:r>
            <a:r>
              <a:rPr lang="en-US" sz="2000" i="1" dirty="0"/>
              <a:t>vanishing gradient</a:t>
            </a:r>
            <a:r>
              <a:rPr lang="en-US" sz="2000" dirty="0"/>
              <a:t> problem. There are two popular approaches to solve vanishing gradient problem such as dropout (dilution) technique and residual connection (RC) technique. </a:t>
            </a:r>
            <a:r>
              <a:rPr lang="en-US" sz="2000" dirty="0" err="1"/>
              <a:t>Kaiming</a:t>
            </a:r>
            <a:r>
              <a:rPr lang="en-US" sz="2000" dirty="0"/>
              <a:t> He et al. (He, Zhang, Ren, &amp; Sun, 2016) proposed RC technique and applied RC into training convolutional filtering kernel (weights) so as to produce a so-called </a:t>
            </a:r>
            <a:r>
              <a:rPr lang="en-US" sz="2000" dirty="0" err="1"/>
              <a:t>ResNet</a:t>
            </a:r>
            <a:r>
              <a:rPr lang="en-US" sz="2000" dirty="0"/>
              <a:t> for CNN-based classification. </a:t>
            </a:r>
            <a:r>
              <a:rPr lang="en-US" sz="2000" dirty="0">
                <a:effectLst>
                  <a:outerShdw blurRad="38100" dist="38100" dir="2700000" algn="tl">
                    <a:srgbClr val="000000">
                      <a:alpha val="43137"/>
                    </a:srgbClr>
                  </a:outerShdw>
                </a:effectLst>
              </a:rPr>
              <a:t>The significant effectiveness of </a:t>
            </a:r>
            <a:r>
              <a:rPr lang="en-US" sz="2000" dirty="0" err="1">
                <a:effectLst>
                  <a:outerShdw blurRad="38100" dist="38100" dir="2700000" algn="tl">
                    <a:srgbClr val="000000">
                      <a:alpha val="43137"/>
                    </a:srgbClr>
                  </a:outerShdw>
                </a:effectLst>
              </a:rPr>
              <a:t>ResNet</a:t>
            </a:r>
            <a:r>
              <a:rPr lang="en-US" sz="2000" dirty="0">
                <a:effectLst>
                  <a:outerShdw blurRad="38100" dist="38100" dir="2700000" algn="tl">
                    <a:srgbClr val="000000">
                      <a:alpha val="43137"/>
                    </a:srgbClr>
                  </a:outerShdw>
                </a:effectLst>
              </a:rPr>
              <a:t> makes itself </a:t>
            </a:r>
            <a:r>
              <a:rPr lang="en-US" sz="2000">
                <a:effectLst>
                  <a:outerShdw blurRad="38100" dist="38100" dir="2700000" algn="tl">
                    <a:srgbClr val="000000">
                      <a:alpha val="43137"/>
                    </a:srgbClr>
                  </a:outerShdw>
                </a:effectLst>
              </a:rPr>
              <a:t>become </a:t>
            </a:r>
            <a:r>
              <a:rPr lang="en-US" sz="2000" smtClean="0">
                <a:effectLst>
                  <a:outerShdw blurRad="38100" dist="38100" dir="2700000" algn="tl">
                    <a:srgbClr val="000000">
                      <a:alpha val="43137"/>
                    </a:srgbClr>
                  </a:outerShdw>
                </a:effectLst>
              </a:rPr>
              <a:t>a </a:t>
            </a:r>
            <a:r>
              <a:rPr lang="en-US" sz="2000" dirty="0">
                <a:effectLst>
                  <a:outerShdw blurRad="38100" dist="38100" dir="2700000" algn="tl">
                    <a:srgbClr val="000000">
                      <a:alpha val="43137"/>
                    </a:srgbClr>
                  </a:outerShdw>
                </a:effectLst>
              </a:rPr>
              <a:t>CNN-based image approach known as residual approach</a:t>
            </a:r>
            <a:r>
              <a:rPr lang="en-US" sz="2000" dirty="0"/>
              <a:t>. In general, RC is applied into any artificial neural network (ANN) besides CNN</a:t>
            </a:r>
            <a:r>
              <a:rPr lang="en-US" sz="2000" dirty="0" smtClean="0"/>
              <a:t>.</a:t>
            </a:r>
          </a:p>
          <a:p>
            <a:r>
              <a:rPr lang="en-US" sz="2000" dirty="0"/>
              <a:t>Attention is the concept to indicate the self-structure of a data entity, which is the starting point of self-supervised learning that is the middle one between supervised learning and unsupervised </a:t>
            </a:r>
            <a:r>
              <a:rPr lang="en-US" sz="2000" dirty="0" smtClean="0"/>
              <a:t>learning. </a:t>
            </a:r>
            <a:r>
              <a:rPr lang="en-US" sz="2000" dirty="0"/>
              <a:t>The self-structure </a:t>
            </a:r>
            <a:r>
              <a:rPr lang="en-US" sz="2000" dirty="0" smtClean="0"/>
              <a:t>is </a:t>
            </a:r>
            <a:r>
              <a:rPr lang="en-US" sz="2000" dirty="0"/>
              <a:t>often internal relationship or hidden meaning, which is generalized as attention in </a:t>
            </a:r>
            <a:r>
              <a:rPr lang="en-US" sz="2000" dirty="0" smtClean="0"/>
              <a:t>AI.</a:t>
            </a:r>
            <a:r>
              <a:rPr lang="en-US" sz="2000" dirty="0"/>
              <a:t> </a:t>
            </a:r>
            <a:r>
              <a:rPr lang="en-US" sz="2000" dirty="0">
                <a:effectLst>
                  <a:outerShdw blurRad="38100" dist="38100" dir="2700000" algn="tl">
                    <a:srgbClr val="000000">
                      <a:alpha val="43137"/>
                    </a:srgbClr>
                  </a:outerShdw>
                </a:effectLst>
              </a:rPr>
              <a:t>Firstly, attention-based approach in image classification began with the Residual Attention Network (RAN) proposed by Wang et al.</a:t>
            </a:r>
            <a:r>
              <a:rPr lang="en-US" sz="2000" dirty="0"/>
              <a:t> (Wang, et al., 2017</a:t>
            </a:r>
            <a:r>
              <a:rPr lang="en-US" sz="2000" dirty="0" smtClean="0"/>
              <a:t>)</a:t>
            </a:r>
            <a:r>
              <a:rPr lang="en-US" sz="2000" dirty="0"/>
              <a:t> in which Wang et al. (Wang, et al., 2017) proposed attention as product of source entity and the mask. Given input data x, let </a:t>
            </a:r>
            <a:r>
              <a:rPr lang="en-US" sz="2000" i="1" dirty="0"/>
              <a:t>H</a:t>
            </a:r>
            <a:r>
              <a:rPr lang="en-US" sz="2000" dirty="0"/>
              <a:t>(</a:t>
            </a:r>
            <a:r>
              <a:rPr lang="en-US" sz="2000" b="1" i="1" dirty="0"/>
              <a:t>x</a:t>
            </a:r>
            <a:r>
              <a:rPr lang="en-US" sz="2000" dirty="0"/>
              <a:t>) denote the output of </a:t>
            </a:r>
            <a:r>
              <a:rPr lang="en-US" sz="2000" i="1" dirty="0"/>
              <a:t>attention module</a:t>
            </a:r>
            <a:r>
              <a:rPr lang="en-US" sz="2000" dirty="0"/>
              <a:t> which is the composition (product) of </a:t>
            </a:r>
            <a:r>
              <a:rPr lang="en-US" sz="2000" i="1" dirty="0"/>
              <a:t>trunk branch</a:t>
            </a:r>
            <a:r>
              <a:rPr lang="en-US" sz="2000" dirty="0"/>
              <a:t> </a:t>
            </a:r>
            <a:r>
              <a:rPr lang="en-US" sz="2000" i="1" dirty="0"/>
              <a:t>T</a:t>
            </a:r>
            <a:r>
              <a:rPr lang="en-US" sz="2000" dirty="0"/>
              <a:t>(</a:t>
            </a:r>
            <a:r>
              <a:rPr lang="en-US" sz="2000" b="1" i="1" dirty="0"/>
              <a:t>x</a:t>
            </a:r>
            <a:r>
              <a:rPr lang="en-US" sz="2000" dirty="0"/>
              <a:t>) and </a:t>
            </a:r>
            <a:r>
              <a:rPr lang="en-US" sz="2000" i="1" dirty="0"/>
              <a:t>mask branch</a:t>
            </a:r>
            <a:r>
              <a:rPr lang="en-US" sz="2000" dirty="0"/>
              <a:t> </a:t>
            </a:r>
            <a:r>
              <a:rPr lang="en-US" sz="2000" i="1" dirty="0"/>
              <a:t>M</a:t>
            </a:r>
            <a:r>
              <a:rPr lang="en-US" sz="2000" dirty="0"/>
              <a:t>(</a:t>
            </a:r>
            <a:r>
              <a:rPr lang="en-US" sz="2000" b="1" i="1" dirty="0"/>
              <a:t>x</a:t>
            </a:r>
            <a:r>
              <a:rPr lang="en-US" sz="2000" dirty="0" smtClean="0"/>
              <a:t>) as </a:t>
            </a:r>
            <a:r>
              <a:rPr lang="en-US" sz="2000" i="1" dirty="0" smtClean="0"/>
              <a:t>H</a:t>
            </a:r>
            <a:r>
              <a:rPr lang="en-US" sz="2000" dirty="0" smtClean="0"/>
              <a:t>(</a:t>
            </a:r>
            <a:r>
              <a:rPr lang="en-US" sz="2000" b="1" i="1" dirty="0" smtClean="0"/>
              <a:t>x</a:t>
            </a:r>
            <a:r>
              <a:rPr lang="en-US" sz="2000" dirty="0" smtClean="0"/>
              <a:t>) = </a:t>
            </a:r>
            <a:r>
              <a:rPr lang="en-US" sz="2000" i="1" dirty="0" smtClean="0"/>
              <a:t>M</a:t>
            </a:r>
            <a:r>
              <a:rPr lang="en-US" sz="2000" dirty="0" smtClean="0"/>
              <a:t>(</a:t>
            </a:r>
            <a:r>
              <a:rPr lang="en-US" sz="2000" b="1" i="1" dirty="0" smtClean="0"/>
              <a:t>x</a:t>
            </a:r>
            <a:r>
              <a:rPr lang="en-US" sz="2000" dirty="0" smtClean="0"/>
              <a:t>)*</a:t>
            </a:r>
            <a:r>
              <a:rPr lang="en-US" sz="2000" i="1" dirty="0" smtClean="0"/>
              <a:t>T</a:t>
            </a:r>
            <a:r>
              <a:rPr lang="en-US" sz="2000" dirty="0" smtClean="0"/>
              <a:t>(</a:t>
            </a:r>
            <a:r>
              <a:rPr lang="en-US" sz="2000" b="1" i="1" dirty="0" smtClean="0"/>
              <a:t>x</a:t>
            </a:r>
            <a:r>
              <a:rPr lang="en-US" sz="2000" dirty="0" smtClean="0"/>
              <a:t>).</a:t>
            </a:r>
            <a:endParaRPr lang="en-US" sz="20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12</a:t>
            </a:fld>
            <a:endParaRPr lang="en-US"/>
          </a:p>
        </p:txBody>
      </p:sp>
    </p:spTree>
    <p:extLst>
      <p:ext uri="{BB962C8B-B14F-4D97-AF65-F5344CB8AC3E}">
        <p14:creationId xmlns:p14="http://schemas.microsoft.com/office/powerpoint/2010/main" val="401906969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 Related works</a:t>
            </a:r>
          </a:p>
        </p:txBody>
      </p:sp>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400" dirty="0"/>
              <a:t>Transformer-based approach whose typical model is </a:t>
            </a:r>
            <a:r>
              <a:rPr lang="en-US" sz="2400" dirty="0" err="1"/>
              <a:t>ViT</a:t>
            </a:r>
            <a:r>
              <a:rPr lang="en-US" sz="2400" dirty="0"/>
              <a:t> </a:t>
            </a:r>
            <a:r>
              <a:rPr lang="en-US" sz="2400" dirty="0" smtClean="0"/>
              <a:t>(</a:t>
            </a:r>
            <a:r>
              <a:rPr lang="en-US" sz="2400" i="1" dirty="0"/>
              <a:t>vision </a:t>
            </a:r>
            <a:r>
              <a:rPr lang="en-US" sz="2400" i="1" dirty="0" smtClean="0"/>
              <a:t>transformer</a:t>
            </a:r>
            <a:r>
              <a:rPr lang="en-US" sz="2400" dirty="0" smtClean="0"/>
              <a:t>) developed </a:t>
            </a:r>
            <a:r>
              <a:rPr lang="en-US" sz="2400" dirty="0"/>
              <a:t>by </a:t>
            </a:r>
            <a:r>
              <a:rPr lang="en-US" sz="2400" dirty="0" err="1"/>
              <a:t>Dosovitskiy</a:t>
            </a:r>
            <a:r>
              <a:rPr lang="en-US" sz="2400" dirty="0"/>
              <a:t> et al. (</a:t>
            </a:r>
            <a:r>
              <a:rPr lang="en-US" sz="2400" dirty="0" err="1"/>
              <a:t>Dosovitskiy</a:t>
            </a:r>
            <a:r>
              <a:rPr lang="en-US" sz="2400" dirty="0"/>
              <a:t>, et al., 2020) is the recent approach for image </a:t>
            </a:r>
            <a:r>
              <a:rPr lang="en-US" sz="2400" dirty="0" smtClean="0"/>
              <a:t>classification with </a:t>
            </a:r>
            <a:r>
              <a:rPr lang="en-US" sz="2400" dirty="0"/>
              <a:t>note that transformer is also developed as self-supervised learning model where attention mechanism is improved more than the mechanism of product of mask branch and trunk branch </a:t>
            </a:r>
            <a:r>
              <a:rPr lang="en-US" sz="2400" dirty="0" smtClean="0"/>
              <a:t>aforementioned.</a:t>
            </a:r>
            <a:r>
              <a:rPr lang="en-US" sz="2400" dirty="0"/>
              <a:t> </a:t>
            </a:r>
            <a:r>
              <a:rPr lang="en-US" sz="2400" dirty="0">
                <a:effectLst>
                  <a:outerShdw blurRad="38100" dist="38100" dir="2700000" algn="tl">
                    <a:srgbClr val="000000">
                      <a:alpha val="43137"/>
                    </a:srgbClr>
                  </a:outerShdw>
                </a:effectLst>
              </a:rPr>
              <a:t>Transformer-based approach with </a:t>
            </a:r>
            <a:r>
              <a:rPr lang="en-US" sz="2400" dirty="0" err="1">
                <a:effectLst>
                  <a:outerShdw blurRad="38100" dist="38100" dir="2700000" algn="tl">
                    <a:srgbClr val="000000">
                      <a:alpha val="43137"/>
                    </a:srgbClr>
                  </a:outerShdw>
                </a:effectLst>
              </a:rPr>
              <a:t>ViT</a:t>
            </a:r>
            <a:r>
              <a:rPr lang="en-US" sz="2400" dirty="0">
                <a:effectLst>
                  <a:outerShdw blurRad="38100" dist="38100" dir="2700000" algn="tl">
                    <a:srgbClr val="000000">
                      <a:alpha val="43137"/>
                    </a:srgbClr>
                  </a:outerShdw>
                </a:effectLst>
              </a:rPr>
              <a:t> is most different from other CNN-based classification methods because attention of transformer can replace convolutional layers</a:t>
            </a:r>
            <a:r>
              <a:rPr lang="en-US" sz="2400" dirty="0" smtClean="0"/>
              <a:t>.</a:t>
            </a:r>
            <a:r>
              <a:rPr lang="en-US" sz="2400" dirty="0"/>
              <a:t> The only problem of transformer-based image classification is that the huge dimension of image data prevents transformer from effective computation. There are two solutions of the huge dimension problem (Gemini 2025): 1) image is divided into patches which are fed to transformer and 2) the auxiliary learnable parameter called </a:t>
            </a:r>
            <a:r>
              <a:rPr lang="en-US" sz="2400" i="1" dirty="0"/>
              <a:t>class token </a:t>
            </a:r>
            <a:r>
              <a:rPr lang="en-US" sz="2400" dirty="0"/>
              <a:t>is attached to the input of transformer (patch) and such digest which is actually weight vector becomes a digest of image after it is processed through transformer so that such </a:t>
            </a:r>
            <a:r>
              <a:rPr lang="en-US" sz="2400" i="1" dirty="0"/>
              <a:t>image digest</a:t>
            </a:r>
            <a:r>
              <a:rPr lang="en-US" sz="2400" dirty="0"/>
              <a:t> is input of classification network (dense network). That image digest is much smaller than image helps transformer to maintain effective computation.</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13</a:t>
            </a:fld>
            <a:endParaRPr lang="en-US"/>
          </a:p>
        </p:txBody>
      </p:sp>
    </p:spTree>
    <p:extLst>
      <p:ext uri="{BB962C8B-B14F-4D97-AF65-F5344CB8AC3E}">
        <p14:creationId xmlns:p14="http://schemas.microsoft.com/office/powerpoint/2010/main" val="85315263"/>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3</a:t>
            </a:r>
            <a:r>
              <a:rPr lang="en-US" dirty="0"/>
              <a:t>.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39600" cy="5176066"/>
              </a:xfrm>
            </p:spPr>
            <p:txBody>
              <a:bodyPr>
                <a:noAutofit/>
              </a:bodyPr>
              <a:lstStyle/>
              <a:p>
                <a:pPr marL="0" indent="0">
                  <a:buNone/>
                </a:pPr>
                <a:r>
                  <a:rPr lang="en-US" sz="2100" dirty="0" smtClean="0">
                    <a:effectLst>
                      <a:outerShdw blurRad="38100" dist="38100" dir="2700000" algn="tl">
                        <a:srgbClr val="000000">
                          <a:alpha val="43137"/>
                        </a:srgbClr>
                      </a:outerShdw>
                    </a:effectLst>
                  </a:rPr>
                  <a:t>If ANN has many hidden layers between input layer and output layer, it will be called deep neural network (DNN). As usual, every DNN layer is coded as a vector, which raises the so-called </a:t>
                </a:r>
                <a:r>
                  <a:rPr lang="en-US" sz="2100" i="1" dirty="0">
                    <a:effectLst>
                      <a:outerShdw blurRad="38100" dist="38100" dir="2700000" algn="tl">
                        <a:srgbClr val="000000">
                          <a:alpha val="43137"/>
                        </a:srgbClr>
                      </a:outerShdw>
                    </a:effectLst>
                  </a:rPr>
                  <a:t>boom problem</a:t>
                </a:r>
                <a:r>
                  <a:rPr lang="en-US" sz="2100" dirty="0">
                    <a:effectLst>
                      <a:outerShdw blurRad="38100" dist="38100" dir="2700000" algn="tl">
                        <a:srgbClr val="000000">
                          <a:alpha val="43137"/>
                        </a:srgbClr>
                      </a:outerShdw>
                    </a:effectLst>
                  </a:rPr>
                  <a:t> of a huge number of </a:t>
                </a:r>
                <a:r>
                  <a:rPr lang="en-US" sz="2100" dirty="0" smtClean="0">
                    <a:effectLst>
                      <a:outerShdw blurRad="38100" dist="38100" dir="2700000" algn="tl">
                        <a:srgbClr val="000000">
                          <a:alpha val="43137"/>
                        </a:srgbClr>
                      </a:outerShdw>
                    </a:effectLst>
                  </a:rPr>
                  <a:t>parameters.</a:t>
                </a:r>
                <a:r>
                  <a:rPr lang="en-US" sz="2100" i="1" dirty="0" smtClean="0">
                    <a:effectLst>
                      <a:outerShdw blurRad="38100" dist="38100" dir="2700000" algn="tl">
                        <a:srgbClr val="000000">
                          <a:alpha val="43137"/>
                        </a:srgbClr>
                      </a:outerShdw>
                    </a:effectLst>
                  </a:rPr>
                  <a:t> </a:t>
                </a:r>
                <a:r>
                  <a:rPr lang="en-US" sz="2100" b="1" dirty="0">
                    <a:effectLst>
                      <a:outerShdw blurRad="38100" dist="38100" dir="2700000" algn="tl">
                        <a:srgbClr val="000000">
                          <a:alpha val="43137"/>
                        </a:srgbClr>
                      </a:outerShdw>
                    </a:effectLst>
                  </a:rPr>
                  <a:t>Matrix neural network </a:t>
                </a:r>
                <a:r>
                  <a:rPr lang="en-US" sz="2100" dirty="0">
                    <a:effectLst>
                      <a:outerShdw blurRad="38100" dist="38100" dir="2700000" algn="tl">
                        <a:srgbClr val="000000">
                          <a:alpha val="43137"/>
                        </a:srgbClr>
                      </a:outerShdw>
                    </a:effectLst>
                  </a:rPr>
                  <a:t>(</a:t>
                </a:r>
                <a:r>
                  <a:rPr lang="en-US" sz="2100" b="1" dirty="0">
                    <a:effectLst>
                      <a:outerShdw blurRad="38100" dist="38100" dir="2700000" algn="tl">
                        <a:srgbClr val="000000">
                          <a:alpha val="43137"/>
                        </a:srgbClr>
                      </a:outerShdw>
                    </a:effectLst>
                  </a:rPr>
                  <a:t>MNN</a:t>
                </a:r>
                <a:r>
                  <a:rPr lang="en-US" sz="2100" dirty="0">
                    <a:effectLst>
                      <a:outerShdw blurRad="38100" dist="38100" dir="2700000" algn="tl">
                        <a:srgbClr val="000000">
                          <a:alpha val="43137"/>
                        </a:srgbClr>
                      </a:outerShdw>
                    </a:effectLst>
                  </a:rPr>
                  <a:t>) aims to solve the boom problem by coding layers as matrix and coding parameters as matrix too</a:t>
                </a:r>
                <a:r>
                  <a:rPr lang="en-US" sz="2100" dirty="0"/>
                  <a:t>. </a:t>
                </a:r>
                <a:r>
                  <a:rPr lang="en-US" sz="2100" dirty="0" smtClean="0"/>
                  <a:t>The MNN </a:t>
                </a:r>
                <a:r>
                  <a:rPr lang="en-US" sz="2100" dirty="0"/>
                  <a:t>mentioned </a:t>
                </a:r>
                <a:r>
                  <a:rPr lang="en-US" sz="2100" dirty="0" smtClean="0"/>
                  <a:t>is </a:t>
                </a:r>
                <a:r>
                  <a:rPr lang="en-US" sz="2100" dirty="0"/>
                  <a:t>represented by a series of matrix layers </a:t>
                </a:r>
                <a:r>
                  <a:rPr lang="en-US" sz="2100" b="1" i="1" dirty="0"/>
                  <a:t>X</a:t>
                </a:r>
                <a:r>
                  <a:rPr lang="en-US" sz="2100" baseline="-25000" dirty="0"/>
                  <a:t>0</a:t>
                </a:r>
                <a:r>
                  <a:rPr lang="en-US" sz="2100" dirty="0"/>
                  <a:t>, </a:t>
                </a:r>
                <a:r>
                  <a:rPr lang="en-US" sz="2100" b="1" i="1" dirty="0"/>
                  <a:t>X</a:t>
                </a:r>
                <a:r>
                  <a:rPr lang="en-US" sz="2100" baseline="-25000" dirty="0"/>
                  <a:t>1</a:t>
                </a:r>
                <a:r>
                  <a:rPr lang="en-US" sz="2100" dirty="0"/>
                  <a:t>, </a:t>
                </a:r>
                <a:r>
                  <a:rPr lang="en-US" sz="2100" b="1" i="1" dirty="0"/>
                  <a:t>X</a:t>
                </a:r>
                <a:r>
                  <a:rPr lang="en-US" sz="2100" baseline="-25000" dirty="0"/>
                  <a:t>2</a:t>
                </a:r>
                <a:r>
                  <a:rPr lang="en-US" sz="2100" dirty="0"/>
                  <a:t>,…, </a:t>
                </a:r>
                <a:r>
                  <a:rPr lang="en-US" sz="2100" b="1" i="1" dirty="0"/>
                  <a:t>X</a:t>
                </a:r>
                <a:r>
                  <a:rPr lang="en-US" sz="2100" i="1" baseline="-25000" dirty="0"/>
                  <a:t>K</a:t>
                </a:r>
                <a:r>
                  <a:rPr lang="en-US" sz="2100" dirty="0"/>
                  <a:t> is called </a:t>
                </a:r>
                <a:r>
                  <a:rPr lang="en-US" sz="2100" i="1" dirty="0"/>
                  <a:t>K</a:t>
                </a:r>
                <a:r>
                  <a:rPr lang="en-US" sz="2100" dirty="0"/>
                  <a:t>-layer </a:t>
                </a:r>
                <a:r>
                  <a:rPr lang="en-US" sz="2100" dirty="0" smtClean="0"/>
                  <a:t>FFN.</a:t>
                </a:r>
                <a:r>
                  <a:rPr lang="en-US" sz="2100" dirty="0"/>
                  <a:t> Each matrix layer </a:t>
                </a:r>
                <a:r>
                  <a:rPr lang="en-US" sz="2100" b="1" i="1" dirty="0" err="1"/>
                  <a:t>X</a:t>
                </a:r>
                <a:r>
                  <a:rPr lang="en-US" sz="2100" i="1" baseline="-25000" dirty="0" err="1"/>
                  <a:t>k</a:t>
                </a:r>
                <a:r>
                  <a:rPr lang="en-US" sz="2100" dirty="0"/>
                  <a:t> represented by a matrix </a:t>
                </a:r>
                <a:r>
                  <a:rPr lang="en-US" sz="2100" b="1" i="1" dirty="0" err="1"/>
                  <a:t>X</a:t>
                </a:r>
                <a:r>
                  <a:rPr lang="en-US" sz="2100" i="1" baseline="-25000" dirty="0" err="1"/>
                  <a:t>k</a:t>
                </a:r>
                <a:r>
                  <a:rPr lang="en-US" sz="2100" dirty="0"/>
                  <a:t> has three parameters such as parametric weight matrix </a:t>
                </a:r>
                <a:r>
                  <a:rPr lang="en-US" sz="2100" i="1" dirty="0" err="1"/>
                  <a:t>U</a:t>
                </a:r>
                <a:r>
                  <a:rPr lang="en-US" sz="2100" i="1" baseline="-25000" dirty="0" err="1"/>
                  <a:t>k</a:t>
                </a:r>
                <a:r>
                  <a:rPr lang="en-US" sz="2100" dirty="0"/>
                  <a:t>, parametric weight matrix </a:t>
                </a:r>
                <a:r>
                  <a:rPr lang="en-US" sz="2100" i="1" dirty="0" err="1"/>
                  <a:t>V</a:t>
                </a:r>
                <a:r>
                  <a:rPr lang="en-US" sz="2100" i="1" baseline="-25000" dirty="0" err="1"/>
                  <a:t>k</a:t>
                </a:r>
                <a:r>
                  <a:rPr lang="en-US" sz="2100" dirty="0"/>
                  <a:t>, and parametric bias matrix </a:t>
                </a:r>
                <a:r>
                  <a:rPr lang="en-US" sz="2100" dirty="0" err="1"/>
                  <a:t>Θ</a:t>
                </a:r>
                <a:r>
                  <a:rPr lang="en-US" sz="2100" i="1" baseline="-25000" dirty="0" err="1"/>
                  <a:t>k</a:t>
                </a:r>
                <a:r>
                  <a:rPr lang="en-US" sz="2100" dirty="0"/>
                  <a:t>, which aims to solve the boom problem </a:t>
                </a:r>
                <a:r>
                  <a:rPr lang="en-US" sz="2100" dirty="0" smtClean="0"/>
                  <a:t>because </a:t>
                </a:r>
                <a:r>
                  <a:rPr lang="en-US" sz="2100" dirty="0"/>
                  <a:t>weigh matrices are always keep intact their size in squared </a:t>
                </a:r>
                <a:r>
                  <a:rPr lang="en-US" sz="2100" dirty="0" smtClean="0"/>
                  <a:t>number. Following is the MNN propagation rule.</a:t>
                </a:r>
              </a:p>
              <a:p>
                <a:pPr marL="0" indent="0">
                  <a:buNone/>
                </a:pPr>
                <a14:m>
                  <m:oMathPara xmlns:m="http://schemas.openxmlformats.org/officeDocument/2006/math">
                    <m:oMathParaPr>
                      <m:jc m:val="centerGroup"/>
                    </m:oMathParaPr>
                    <m:oMath xmlns:m="http://schemas.openxmlformats.org/officeDocument/2006/math">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𝑘</m:t>
                          </m:r>
                        </m:sub>
                      </m:sSub>
                      <m:r>
                        <a:rPr lang="en-US" sz="2100" i="1">
                          <a:latin typeface="Cambria Math" panose="02040503050406030204" pitchFamily="18" charset="0"/>
                        </a:rPr>
                        <m:t>=</m:t>
                      </m:r>
                      <m:r>
                        <a:rPr lang="en-US" sz="2100" i="1">
                          <a:latin typeface="Cambria Math" panose="02040503050406030204" pitchFamily="18" charset="0"/>
                        </a:rPr>
                        <m:t>𝑓</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acc>
                                <m:accPr>
                                  <m:chr m:val="̂"/>
                                  <m:ctrlPr>
                                    <a:rPr lang="en-US" sz="2100" i="1">
                                      <a:latin typeface="Cambria Math" panose="02040503050406030204" pitchFamily="18" charset="0"/>
                                    </a:rPr>
                                  </m:ctrlPr>
                                </m:accPr>
                                <m:e>
                                  <m:r>
                                    <a:rPr lang="en-US" sz="2100" b="1" i="1">
                                      <a:latin typeface="Cambria Math" panose="02040503050406030204" pitchFamily="18" charset="0"/>
                                    </a:rPr>
                                    <m:t>𝑿</m:t>
                                  </m:r>
                                </m:e>
                              </m:acc>
                            </m:e>
                            <m:sub>
                              <m:r>
                                <a:rPr lang="en-US" sz="2100" i="1">
                                  <a:latin typeface="Cambria Math" panose="02040503050406030204" pitchFamily="18" charset="0"/>
                                </a:rPr>
                                <m:t>𝑘</m:t>
                              </m:r>
                              <m:r>
                                <a:rPr lang="en-US" sz="2100" i="1">
                                  <a:latin typeface="Cambria Math" panose="02040503050406030204" pitchFamily="18" charset="0"/>
                                </a:rPr>
                                <m:t>−1</m:t>
                              </m:r>
                            </m:sub>
                          </m:sSub>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𝑘</m:t>
                              </m:r>
                              <m:r>
                                <a:rPr lang="en-US" sz="2100" i="1">
                                  <a:latin typeface="Cambria Math" panose="02040503050406030204" pitchFamily="18" charset="0"/>
                                </a:rPr>
                                <m:t>−1</m:t>
                              </m:r>
                            </m:sub>
                          </m:sSub>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r>
                            <a:rPr lang="en-US" sz="2100" i="1">
                              <a:latin typeface="Cambria Math" panose="02040503050406030204" pitchFamily="18" charset="0"/>
                            </a:rPr>
                            <m:t>+</m:t>
                          </m:r>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e>
                      </m:d>
                      <m:r>
                        <a:rPr lang="en-US" sz="2100" i="1">
                          <a:latin typeface="Cambria Math" panose="02040503050406030204" pitchFamily="18" charset="0"/>
                        </a:rPr>
                        <m:t>,∀</m:t>
                      </m:r>
                      <m:r>
                        <a:rPr lang="en-US" sz="2100" i="1">
                          <a:latin typeface="Cambria Math" panose="02040503050406030204" pitchFamily="18" charset="0"/>
                        </a:rPr>
                        <m:t>𝑘</m:t>
                      </m:r>
                      <m:r>
                        <a:rPr lang="en-US" sz="2100" i="1">
                          <a:latin typeface="Cambria Math" panose="02040503050406030204" pitchFamily="18" charset="0"/>
                        </a:rPr>
                        <m:t>=</m:t>
                      </m:r>
                      <m:acc>
                        <m:accPr>
                          <m:chr m:val="̅"/>
                          <m:ctrlPr>
                            <a:rPr lang="en-US" sz="2100" i="1">
                              <a:latin typeface="Cambria Math" panose="02040503050406030204" pitchFamily="18" charset="0"/>
                            </a:rPr>
                          </m:ctrlPr>
                        </m:accPr>
                        <m:e>
                          <m:r>
                            <a:rPr lang="en-US" sz="2100" i="1">
                              <a:latin typeface="Cambria Math" panose="02040503050406030204" pitchFamily="18" charset="0"/>
                            </a:rPr>
                            <m:t>1,</m:t>
                          </m:r>
                          <m:r>
                            <a:rPr lang="en-US" sz="2100" i="1">
                              <a:latin typeface="Cambria Math" panose="02040503050406030204" pitchFamily="18" charset="0"/>
                            </a:rPr>
                            <m:t>𝐾</m:t>
                          </m:r>
                        </m:e>
                      </m:acc>
                    </m:oMath>
                  </m:oMathPara>
                </a14:m>
                <a:endParaRPr lang="en-US" sz="2100" dirty="0" smtClean="0"/>
              </a:p>
              <a:p>
                <a:pPr marL="0" indent="0">
                  <a:buNone/>
                </a:pPr>
                <a:r>
                  <a:rPr lang="en-US" sz="2100" dirty="0"/>
                  <a:t>Training MNN is to estimate parameters </a:t>
                </a:r>
                <a:r>
                  <a:rPr lang="en-US" sz="2100" i="1" dirty="0" err="1"/>
                  <a:t>U</a:t>
                </a:r>
                <a:r>
                  <a:rPr lang="en-US" sz="2100" i="1" baseline="-25000" dirty="0" err="1"/>
                  <a:t>k</a:t>
                </a:r>
                <a:r>
                  <a:rPr lang="en-US" sz="2100" dirty="0"/>
                  <a:t>, </a:t>
                </a:r>
                <a:r>
                  <a:rPr lang="en-US" sz="2100" i="1" dirty="0" err="1"/>
                  <a:t>V</a:t>
                </a:r>
                <a:r>
                  <a:rPr lang="en-US" sz="2100" i="1" baseline="-25000" dirty="0" err="1"/>
                  <a:t>k</a:t>
                </a:r>
                <a:r>
                  <a:rPr lang="en-US" sz="2100" dirty="0"/>
                  <a:t>, and </a:t>
                </a:r>
                <a:r>
                  <a:rPr lang="en-US" sz="2100" dirty="0" err="1"/>
                  <a:t>Θ</a:t>
                </a:r>
                <a:r>
                  <a:rPr lang="en-US" sz="2100" i="1" baseline="-25000" dirty="0" err="1"/>
                  <a:t>k</a:t>
                </a:r>
                <a:r>
                  <a:rPr lang="en-US" sz="2100" dirty="0"/>
                  <a:t> by maximizing the likelihood function </a:t>
                </a:r>
                <a:r>
                  <a:rPr lang="en-US" sz="2100" i="1" dirty="0"/>
                  <a:t>l</a:t>
                </a:r>
                <a:r>
                  <a:rPr lang="en-US" sz="2100" dirty="0"/>
                  <a:t>(</a:t>
                </a:r>
                <a:r>
                  <a:rPr lang="en-US" sz="2100" b="1" i="1" dirty="0"/>
                  <a:t>X</a:t>
                </a:r>
                <a:r>
                  <a:rPr lang="en-US" sz="2100" i="1" baseline="-25000" dirty="0"/>
                  <a:t>K</a:t>
                </a:r>
                <a:r>
                  <a:rPr lang="en-US" sz="2100" dirty="0"/>
                  <a:t>) at the last output layer </a:t>
                </a:r>
                <a:r>
                  <a:rPr lang="en-US" sz="2100" b="1" i="1" dirty="0"/>
                  <a:t>X</a:t>
                </a:r>
                <a:r>
                  <a:rPr lang="en-US" sz="2100" i="1" baseline="-25000" dirty="0"/>
                  <a:t>K</a:t>
                </a:r>
                <a:r>
                  <a:rPr lang="en-US" sz="2100" dirty="0"/>
                  <a:t> which is defined as the negative of squared </a:t>
                </a:r>
                <a:r>
                  <a:rPr lang="en-US" sz="2100" dirty="0" err="1"/>
                  <a:t>Frobenius</a:t>
                </a:r>
                <a:r>
                  <a:rPr lang="en-US" sz="2100" dirty="0"/>
                  <a:t> norm given the real output </a:t>
                </a:r>
                <a:r>
                  <a:rPr lang="en-US" sz="2100" b="1" i="1" dirty="0"/>
                  <a:t>X</a:t>
                </a:r>
                <a:r>
                  <a:rPr lang="en-US" sz="2100" b="1" i="1" baseline="-25000" dirty="0"/>
                  <a:t>K</a:t>
                </a:r>
                <a:r>
                  <a:rPr lang="en-US" sz="2100" dirty="0" smtClean="0"/>
                  <a:t>’.</a:t>
                </a:r>
              </a:p>
              <a:p>
                <a:pPr marL="0" indent="0">
                  <a:buNone/>
                </a:pPr>
                <a14:m>
                  <m:oMathPara xmlns:m="http://schemas.openxmlformats.org/officeDocument/2006/math">
                    <m:oMathParaPr>
                      <m:jc m:val="centerGroup"/>
                    </m:oMathParaPr>
                    <m:oMath xmlns:m="http://schemas.openxmlformats.org/officeDocument/2006/math">
                      <m:r>
                        <a:rPr lang="en-US" sz="2100" i="1">
                          <a:latin typeface="Cambria Math" panose="02040503050406030204" pitchFamily="18" charset="0"/>
                        </a:rPr>
                        <m:t>𝑙</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2</m:t>
                          </m:r>
                        </m:den>
                      </m:f>
                      <m:sSup>
                        <m:sSupPr>
                          <m:ctrlPr>
                            <a:rPr lang="en-US" sz="2100" i="1">
                              <a:latin typeface="Cambria Math" panose="02040503050406030204" pitchFamily="18" charset="0"/>
                            </a:rPr>
                          </m:ctrlPr>
                        </m:sSupPr>
                        <m:e>
                          <m:d>
                            <m:dPr>
                              <m:begChr m:val="‖"/>
                              <m:endChr m:val="‖"/>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b="1" i="1">
                                      <a:latin typeface="Cambria Math" panose="02040503050406030204" pitchFamily="18" charset="0"/>
                                    </a:rPr>
                                    <m:t>𝑿</m:t>
                                  </m:r>
                                </m:e>
                                <m:sub>
                                  <m:r>
                                    <a:rPr lang="en-US" sz="2100" i="1">
                                      <a:latin typeface="Cambria Math" panose="02040503050406030204" pitchFamily="18" charset="0"/>
                                    </a:rPr>
                                    <m:t>𝐾</m:t>
                                  </m:r>
                                </m:sub>
                                <m:sup>
                                  <m:r>
                                    <a:rPr lang="en-US" sz="2100" i="1">
                                      <a:latin typeface="Cambria Math" panose="02040503050406030204" pitchFamily="18" charset="0"/>
                                    </a:rPr>
                                    <m:t>′</m:t>
                                  </m:r>
                                </m:sup>
                              </m:sSub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e>
                        <m:sup>
                          <m:r>
                            <a:rPr lang="en-US" sz="2100" i="1">
                              <a:latin typeface="Cambria Math" panose="02040503050406030204" pitchFamily="18" charset="0"/>
                            </a:rPr>
                            <m:t>2</m:t>
                          </m:r>
                        </m:sup>
                      </m:sSup>
                    </m:oMath>
                  </m:oMathPara>
                </a14:m>
                <a:endParaRPr lang="en-US" sz="2100" dirty="0" smtClean="0"/>
              </a:p>
              <a:p>
                <a:pPr marL="0" indent="0">
                  <a:buNone/>
                </a:pPr>
                <a:r>
                  <a:rPr lang="en-US" sz="2100" dirty="0" smtClean="0"/>
                  <a:t>So that,</a:t>
                </a:r>
              </a:p>
              <a:p>
                <a:pPr marL="0" indent="0">
                  <a:buNone/>
                </a:pPr>
                <a14:m>
                  <m:oMathPara xmlns:m="http://schemas.openxmlformats.org/officeDocument/2006/math">
                    <m:oMathParaPr>
                      <m:jc m:val="centerGroup"/>
                    </m:oMathParaPr>
                    <m:oMath xmlns:m="http://schemas.openxmlformats.org/officeDocument/2006/math">
                      <m:sSubSup>
                        <m:sSubSupPr>
                          <m:ctrlPr>
                            <a:rPr lang="en-US" sz="2100" i="1">
                              <a:latin typeface="Cambria Math" panose="02040503050406030204" pitchFamily="18" charset="0"/>
                            </a:rPr>
                          </m:ctrlPr>
                        </m:sSubSupPr>
                        <m:e>
                          <m:r>
                            <a:rPr lang="en-US" sz="2100" i="1">
                              <a:latin typeface="Cambria Math" panose="02040503050406030204" pitchFamily="18" charset="0"/>
                            </a:rPr>
                            <m:t>𝑈</m:t>
                          </m:r>
                        </m:e>
                        <m:sub>
                          <m:r>
                            <a:rPr lang="en-US" sz="2100" i="1">
                              <a:latin typeface="Cambria Math" panose="02040503050406030204" pitchFamily="18" charset="0"/>
                            </a:rPr>
                            <m:t>𝑘</m:t>
                          </m:r>
                        </m:sub>
                        <m:sup>
                          <m:r>
                            <a:rPr lang="en-US" sz="2100" i="1">
                              <a:latin typeface="Cambria Math" panose="02040503050406030204" pitchFamily="18" charset="0"/>
                            </a:rPr>
                            <m:t>∗</m:t>
                          </m:r>
                        </m:sup>
                      </m:sSubSup>
                      <m:r>
                        <a:rPr lang="en-US" sz="2100" i="1">
                          <a:latin typeface="Cambria Math" panose="02040503050406030204" pitchFamily="18" charset="0"/>
                        </a:rPr>
                        <m:t>=</m:t>
                      </m:r>
                      <m:func>
                        <m:funcPr>
                          <m:ctrlPr>
                            <a:rPr lang="en-US" sz="2100" i="1">
                              <a:latin typeface="Cambria Math" panose="02040503050406030204" pitchFamily="18" charset="0"/>
                            </a:rPr>
                          </m:ctrlPr>
                        </m:funcPr>
                        <m:fName>
                          <m:limLow>
                            <m:limLowPr>
                              <m:ctrlPr>
                                <a:rPr lang="en-US" sz="2100" i="1">
                                  <a:latin typeface="Cambria Math" panose="02040503050406030204" pitchFamily="18" charset="0"/>
                                </a:rPr>
                              </m:ctrlPr>
                            </m:limLowPr>
                            <m:e>
                              <m:r>
                                <m:rPr>
                                  <m:sty m:val="p"/>
                                </m:rPr>
                                <a:rPr lang="en-US" sz="2100">
                                  <a:latin typeface="Cambria Math" panose="02040503050406030204" pitchFamily="18" charset="0"/>
                                </a:rPr>
                                <m:t>argmax</m:t>
                              </m:r>
                            </m:e>
                            <m:lim>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lim>
                          </m:limLow>
                        </m:fName>
                        <m:e>
                          <m:r>
                            <a:rPr lang="en-US" sz="2100" i="1">
                              <a:latin typeface="Cambria Math" panose="02040503050406030204" pitchFamily="18" charset="0"/>
                            </a:rPr>
                            <m:t>𝑙</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e>
                      </m:func>
                      <m:r>
                        <a:rPr lang="en-US" sz="2100" b="0" i="1" smtClean="0">
                          <a:latin typeface="Cambria Math" panose="02040503050406030204" pitchFamily="18" charset="0"/>
                        </a:rPr>
                        <m:t>,</m:t>
                      </m:r>
                      <m:sSubSup>
                        <m:sSubSupPr>
                          <m:ctrlPr>
                            <a:rPr lang="en-US" sz="2100" i="1">
                              <a:latin typeface="Cambria Math" panose="02040503050406030204" pitchFamily="18" charset="0"/>
                            </a:rPr>
                          </m:ctrlPr>
                        </m:sSubSupPr>
                        <m:e>
                          <m:r>
                            <a:rPr lang="en-US" sz="2100" i="1">
                              <a:latin typeface="Cambria Math" panose="02040503050406030204" pitchFamily="18" charset="0"/>
                            </a:rPr>
                            <m:t>𝑉</m:t>
                          </m:r>
                        </m:e>
                        <m:sub>
                          <m:r>
                            <a:rPr lang="en-US" sz="2100" i="1">
                              <a:latin typeface="Cambria Math" panose="02040503050406030204" pitchFamily="18" charset="0"/>
                            </a:rPr>
                            <m:t>𝑘</m:t>
                          </m:r>
                        </m:sub>
                        <m:sup>
                          <m:r>
                            <a:rPr lang="en-US" sz="2100" i="1">
                              <a:latin typeface="Cambria Math" panose="02040503050406030204" pitchFamily="18" charset="0"/>
                            </a:rPr>
                            <m:t>∗</m:t>
                          </m:r>
                        </m:sup>
                      </m:sSubSup>
                      <m:r>
                        <a:rPr lang="en-US" sz="2100" i="1">
                          <a:latin typeface="Cambria Math" panose="02040503050406030204" pitchFamily="18" charset="0"/>
                        </a:rPr>
                        <m:t>=</m:t>
                      </m:r>
                      <m:func>
                        <m:funcPr>
                          <m:ctrlPr>
                            <a:rPr lang="en-US" sz="2100" i="1">
                              <a:latin typeface="Cambria Math" panose="02040503050406030204" pitchFamily="18" charset="0"/>
                            </a:rPr>
                          </m:ctrlPr>
                        </m:funcPr>
                        <m:fName>
                          <m:limLow>
                            <m:limLowPr>
                              <m:ctrlPr>
                                <a:rPr lang="en-US" sz="2100" i="1">
                                  <a:latin typeface="Cambria Math" panose="02040503050406030204" pitchFamily="18" charset="0"/>
                                </a:rPr>
                              </m:ctrlPr>
                            </m:limLowPr>
                            <m:e>
                              <m:r>
                                <m:rPr>
                                  <m:sty m:val="p"/>
                                </m:rPr>
                                <a:rPr lang="en-US" sz="2100">
                                  <a:latin typeface="Cambria Math" panose="02040503050406030204" pitchFamily="18" charset="0"/>
                                </a:rPr>
                                <m:t>argmax</m:t>
                              </m:r>
                            </m:e>
                            <m:lim>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lim>
                          </m:limLow>
                        </m:fName>
                        <m:e>
                          <m:r>
                            <a:rPr lang="en-US" sz="2100" i="1">
                              <a:latin typeface="Cambria Math" panose="02040503050406030204" pitchFamily="18" charset="0"/>
                            </a:rPr>
                            <m:t>𝑙</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r>
                            <a:rPr lang="en-US" sz="2100" b="0" i="1" smtClean="0">
                              <a:latin typeface="Cambria Math" panose="02040503050406030204" pitchFamily="18" charset="0"/>
                            </a:rPr>
                            <m:t>,</m:t>
                          </m:r>
                          <m:sSubSup>
                            <m:sSubSupPr>
                              <m:ctrlPr>
                                <a:rPr lang="en-US" sz="2100" i="1">
                                  <a:latin typeface="Cambria Math" panose="02040503050406030204" pitchFamily="18" charset="0"/>
                                </a:rPr>
                              </m:ctrlPr>
                            </m:sSubSup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up>
                              <m:r>
                                <a:rPr lang="en-US" sz="2100" i="1">
                                  <a:latin typeface="Cambria Math" panose="02040503050406030204" pitchFamily="18" charset="0"/>
                                </a:rPr>
                                <m:t>∗</m:t>
                              </m:r>
                            </m:sup>
                          </m:sSubSup>
                          <m:r>
                            <a:rPr lang="en-US" sz="2100" i="1">
                              <a:latin typeface="Cambria Math" panose="02040503050406030204" pitchFamily="18" charset="0"/>
                            </a:rPr>
                            <m:t>=</m:t>
                          </m:r>
                          <m:func>
                            <m:funcPr>
                              <m:ctrlPr>
                                <a:rPr lang="en-US" sz="2100" i="1">
                                  <a:latin typeface="Cambria Math" panose="02040503050406030204" pitchFamily="18" charset="0"/>
                                </a:rPr>
                              </m:ctrlPr>
                            </m:funcPr>
                            <m:fName>
                              <m:limLow>
                                <m:limLowPr>
                                  <m:ctrlPr>
                                    <a:rPr lang="en-US" sz="2100" i="1">
                                      <a:latin typeface="Cambria Math" panose="02040503050406030204" pitchFamily="18" charset="0"/>
                                    </a:rPr>
                                  </m:ctrlPr>
                                </m:limLowPr>
                                <m:e>
                                  <m:r>
                                    <m:rPr>
                                      <m:sty m:val="p"/>
                                    </m:rPr>
                                    <a:rPr lang="en-US" sz="2100">
                                      <a:latin typeface="Cambria Math" panose="02040503050406030204" pitchFamily="18" charset="0"/>
                                    </a:rPr>
                                    <m:t>argmax</m:t>
                                  </m:r>
                                </m:e>
                                <m:lim>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lim>
                              </m:limLow>
                            </m:fName>
                            <m:e>
                              <m:r>
                                <a:rPr lang="en-US" sz="2100" i="1">
                                  <a:latin typeface="Cambria Math" panose="02040503050406030204" pitchFamily="18" charset="0"/>
                                </a:rPr>
                                <m:t>𝑙</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e>
                          </m:func>
                        </m:e>
                      </m:func>
                    </m:oMath>
                  </m:oMathPara>
                </a14:m>
                <a:endParaRPr lang="en-US" sz="2100" dirty="0" smtClean="0"/>
              </a:p>
              <a:p>
                <a:pPr marL="0" indent="0">
                  <a:buNone/>
                </a:pPr>
                <a:endParaRPr lang="en-US" sz="21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39600" cy="5176066"/>
              </a:xfrm>
              <a:blipFill>
                <a:blip r:embed="rId3"/>
                <a:stretch>
                  <a:fillRect l="-608" t="-824" r="-86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14</a:t>
            </a:fld>
            <a:endParaRPr lang="en-US"/>
          </a:p>
        </p:txBody>
      </p:sp>
    </p:spTree>
    <p:extLst>
      <p:ext uri="{BB962C8B-B14F-4D97-AF65-F5344CB8AC3E}">
        <p14:creationId xmlns:p14="http://schemas.microsoft.com/office/powerpoint/2010/main" val="1047971855"/>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29440" cy="5176066"/>
              </a:xfrm>
            </p:spPr>
            <p:txBody>
              <a:bodyPr>
                <a:noAutofit/>
              </a:bodyPr>
              <a:lstStyle/>
              <a:p>
                <a:pPr marL="0" indent="0">
                  <a:buNone/>
                </a:pPr>
                <a:r>
                  <a:rPr lang="en-US" sz="2300" dirty="0" smtClean="0">
                    <a:effectLst>
                      <a:outerShdw blurRad="38100" dist="38100" dir="2700000" algn="tl">
                        <a:srgbClr val="000000">
                          <a:alpha val="43137"/>
                        </a:srgbClr>
                      </a:outerShdw>
                    </a:effectLst>
                  </a:rPr>
                  <a:t>The </a:t>
                </a:r>
                <a:r>
                  <a:rPr lang="en-US" sz="2300" dirty="0">
                    <a:effectLst>
                      <a:outerShdw blurRad="38100" dist="38100" dir="2700000" algn="tl">
                        <a:srgbClr val="000000">
                          <a:alpha val="43137"/>
                        </a:srgbClr>
                      </a:outerShdw>
                    </a:effectLst>
                  </a:rPr>
                  <a:t>optimization problem is solved iteratively by association of </a:t>
                </a:r>
                <a:r>
                  <a:rPr lang="en-US" sz="2300" dirty="0" smtClean="0">
                    <a:effectLst>
                      <a:outerShdw blurRad="38100" dist="38100" dir="2700000" algn="tl">
                        <a:srgbClr val="000000">
                          <a:alpha val="43137"/>
                        </a:srgbClr>
                      </a:outerShdw>
                    </a:effectLst>
                  </a:rPr>
                  <a:t>stochastic gradient descent (SGD) </a:t>
                </a:r>
                <a:r>
                  <a:rPr lang="en-US" sz="2300" dirty="0">
                    <a:effectLst>
                      <a:outerShdw blurRad="38100" dist="38100" dir="2700000" algn="tl">
                        <a:srgbClr val="000000">
                          <a:alpha val="43137"/>
                        </a:srgbClr>
                      </a:outerShdw>
                    </a:effectLst>
                  </a:rPr>
                  <a:t>algorithm and backpropagation algorithm</a:t>
                </a:r>
                <a:r>
                  <a:rPr lang="en-US" sz="2300" dirty="0"/>
                  <a:t>. </a:t>
                </a:r>
                <a:r>
                  <a:rPr lang="en-US" sz="2300" dirty="0" smtClean="0"/>
                  <a:t>Particularly, parametric weight matrices </a:t>
                </a:r>
                <a:r>
                  <a:rPr lang="en-US" sz="2300" i="1" dirty="0" err="1"/>
                  <a:t>U</a:t>
                </a:r>
                <a:r>
                  <a:rPr lang="en-US" sz="2300" i="1" baseline="-25000" dirty="0" err="1"/>
                  <a:t>k</a:t>
                </a:r>
                <a:r>
                  <a:rPr lang="en-US" sz="2300" dirty="0"/>
                  <a:t>, </a:t>
                </a:r>
                <a:r>
                  <a:rPr lang="en-US" sz="2300" i="1" dirty="0" err="1"/>
                  <a:t>V</a:t>
                </a:r>
                <a:r>
                  <a:rPr lang="en-US" sz="2300" i="1" baseline="-25000" dirty="0" err="1"/>
                  <a:t>k</a:t>
                </a:r>
                <a:r>
                  <a:rPr lang="en-US" sz="2300" dirty="0"/>
                  <a:t> and parametric bias matrix </a:t>
                </a:r>
                <a:r>
                  <a:rPr lang="en-US" sz="2300" dirty="0" err="1"/>
                  <a:t>Θ</a:t>
                </a:r>
                <a:r>
                  <a:rPr lang="en-US" sz="2300" i="1" baseline="-25000" dirty="0" err="1"/>
                  <a:t>k</a:t>
                </a:r>
                <a:r>
                  <a:rPr lang="en-US" sz="2300" dirty="0"/>
                  <a:t> at </a:t>
                </a:r>
                <a:r>
                  <a:rPr lang="en-US" sz="2300" i="1" dirty="0"/>
                  <a:t>k</a:t>
                </a:r>
                <a:r>
                  <a:rPr lang="en-US" sz="2300" baseline="30000" dirty="0"/>
                  <a:t>th</a:t>
                </a:r>
                <a:r>
                  <a:rPr lang="en-US" sz="2300" dirty="0"/>
                  <a:t> layer are estimated iterative by SGD as follows</a:t>
                </a:r>
                <a:r>
                  <a:rPr lang="en-US" sz="2300" dirty="0" smtClean="0"/>
                  <a:t>:</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300" i="1">
                              <a:latin typeface="Cambria Math" panose="02040503050406030204" pitchFamily="18" charset="0"/>
                            </a:rPr>
                          </m:ctrlPr>
                        </m:mPr>
                        <m:mr>
                          <m:e>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r>
                              <a:rPr lang="en-US" sz="2300" i="1">
                                <a:latin typeface="Cambria Math" panose="02040503050406030204" pitchFamily="18" charset="0"/>
                              </a:rPr>
                              <m:t>+</m:t>
                            </m:r>
                            <m:r>
                              <a:rPr lang="en-US" sz="2300" i="1">
                                <a:latin typeface="Cambria Math" panose="02040503050406030204" pitchFamily="18" charset="0"/>
                              </a:rPr>
                              <m:t>𝛾</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e>
                        </m:mr>
                        <m:mr>
                          <m:e>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r>
                              <a:rPr lang="en-US" sz="2300" i="1">
                                <a:latin typeface="Cambria Math" panose="02040503050406030204" pitchFamily="18" charset="0"/>
                              </a:rPr>
                              <m:t>+</m:t>
                            </m:r>
                            <m:r>
                              <a:rPr lang="en-US" sz="2300" i="1">
                                <a:latin typeface="Cambria Math" panose="02040503050406030204" pitchFamily="18" charset="0"/>
                              </a:rPr>
                              <m:t>𝛾</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e>
                        </m:mr>
                        <m:mr>
                          <m:e>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r>
                              <a:rPr lang="en-US" sz="2300" i="1">
                                <a:latin typeface="Cambria Math" panose="02040503050406030204" pitchFamily="18" charset="0"/>
                              </a:rPr>
                              <m:t>=</m:t>
                            </m:r>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r>
                              <a:rPr lang="en-US" sz="2300" i="1">
                                <a:latin typeface="Cambria Math" panose="02040503050406030204" pitchFamily="18" charset="0"/>
                              </a:rPr>
                              <m:t>+</m:t>
                            </m:r>
                            <m:r>
                              <a:rPr lang="en-US" sz="2300" i="1">
                                <a:latin typeface="Cambria Math" panose="02040503050406030204" pitchFamily="18" charset="0"/>
                              </a:rPr>
                              <m:t>𝛾</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e>
                        </m:mr>
                      </m:m>
                      <m:r>
                        <a:rPr lang="en-US" sz="2300" i="1">
                          <a:latin typeface="Cambria Math" panose="02040503050406030204" pitchFamily="18" charset="0"/>
                        </a:rPr>
                        <m:t>,∀</m:t>
                      </m:r>
                      <m:r>
                        <a:rPr lang="en-US" sz="2300" i="1">
                          <a:latin typeface="Cambria Math" panose="02040503050406030204" pitchFamily="18" charset="0"/>
                        </a:rPr>
                        <m:t>𝑘</m:t>
                      </m:r>
                      <m:r>
                        <a:rPr lang="en-US" sz="2300" i="1">
                          <a:latin typeface="Cambria Math" panose="02040503050406030204" pitchFamily="18" charset="0"/>
                        </a:rPr>
                        <m:t>=</m:t>
                      </m:r>
                      <m:acc>
                        <m:accPr>
                          <m:chr m:val="̅"/>
                          <m:ctrlPr>
                            <a:rPr lang="en-US" sz="2300" i="1">
                              <a:latin typeface="Cambria Math" panose="02040503050406030204" pitchFamily="18" charset="0"/>
                            </a:rPr>
                          </m:ctrlPr>
                        </m:accPr>
                        <m:e>
                          <m:r>
                            <a:rPr lang="en-US" sz="2300" i="1">
                              <a:latin typeface="Cambria Math" panose="02040503050406030204" pitchFamily="18" charset="0"/>
                            </a:rPr>
                            <m:t>1,</m:t>
                          </m:r>
                          <m:r>
                            <a:rPr lang="en-US" sz="2300" i="1">
                              <a:latin typeface="Cambria Math" panose="02040503050406030204" pitchFamily="18" charset="0"/>
                            </a:rPr>
                            <m:t>𝐾</m:t>
                          </m:r>
                        </m:e>
                      </m:acc>
                    </m:oMath>
                  </m:oMathPara>
                </a14:m>
                <a:endParaRPr lang="en-US" sz="2300" dirty="0" smtClean="0"/>
              </a:p>
              <a:p>
                <a:pPr marL="0" indent="0">
                  <a:buNone/>
                </a:pPr>
                <a:r>
                  <a:rPr lang="en-US" sz="2300" dirty="0" smtClean="0"/>
                  <a:t>Note, </a:t>
                </a:r>
                <a14:m>
                  <m:oMath xmlns:m="http://schemas.openxmlformats.org/officeDocument/2006/math">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oMath>
                </a14:m>
                <a:r>
                  <a:rPr lang="en-US" sz="2300" dirty="0"/>
                  <a:t>, </a:t>
                </a:r>
                <a14:m>
                  <m:oMath xmlns:m="http://schemas.openxmlformats.org/officeDocument/2006/math">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oMath>
                </a14:m>
                <a:r>
                  <a:rPr lang="en-US" sz="2300" dirty="0"/>
                  <a:t>, and </a:t>
                </a:r>
                <a14:m>
                  <m:oMath xmlns:m="http://schemas.openxmlformats.org/officeDocument/2006/math">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oMath>
                </a14:m>
                <a:r>
                  <a:rPr lang="en-US" sz="2300" dirty="0"/>
                  <a:t> are gradients </a:t>
                </a:r>
                <a:r>
                  <a:rPr lang="en-US" sz="2300" dirty="0" smtClean="0"/>
                  <a:t>(first-order derivatives) of </a:t>
                </a:r>
                <a:r>
                  <a:rPr lang="en-US" sz="2300" dirty="0"/>
                  <a:t>likelihood </a:t>
                </a:r>
                <a:r>
                  <a:rPr lang="en-US" sz="2300" i="1" dirty="0"/>
                  <a:t>l</a:t>
                </a:r>
                <a:r>
                  <a:rPr lang="en-US" sz="2300" dirty="0"/>
                  <a:t>(</a:t>
                </a:r>
                <a:r>
                  <a:rPr lang="en-US" sz="2300" b="1" i="1" dirty="0"/>
                  <a:t>X</a:t>
                </a:r>
                <a:r>
                  <a:rPr lang="en-US" sz="2300" i="1" baseline="-25000" dirty="0"/>
                  <a:t>K</a:t>
                </a:r>
                <a:r>
                  <a:rPr lang="en-US" sz="2300" dirty="0"/>
                  <a:t>) with respect to </a:t>
                </a:r>
                <a:r>
                  <a:rPr lang="en-US" sz="2300" dirty="0" smtClean="0"/>
                  <a:t>parametric weights </a:t>
                </a:r>
                <a:r>
                  <a:rPr lang="en-US" sz="2300" i="1" dirty="0" err="1" smtClean="0"/>
                  <a:t>U</a:t>
                </a:r>
                <a:r>
                  <a:rPr lang="en-US" sz="2300" i="1" baseline="-25000" dirty="0" err="1" smtClean="0"/>
                  <a:t>k</a:t>
                </a:r>
                <a:r>
                  <a:rPr lang="en-US" sz="2300" dirty="0"/>
                  <a:t>, </a:t>
                </a:r>
                <a:r>
                  <a:rPr lang="en-US" sz="2300" i="1" dirty="0" err="1"/>
                  <a:t>V</a:t>
                </a:r>
                <a:r>
                  <a:rPr lang="en-US" sz="2300" i="1" baseline="-25000" dirty="0" err="1"/>
                  <a:t>k</a:t>
                </a:r>
                <a:r>
                  <a:rPr lang="en-US" sz="2300" dirty="0"/>
                  <a:t>, and </a:t>
                </a:r>
                <a:r>
                  <a:rPr lang="en-US" sz="2300" dirty="0" smtClean="0"/>
                  <a:t>parametric bias </a:t>
                </a:r>
                <a:r>
                  <a:rPr lang="en-US" sz="2300" dirty="0" err="1" smtClean="0"/>
                  <a:t>Θ</a:t>
                </a:r>
                <a:r>
                  <a:rPr lang="en-US" sz="2300" i="1" baseline="-25000" dirty="0" err="1" smtClean="0"/>
                  <a:t>k</a:t>
                </a:r>
                <a:r>
                  <a:rPr lang="en-US" sz="2300" dirty="0"/>
                  <a:t>, </a:t>
                </a:r>
                <a:r>
                  <a:rPr lang="en-US" sz="2300" dirty="0" smtClean="0"/>
                  <a:t>respectively.</a:t>
                </a:r>
                <a:r>
                  <a:rPr lang="en-US" sz="2300" dirty="0"/>
                  <a:t> Therefore, how to train MNN is essentially to calculate </a:t>
                </a:r>
                <a:r>
                  <a:rPr lang="en-US" sz="2300" dirty="0" smtClean="0"/>
                  <a:t>these gradients.</a:t>
                </a:r>
                <a:r>
                  <a:rPr lang="en-US" sz="2300" dirty="0"/>
                  <a:t> Because high dimensions of gradients related to tensors, </a:t>
                </a:r>
                <a:r>
                  <a:rPr lang="en-US" sz="2300" i="1" dirty="0"/>
                  <a:t>vectorization</a:t>
                </a:r>
                <a:r>
                  <a:rPr lang="en-US" sz="2300" dirty="0"/>
                  <a:t> technique </a:t>
                </a:r>
                <a:r>
                  <a:rPr lang="en-US" sz="2300" dirty="0" err="1" smtClean="0"/>
                  <a:t>vec</a:t>
                </a:r>
                <a:r>
                  <a:rPr lang="en-US" sz="2300" dirty="0" smtClean="0"/>
                  <a:t>(.) is </a:t>
                </a:r>
                <a:r>
                  <a:rPr lang="en-US" sz="2300" dirty="0"/>
                  <a:t>applied into calculating these gradients so that matrix gradients are equivalent to vector </a:t>
                </a:r>
                <a:r>
                  <a:rPr lang="en-US" sz="2300" dirty="0" smtClean="0"/>
                  <a:t>gradients.</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300" i="1">
                              <a:latin typeface="Cambria Math" panose="02040503050406030204" pitchFamily="18" charset="0"/>
                            </a:rPr>
                          </m:ctrlPr>
                        </m:mPr>
                        <m:mr>
                          <m:e>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𝑈</m:t>
                                    </m:r>
                                  </m:e>
                                  <m:sub>
                                    <m:r>
                                      <a:rPr lang="en-US" sz="2300" i="1">
                                        <a:latin typeface="Cambria Math" panose="02040503050406030204" pitchFamily="18" charset="0"/>
                                      </a:rPr>
                                      <m:t>𝑘</m:t>
                                    </m:r>
                                  </m:sub>
                                </m:sSub>
                              </m:sub>
                            </m:sSub>
                            <m:r>
                              <m:rPr>
                                <m:sty m:val="p"/>
                              </m:rPr>
                              <a:rPr lang="en-US" sz="2300">
                                <a:latin typeface="Cambria Math" panose="02040503050406030204" pitchFamily="18" charset="0"/>
                              </a:rPr>
                              <m:t>vec</m:t>
                            </m:r>
                            <m:d>
                              <m:dPr>
                                <m:ctrlPr>
                                  <a:rPr lang="en-US" sz="2300" i="1">
                                    <a:latin typeface="Cambria Math" panose="02040503050406030204" pitchFamily="18" charset="0"/>
                                  </a:rPr>
                                </m:ctrlPr>
                              </m:dPr>
                              <m:e>
                                <m:r>
                                  <a:rPr lang="en-US" sz="2300" i="1">
                                    <a:latin typeface="Cambria Math" panose="02040503050406030204" pitchFamily="18" charset="0"/>
                                  </a:rPr>
                                  <m:t>𝑙</m:t>
                                </m:r>
                              </m:e>
                            </m:d>
                          </m:e>
                        </m:mr>
                        <m:mr>
                          <m:e>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a:rPr lang="en-US" sz="2300" i="1">
                                        <a:latin typeface="Cambria Math" panose="02040503050406030204" pitchFamily="18" charset="0"/>
                                      </a:rPr>
                                      <m:t>𝑉</m:t>
                                    </m:r>
                                  </m:e>
                                  <m:sub>
                                    <m:r>
                                      <a:rPr lang="en-US" sz="2300" i="1">
                                        <a:latin typeface="Cambria Math" panose="02040503050406030204" pitchFamily="18" charset="0"/>
                                      </a:rPr>
                                      <m:t>𝑘</m:t>
                                    </m:r>
                                  </m:sub>
                                </m:sSub>
                              </m:sub>
                            </m:sSub>
                            <m:r>
                              <m:rPr>
                                <m:sty m:val="p"/>
                              </m:rPr>
                              <a:rPr lang="en-US" sz="2300">
                                <a:latin typeface="Cambria Math" panose="02040503050406030204" pitchFamily="18" charset="0"/>
                              </a:rPr>
                              <m:t>vec</m:t>
                            </m:r>
                            <m:d>
                              <m:dPr>
                                <m:ctrlPr>
                                  <a:rPr lang="en-US" sz="2300" i="1">
                                    <a:latin typeface="Cambria Math" panose="02040503050406030204" pitchFamily="18" charset="0"/>
                                  </a:rPr>
                                </m:ctrlPr>
                              </m:dPr>
                              <m:e>
                                <m:r>
                                  <a:rPr lang="en-US" sz="2300" i="1">
                                    <a:latin typeface="Cambria Math" panose="02040503050406030204" pitchFamily="18" charset="0"/>
                                  </a:rPr>
                                  <m:t>𝑙</m:t>
                                </m:r>
                              </m:e>
                            </m:d>
                          </m:e>
                        </m:mr>
                        <m:mr>
                          <m:e>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sub>
                            </m:sSub>
                            <m:r>
                              <a:rPr lang="en-US" sz="2300" i="1">
                                <a:latin typeface="Cambria Math" panose="02040503050406030204" pitchFamily="18" charset="0"/>
                              </a:rPr>
                              <m:t>𝑙</m:t>
                            </m:r>
                            <m:r>
                              <a:rPr lang="en-US" sz="2300" i="1">
                                <a:latin typeface="Cambria Math" panose="02040503050406030204" pitchFamily="18" charset="0"/>
                              </a:rPr>
                              <m:t>≡</m:t>
                            </m:r>
                            <m:sSub>
                              <m:sSubPr>
                                <m:ctrlPr>
                                  <a:rPr lang="en-US" sz="2300" i="1">
                                    <a:latin typeface="Cambria Math" panose="02040503050406030204" pitchFamily="18" charset="0"/>
                                  </a:rPr>
                                </m:ctrlPr>
                              </m:sSubPr>
                              <m:e>
                                <m:r>
                                  <a:rPr lang="en-US" sz="2300">
                                    <a:latin typeface="Cambria Math" panose="02040503050406030204" pitchFamily="18" charset="0"/>
                                  </a:rPr>
                                  <m:t>𝛻</m:t>
                                </m:r>
                              </m:e>
                              <m:sub>
                                <m:sSub>
                                  <m:sSubPr>
                                    <m:ctrlPr>
                                      <a:rPr lang="en-US" sz="2300" i="1">
                                        <a:latin typeface="Cambria Math" panose="02040503050406030204" pitchFamily="18" charset="0"/>
                                      </a:rPr>
                                    </m:ctrlPr>
                                  </m:sSubPr>
                                  <m:e>
                                    <m:r>
                                      <m:rPr>
                                        <m:sty m:val="p"/>
                                      </m:rPr>
                                      <a:rPr lang="en-US" sz="2300">
                                        <a:latin typeface="Cambria Math" panose="02040503050406030204" pitchFamily="18" charset="0"/>
                                      </a:rPr>
                                      <m:t>Θ</m:t>
                                    </m:r>
                                  </m:e>
                                  <m:sub>
                                    <m:r>
                                      <a:rPr lang="en-US" sz="2300" i="1">
                                        <a:latin typeface="Cambria Math" panose="02040503050406030204" pitchFamily="18" charset="0"/>
                                      </a:rPr>
                                      <m:t>𝑘</m:t>
                                    </m:r>
                                  </m:sub>
                                </m:sSub>
                              </m:sub>
                            </m:sSub>
                            <m:r>
                              <m:rPr>
                                <m:sty m:val="p"/>
                              </m:rPr>
                              <a:rPr lang="en-US" sz="2300">
                                <a:latin typeface="Cambria Math" panose="02040503050406030204" pitchFamily="18" charset="0"/>
                              </a:rPr>
                              <m:t>vec</m:t>
                            </m:r>
                            <m:d>
                              <m:dPr>
                                <m:ctrlPr>
                                  <a:rPr lang="en-US" sz="2300" i="1">
                                    <a:latin typeface="Cambria Math" panose="02040503050406030204" pitchFamily="18" charset="0"/>
                                  </a:rPr>
                                </m:ctrlPr>
                              </m:dPr>
                              <m:e>
                                <m:r>
                                  <a:rPr lang="en-US" sz="2300" i="1">
                                    <a:latin typeface="Cambria Math" panose="02040503050406030204" pitchFamily="18" charset="0"/>
                                  </a:rPr>
                                  <m:t>𝑙</m:t>
                                </m:r>
                              </m:e>
                            </m:d>
                          </m:e>
                        </m:mr>
                      </m:m>
                      <m:r>
                        <a:rPr lang="en-US" sz="2300" i="1">
                          <a:latin typeface="Cambria Math" panose="02040503050406030204" pitchFamily="18" charset="0"/>
                        </a:rPr>
                        <m:t>,∀</m:t>
                      </m:r>
                      <m:r>
                        <a:rPr lang="en-US" sz="2300" i="1">
                          <a:latin typeface="Cambria Math" panose="02040503050406030204" pitchFamily="18" charset="0"/>
                        </a:rPr>
                        <m:t>𝑘</m:t>
                      </m:r>
                      <m:r>
                        <a:rPr lang="en-US" sz="2300" i="1">
                          <a:latin typeface="Cambria Math" panose="02040503050406030204" pitchFamily="18" charset="0"/>
                        </a:rPr>
                        <m:t>=</m:t>
                      </m:r>
                      <m:acc>
                        <m:accPr>
                          <m:chr m:val="̅"/>
                          <m:ctrlPr>
                            <a:rPr lang="en-US" sz="2300" i="1">
                              <a:latin typeface="Cambria Math" panose="02040503050406030204" pitchFamily="18" charset="0"/>
                            </a:rPr>
                          </m:ctrlPr>
                        </m:accPr>
                        <m:e>
                          <m:r>
                            <a:rPr lang="en-US" sz="2300" i="1">
                              <a:latin typeface="Cambria Math" panose="02040503050406030204" pitchFamily="18" charset="0"/>
                            </a:rPr>
                            <m:t>1,</m:t>
                          </m:r>
                          <m:r>
                            <a:rPr lang="en-US" sz="2300" i="1">
                              <a:latin typeface="Cambria Math" panose="02040503050406030204" pitchFamily="18" charset="0"/>
                            </a:rPr>
                            <m:t>𝐾</m:t>
                          </m:r>
                        </m:e>
                      </m:acc>
                    </m:oMath>
                  </m:oMathPara>
                </a14:m>
                <a:endParaRPr lang="en-US" sz="2300" dirty="0"/>
              </a:p>
              <a:p>
                <a:endParaRPr lang="en-US" sz="23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29440" cy="5176066"/>
              </a:xfrm>
              <a:blipFill>
                <a:blip r:embed="rId2"/>
                <a:stretch>
                  <a:fillRect l="-811" t="-1060" r="-963" b="-1296"/>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15</a:t>
            </a:fld>
            <a:endParaRPr lang="en-US"/>
          </a:p>
        </p:txBody>
      </p:sp>
    </p:spTree>
    <p:extLst>
      <p:ext uri="{BB962C8B-B14F-4D97-AF65-F5344CB8AC3E}">
        <p14:creationId xmlns:p14="http://schemas.microsoft.com/office/powerpoint/2010/main" val="1235031956"/>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a:t>
            </a:r>
            <a:r>
              <a:rPr lang="en-US" b="1" dirty="0" smtClean="0"/>
              <a:t>skip</a:t>
            </a:r>
            <a:r>
              <a:rPr lang="en-US" dirty="0" smtClean="0"/>
              <a:t>)</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09120" cy="5176066"/>
              </a:xfrm>
            </p:spPr>
            <p:txBody>
              <a:bodyPr>
                <a:noAutofit/>
              </a:bodyPr>
              <a:lstStyle/>
              <a:p>
                <a:pPr marL="0" indent="0">
                  <a:buNone/>
                </a:pPr>
                <a:r>
                  <a:rPr lang="en-US" sz="1850" dirty="0" smtClean="0"/>
                  <a:t>Differential </a:t>
                </a:r>
                <a:r>
                  <a:rPr lang="en-US" sz="1850" i="1" dirty="0"/>
                  <a:t>dl</a:t>
                </a:r>
                <a:r>
                  <a:rPr lang="en-US" sz="1850" dirty="0"/>
                  <a:t> of likelihood with respect to </a:t>
                </a:r>
                <a:r>
                  <a:rPr lang="en-US" sz="1850" b="1" i="1" dirty="0"/>
                  <a:t>X</a:t>
                </a:r>
                <a:r>
                  <a:rPr lang="en-US" sz="1850" i="1" baseline="-25000" dirty="0"/>
                  <a:t>K</a:t>
                </a:r>
                <a:r>
                  <a:rPr lang="en-US" sz="1850" baseline="-25000" dirty="0"/>
                  <a:t>–1</a:t>
                </a:r>
                <a:r>
                  <a:rPr lang="en-US" sz="1850" dirty="0"/>
                  <a:t> within vectorization is</a:t>
                </a:r>
                <a:r>
                  <a:rPr lang="en-US" sz="1850" dirty="0" smtClean="0"/>
                  <a:t>:</a:t>
                </a:r>
              </a:p>
              <a:p>
                <a:pPr marL="0" indent="0">
                  <a:buNone/>
                </a:pPr>
                <a14:m>
                  <m:oMathPara xmlns:m="http://schemas.openxmlformats.org/officeDocument/2006/math">
                    <m:oMathParaPr>
                      <m:jc m:val="centerGroup"/>
                    </m:oMathParaPr>
                    <m:oMath xmlns:m="http://schemas.openxmlformats.org/officeDocument/2006/math">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r>
                        <a:rPr lang="en-US" sz="1850" i="1">
                          <a:latin typeface="Cambria Math" panose="02040503050406030204" pitchFamily="18" charset="0"/>
                        </a:rPr>
                        <m:t>=</m:t>
                      </m:r>
                      <m:r>
                        <a:rPr lang="en-US" sz="1850" i="1">
                          <a:latin typeface="Cambria Math" panose="02040503050406030204" pitchFamily="18" charset="0"/>
                        </a:rPr>
                        <m:t>𝑑𝑙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r>
                        <a:rPr lang="en-US" sz="1850" i="1">
                          <a:latin typeface="Cambria Math" panose="02040503050406030204" pitchFamily="18" charset="0"/>
                        </a:rPr>
                        <m:t>=</m:t>
                      </m:r>
                      <m:r>
                        <a:rPr lang="en-US" sz="1850" i="1">
                          <a:latin typeface="Cambria Math" panose="02040503050406030204" pitchFamily="18" charset="0"/>
                        </a:rPr>
                        <m:t>𝑑𝑙</m:t>
                      </m:r>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r>
                        <a:rPr lang="en-US" sz="1850" b="0" i="1" smtClean="0">
                          <a:latin typeface="Cambria Math" panose="02040503050406030204" pitchFamily="18" charset="0"/>
                        </a:rPr>
                        <m:t>=</m:t>
                      </m:r>
                      <m:r>
                        <m:rPr>
                          <m:sty m:val="p"/>
                        </m:rPr>
                        <a:rPr lang="en-US" sz="1850">
                          <a:latin typeface="Cambria Math" panose="02040503050406030204" pitchFamily="18" charset="0"/>
                        </a:rPr>
                        <m:t>tr</m:t>
                      </m:r>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𝑿</m:t>
                                      </m:r>
                                    </m:e>
                                    <m:sub>
                                      <m:r>
                                        <a:rPr lang="en-US" sz="1850" i="1">
                                          <a:latin typeface="Cambria Math" panose="02040503050406030204" pitchFamily="18" charset="0"/>
                                        </a:rPr>
                                        <m:t>𝐾</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𝑉</m:t>
                                  </m:r>
                                </m:e>
                                <m:sub>
                                  <m:r>
                                    <a:rPr lang="en-US" sz="1850" i="1">
                                      <a:latin typeface="Cambria Math" panose="02040503050406030204" pitchFamily="18" charset="0"/>
                                    </a:rPr>
                                    <m:t>𝐾</m:t>
                                  </m:r>
                                </m:sub>
                                <m:sup>
                                  <m:r>
                                    <a:rPr lang="en-US" sz="1850" i="1">
                                      <a:latin typeface="Cambria Math" panose="02040503050406030204" pitchFamily="18" charset="0"/>
                                    </a:rPr>
                                    <m:t>𝑇</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r>
                                    <a:rPr lang="en-US" sz="1850" i="1">
                                      <a:latin typeface="Cambria Math" panose="02040503050406030204" pitchFamily="18" charset="0"/>
                                    </a:rPr>
                                    <m:t>−1</m:t>
                                  </m:r>
                                </m:sub>
                              </m:sSub>
                            </m:e>
                          </m:d>
                        </m:e>
                      </m:d>
                    </m:oMath>
                  </m:oMathPara>
                </a14:m>
                <a:endParaRPr lang="en-US" sz="1850" dirty="0" smtClean="0"/>
              </a:p>
              <a:p>
                <a:pPr marL="0" indent="0">
                  <a:buNone/>
                </a:pPr>
                <a:r>
                  <a:rPr lang="en-US" sz="1850" dirty="0" smtClean="0"/>
                  <a:t>Where </a:t>
                </a:r>
                <a:r>
                  <a:rPr lang="en-US" sz="1850" dirty="0"/>
                  <a:t>the notation </a:t>
                </a:r>
                <a14:m>
                  <m:oMath xmlns:m="http://schemas.openxmlformats.org/officeDocument/2006/math">
                    <m:r>
                      <a:rPr lang="en-US" sz="1850" i="1">
                        <a:latin typeface="Cambria Math" panose="02040503050406030204" pitchFamily="18" charset="0"/>
                      </a:rPr>
                      <m:t>⨂</m:t>
                    </m:r>
                  </m:oMath>
                </a14:m>
                <a:r>
                  <a:rPr lang="en-US" sz="1850" dirty="0"/>
                  <a:t> denotes </a:t>
                </a:r>
                <a:r>
                  <a:rPr lang="en-US" sz="1850" dirty="0" err="1"/>
                  <a:t>Kronecker</a:t>
                </a:r>
                <a:r>
                  <a:rPr lang="en-US" sz="1850" dirty="0"/>
                  <a:t> </a:t>
                </a:r>
                <a:r>
                  <a:rPr lang="en-US" sz="1850" dirty="0" smtClean="0"/>
                  <a:t>product and the notation </a:t>
                </a:r>
                <a:r>
                  <a:rPr lang="en-US" sz="1850" dirty="0" err="1" smtClean="0"/>
                  <a:t>tr</a:t>
                </a:r>
                <a:r>
                  <a:rPr lang="en-US" sz="1850" dirty="0" smtClean="0"/>
                  <a:t>(.) denotes trace operator of square matrix. Due to </a:t>
                </a:r>
                <a14:m>
                  <m:oMath xmlns:m="http://schemas.openxmlformats.org/officeDocument/2006/math">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𝑓</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e>
                    </m:d>
                  </m:oMath>
                </a14:m>
                <a:r>
                  <a:rPr lang="en-US" sz="1850" dirty="0" smtClean="0"/>
                  <a:t>, likelihood </a:t>
                </a:r>
                <a:r>
                  <a:rPr lang="en-US" sz="1850" dirty="0"/>
                  <a:t>differential </a:t>
                </a:r>
                <a:r>
                  <a:rPr lang="en-US" sz="1850" i="1" dirty="0"/>
                  <a:t>dl</a:t>
                </a:r>
                <a:r>
                  <a:rPr lang="en-US" sz="1850" dirty="0"/>
                  <a:t> with respect to last bias parameter Θ</a:t>
                </a:r>
                <a:r>
                  <a:rPr lang="en-US" sz="1850" i="1" baseline="-25000" dirty="0"/>
                  <a:t>K</a:t>
                </a:r>
                <a:r>
                  <a:rPr lang="en-US" sz="1850" dirty="0"/>
                  <a:t> </a:t>
                </a:r>
                <a:r>
                  <a:rPr lang="en-US" sz="1850" dirty="0" smtClean="0"/>
                  <a:t>is </a:t>
                </a:r>
                <a14:m>
                  <m:oMath xmlns:m="http://schemas.openxmlformats.org/officeDocument/2006/math">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r>
                      <a:rPr lang="en-US" sz="1850" i="1">
                        <a:latin typeface="Cambria Math" panose="02040503050406030204" pitchFamily="18" charset="0"/>
                      </a:rPr>
                      <m:t>=</m:t>
                    </m:r>
                    <m:r>
                      <m:rPr>
                        <m:sty m:val="p"/>
                      </m:rPr>
                      <a:rPr lang="en-US" sz="1850">
                        <a:latin typeface="Cambria Math" panose="02040503050406030204" pitchFamily="18" charset="0"/>
                      </a:rPr>
                      <m:t>tr</m:t>
                    </m:r>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𝑿</m:t>
                                    </m:r>
                                  </m:e>
                                  <m:sub>
                                    <m:r>
                                      <a:rPr lang="en-US" sz="1850" i="1">
                                        <a:latin typeface="Cambria Math" panose="02040503050406030204" pitchFamily="18" charset="0"/>
                                      </a:rPr>
                                      <m:t>𝐾</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e>
                        </m:d>
                      </m:e>
                    </m:d>
                  </m:oMath>
                </a14:m>
                <a:r>
                  <a:rPr lang="en-US" sz="1850" dirty="0" smtClean="0"/>
                  <a:t> so that </a:t>
                </a:r>
                <a:r>
                  <a:rPr lang="en-US" sz="1850" dirty="0"/>
                  <a:t>the gradient of last bias parameter Θ</a:t>
                </a:r>
                <a:r>
                  <a:rPr lang="en-US" sz="1850" i="1" baseline="-25000" dirty="0"/>
                  <a:t>K</a:t>
                </a:r>
                <a:r>
                  <a:rPr lang="en-US" sz="1850" dirty="0"/>
                  <a:t> is</a:t>
                </a:r>
                <a:r>
                  <a:rPr lang="en-US" sz="185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sub>
                      </m:sSub>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e>
                      </m:d>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num>
                        <m:den>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e>
                          </m:d>
                        </m:den>
                      </m:f>
                      <m: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e>
                          </m:d>
                        </m:e>
                        <m:sup>
                          <m:r>
                            <a:rPr lang="en-US" sz="1850" i="1">
                              <a:latin typeface="Cambria Math" panose="02040503050406030204" pitchFamily="18" charset="0"/>
                            </a:rPr>
                            <m:t>𝑇</m:t>
                          </m:r>
                        </m:sup>
                      </m:sSup>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𝑿</m:t>
                              </m:r>
                            </m:e>
                            <m:sub>
                              <m:r>
                                <a:rPr lang="en-US" sz="1850" i="1">
                                  <a:latin typeface="Cambria Math" panose="02040503050406030204" pitchFamily="18" charset="0"/>
                                </a:rPr>
                                <m:t>𝐾</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oMath>
                  </m:oMathPara>
                </a14:m>
                <a:endParaRPr lang="en-US" sz="1850" dirty="0"/>
              </a:p>
              <a:p>
                <a:pPr marL="0" indent="0">
                  <a:buNone/>
                </a:pPr>
                <a:r>
                  <a:rPr lang="en-US" sz="1850" dirty="0" smtClean="0"/>
                  <a:t>Let </a:t>
                </a:r>
                <a14:m>
                  <m:oMath xmlns:m="http://schemas.openxmlformats.org/officeDocument/2006/math">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𝑟</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sub>
                    </m:sSub>
                  </m:oMath>
                </a14:m>
                <a:r>
                  <a:rPr lang="en-US" sz="1850" dirty="0"/>
                  <a:t> be the identity matrix whose dimension is </a:t>
                </a:r>
                <a:r>
                  <a:rPr lang="en-US" sz="1850" i="1" dirty="0"/>
                  <a:t>r</a:t>
                </a:r>
                <a:r>
                  <a:rPr lang="en-US" sz="1850" dirty="0"/>
                  <a:t>(</a:t>
                </a:r>
                <a:r>
                  <a:rPr lang="en-US" sz="1850" i="1" dirty="0"/>
                  <a:t>U</a:t>
                </a:r>
                <a:r>
                  <a:rPr lang="en-US" sz="1850" i="1" baseline="-25000" dirty="0"/>
                  <a:t>K</a:t>
                </a:r>
                <a:r>
                  <a:rPr lang="en-US" sz="1850" dirty="0"/>
                  <a:t>) x </a:t>
                </a:r>
                <a:r>
                  <a:rPr lang="en-US" sz="1850" i="1" dirty="0"/>
                  <a:t>r</a:t>
                </a:r>
                <a:r>
                  <a:rPr lang="en-US" sz="1850" dirty="0"/>
                  <a:t>(</a:t>
                </a:r>
                <a:r>
                  <a:rPr lang="en-US" sz="1850" i="1" dirty="0"/>
                  <a:t>U</a:t>
                </a:r>
                <a:r>
                  <a:rPr lang="en-US" sz="1850" i="1" baseline="-25000" dirty="0"/>
                  <a:t>K</a:t>
                </a:r>
                <a:r>
                  <a:rPr lang="en-US" sz="1850" dirty="0"/>
                  <a:t>) where </a:t>
                </a:r>
                <a:r>
                  <a:rPr lang="en-US" sz="1850" i="1" dirty="0"/>
                  <a:t>r</a:t>
                </a:r>
                <a:r>
                  <a:rPr lang="en-US" sz="1850" dirty="0"/>
                  <a:t>(</a:t>
                </a:r>
                <a:r>
                  <a:rPr lang="en-US" sz="1850" i="1" dirty="0"/>
                  <a:t>U</a:t>
                </a:r>
                <a:r>
                  <a:rPr lang="en-US" sz="1850" i="1" baseline="-25000" dirty="0"/>
                  <a:t>K</a:t>
                </a:r>
                <a:r>
                  <a:rPr lang="en-US" sz="1850" dirty="0"/>
                  <a:t>) is the number of rows of </a:t>
                </a:r>
                <a:r>
                  <a:rPr lang="en-US" sz="1850" i="1" dirty="0" smtClean="0"/>
                  <a:t>U</a:t>
                </a:r>
                <a:r>
                  <a:rPr lang="en-US" sz="1850" i="1" baseline="-25000" dirty="0" smtClean="0"/>
                  <a:t>K</a:t>
                </a:r>
                <a:r>
                  <a:rPr lang="en-US" sz="1850" dirty="0" smtClean="0"/>
                  <a:t>, d</a:t>
                </a:r>
                <a14:m>
                  <m:oMath xmlns:m="http://schemas.openxmlformats.org/officeDocument/2006/math">
                    <m:r>
                      <m:rPr>
                        <m:sty m:val="p"/>
                      </m:rPr>
                      <a:rPr lang="en-US" sz="1850" b="0" i="0" smtClean="0">
                        <a:latin typeface="Cambria Math" panose="02040503050406030204" pitchFamily="18" charset="0"/>
                      </a:rPr>
                      <m:t>ue</m:t>
                    </m:r>
                    <m:r>
                      <a:rPr lang="en-US" sz="1850" b="0" i="0" smtClean="0">
                        <a:latin typeface="Cambria Math" panose="02040503050406030204" pitchFamily="18" charset="0"/>
                      </a:rPr>
                      <m:t> </m:t>
                    </m:r>
                    <m:r>
                      <m:rPr>
                        <m:sty m:val="p"/>
                      </m:rPr>
                      <a:rPr lang="en-US" sz="1850" b="0" i="0" smtClean="0">
                        <a:latin typeface="Cambria Math" panose="02040503050406030204" pitchFamily="18" charset="0"/>
                      </a:rPr>
                      <m:t>to</m:t>
                    </m:r>
                    <m:r>
                      <a:rPr lang="en-US" sz="1850" b="0" i="0" smtClean="0">
                        <a:latin typeface="Cambria Math" panose="02040503050406030204" pitchFamily="18" charset="0"/>
                      </a:rPr>
                      <m:t> </m:t>
                    </m:r>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𝑓</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r>
                                  <a:rPr lang="en-US" sz="1850" i="1">
                                    <a:latin typeface="Cambria Math" panose="02040503050406030204" pitchFamily="18" charset="0"/>
                                  </a:rPr>
                                  <m:t>−1</m:t>
                                </m:r>
                              </m:sub>
                            </m:sSub>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𝑟</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𝑘</m:t>
                                </m:r>
                              </m:sub>
                            </m:sSub>
                          </m:e>
                        </m:d>
                      </m:sub>
                    </m:sSub>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oMath>
                </a14:m>
                <a:r>
                  <a:rPr lang="en-US" sz="1850" dirty="0" smtClean="0"/>
                  <a:t>, </a:t>
                </a:r>
                <a:r>
                  <a:rPr lang="en-US" sz="1850" dirty="0"/>
                  <a:t>likelihood differential </a:t>
                </a:r>
                <a:r>
                  <a:rPr lang="en-US" sz="1850" i="1" dirty="0"/>
                  <a:t>dl</a:t>
                </a:r>
                <a:r>
                  <a:rPr lang="en-US" sz="1850" dirty="0"/>
                  <a:t> with respect to last weight parameter </a:t>
                </a:r>
                <a:r>
                  <a:rPr lang="en-US" sz="1850" i="1" dirty="0"/>
                  <a:t>U</a:t>
                </a:r>
                <a:r>
                  <a:rPr lang="en-US" sz="1850" i="1" baseline="-25000" dirty="0"/>
                  <a:t>K</a:t>
                </a:r>
                <a:r>
                  <a:rPr lang="en-US" sz="1850" dirty="0"/>
                  <a:t> </a:t>
                </a:r>
                <a:r>
                  <a:rPr lang="en-US" sz="1850" dirty="0" smtClean="0"/>
                  <a:t>is </a:t>
                </a:r>
                <a14:m>
                  <m:oMath xmlns:m="http://schemas.openxmlformats.org/officeDocument/2006/math">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r>
                      <a:rPr lang="en-US" sz="1850" i="1">
                        <a:latin typeface="Cambria Math" panose="02040503050406030204" pitchFamily="18" charset="0"/>
                      </a:rPr>
                      <m:t>=</m:t>
                    </m:r>
                    <m:r>
                      <m:rPr>
                        <m:sty m:val="p"/>
                      </m:rPr>
                      <a:rPr lang="en-US" sz="1850">
                        <a:latin typeface="Cambria Math" panose="02040503050406030204" pitchFamily="18" charset="0"/>
                      </a:rPr>
                      <m:t>tr</m:t>
                    </m:r>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𝑿</m:t>
                                    </m:r>
                                  </m:e>
                                  <m:sub>
                                    <m:r>
                                      <a:rPr lang="en-US" sz="1850" i="1">
                                        <a:latin typeface="Cambria Math" panose="02040503050406030204" pitchFamily="18" charset="0"/>
                                      </a:rPr>
                                      <m:t>𝐾</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r>
                                          <a:rPr lang="en-US" sz="1850" i="1">
                                            <a:latin typeface="Cambria Math" panose="02040503050406030204" pitchFamily="18" charset="0"/>
                                          </a:rPr>
                                          <m:t>−1</m:t>
                                        </m:r>
                                      </m:sub>
                                    </m:sSub>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𝑟</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sub>
                            </m:sSub>
                          </m:e>
                        </m:d>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e>
                    </m:d>
                  </m:oMath>
                </a14:m>
                <a:r>
                  <a:rPr lang="en-US" sz="1850" dirty="0" smtClean="0"/>
                  <a:t> so that the </a:t>
                </a:r>
                <a:r>
                  <a:rPr lang="en-US" sz="1850" dirty="0"/>
                  <a:t>gradient of last weight parameter </a:t>
                </a:r>
                <a:r>
                  <a:rPr lang="en-US" sz="1850" i="1" dirty="0"/>
                  <a:t>U</a:t>
                </a:r>
                <a:r>
                  <a:rPr lang="en-US" sz="1850" i="1" baseline="-25000" dirty="0"/>
                  <a:t>K</a:t>
                </a:r>
                <a:r>
                  <a:rPr lang="en-US" sz="1850" dirty="0"/>
                  <a:t> is</a:t>
                </a:r>
                <a:r>
                  <a:rPr lang="en-US" sz="185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sub>
                      </m:sSub>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e>
                      </m:d>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d>
                        </m:num>
                        <m:den>
                          <m:r>
                            <a:rPr lang="en-US" sz="1850" i="1">
                              <a:latin typeface="Cambria Math" panose="02040503050406030204" pitchFamily="18" charset="0"/>
                            </a:rPr>
                            <m:t>𝑑</m:t>
                          </m:r>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den>
                      </m:f>
                      <m: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r>
                                            <a:rPr lang="en-US" sz="1850" i="1">
                                              <a:latin typeface="Cambria Math" panose="02040503050406030204" pitchFamily="18" charset="0"/>
                                            </a:rPr>
                                            <m:t>−1</m:t>
                                          </m:r>
                                        </m:sub>
                                      </m:sSub>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𝐾</m:t>
                                          </m:r>
                                        </m:sub>
                                      </m:sSub>
                                    </m:e>
                                  </m:d>
                                </m:e>
                                <m:sup>
                                  <m:r>
                                    <a:rPr lang="en-US" sz="1850" i="1">
                                      <a:latin typeface="Cambria Math" panose="02040503050406030204" pitchFamily="18" charset="0"/>
                                    </a:rPr>
                                    <m:t>𝑇</m:t>
                                  </m:r>
                                </m:sup>
                              </m:s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𝑟</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𝐾</m:t>
                                          </m:r>
                                        </m:sub>
                                      </m:sSub>
                                    </m:e>
                                  </m:d>
                                </m:sub>
                              </m:sSub>
                            </m:e>
                          </m:d>
                        </m:e>
                        <m:sup>
                          <m:r>
                            <a:rPr lang="en-US" sz="1850" i="1">
                              <a:latin typeface="Cambria Math" panose="02040503050406030204" pitchFamily="18" charset="0"/>
                            </a:rPr>
                            <m:t>𝑇</m:t>
                          </m:r>
                        </m:sup>
                      </m:sSup>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sub>
                      </m:sSub>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r>
                            <a:rPr lang="en-US" sz="1850" i="1">
                              <a:latin typeface="Cambria Math" panose="02040503050406030204" pitchFamily="18" charset="0"/>
                            </a:rPr>
                            <m:t>𝑙</m:t>
                          </m:r>
                        </m:e>
                      </m:d>
                    </m:oMath>
                  </m:oMathPara>
                </a14:m>
                <a:endParaRPr lang="en-US" sz="1850" dirty="0"/>
              </a:p>
              <a:p>
                <a:pPr marL="0" indent="0">
                  <a:buNone/>
                </a:pPr>
                <a:r>
                  <a:rPr lang="en-US" sz="1850" dirty="0" smtClean="0"/>
                  <a:t>  </a:t>
                </a:r>
              </a:p>
              <a:p>
                <a:pPr marL="0" indent="0">
                  <a:buNone/>
                </a:pPr>
                <a:endParaRPr lang="en-US" sz="1850" dirty="0"/>
              </a:p>
              <a:p>
                <a:pPr marL="0" indent="0">
                  <a:buNone/>
                </a:pPr>
                <a:endParaRPr lang="en-US" sz="18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09120" cy="5176066"/>
              </a:xfrm>
              <a:blipFill>
                <a:blip r:embed="rId3"/>
                <a:stretch>
                  <a:fillRect l="-457" t="-707" r="-457" b="-589"/>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16</a:t>
            </a:fld>
            <a:endParaRPr lang="en-US"/>
          </a:p>
        </p:txBody>
      </p:sp>
    </p:spTree>
    <p:extLst>
      <p:ext uri="{BB962C8B-B14F-4D97-AF65-F5344CB8AC3E}">
        <p14:creationId xmlns:p14="http://schemas.microsoft.com/office/powerpoint/2010/main" val="2498921935"/>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 (</a:t>
            </a:r>
            <a:r>
              <a:rPr lang="en-US" b="1" dirty="0"/>
              <a:t>skip</a:t>
            </a:r>
            <a:r>
              <a:rPr lang="en-US" dirty="0"/>
              <a: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19280" cy="5176066"/>
              </a:xfrm>
            </p:spPr>
            <p:txBody>
              <a:bodyPr>
                <a:noAutofit/>
              </a:bodyPr>
              <a:lstStyle/>
              <a:p>
                <a:pPr marL="0" indent="0">
                  <a:buNone/>
                </a:pPr>
                <a:r>
                  <a:rPr lang="en-US" sz="1950" dirty="0"/>
                  <a:t>Let </a:t>
                </a:r>
                <a14:m>
                  <m:oMath xmlns:m="http://schemas.openxmlformats.org/officeDocument/2006/math">
                    <m:sSub>
                      <m:sSubPr>
                        <m:ctrlPr>
                          <a:rPr lang="en-US" sz="1950" i="1">
                            <a:latin typeface="Cambria Math" panose="02040503050406030204" pitchFamily="18" charset="0"/>
                          </a:rPr>
                        </m:ctrlPr>
                      </m:sSubPr>
                      <m:e>
                        <m:r>
                          <a:rPr lang="en-US" sz="1950" i="1">
                            <a:latin typeface="Cambria Math" panose="02040503050406030204" pitchFamily="18" charset="0"/>
                          </a:rPr>
                          <m:t>𝐼</m:t>
                        </m:r>
                      </m:e>
                      <m:sub>
                        <m:r>
                          <a:rPr lang="en-US" sz="1950" i="1">
                            <a:latin typeface="Cambria Math" panose="02040503050406030204" pitchFamily="18" charset="0"/>
                          </a:rPr>
                          <m:t>𝑐</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sub>
                    </m:sSub>
                  </m:oMath>
                </a14:m>
                <a:r>
                  <a:rPr lang="en-US" sz="1950" dirty="0"/>
                  <a:t> be the identity matrix whose dimension is </a:t>
                </a:r>
                <a:r>
                  <a:rPr lang="en-US" sz="1950" i="1" dirty="0"/>
                  <a:t>c</a:t>
                </a:r>
                <a:r>
                  <a:rPr lang="en-US" sz="1950" dirty="0"/>
                  <a:t>(</a:t>
                </a:r>
                <a:r>
                  <a:rPr lang="en-US" sz="1950" i="1" dirty="0"/>
                  <a:t>V</a:t>
                </a:r>
                <a:r>
                  <a:rPr lang="en-US" sz="1950" i="1" baseline="-25000" dirty="0"/>
                  <a:t>K</a:t>
                </a:r>
                <a:r>
                  <a:rPr lang="en-US" sz="1950" dirty="0"/>
                  <a:t>) x </a:t>
                </a:r>
                <a:r>
                  <a:rPr lang="en-US" sz="1950" i="1" dirty="0"/>
                  <a:t>c</a:t>
                </a:r>
                <a:r>
                  <a:rPr lang="en-US" sz="1950" dirty="0"/>
                  <a:t>(</a:t>
                </a:r>
                <a:r>
                  <a:rPr lang="en-US" sz="1950" i="1" dirty="0"/>
                  <a:t>V</a:t>
                </a:r>
                <a:r>
                  <a:rPr lang="en-US" sz="1950" i="1" baseline="-25000" dirty="0"/>
                  <a:t>K</a:t>
                </a:r>
                <a:r>
                  <a:rPr lang="en-US" sz="1950" dirty="0"/>
                  <a:t>) where </a:t>
                </a:r>
                <a:r>
                  <a:rPr lang="en-US" sz="1950" i="1" dirty="0"/>
                  <a:t>c</a:t>
                </a:r>
                <a:r>
                  <a:rPr lang="en-US" sz="1950" dirty="0"/>
                  <a:t>(</a:t>
                </a:r>
                <a:r>
                  <a:rPr lang="en-US" sz="1950" i="1" dirty="0"/>
                  <a:t>V</a:t>
                </a:r>
                <a:r>
                  <a:rPr lang="en-US" sz="1950" i="1" baseline="-25000" dirty="0"/>
                  <a:t>K</a:t>
                </a:r>
                <a:r>
                  <a:rPr lang="en-US" sz="1950" dirty="0"/>
                  <a:t>) is the number of columns of </a:t>
                </a:r>
                <a:r>
                  <a:rPr lang="en-US" sz="1950" i="1" dirty="0" smtClean="0"/>
                  <a:t>U</a:t>
                </a:r>
                <a:r>
                  <a:rPr lang="en-US" sz="1950" i="1" baseline="-25000" dirty="0" smtClean="0"/>
                  <a:t>K</a:t>
                </a:r>
                <a:r>
                  <a:rPr lang="en-US" sz="1950" dirty="0" smtClean="0"/>
                  <a:t>. Similarly, likelihood </a:t>
                </a:r>
                <a:r>
                  <a:rPr lang="en-US" sz="1950" dirty="0"/>
                  <a:t>differential </a:t>
                </a:r>
                <a:r>
                  <a:rPr lang="en-US" sz="1950" i="1" dirty="0"/>
                  <a:t>dl</a:t>
                </a:r>
                <a:r>
                  <a:rPr lang="en-US" sz="1950" dirty="0"/>
                  <a:t> with respect to last weight parameter </a:t>
                </a:r>
                <a:r>
                  <a:rPr lang="en-US" sz="1950" i="1" dirty="0"/>
                  <a:t>V</a:t>
                </a:r>
                <a:r>
                  <a:rPr lang="en-US" sz="1950" i="1" baseline="-25000" dirty="0"/>
                  <a:t>K</a:t>
                </a:r>
                <a:r>
                  <a:rPr lang="en-US" sz="1950" dirty="0"/>
                  <a:t> </a:t>
                </a:r>
                <a:r>
                  <a:rPr lang="en-US" sz="1950" dirty="0" smtClean="0"/>
                  <a:t>is </a:t>
                </a:r>
                <a14:m>
                  <m:oMath xmlns:m="http://schemas.openxmlformats.org/officeDocument/2006/math">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sub>
                            </m:sSub>
                          </m:e>
                        </m:d>
                      </m:e>
                    </m:d>
                    <m:r>
                      <a:rPr lang="en-US" sz="1950" i="1">
                        <a:latin typeface="Cambria Math" panose="02040503050406030204" pitchFamily="18" charset="0"/>
                      </a:rPr>
                      <m:t>=</m:t>
                    </m:r>
                    <m:r>
                      <m:rPr>
                        <m:sty m:val="p"/>
                      </m:rPr>
                      <a:rPr lang="en-US" sz="1950">
                        <a:latin typeface="Cambria Math" panose="02040503050406030204" pitchFamily="18" charset="0"/>
                      </a:rPr>
                      <m:t>tr</m:t>
                    </m:r>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𝑿</m:t>
                                    </m:r>
                                  </m:e>
                                  <m:sub>
                                    <m:r>
                                      <a:rPr lang="en-US" sz="1950" i="1">
                                        <a:latin typeface="Cambria Math" panose="02040503050406030204" pitchFamily="18" charset="0"/>
                                      </a:rPr>
                                      <m:t>𝐾</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sub>
                                </m:sSub>
                              </m:e>
                            </m:d>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i="1">
                                <a:latin typeface="Cambria Math" panose="02040503050406030204" pitchFamily="18" charset="0"/>
                              </a:rPr>
                              <m:t>𝑓</m:t>
                            </m:r>
                          </m:e>
                          <m:sub>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sub>
                            </m:sSub>
                          </m:sub>
                          <m:sup>
                            <m:r>
                              <a:rPr lang="en-US" sz="1950" i="1">
                                <a:latin typeface="Cambria Math" panose="02040503050406030204" pitchFamily="18" charset="0"/>
                              </a:rPr>
                              <m:t>′</m:t>
                            </m:r>
                          </m:sup>
                        </m:sSubSup>
                        <m:d>
                          <m:dPr>
                            <m:ctrlPr>
                              <a:rPr lang="en-US" sz="1950" i="1">
                                <a:latin typeface="Cambria Math" panose="02040503050406030204" pitchFamily="18" charset="0"/>
                              </a:rPr>
                            </m:ctrlPr>
                          </m:dPr>
                          <m:e>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acc>
                                      <m:accPr>
                                        <m:chr m:val="̂"/>
                                        <m:ctrlPr>
                                          <a:rPr lang="en-US" sz="1950" i="1">
                                            <a:latin typeface="Cambria Math" panose="02040503050406030204" pitchFamily="18" charset="0"/>
                                          </a:rPr>
                                        </m:ctrlPr>
                                      </m:accPr>
                                      <m:e>
                                        <m:r>
                                          <a:rPr lang="en-US" sz="1950" b="1" i="1">
                                            <a:latin typeface="Cambria Math" panose="02040503050406030204" pitchFamily="18" charset="0"/>
                                          </a:rPr>
                                          <m:t>𝑿</m:t>
                                        </m:r>
                                      </m:e>
                                    </m:acc>
                                  </m:e>
                                  <m:sub>
                                    <m:r>
                                      <a:rPr lang="en-US" sz="1950" i="1">
                                        <a:latin typeface="Cambria Math" panose="02040503050406030204" pitchFamily="18" charset="0"/>
                                      </a:rPr>
                                      <m:t>𝐾</m:t>
                                    </m:r>
                                    <m:r>
                                      <a:rPr lang="en-US" sz="1950" i="1">
                                        <a:latin typeface="Cambria Math" panose="02040503050406030204" pitchFamily="18" charset="0"/>
                                      </a:rPr>
                                      <m:t>−1</m:t>
                                    </m:r>
                                  </m:sub>
                                </m:sSub>
                              </m:e>
                            </m:d>
                          </m:e>
                        </m:d>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𝐼</m:t>
                                </m:r>
                              </m:e>
                              <m:sub>
                                <m:r>
                                  <a:rPr lang="en-US" sz="1950" i="1">
                                    <a:latin typeface="Cambria Math" panose="02040503050406030204" pitchFamily="18" charset="0"/>
                                  </a:rPr>
                                  <m:t>𝑐</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sub>
                            </m:sSub>
                            <m:r>
                              <a:rPr lang="en-US" sz="1950" i="1">
                                <a:latin typeface="Cambria Math" panose="02040503050406030204" pitchFamily="18" charset="0"/>
                              </a:rPr>
                              <m:t>⨂</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𝐾</m:t>
                                    </m:r>
                                  </m:sub>
                                </m:sSub>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r>
                                      <a:rPr lang="en-US" sz="1950" i="1">
                                        <a:latin typeface="Cambria Math" panose="02040503050406030204" pitchFamily="18" charset="0"/>
                                      </a:rPr>
                                      <m:t>−1</m:t>
                                    </m:r>
                                  </m:sub>
                                </m:sSub>
                              </m:e>
                            </m:d>
                          </m:e>
                        </m:d>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e>
                    </m:d>
                  </m:oMath>
                </a14:m>
                <a:r>
                  <a:rPr lang="en-US" sz="1950" dirty="0" smtClean="0"/>
                  <a:t> so that </a:t>
                </a:r>
                <a:r>
                  <a:rPr lang="en-US" sz="1950" dirty="0"/>
                  <a:t>the gradient of last weight parameter </a:t>
                </a:r>
                <a:r>
                  <a:rPr lang="en-US" sz="1950" i="1" dirty="0"/>
                  <a:t>V</a:t>
                </a:r>
                <a:r>
                  <a:rPr lang="en-US" sz="1950" i="1" baseline="-25000" dirty="0"/>
                  <a:t>K</a:t>
                </a:r>
                <a:r>
                  <a:rPr lang="en-US" sz="1950" dirty="0"/>
                  <a:t> is</a:t>
                </a:r>
                <a:r>
                  <a:rPr lang="en-US" sz="195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sub>
                                  </m:sSub>
                                </m:e>
                              </m:d>
                            </m:e>
                          </m:d>
                        </m:num>
                        <m:den>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den>
                      </m:f>
                      <m:r>
                        <a:rPr lang="en-US" sz="1950" i="1">
                          <a:latin typeface="Cambria Math" panose="02040503050406030204" pitchFamily="18" charset="0"/>
                        </a:rPr>
                        <m:t>=</m:t>
                      </m:r>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𝐼</m:t>
                                  </m:r>
                                </m:e>
                                <m:sub>
                                  <m:r>
                                    <a:rPr lang="en-US" sz="1950" i="1">
                                      <a:latin typeface="Cambria Math" panose="02040503050406030204" pitchFamily="18" charset="0"/>
                                    </a:rPr>
                                    <m:t>𝑐</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sub>
                              </m:sSub>
                              <m:r>
                                <a:rPr lang="en-US" sz="1950" i="1">
                                  <a:latin typeface="Cambria Math" panose="02040503050406030204" pitchFamily="18" charset="0"/>
                                </a:rPr>
                                <m:t>⨂</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𝐾</m:t>
                                      </m:r>
                                    </m:sub>
                                  </m:sSub>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r>
                                        <a:rPr lang="en-US" sz="1950" i="1">
                                          <a:latin typeface="Cambria Math" panose="02040503050406030204" pitchFamily="18" charset="0"/>
                                        </a:rPr>
                                        <m:t>−1</m:t>
                                      </m:r>
                                    </m:sub>
                                  </m:sSub>
                                </m:e>
                              </m:d>
                            </m:e>
                          </m:d>
                        </m:e>
                        <m:sup>
                          <m:r>
                            <a:rPr lang="en-US" sz="1950" i="1">
                              <a:latin typeface="Cambria Math" panose="02040503050406030204" pitchFamily="18" charset="0"/>
                            </a:rPr>
                            <m:t>𝑇</m:t>
                          </m:r>
                        </m:sup>
                      </m:sSup>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m:rPr>
                                  <m:sty m:val="p"/>
                                </m:rPr>
                                <a:rPr lang="en-US" sz="1950">
                                  <a:latin typeface="Cambria Math" panose="02040503050406030204" pitchFamily="18" charset="0"/>
                                </a:rPr>
                                <m:t>Θ</m:t>
                              </m:r>
                            </m:e>
                            <m:sub>
                              <m:r>
                                <a:rPr lang="en-US" sz="1950" i="1">
                                  <a:latin typeface="Cambria Math" panose="02040503050406030204" pitchFamily="18" charset="0"/>
                                </a:rPr>
                                <m:t>𝐾</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oMath>
                  </m:oMathPara>
                </a14:m>
                <a:endParaRPr lang="en-US" sz="1950" dirty="0"/>
              </a:p>
              <a:p>
                <a:pPr marL="0" indent="0">
                  <a:buNone/>
                </a:pPr>
                <a:r>
                  <a:rPr lang="en-US" sz="1950" dirty="0"/>
                  <a:t>Moreover, likelihood differential </a:t>
                </a:r>
                <a:r>
                  <a:rPr lang="en-US" sz="1950" i="1" dirty="0"/>
                  <a:t>dl</a:t>
                </a:r>
                <a:r>
                  <a:rPr lang="en-US" sz="1950" dirty="0"/>
                  <a:t> is rewritten according to bias gradient as follows:</a:t>
                </a:r>
              </a:p>
              <a:p>
                <a:pPr marL="0" indent="0">
                  <a:buNone/>
                </a:pPr>
                <a14:m>
                  <m:oMathPara xmlns:m="http://schemas.openxmlformats.org/officeDocument/2006/math">
                    <m:oMathParaPr>
                      <m:jc m:val="centerGroup"/>
                    </m:oMathParaPr>
                    <m:oMath xmlns:m="http://schemas.openxmlformats.org/officeDocument/2006/math">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sub>
                              </m:sSub>
                            </m:e>
                          </m:d>
                        </m:e>
                      </m:d>
                      <m:r>
                        <a:rPr lang="en-US" sz="1950" i="1">
                          <a:latin typeface="Cambria Math" panose="02040503050406030204" pitchFamily="18" charset="0"/>
                        </a:rPr>
                        <m:t>=</m:t>
                      </m:r>
                      <m:r>
                        <m:rPr>
                          <m:sty m:val="p"/>
                        </m:rPr>
                        <a:rPr lang="en-US" sz="1950">
                          <a:latin typeface="Cambria Math" panose="02040503050406030204" pitchFamily="18" charset="0"/>
                        </a:rPr>
                        <m:t>tr</m:t>
                      </m:r>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m:rPr>
                                              <m:sty m:val="p"/>
                                            </m:rPr>
                                            <a:rPr lang="en-US" sz="1950">
                                              <a:latin typeface="Cambria Math" panose="02040503050406030204" pitchFamily="18" charset="0"/>
                                            </a:rPr>
                                            <m:t>Θ</m:t>
                                          </m:r>
                                        </m:e>
                                        <m:sub>
                                          <m:r>
                                            <a:rPr lang="en-US" sz="1950" i="1">
                                              <a:latin typeface="Cambria Math" panose="02040503050406030204" pitchFamily="18" charset="0"/>
                                            </a:rPr>
                                            <m:t>𝐾</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e>
                              </m:d>
                            </m:e>
                            <m:sup>
                              <m:r>
                                <a:rPr lang="en-US" sz="1950" i="1">
                                  <a:latin typeface="Cambria Math" panose="02040503050406030204" pitchFamily="18" charset="0"/>
                                </a:rPr>
                                <m:t>𝑇</m:t>
                              </m:r>
                            </m:sup>
                          </m:sSup>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i="1">
                                      <a:latin typeface="Cambria Math" panose="02040503050406030204" pitchFamily="18" charset="0"/>
                                    </a:rPr>
                                    <m:t>𝑉</m:t>
                                  </m:r>
                                </m:e>
                                <m:sub>
                                  <m:r>
                                    <a:rPr lang="en-US" sz="1950" i="1">
                                      <a:latin typeface="Cambria Math" panose="02040503050406030204" pitchFamily="18" charset="0"/>
                                    </a:rPr>
                                    <m:t>𝐾</m:t>
                                  </m:r>
                                </m:sub>
                                <m:sup>
                                  <m:r>
                                    <a:rPr lang="en-US" sz="1950" i="1">
                                      <a:latin typeface="Cambria Math" panose="02040503050406030204" pitchFamily="18" charset="0"/>
                                    </a:rPr>
                                    <m:t>𝑇</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𝐾</m:t>
                                  </m:r>
                                </m:sub>
                              </m:sSub>
                            </m:e>
                          </m:d>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𝐾</m:t>
                                  </m:r>
                                  <m:r>
                                    <a:rPr lang="en-US" sz="1950" i="1">
                                      <a:latin typeface="Cambria Math" panose="02040503050406030204" pitchFamily="18" charset="0"/>
                                    </a:rPr>
                                    <m:t>−1</m:t>
                                  </m:r>
                                </m:sub>
                              </m:sSub>
                            </m:e>
                          </m:d>
                        </m:e>
                      </m:d>
                    </m:oMath>
                  </m:oMathPara>
                </a14:m>
                <a:endParaRPr lang="en-US" sz="1950" dirty="0" smtClean="0"/>
              </a:p>
              <a:p>
                <a:pPr marL="0" indent="0">
                  <a:buNone/>
                </a:pPr>
                <a:r>
                  <a:rPr lang="en-US" sz="1950" dirty="0"/>
                  <a:t>By generalizing differential likelihood </a:t>
                </a:r>
                <a:r>
                  <a:rPr lang="en-US" sz="1950" i="1" dirty="0"/>
                  <a:t>dl</a:t>
                </a:r>
                <a:r>
                  <a:rPr lang="en-US" sz="1950" dirty="0"/>
                  <a:t> with respect to any</a:t>
                </a:r>
                <a:r>
                  <a:rPr lang="en-US" sz="1950" b="1" i="1" dirty="0"/>
                  <a:t> </a:t>
                </a:r>
                <a:r>
                  <a:rPr lang="en-US" sz="1950" i="1" dirty="0"/>
                  <a:t>k</a:t>
                </a:r>
                <a:r>
                  <a:rPr lang="en-US" sz="1950" baseline="30000" dirty="0"/>
                  <a:t>th</a:t>
                </a:r>
                <a:r>
                  <a:rPr lang="en-US" sz="1950" dirty="0"/>
                  <a:t> layer for all 1 ≤ </a:t>
                </a:r>
                <a:r>
                  <a:rPr lang="en-US" sz="1950" i="1" dirty="0"/>
                  <a:t>k </a:t>
                </a:r>
                <a:r>
                  <a:rPr lang="en-US" sz="1950" dirty="0"/>
                  <a:t>&lt; </a:t>
                </a:r>
                <a:r>
                  <a:rPr lang="en-US" sz="1950" i="1" dirty="0"/>
                  <a:t>K</a:t>
                </a:r>
                <a:r>
                  <a:rPr lang="en-US" sz="1950" dirty="0"/>
                  <a:t> within vectorization, we obtain:</a:t>
                </a:r>
              </a:p>
              <a:p>
                <a:pPr marL="0" indent="0">
                  <a:buNone/>
                </a:pPr>
                <a14:m>
                  <m:oMathPara xmlns:m="http://schemas.openxmlformats.org/officeDocument/2006/math">
                    <m:oMathParaPr>
                      <m:jc m:val="centerGroup"/>
                    </m:oMathParaPr>
                    <m:oMath xmlns:m="http://schemas.openxmlformats.org/officeDocument/2006/math">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𝑘</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r>
                        <m:rPr>
                          <m:aln/>
                        </m:rPr>
                        <a:rPr lang="en-US" sz="1950" i="1">
                          <a:latin typeface="Cambria Math" panose="02040503050406030204" pitchFamily="18" charset="0"/>
                        </a:rPr>
                        <m:t>=</m:t>
                      </m:r>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𝑘</m:t>
                                          </m:r>
                                          <m:r>
                                            <a:rPr lang="en-US" sz="1950" i="1">
                                              <a:latin typeface="Cambria Math" panose="02040503050406030204" pitchFamily="18" charset="0"/>
                                            </a:rPr>
                                            <m:t>−1</m:t>
                                          </m:r>
                                        </m:sub>
                                      </m:sSub>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𝐾</m:t>
                                          </m:r>
                                        </m:sub>
                                      </m:sSub>
                                    </m:e>
                                  </m:d>
                                </m:e>
                                <m:sup>
                                  <m:r>
                                    <a:rPr lang="en-US" sz="1950" i="1">
                                      <a:latin typeface="Cambria Math" panose="02040503050406030204" pitchFamily="18" charset="0"/>
                                    </a:rPr>
                                    <m:t>𝑇</m:t>
                                  </m:r>
                                </m:sup>
                              </m:s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i="1">
                                      <a:latin typeface="Cambria Math" panose="02040503050406030204" pitchFamily="18" charset="0"/>
                                    </a:rPr>
                                    <m:t>𝐼</m:t>
                                  </m:r>
                                </m:e>
                                <m:sub>
                                  <m:r>
                                    <a:rPr lang="en-US" sz="1950" i="1">
                                      <a:latin typeface="Cambria Math" panose="02040503050406030204" pitchFamily="18" charset="0"/>
                                    </a:rPr>
                                    <m:t>𝑟</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𝑘</m:t>
                                          </m:r>
                                        </m:sub>
                                      </m:sSub>
                                    </m:e>
                                  </m:d>
                                </m:sub>
                              </m:sSub>
                            </m:e>
                          </m:d>
                        </m:e>
                        <m:sup>
                          <m:r>
                            <a:rPr lang="en-US" sz="1950" i="1">
                              <a:latin typeface="Cambria Math" panose="02040503050406030204" pitchFamily="18" charset="0"/>
                            </a:rPr>
                            <m:t>𝑇</m:t>
                          </m:r>
                        </m:sup>
                      </m:sSup>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m:rPr>
                                  <m:sty m:val="p"/>
                                </m:rPr>
                                <a:rPr lang="en-US" sz="1950">
                                  <a:latin typeface="Cambria Math" panose="02040503050406030204" pitchFamily="18" charset="0"/>
                                </a:rPr>
                                <m:t>Θ</m:t>
                              </m:r>
                            </m:e>
                            <m:sub>
                              <m:r>
                                <a:rPr lang="en-US" sz="1950" i="1">
                                  <a:latin typeface="Cambria Math" panose="02040503050406030204" pitchFamily="18" charset="0"/>
                                </a:rPr>
                                <m:t>𝑘</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oMath>
                    <m:oMath xmlns:m="http://schemas.openxmlformats.org/officeDocument/2006/math">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𝑘</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r>
                        <m:rPr>
                          <m:aln/>
                        </m:rPr>
                        <a:rPr lang="en-US" sz="1950" i="1">
                          <a:latin typeface="Cambria Math" panose="02040503050406030204" pitchFamily="18" charset="0"/>
                        </a:rPr>
                        <m:t>=</m:t>
                      </m:r>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𝐼</m:t>
                                  </m:r>
                                </m:e>
                                <m:sub>
                                  <m:r>
                                    <a:rPr lang="en-US" sz="1950" i="1">
                                      <a:latin typeface="Cambria Math" panose="02040503050406030204" pitchFamily="18" charset="0"/>
                                    </a:rPr>
                                    <m:t>𝑐</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𝑉</m:t>
                                          </m:r>
                                        </m:e>
                                        <m:sub>
                                          <m:r>
                                            <a:rPr lang="en-US" sz="1950" i="1">
                                              <a:latin typeface="Cambria Math" panose="02040503050406030204" pitchFamily="18" charset="0"/>
                                            </a:rPr>
                                            <m:t>𝑘</m:t>
                                          </m:r>
                                        </m:sub>
                                      </m:sSub>
                                    </m:e>
                                  </m:d>
                                </m:sub>
                              </m:sSub>
                              <m:r>
                                <a:rPr lang="en-US" sz="1950" i="1">
                                  <a:latin typeface="Cambria Math" panose="02040503050406030204" pitchFamily="18" charset="0"/>
                                </a:rPr>
                                <m:t>⨂</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𝑘</m:t>
                                      </m:r>
                                    </m:sub>
                                  </m:sSub>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𝑘</m:t>
                                      </m:r>
                                      <m:r>
                                        <a:rPr lang="en-US" sz="1950" i="1">
                                          <a:latin typeface="Cambria Math" panose="02040503050406030204" pitchFamily="18" charset="0"/>
                                        </a:rPr>
                                        <m:t>−1</m:t>
                                      </m:r>
                                    </m:sub>
                                  </m:sSub>
                                </m:e>
                              </m:d>
                            </m:e>
                          </m:d>
                        </m:e>
                        <m:sup>
                          <m:r>
                            <a:rPr lang="en-US" sz="1950" i="1">
                              <a:latin typeface="Cambria Math" panose="02040503050406030204" pitchFamily="18" charset="0"/>
                            </a:rPr>
                            <m:t>𝑇</m:t>
                          </m:r>
                        </m:sup>
                      </m:sSup>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m:rPr>
                                  <m:sty m:val="p"/>
                                </m:rPr>
                                <a:rPr lang="en-US" sz="1950">
                                  <a:latin typeface="Cambria Math" panose="02040503050406030204" pitchFamily="18" charset="0"/>
                                </a:rPr>
                                <m:t>Θ</m:t>
                              </m:r>
                            </m:e>
                            <m:sub>
                              <m:r>
                                <a:rPr lang="en-US" sz="1950" i="1">
                                  <a:latin typeface="Cambria Math" panose="02040503050406030204" pitchFamily="18" charset="0"/>
                                </a:rPr>
                                <m:t>𝑘</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oMath>
                    <m:oMath xmlns:m="http://schemas.openxmlformats.org/officeDocument/2006/math">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r>
                        <m:rPr>
                          <m:aln/>
                        </m:rPr>
                        <a:rPr lang="en-US" sz="1950" i="1">
                          <a:latin typeface="Cambria Math" panose="02040503050406030204" pitchFamily="18" charset="0"/>
                        </a:rPr>
                        <m:t>=</m:t>
                      </m:r>
                      <m:r>
                        <m:rPr>
                          <m:sty m:val="p"/>
                        </m:rPr>
                        <a:rPr lang="en-US" sz="1950">
                          <a:latin typeface="Cambria Math" panose="02040503050406030204" pitchFamily="18" charset="0"/>
                        </a:rPr>
                        <m:t>tr</m:t>
                      </m:r>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a:latin typeface="Cambria Math" panose="02040503050406030204" pitchFamily="18" charset="0"/>
                                        </a:rPr>
                                        <m:t>𝛻</m:t>
                                      </m:r>
                                    </m:e>
                                    <m:sub>
                                      <m:sSub>
                                        <m:sSubPr>
                                          <m:ctrlPr>
                                            <a:rPr lang="en-US" sz="1950" i="1">
                                              <a:latin typeface="Cambria Math" panose="02040503050406030204" pitchFamily="18" charset="0"/>
                                            </a:rPr>
                                          </m:ctrlPr>
                                        </m:sSubPr>
                                        <m:e>
                                          <m:r>
                                            <m:rPr>
                                              <m:sty m:val="p"/>
                                            </m:rPr>
                                            <a:rPr lang="en-US" sz="1950">
                                              <a:latin typeface="Cambria Math" panose="02040503050406030204" pitchFamily="18" charset="0"/>
                                            </a:rPr>
                                            <m:t>Θ</m:t>
                                          </m:r>
                                        </m:e>
                                        <m:sub>
                                          <m:r>
                                            <a:rPr lang="en-US" sz="1950" i="1">
                                              <a:latin typeface="Cambria Math" panose="02040503050406030204" pitchFamily="18" charset="0"/>
                                            </a:rPr>
                                            <m:t>𝑘</m:t>
                                          </m:r>
                                          <m:r>
                                            <a:rPr lang="en-US" sz="1950" i="1">
                                              <a:latin typeface="Cambria Math" panose="02040503050406030204" pitchFamily="18" charset="0"/>
                                            </a:rPr>
                                            <m:t>+1</m:t>
                                          </m:r>
                                        </m:sub>
                                      </m:sSub>
                                    </m:sub>
                                  </m:sSub>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r>
                                        <a:rPr lang="en-US" sz="1950" i="1">
                                          <a:latin typeface="Cambria Math" panose="02040503050406030204" pitchFamily="18" charset="0"/>
                                        </a:rPr>
                                        <m:t>𝑙</m:t>
                                      </m:r>
                                    </m:e>
                                  </m:d>
                                </m:e>
                              </m:d>
                            </m:e>
                            <m:sup>
                              <m:r>
                                <a:rPr lang="en-US" sz="1950" i="1">
                                  <a:latin typeface="Cambria Math" panose="02040503050406030204" pitchFamily="18" charset="0"/>
                                </a:rPr>
                                <m:t>𝑇</m:t>
                              </m:r>
                            </m:sup>
                          </m:sSup>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i="1">
                                      <a:latin typeface="Cambria Math" panose="02040503050406030204" pitchFamily="18" charset="0"/>
                                    </a:rPr>
                                    <m:t>𝑉</m:t>
                                  </m:r>
                                </m:e>
                                <m:sub>
                                  <m:r>
                                    <a:rPr lang="en-US" sz="1950" i="1">
                                      <a:latin typeface="Cambria Math" panose="02040503050406030204" pitchFamily="18" charset="0"/>
                                    </a:rPr>
                                    <m:t>𝑘</m:t>
                                  </m:r>
                                  <m:r>
                                    <a:rPr lang="en-US" sz="1950" i="1">
                                      <a:latin typeface="Cambria Math" panose="02040503050406030204" pitchFamily="18" charset="0"/>
                                    </a:rPr>
                                    <m:t>+1</m:t>
                                  </m:r>
                                </m:sub>
                                <m:sup>
                                  <m:r>
                                    <a:rPr lang="en-US" sz="1950" i="1">
                                      <a:latin typeface="Cambria Math" panose="02040503050406030204" pitchFamily="18" charset="0"/>
                                    </a:rPr>
                                    <m:t>𝑇</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i="1">
                                      <a:latin typeface="Cambria Math" panose="02040503050406030204" pitchFamily="18" charset="0"/>
                                    </a:rPr>
                                    <m:t>𝑈</m:t>
                                  </m:r>
                                </m:e>
                                <m:sub>
                                  <m:r>
                                    <a:rPr lang="en-US" sz="1950" i="1">
                                      <a:latin typeface="Cambria Math" panose="02040503050406030204" pitchFamily="18" charset="0"/>
                                    </a:rPr>
                                    <m:t>𝑘</m:t>
                                  </m:r>
                                  <m:r>
                                    <a:rPr lang="en-US" sz="1950" i="1">
                                      <a:latin typeface="Cambria Math" panose="02040503050406030204" pitchFamily="18" charset="0"/>
                                    </a:rPr>
                                    <m:t>+1</m:t>
                                  </m:r>
                                </m:sub>
                              </m:sSub>
                            </m:e>
                          </m:d>
                          <m:r>
                            <a:rPr lang="en-US" sz="1950" i="1">
                              <a:latin typeface="Cambria Math" panose="02040503050406030204" pitchFamily="18" charset="0"/>
                            </a:rPr>
                            <m:t>𝑑</m:t>
                          </m:r>
                          <m:r>
                            <m:rPr>
                              <m:sty m:val="p"/>
                            </m:rPr>
                            <a:rPr lang="en-US" sz="1950">
                              <a:latin typeface="Cambria Math" panose="02040503050406030204" pitchFamily="18" charset="0"/>
                            </a:rPr>
                            <m:t>vec</m:t>
                          </m:r>
                          <m:d>
                            <m:dPr>
                              <m:ctrlPr>
                                <a:rPr lang="en-US" sz="1950" i="1">
                                  <a:latin typeface="Cambria Math" panose="02040503050406030204" pitchFamily="18" charset="0"/>
                                </a:rPr>
                              </m:ctrlPr>
                            </m:dPr>
                            <m:e>
                              <m:sSub>
                                <m:sSubPr>
                                  <m:ctrlPr>
                                    <a:rPr lang="en-US" sz="1950" i="1">
                                      <a:latin typeface="Cambria Math" panose="02040503050406030204" pitchFamily="18" charset="0"/>
                                    </a:rPr>
                                  </m:ctrlPr>
                                </m:sSubPr>
                                <m:e>
                                  <m:r>
                                    <a:rPr lang="en-US" sz="1950" b="1" i="1">
                                      <a:latin typeface="Cambria Math" panose="02040503050406030204" pitchFamily="18" charset="0"/>
                                    </a:rPr>
                                    <m:t>𝑿</m:t>
                                  </m:r>
                                </m:e>
                                <m:sub>
                                  <m:r>
                                    <a:rPr lang="en-US" sz="1950" i="1">
                                      <a:latin typeface="Cambria Math" panose="02040503050406030204" pitchFamily="18" charset="0"/>
                                    </a:rPr>
                                    <m:t>𝑘</m:t>
                                  </m:r>
                                </m:sub>
                              </m:sSub>
                            </m:e>
                          </m:d>
                        </m:e>
                      </m:d>
                    </m:oMath>
                  </m:oMathPara>
                </a14:m>
                <a:endParaRPr lang="en-US" sz="1950" dirty="0"/>
              </a:p>
              <a:p>
                <a:pPr marL="0" indent="0">
                  <a:buNone/>
                </a:pPr>
                <a:endParaRPr lang="en-US" sz="1950" dirty="0"/>
              </a:p>
              <a:p>
                <a:pPr marL="0" indent="0">
                  <a:buNone/>
                </a:pPr>
                <a:endParaRPr lang="en-US" sz="19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19280" cy="5176066"/>
              </a:xfrm>
              <a:blipFill>
                <a:blip r:embed="rId2"/>
                <a:stretch>
                  <a:fillRect l="-507" t="-589" r="-507" b="-282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17</a:t>
            </a:fld>
            <a:endParaRPr lang="en-US"/>
          </a:p>
        </p:txBody>
      </p:sp>
    </p:spTree>
    <p:extLst>
      <p:ext uri="{BB962C8B-B14F-4D97-AF65-F5344CB8AC3E}">
        <p14:creationId xmlns:p14="http://schemas.microsoft.com/office/powerpoint/2010/main" val="2694864410"/>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 (</a:t>
            </a:r>
            <a:r>
              <a:rPr lang="en-US" b="1" dirty="0"/>
              <a:t>skip</a:t>
            </a:r>
            <a:r>
              <a:rPr lang="en-US" dirty="0"/>
              <a: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rmAutofit/>
              </a:bodyPr>
              <a:lstStyle/>
              <a:p>
                <a:pPr marL="0" indent="0">
                  <a:buNone/>
                </a:pPr>
                <a:r>
                  <a:rPr lang="en-US" sz="2600" dirty="0"/>
                  <a:t>Because the differential of </a:t>
                </a:r>
                <a:r>
                  <a:rPr lang="en-US" sz="2600" dirty="0" err="1"/>
                  <a:t>vec</a:t>
                </a:r>
                <a:r>
                  <a:rPr lang="en-US" sz="2600" dirty="0"/>
                  <a:t>(</a:t>
                </a:r>
                <a:r>
                  <a:rPr lang="en-US" sz="2600" b="1" i="1" dirty="0" err="1"/>
                  <a:t>X</a:t>
                </a:r>
                <a:r>
                  <a:rPr lang="en-US" sz="2600" i="1" baseline="-25000" dirty="0" err="1"/>
                  <a:t>k</a:t>
                </a:r>
                <a:r>
                  <a:rPr lang="en-US" sz="2600" dirty="0"/>
                  <a:t>) is always determined with respect to any bias parameter </a:t>
                </a:r>
                <a:r>
                  <a:rPr lang="en-US" sz="2600" dirty="0" err="1"/>
                  <a:t>Θ</a:t>
                </a:r>
                <a:r>
                  <a:rPr lang="en-US" sz="2600" i="1" baseline="-25000" dirty="0" err="1"/>
                  <a:t>k</a:t>
                </a:r>
                <a:r>
                  <a:rPr lang="en-US" sz="2600" dirty="0"/>
                  <a:t> for all 1 ≤ </a:t>
                </a:r>
                <a:r>
                  <a:rPr lang="en-US" sz="2600" i="1" dirty="0"/>
                  <a:t>k </a:t>
                </a:r>
                <a:r>
                  <a:rPr lang="en-US" sz="2600" dirty="0"/>
                  <a:t>&lt; </a:t>
                </a:r>
                <a:r>
                  <a:rPr lang="en-US" sz="2600" i="1" dirty="0"/>
                  <a:t>K</a:t>
                </a:r>
                <a:r>
                  <a:rPr lang="en-US" sz="2600" dirty="0"/>
                  <a:t>.</a:t>
                </a:r>
              </a:p>
              <a:p>
                <a:pPr marL="0" indent="0">
                  <a:buNone/>
                </a:pPr>
                <a14:m>
                  <m:oMathPara xmlns:m="http://schemas.openxmlformats.org/officeDocument/2006/math">
                    <m:oMathParaPr>
                      <m:jc m:val="centerGroup"/>
                    </m:oMathParaPr>
                    <m:oMath xmlns:m="http://schemas.openxmlformats.org/officeDocument/2006/math">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𝑘</m:t>
                              </m:r>
                            </m:sub>
                          </m:sSub>
                        </m:e>
                      </m:d>
                      <m:r>
                        <a:rPr lang="en-US" sz="2600" i="1">
                          <a:latin typeface="Cambria Math" panose="02040503050406030204" pitchFamily="18" charset="0"/>
                        </a:rPr>
                        <m:t>=</m:t>
                      </m:r>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𝑓</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acc>
                                    <m:accPr>
                                      <m:chr m:val="̂"/>
                                      <m:ctrlPr>
                                        <a:rPr lang="en-US" sz="2600" i="1">
                                          <a:latin typeface="Cambria Math" panose="02040503050406030204" pitchFamily="18" charset="0"/>
                                        </a:rPr>
                                      </m:ctrlPr>
                                    </m:accPr>
                                    <m:e>
                                      <m:r>
                                        <a:rPr lang="en-US" sz="2600" b="1" i="1">
                                          <a:latin typeface="Cambria Math" panose="02040503050406030204" pitchFamily="18" charset="0"/>
                                        </a:rPr>
                                        <m:t>𝑿</m:t>
                                      </m:r>
                                    </m:e>
                                  </m:acc>
                                </m:e>
                                <m:sub>
                                  <m:r>
                                    <a:rPr lang="en-US" sz="2600" i="1">
                                      <a:latin typeface="Cambria Math" panose="02040503050406030204" pitchFamily="18" charset="0"/>
                                    </a:rPr>
                                    <m:t>𝑘</m:t>
                                  </m:r>
                                  <m:r>
                                    <a:rPr lang="en-US" sz="2600" i="1">
                                      <a:latin typeface="Cambria Math" panose="02040503050406030204" pitchFamily="18" charset="0"/>
                                    </a:rPr>
                                    <m:t>−1</m:t>
                                  </m:r>
                                </m:sub>
                              </m:sSub>
                            </m:e>
                          </m:d>
                        </m:e>
                      </m:d>
                      <m:r>
                        <a:rPr lang="en-US" sz="2600" i="1">
                          <a:latin typeface="Cambria Math" panose="02040503050406030204" pitchFamily="18" charset="0"/>
                        </a:rPr>
                        <m:t>=</m:t>
                      </m:r>
                      <m:sSubSup>
                        <m:sSubSupPr>
                          <m:ctrlPr>
                            <a:rPr lang="en-US" sz="2600" i="1">
                              <a:latin typeface="Cambria Math" panose="02040503050406030204" pitchFamily="18" charset="0"/>
                            </a:rPr>
                          </m:ctrlPr>
                        </m:sSubSupPr>
                        <m:e>
                          <m:r>
                            <a:rPr lang="en-US" sz="2600" i="1">
                              <a:latin typeface="Cambria Math" panose="02040503050406030204" pitchFamily="18" charset="0"/>
                            </a:rPr>
                            <m:t>𝑓</m:t>
                          </m:r>
                        </m:e>
                        <m:sub>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𝑘</m:t>
                              </m:r>
                            </m:sub>
                          </m:sSub>
                        </m:sub>
                        <m:sup>
                          <m:r>
                            <a:rPr lang="en-US" sz="2600" i="1">
                              <a:latin typeface="Cambria Math" panose="02040503050406030204" pitchFamily="18" charset="0"/>
                            </a:rPr>
                            <m:t>′</m:t>
                          </m:r>
                        </m:sup>
                      </m:sSubSup>
                      <m:d>
                        <m:dPr>
                          <m:ctrlPr>
                            <a:rPr lang="en-US" sz="2600" i="1">
                              <a:latin typeface="Cambria Math" panose="02040503050406030204" pitchFamily="18" charset="0"/>
                            </a:rPr>
                          </m:ctrlPr>
                        </m:dPr>
                        <m:e>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acc>
                                    <m:accPr>
                                      <m:chr m:val="̂"/>
                                      <m:ctrlPr>
                                        <a:rPr lang="en-US" sz="2600" i="1">
                                          <a:latin typeface="Cambria Math" panose="02040503050406030204" pitchFamily="18" charset="0"/>
                                        </a:rPr>
                                      </m:ctrlPr>
                                    </m:accPr>
                                    <m:e>
                                      <m:r>
                                        <a:rPr lang="en-US" sz="2600" b="1" i="1">
                                          <a:latin typeface="Cambria Math" panose="02040503050406030204" pitchFamily="18" charset="0"/>
                                        </a:rPr>
                                        <m:t>𝑿</m:t>
                                      </m:r>
                                    </m:e>
                                  </m:acc>
                                </m:e>
                                <m:sub>
                                  <m:r>
                                    <a:rPr lang="en-US" sz="2600" i="1">
                                      <a:latin typeface="Cambria Math" panose="02040503050406030204" pitchFamily="18" charset="0"/>
                                    </a:rPr>
                                    <m:t>𝑘</m:t>
                                  </m:r>
                                  <m:r>
                                    <a:rPr lang="en-US" sz="2600" i="1">
                                      <a:latin typeface="Cambria Math" panose="02040503050406030204" pitchFamily="18" charset="0"/>
                                    </a:rPr>
                                    <m:t>−1</m:t>
                                  </m:r>
                                </m:sub>
                              </m:sSub>
                            </m:e>
                          </m:d>
                        </m:e>
                      </m:d>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sub>
                          </m:sSub>
                        </m:e>
                      </m:d>
                    </m:oMath>
                  </m:oMathPara>
                </a14:m>
                <a:endParaRPr lang="en-US" sz="2600" dirty="0"/>
              </a:p>
              <a:p>
                <a:pPr marL="0" indent="0">
                  <a:buNone/>
                </a:pPr>
                <a:r>
                  <a:rPr lang="en-US" sz="2600" dirty="0"/>
                  <a:t>Such that the likelihood differential </a:t>
                </a:r>
                <a:r>
                  <a:rPr lang="en-US" sz="2600" i="1" dirty="0"/>
                  <a:t>dl</a:t>
                </a:r>
                <a:r>
                  <a:rPr lang="en-US" sz="2600" dirty="0"/>
                  <a:t> is rewritten with respect to any bias parameter </a:t>
                </a:r>
                <a:r>
                  <a:rPr lang="en-US" sz="2600" dirty="0" err="1"/>
                  <a:t>Θ</a:t>
                </a:r>
                <a:r>
                  <a:rPr lang="en-US" sz="2600" i="1" baseline="-25000" dirty="0" err="1"/>
                  <a:t>k</a:t>
                </a:r>
                <a:r>
                  <a:rPr lang="en-US" sz="2600" dirty="0"/>
                  <a:t> for all 1 ≤ </a:t>
                </a:r>
                <a:r>
                  <a:rPr lang="en-US" sz="2600" i="1" dirty="0"/>
                  <a:t>k </a:t>
                </a:r>
                <a:r>
                  <a:rPr lang="en-US" sz="2600" dirty="0"/>
                  <a:t>&lt; </a:t>
                </a:r>
                <a:r>
                  <a:rPr lang="en-US" sz="2600" i="1" dirty="0"/>
                  <a:t>K</a:t>
                </a:r>
                <a:r>
                  <a:rPr lang="en-US" sz="2600" dirty="0"/>
                  <a:t>.</a:t>
                </a:r>
              </a:p>
              <a:p>
                <a:pPr marL="0" indent="0">
                  <a:buNone/>
                </a:pPr>
                <a14:m>
                  <m:oMathPara xmlns:m="http://schemas.openxmlformats.org/officeDocument/2006/math">
                    <m:oMathParaPr>
                      <m:jc m:val="centerGroup"/>
                    </m:oMathParaPr>
                    <m:oMath xmlns:m="http://schemas.openxmlformats.org/officeDocument/2006/math">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𝑙</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𝐾</m:t>
                                  </m:r>
                                </m:sub>
                              </m:sSub>
                            </m:e>
                          </m:d>
                        </m:e>
                      </m:d>
                      <m:r>
                        <a:rPr lang="en-US" sz="2600" i="1">
                          <a:latin typeface="Cambria Math" panose="02040503050406030204" pitchFamily="18" charset="0"/>
                        </a:rPr>
                        <m:t>=</m:t>
                      </m:r>
                      <m:r>
                        <m:rPr>
                          <m:sty m:val="p"/>
                        </m:rPr>
                        <a:rPr lang="en-US" sz="2600">
                          <a:latin typeface="Cambria Math" panose="02040503050406030204" pitchFamily="18" charset="0"/>
                        </a:rPr>
                        <m:t>tr</m:t>
                      </m:r>
                      <m:d>
                        <m:dPr>
                          <m:ctrlPr>
                            <a:rPr lang="en-US" sz="2600" i="1">
                              <a:latin typeface="Cambria Math" panose="02040503050406030204" pitchFamily="18" charset="0"/>
                            </a:rPr>
                          </m:ctrlPr>
                        </m:dPr>
                        <m:e>
                          <m:sSup>
                            <m:sSupPr>
                              <m:ctrlPr>
                                <a:rPr lang="en-US" sz="2600" i="1">
                                  <a:latin typeface="Cambria Math" panose="02040503050406030204" pitchFamily="18" charset="0"/>
                                </a:rPr>
                              </m:ctrlPr>
                            </m:sSupPr>
                            <m:e>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a:rPr lang="en-US" sz="2600">
                                          <a:latin typeface="Cambria Math" panose="02040503050406030204" pitchFamily="18" charset="0"/>
                                        </a:rPr>
                                        <m:t>𝛻</m:t>
                                      </m:r>
                                    </m:e>
                                    <m:sub>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r>
                                            <a:rPr lang="en-US" sz="2600" i="1">
                                              <a:latin typeface="Cambria Math" panose="02040503050406030204" pitchFamily="18" charset="0"/>
                                            </a:rPr>
                                            <m:t>+1</m:t>
                                          </m:r>
                                        </m:sub>
                                      </m:sSub>
                                    </m:sub>
                                  </m:sSub>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𝑙</m:t>
                                      </m:r>
                                    </m:e>
                                  </m:d>
                                </m:e>
                              </m:d>
                            </m:e>
                            <m:sup>
                              <m:r>
                                <a:rPr lang="en-US" sz="2600" i="1">
                                  <a:latin typeface="Cambria Math" panose="02040503050406030204" pitchFamily="18" charset="0"/>
                                </a:rPr>
                                <m:t>𝑇</m:t>
                              </m:r>
                            </m:sup>
                          </m:sSup>
                          <m:d>
                            <m:dPr>
                              <m:ctrlPr>
                                <a:rPr lang="en-US" sz="2600" i="1">
                                  <a:latin typeface="Cambria Math" panose="02040503050406030204" pitchFamily="18" charset="0"/>
                                </a:rPr>
                              </m:ctrlPr>
                            </m:dPr>
                            <m:e>
                              <m:sSubSup>
                                <m:sSubSupPr>
                                  <m:ctrlPr>
                                    <a:rPr lang="en-US" sz="2600" i="1">
                                      <a:latin typeface="Cambria Math" panose="02040503050406030204" pitchFamily="18" charset="0"/>
                                    </a:rPr>
                                  </m:ctrlPr>
                                </m:sSubSupPr>
                                <m:e>
                                  <m:r>
                                    <a:rPr lang="en-US" sz="2600" i="1">
                                      <a:latin typeface="Cambria Math" panose="02040503050406030204" pitchFamily="18" charset="0"/>
                                    </a:rPr>
                                    <m:t>𝑉</m:t>
                                  </m:r>
                                </m:e>
                                <m:sub>
                                  <m:r>
                                    <a:rPr lang="en-US" sz="2600" i="1">
                                      <a:latin typeface="Cambria Math" panose="02040503050406030204" pitchFamily="18" charset="0"/>
                                    </a:rPr>
                                    <m:t>𝑘</m:t>
                                  </m:r>
                                  <m:r>
                                    <a:rPr lang="en-US" sz="2600" i="1">
                                      <a:latin typeface="Cambria Math" panose="02040503050406030204" pitchFamily="18" charset="0"/>
                                    </a:rPr>
                                    <m:t>+1</m:t>
                                  </m:r>
                                </m:sub>
                                <m:sup>
                                  <m:r>
                                    <a:rPr lang="en-US" sz="2600" i="1">
                                      <a:latin typeface="Cambria Math" panose="02040503050406030204" pitchFamily="18" charset="0"/>
                                    </a:rPr>
                                    <m:t>𝑇</m:t>
                                  </m:r>
                                </m:sup>
                              </m:sSubSup>
                              <m:r>
                                <a:rPr lang="en-US" sz="2600" i="1">
                                  <a:latin typeface="Cambria Math" panose="02040503050406030204" pitchFamily="18" charset="0"/>
                                </a:rPr>
                                <m:t>⨂</m:t>
                              </m:r>
                              <m:sSub>
                                <m:sSubPr>
                                  <m:ctrlPr>
                                    <a:rPr lang="en-US" sz="2600" i="1">
                                      <a:latin typeface="Cambria Math" panose="02040503050406030204" pitchFamily="18" charset="0"/>
                                    </a:rPr>
                                  </m:ctrlPr>
                                </m:sSubPr>
                                <m:e>
                                  <m:r>
                                    <a:rPr lang="en-US" sz="2600" i="1">
                                      <a:latin typeface="Cambria Math" panose="02040503050406030204" pitchFamily="18" charset="0"/>
                                    </a:rPr>
                                    <m:t>𝑈</m:t>
                                  </m:r>
                                </m:e>
                                <m:sub>
                                  <m:r>
                                    <a:rPr lang="en-US" sz="2600" i="1">
                                      <a:latin typeface="Cambria Math" panose="02040503050406030204" pitchFamily="18" charset="0"/>
                                    </a:rPr>
                                    <m:t>𝑘</m:t>
                                  </m:r>
                                  <m:r>
                                    <a:rPr lang="en-US" sz="2600" i="1">
                                      <a:latin typeface="Cambria Math" panose="02040503050406030204" pitchFamily="18" charset="0"/>
                                    </a:rPr>
                                    <m:t>+1</m:t>
                                  </m:r>
                                </m:sub>
                              </m:sSub>
                            </m:e>
                          </m:d>
                          <m:sSubSup>
                            <m:sSubSupPr>
                              <m:ctrlPr>
                                <a:rPr lang="en-US" sz="2600" i="1">
                                  <a:latin typeface="Cambria Math" panose="02040503050406030204" pitchFamily="18" charset="0"/>
                                </a:rPr>
                              </m:ctrlPr>
                            </m:sSubSupPr>
                            <m:e>
                              <m:r>
                                <a:rPr lang="en-US" sz="2600" i="1">
                                  <a:latin typeface="Cambria Math" panose="02040503050406030204" pitchFamily="18" charset="0"/>
                                </a:rPr>
                                <m:t>𝑓</m:t>
                              </m:r>
                            </m:e>
                            <m:sub>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𝑘</m:t>
                                  </m:r>
                                </m:sub>
                              </m:sSub>
                            </m:sub>
                            <m:sup>
                              <m:r>
                                <a:rPr lang="en-US" sz="2600" i="1">
                                  <a:latin typeface="Cambria Math" panose="02040503050406030204" pitchFamily="18" charset="0"/>
                                </a:rPr>
                                <m:t>′</m:t>
                              </m:r>
                            </m:sup>
                          </m:sSubSup>
                          <m:d>
                            <m:dPr>
                              <m:ctrlPr>
                                <a:rPr lang="en-US" sz="2600" i="1">
                                  <a:latin typeface="Cambria Math" panose="02040503050406030204" pitchFamily="18" charset="0"/>
                                </a:rPr>
                              </m:ctrlPr>
                            </m:dPr>
                            <m:e>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acc>
                                        <m:accPr>
                                          <m:chr m:val="̂"/>
                                          <m:ctrlPr>
                                            <a:rPr lang="en-US" sz="2600" i="1">
                                              <a:latin typeface="Cambria Math" panose="02040503050406030204" pitchFamily="18" charset="0"/>
                                            </a:rPr>
                                          </m:ctrlPr>
                                        </m:accPr>
                                        <m:e>
                                          <m:r>
                                            <a:rPr lang="en-US" sz="2600" b="1" i="1">
                                              <a:latin typeface="Cambria Math" panose="02040503050406030204" pitchFamily="18" charset="0"/>
                                            </a:rPr>
                                            <m:t>𝑿</m:t>
                                          </m:r>
                                        </m:e>
                                      </m:acc>
                                    </m:e>
                                    <m:sub>
                                      <m:r>
                                        <a:rPr lang="en-US" sz="2600" i="1">
                                          <a:latin typeface="Cambria Math" panose="02040503050406030204" pitchFamily="18" charset="0"/>
                                        </a:rPr>
                                        <m:t>𝑘</m:t>
                                      </m:r>
                                      <m:r>
                                        <a:rPr lang="en-US" sz="2600" i="1">
                                          <a:latin typeface="Cambria Math" panose="02040503050406030204" pitchFamily="18" charset="0"/>
                                        </a:rPr>
                                        <m:t>−1</m:t>
                                      </m:r>
                                    </m:sub>
                                  </m:sSub>
                                </m:e>
                              </m:d>
                            </m:e>
                          </m:d>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sub>
                              </m:sSub>
                            </m:e>
                          </m:d>
                        </m:e>
                      </m:d>
                    </m:oMath>
                  </m:oMathPara>
                </a14:m>
                <a:endParaRPr lang="en-US" sz="2600" dirty="0"/>
              </a:p>
              <a:p>
                <a:pPr marL="0" indent="0">
                  <a:buNone/>
                </a:pPr>
                <a:r>
                  <a:rPr lang="en-US" sz="2600" dirty="0"/>
                  <a:t>It is totally to determine any gradient of </a:t>
                </a:r>
                <a:r>
                  <a:rPr lang="en-US" sz="2600" dirty="0" err="1"/>
                  <a:t>Θ</a:t>
                </a:r>
                <a:r>
                  <a:rPr lang="en-US" sz="2600" i="1" baseline="-25000" dirty="0" err="1"/>
                  <a:t>k</a:t>
                </a:r>
                <a:r>
                  <a:rPr lang="en-US" sz="2600" dirty="0"/>
                  <a:t> for all 1 ≤ </a:t>
                </a:r>
                <a:r>
                  <a:rPr lang="en-US" sz="2600" i="1" dirty="0"/>
                  <a:t>k </a:t>
                </a:r>
                <a:r>
                  <a:rPr lang="en-US" sz="2600" dirty="0"/>
                  <a:t>&lt; </a:t>
                </a:r>
                <a:r>
                  <a:rPr lang="en-US" sz="2600" i="1" dirty="0"/>
                  <a:t>K</a:t>
                </a:r>
                <a:r>
                  <a:rPr lang="en-US" sz="2600" dirty="0"/>
                  <a:t>.</a:t>
                </a:r>
              </a:p>
              <a:p>
                <a:pPr marL="0" indent="0">
                  <a:buNone/>
                </a:pPr>
                <a14:m>
                  <m:oMathPara xmlns:m="http://schemas.openxmlformats.org/officeDocument/2006/math">
                    <m:oMathParaPr>
                      <m:jc m:val="centerGroup"/>
                    </m:oMathParaPr>
                    <m:oMath xmlns:m="http://schemas.openxmlformats.org/officeDocument/2006/math">
                      <m:sSub>
                        <m:sSubPr>
                          <m:ctrlPr>
                            <a:rPr lang="en-US" sz="2600" i="1">
                              <a:latin typeface="Cambria Math" panose="02040503050406030204" pitchFamily="18" charset="0"/>
                            </a:rPr>
                          </m:ctrlPr>
                        </m:sSubPr>
                        <m:e>
                          <m:r>
                            <a:rPr lang="en-US" sz="2600">
                              <a:latin typeface="Cambria Math" panose="02040503050406030204" pitchFamily="18" charset="0"/>
                            </a:rPr>
                            <m:t>𝛻</m:t>
                          </m:r>
                        </m:e>
                        <m:sub>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sub>
                          </m:sSub>
                        </m:sub>
                      </m:sSub>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𝑙</m:t>
                          </m:r>
                        </m:e>
                      </m:d>
                      <m:r>
                        <a:rPr lang="en-US" sz="2600" i="1">
                          <a:latin typeface="Cambria Math" panose="02040503050406030204" pitchFamily="18" charset="0"/>
                        </a:rPr>
                        <m:t>=</m:t>
                      </m:r>
                      <m:f>
                        <m:fPr>
                          <m:ctrlPr>
                            <a:rPr lang="en-US" sz="2600" i="1">
                              <a:latin typeface="Cambria Math" panose="02040503050406030204" pitchFamily="18" charset="0"/>
                            </a:rPr>
                          </m:ctrlPr>
                        </m:fPr>
                        <m:num>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𝑙</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𝐾</m:t>
                                      </m:r>
                                    </m:sub>
                                  </m:sSub>
                                </m:e>
                              </m:d>
                            </m:e>
                          </m:d>
                        </m:num>
                        <m:den>
                          <m:r>
                            <a:rPr lang="en-US" sz="2600" i="1">
                              <a:latin typeface="Cambria Math" panose="02040503050406030204" pitchFamily="18" charset="0"/>
                            </a:rPr>
                            <m:t>𝑑</m:t>
                          </m:r>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sub>
                              </m:sSub>
                            </m:e>
                          </m:d>
                        </m:den>
                      </m:f>
                      <m:r>
                        <a:rPr lang="en-US" sz="2600" i="1">
                          <a:latin typeface="Cambria Math" panose="02040503050406030204" pitchFamily="18" charset="0"/>
                        </a:rPr>
                        <m:t>=</m:t>
                      </m:r>
                      <m:sSup>
                        <m:sSupPr>
                          <m:ctrlPr>
                            <a:rPr lang="en-US" sz="2600" i="1">
                              <a:latin typeface="Cambria Math" panose="02040503050406030204" pitchFamily="18" charset="0"/>
                            </a:rPr>
                          </m:ctrlPr>
                        </m:sSupPr>
                        <m:e>
                          <m:d>
                            <m:dPr>
                              <m:ctrlPr>
                                <a:rPr lang="en-US" sz="2600" i="1">
                                  <a:latin typeface="Cambria Math" panose="02040503050406030204" pitchFamily="18" charset="0"/>
                                </a:rPr>
                              </m:ctrlPr>
                            </m:dPr>
                            <m:e>
                              <m:sSubSup>
                                <m:sSubSupPr>
                                  <m:ctrlPr>
                                    <a:rPr lang="en-US" sz="2600" i="1">
                                      <a:latin typeface="Cambria Math" panose="02040503050406030204" pitchFamily="18" charset="0"/>
                                    </a:rPr>
                                  </m:ctrlPr>
                                </m:sSubSupPr>
                                <m:e>
                                  <m:r>
                                    <a:rPr lang="en-US" sz="2600" i="1">
                                      <a:latin typeface="Cambria Math" panose="02040503050406030204" pitchFamily="18" charset="0"/>
                                    </a:rPr>
                                    <m:t>𝑓</m:t>
                                  </m:r>
                                </m:e>
                                <m:sub>
                                  <m:sSub>
                                    <m:sSubPr>
                                      <m:ctrlPr>
                                        <a:rPr lang="en-US" sz="2600" i="1">
                                          <a:latin typeface="Cambria Math" panose="02040503050406030204" pitchFamily="18" charset="0"/>
                                        </a:rPr>
                                      </m:ctrlPr>
                                    </m:sSubPr>
                                    <m:e>
                                      <m:r>
                                        <a:rPr lang="en-US" sz="2600" b="1" i="1">
                                          <a:latin typeface="Cambria Math" panose="02040503050406030204" pitchFamily="18" charset="0"/>
                                        </a:rPr>
                                        <m:t>𝑿</m:t>
                                      </m:r>
                                    </m:e>
                                    <m:sub>
                                      <m:r>
                                        <a:rPr lang="en-US" sz="2600" i="1">
                                          <a:latin typeface="Cambria Math" panose="02040503050406030204" pitchFamily="18" charset="0"/>
                                        </a:rPr>
                                        <m:t>𝑘</m:t>
                                      </m:r>
                                    </m:sub>
                                  </m:sSub>
                                </m:sub>
                                <m:sup>
                                  <m:r>
                                    <a:rPr lang="en-US" sz="2600" i="1">
                                      <a:latin typeface="Cambria Math" panose="02040503050406030204" pitchFamily="18" charset="0"/>
                                    </a:rPr>
                                    <m:t>′</m:t>
                                  </m:r>
                                </m:sup>
                              </m:sSubSup>
                              <m:d>
                                <m:dPr>
                                  <m:ctrlPr>
                                    <a:rPr lang="en-US" sz="2600" i="1">
                                      <a:latin typeface="Cambria Math" panose="02040503050406030204" pitchFamily="18" charset="0"/>
                                    </a:rPr>
                                  </m:ctrlPr>
                                </m:dPr>
                                <m:e>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acc>
                                            <m:accPr>
                                              <m:chr m:val="̂"/>
                                              <m:ctrlPr>
                                                <a:rPr lang="en-US" sz="2600" i="1">
                                                  <a:latin typeface="Cambria Math" panose="02040503050406030204" pitchFamily="18" charset="0"/>
                                                </a:rPr>
                                              </m:ctrlPr>
                                            </m:accPr>
                                            <m:e>
                                              <m:r>
                                                <a:rPr lang="en-US" sz="2600" b="1" i="1">
                                                  <a:latin typeface="Cambria Math" panose="02040503050406030204" pitchFamily="18" charset="0"/>
                                                </a:rPr>
                                                <m:t>𝑿</m:t>
                                              </m:r>
                                            </m:e>
                                          </m:acc>
                                        </m:e>
                                        <m:sub>
                                          <m:r>
                                            <a:rPr lang="en-US" sz="2600" i="1">
                                              <a:latin typeface="Cambria Math" panose="02040503050406030204" pitchFamily="18" charset="0"/>
                                            </a:rPr>
                                            <m:t>𝑘</m:t>
                                          </m:r>
                                          <m:r>
                                            <a:rPr lang="en-US" sz="2600" i="1">
                                              <a:latin typeface="Cambria Math" panose="02040503050406030204" pitchFamily="18" charset="0"/>
                                            </a:rPr>
                                            <m:t>−1</m:t>
                                          </m:r>
                                        </m:sub>
                                      </m:sSub>
                                    </m:e>
                                  </m:d>
                                </m:e>
                              </m:d>
                            </m:e>
                          </m:d>
                        </m:e>
                        <m:sup>
                          <m:r>
                            <a:rPr lang="en-US" sz="2600" i="1">
                              <a:latin typeface="Cambria Math" panose="02040503050406030204" pitchFamily="18" charset="0"/>
                            </a:rPr>
                            <m:t>𝑇</m:t>
                          </m:r>
                        </m:sup>
                      </m:sSup>
                      <m:sSup>
                        <m:sSupPr>
                          <m:ctrlPr>
                            <a:rPr lang="en-US" sz="2600" i="1">
                              <a:latin typeface="Cambria Math" panose="02040503050406030204" pitchFamily="18" charset="0"/>
                            </a:rPr>
                          </m:ctrlPr>
                        </m:sSupPr>
                        <m:e>
                          <m:d>
                            <m:dPr>
                              <m:ctrlPr>
                                <a:rPr lang="en-US" sz="2600" i="1">
                                  <a:latin typeface="Cambria Math" panose="02040503050406030204" pitchFamily="18" charset="0"/>
                                </a:rPr>
                              </m:ctrlPr>
                            </m:dPr>
                            <m:e>
                              <m:sSubSup>
                                <m:sSubSupPr>
                                  <m:ctrlPr>
                                    <a:rPr lang="en-US" sz="2600" i="1">
                                      <a:latin typeface="Cambria Math" panose="02040503050406030204" pitchFamily="18" charset="0"/>
                                    </a:rPr>
                                  </m:ctrlPr>
                                </m:sSubSupPr>
                                <m:e>
                                  <m:r>
                                    <a:rPr lang="en-US" sz="2600" i="1">
                                      <a:latin typeface="Cambria Math" panose="02040503050406030204" pitchFamily="18" charset="0"/>
                                    </a:rPr>
                                    <m:t>𝑉</m:t>
                                  </m:r>
                                </m:e>
                                <m:sub>
                                  <m:r>
                                    <a:rPr lang="en-US" sz="2600" i="1">
                                      <a:latin typeface="Cambria Math" panose="02040503050406030204" pitchFamily="18" charset="0"/>
                                    </a:rPr>
                                    <m:t>𝑘</m:t>
                                  </m:r>
                                  <m:r>
                                    <a:rPr lang="en-US" sz="2600" i="1">
                                      <a:latin typeface="Cambria Math" panose="02040503050406030204" pitchFamily="18" charset="0"/>
                                    </a:rPr>
                                    <m:t>+1</m:t>
                                  </m:r>
                                </m:sub>
                                <m:sup>
                                  <m:r>
                                    <a:rPr lang="en-US" sz="2600" i="1">
                                      <a:latin typeface="Cambria Math" panose="02040503050406030204" pitchFamily="18" charset="0"/>
                                    </a:rPr>
                                    <m:t>𝑇</m:t>
                                  </m:r>
                                </m:sup>
                              </m:sSubSup>
                              <m:r>
                                <a:rPr lang="en-US" sz="2600" i="1">
                                  <a:latin typeface="Cambria Math" panose="02040503050406030204" pitchFamily="18" charset="0"/>
                                </a:rPr>
                                <m:t>⨂</m:t>
                              </m:r>
                              <m:sSub>
                                <m:sSubPr>
                                  <m:ctrlPr>
                                    <a:rPr lang="en-US" sz="2600" i="1">
                                      <a:latin typeface="Cambria Math" panose="02040503050406030204" pitchFamily="18" charset="0"/>
                                    </a:rPr>
                                  </m:ctrlPr>
                                </m:sSubPr>
                                <m:e>
                                  <m:r>
                                    <a:rPr lang="en-US" sz="2600" i="1">
                                      <a:latin typeface="Cambria Math" panose="02040503050406030204" pitchFamily="18" charset="0"/>
                                    </a:rPr>
                                    <m:t>𝑈</m:t>
                                  </m:r>
                                </m:e>
                                <m:sub>
                                  <m:r>
                                    <a:rPr lang="en-US" sz="2600" i="1">
                                      <a:latin typeface="Cambria Math" panose="02040503050406030204" pitchFamily="18" charset="0"/>
                                    </a:rPr>
                                    <m:t>𝑘</m:t>
                                  </m:r>
                                  <m:r>
                                    <a:rPr lang="en-US" sz="2600" i="1">
                                      <a:latin typeface="Cambria Math" panose="02040503050406030204" pitchFamily="18" charset="0"/>
                                    </a:rPr>
                                    <m:t>+1</m:t>
                                  </m:r>
                                </m:sub>
                              </m:sSub>
                            </m:e>
                          </m:d>
                        </m:e>
                        <m:sup>
                          <m:r>
                            <a:rPr lang="en-US" sz="2600" i="1">
                              <a:latin typeface="Cambria Math" panose="02040503050406030204" pitchFamily="18" charset="0"/>
                            </a:rPr>
                            <m:t>𝑇</m:t>
                          </m:r>
                        </m:sup>
                      </m:sSup>
                      <m:sSub>
                        <m:sSubPr>
                          <m:ctrlPr>
                            <a:rPr lang="en-US" sz="2600" i="1">
                              <a:latin typeface="Cambria Math" panose="02040503050406030204" pitchFamily="18" charset="0"/>
                            </a:rPr>
                          </m:ctrlPr>
                        </m:sSubPr>
                        <m:e>
                          <m:r>
                            <a:rPr lang="en-US" sz="2600">
                              <a:latin typeface="Cambria Math" panose="02040503050406030204" pitchFamily="18" charset="0"/>
                            </a:rPr>
                            <m:t>𝛻</m:t>
                          </m:r>
                        </m:e>
                        <m:sub>
                          <m:sSub>
                            <m:sSubPr>
                              <m:ctrlPr>
                                <a:rPr lang="en-US" sz="2600" i="1">
                                  <a:latin typeface="Cambria Math" panose="02040503050406030204" pitchFamily="18" charset="0"/>
                                </a:rPr>
                              </m:ctrlPr>
                            </m:sSubPr>
                            <m:e>
                              <m:r>
                                <m:rPr>
                                  <m:sty m:val="p"/>
                                </m:rPr>
                                <a:rPr lang="en-US" sz="2600">
                                  <a:latin typeface="Cambria Math" panose="02040503050406030204" pitchFamily="18" charset="0"/>
                                </a:rPr>
                                <m:t>Θ</m:t>
                              </m:r>
                            </m:e>
                            <m:sub>
                              <m:r>
                                <a:rPr lang="en-US" sz="2600" i="1">
                                  <a:latin typeface="Cambria Math" panose="02040503050406030204" pitchFamily="18" charset="0"/>
                                </a:rPr>
                                <m:t>𝑘</m:t>
                              </m:r>
                              <m:r>
                                <a:rPr lang="en-US" sz="2600" i="1">
                                  <a:latin typeface="Cambria Math" panose="02040503050406030204" pitchFamily="18" charset="0"/>
                                </a:rPr>
                                <m:t>+1</m:t>
                              </m:r>
                            </m:sub>
                          </m:sSub>
                        </m:sub>
                      </m:sSub>
                      <m:r>
                        <m:rPr>
                          <m:sty m:val="p"/>
                        </m:rPr>
                        <a:rPr lang="en-US" sz="2600">
                          <a:latin typeface="Cambria Math" panose="02040503050406030204" pitchFamily="18" charset="0"/>
                        </a:rPr>
                        <m:t>vec</m:t>
                      </m:r>
                      <m:d>
                        <m:dPr>
                          <m:ctrlPr>
                            <a:rPr lang="en-US" sz="2600" i="1">
                              <a:latin typeface="Cambria Math" panose="02040503050406030204" pitchFamily="18" charset="0"/>
                            </a:rPr>
                          </m:ctrlPr>
                        </m:dPr>
                        <m:e>
                          <m:r>
                            <a:rPr lang="en-US" sz="2600" i="1">
                              <a:latin typeface="Cambria Math" panose="02040503050406030204" pitchFamily="18" charset="0"/>
                            </a:rPr>
                            <m:t>𝑙</m:t>
                          </m:r>
                        </m:e>
                      </m:d>
                    </m:oMath>
                  </m:oMathPara>
                </a14:m>
                <a:endParaRPr lang="en-US" sz="26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912" t="-1060" r="-86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18</a:t>
            </a:fld>
            <a:endParaRPr lang="en-US"/>
          </a:p>
        </p:txBody>
      </p:sp>
    </p:spTree>
    <p:extLst>
      <p:ext uri="{BB962C8B-B14F-4D97-AF65-F5344CB8AC3E}">
        <p14:creationId xmlns:p14="http://schemas.microsoft.com/office/powerpoint/2010/main" val="163793251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100" dirty="0">
                    <a:effectLst>
                      <a:outerShdw blurRad="38100" dist="38100" dir="2700000" algn="tl">
                        <a:srgbClr val="000000">
                          <a:alpha val="43137"/>
                        </a:srgbClr>
                      </a:outerShdw>
                    </a:effectLst>
                  </a:rPr>
                  <a:t>As a result of association of </a:t>
                </a:r>
                <a:r>
                  <a:rPr lang="en-US" sz="2100" dirty="0" smtClean="0">
                    <a:effectLst>
                      <a:outerShdw blurRad="38100" dist="38100" dir="2700000" algn="tl">
                        <a:srgbClr val="000000">
                          <a:alpha val="43137"/>
                        </a:srgbClr>
                      </a:outerShdw>
                    </a:effectLst>
                  </a:rPr>
                  <a:t>SGD </a:t>
                </a:r>
                <a:r>
                  <a:rPr lang="en-US" sz="2100" dirty="0">
                    <a:effectLst>
                      <a:outerShdw blurRad="38100" dist="38100" dir="2700000" algn="tl">
                        <a:srgbClr val="000000">
                          <a:alpha val="43137"/>
                        </a:srgbClr>
                      </a:outerShdw>
                    </a:effectLst>
                  </a:rPr>
                  <a:t>algorithm and backpropagation algorithm for training </a:t>
                </a:r>
                <a:r>
                  <a:rPr lang="en-US" sz="2100" dirty="0" smtClean="0">
                    <a:effectLst>
                      <a:outerShdw blurRad="38100" dist="38100" dir="2700000" algn="tl">
                        <a:srgbClr val="000000">
                          <a:alpha val="43137"/>
                        </a:srgbClr>
                      </a:outerShdw>
                    </a:effectLst>
                  </a:rPr>
                  <a:t>MNN, </a:t>
                </a:r>
                <a:r>
                  <a:rPr lang="en-US" sz="2100" dirty="0">
                    <a:effectLst>
                      <a:outerShdw blurRad="38100" dist="38100" dir="2700000" algn="tl">
                        <a:srgbClr val="000000">
                          <a:alpha val="43137"/>
                        </a:srgbClr>
                      </a:outerShdw>
                    </a:effectLst>
                  </a:rPr>
                  <a:t>all gradients </a:t>
                </a:r>
                <a14:m>
                  <m:oMath xmlns:m="http://schemas.openxmlformats.org/officeDocument/2006/math">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oMath>
                </a14:m>
                <a:r>
                  <a:rPr lang="en-US" sz="2100" dirty="0"/>
                  <a:t>, </a:t>
                </a:r>
                <a14:m>
                  <m:oMath xmlns:m="http://schemas.openxmlformats.org/officeDocument/2006/math">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oMath>
                </a14:m>
                <a:r>
                  <a:rPr lang="en-US" sz="2100" dirty="0"/>
                  <a:t>, and </a:t>
                </a:r>
                <a14:m>
                  <m:oMath xmlns:m="http://schemas.openxmlformats.org/officeDocument/2006/math">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oMath>
                </a14:m>
                <a:r>
                  <a:rPr lang="en-US" sz="2100" dirty="0"/>
                  <a:t> of </a:t>
                </a:r>
                <a:r>
                  <a:rPr lang="en-US" sz="2100" dirty="0" err="1"/>
                  <a:t>Frobenius</a:t>
                </a:r>
                <a:r>
                  <a:rPr lang="en-US" sz="2100" dirty="0"/>
                  <a:t> norm likelihood with respect to </a:t>
                </a:r>
                <a:r>
                  <a:rPr lang="en-US" sz="2100" dirty="0" smtClean="0"/>
                  <a:t>parameters </a:t>
                </a:r>
                <a:r>
                  <a:rPr lang="en-US" sz="2100" i="1" dirty="0" err="1" smtClean="0"/>
                  <a:t>U</a:t>
                </a:r>
                <a:r>
                  <a:rPr lang="en-US" sz="2100" i="1" baseline="-25000" dirty="0" err="1" smtClean="0"/>
                  <a:t>k</a:t>
                </a:r>
                <a:r>
                  <a:rPr lang="en-US" sz="2100" dirty="0"/>
                  <a:t>, </a:t>
                </a:r>
                <a:r>
                  <a:rPr lang="en-US" sz="2100" i="1" dirty="0" err="1"/>
                  <a:t>V</a:t>
                </a:r>
                <a:r>
                  <a:rPr lang="en-US" sz="2100" i="1" baseline="-25000" dirty="0" err="1"/>
                  <a:t>k</a:t>
                </a:r>
                <a:r>
                  <a:rPr lang="en-US" sz="2100" dirty="0"/>
                  <a:t>, and </a:t>
                </a:r>
                <a:r>
                  <a:rPr lang="en-US" sz="2100" dirty="0" err="1"/>
                  <a:t>Θ</a:t>
                </a:r>
                <a:r>
                  <a:rPr lang="en-US" sz="2100" i="1" baseline="-25000" dirty="0" err="1"/>
                  <a:t>k</a:t>
                </a:r>
                <a:r>
                  <a:rPr lang="en-US" sz="2100" dirty="0"/>
                  <a:t> </a:t>
                </a:r>
                <a:r>
                  <a:rPr lang="en-US" sz="2100" dirty="0">
                    <a:effectLst>
                      <a:outerShdw blurRad="38100" dist="38100" dir="2700000" algn="tl">
                        <a:srgbClr val="000000">
                          <a:alpha val="43137"/>
                        </a:srgbClr>
                      </a:outerShdw>
                    </a:effectLst>
                  </a:rPr>
                  <a:t>within vectorization technique </a:t>
                </a:r>
                <a:r>
                  <a:rPr lang="en-US" sz="2100" dirty="0"/>
                  <a:t>for all 1 ≤ </a:t>
                </a:r>
                <a:r>
                  <a:rPr lang="en-US" sz="2100" i="1" dirty="0"/>
                  <a:t>k </a:t>
                </a:r>
                <a:r>
                  <a:rPr lang="en-US" sz="2100" dirty="0"/>
                  <a:t>≤ </a:t>
                </a:r>
                <a:r>
                  <a:rPr lang="en-US" sz="2100" i="1" dirty="0"/>
                  <a:t>K</a:t>
                </a:r>
                <a:r>
                  <a:rPr lang="en-US" sz="2100" dirty="0"/>
                  <a:t>, respectively </a:t>
                </a:r>
                <a:r>
                  <a:rPr lang="en-US" sz="2100" dirty="0">
                    <a:effectLst>
                      <a:outerShdw blurRad="38100" dist="38100" dir="2700000" algn="tl">
                        <a:srgbClr val="000000">
                          <a:alpha val="43137"/>
                        </a:srgbClr>
                      </a:outerShdw>
                    </a:effectLst>
                  </a:rPr>
                  <a:t>are calculated</a:t>
                </a:r>
                <a:r>
                  <a:rPr lang="en-US" sz="2100" dirty="0"/>
                  <a:t> as follows</a:t>
                </a:r>
                <a:r>
                  <a:rPr lang="en-US" sz="2100" dirty="0" smtClean="0"/>
                  <a:t>:</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100" i="1">
                              <a:latin typeface="Cambria Math" panose="02040503050406030204" pitchFamily="18" charset="0"/>
                            </a:rPr>
                          </m:ctrlPr>
                        </m:mPr>
                        <m:mr>
                          <m:e>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r>
                              <a:rPr lang="en-US" sz="2100" i="1">
                                <a:latin typeface="Cambria Math" panose="02040503050406030204" pitchFamily="18" charset="0"/>
                              </a:rPr>
                              <m:t>=</m:t>
                            </m:r>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𝑘</m:t>
                                                </m:r>
                                                <m:r>
                                                  <a:rPr lang="en-US" sz="2100" i="1">
                                                    <a:latin typeface="Cambria Math" panose="02040503050406030204" pitchFamily="18" charset="0"/>
                                                  </a:rPr>
                                                  <m:t>−1</m:t>
                                                </m:r>
                                              </m:sub>
                                            </m:sSub>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e>
                                        </m:d>
                                      </m:e>
                                      <m:sup>
                                        <m:r>
                                          <a:rPr lang="en-US" sz="2100" i="1">
                                            <a:latin typeface="Cambria Math" panose="02040503050406030204" pitchFamily="18" charset="0"/>
                                          </a:rPr>
                                          <m:t>𝑇</m:t>
                                        </m:r>
                                      </m:sup>
                                    </m:s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𝐼</m:t>
                                        </m:r>
                                      </m:e>
                                      <m:sub>
                                        <m:r>
                                          <a:rPr lang="en-US" sz="2100" i="1">
                                            <a:latin typeface="Cambria Math" panose="02040503050406030204" pitchFamily="18" charset="0"/>
                                          </a:rPr>
                                          <m:t>𝑟</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e>
                                        </m:d>
                                      </m:sub>
                                    </m:sSub>
                                  </m:e>
                                </m:d>
                              </m:e>
                              <m:sup>
                                <m:r>
                                  <a:rPr lang="en-US" sz="2100" i="1">
                                    <a:latin typeface="Cambria Math" panose="02040503050406030204" pitchFamily="18" charset="0"/>
                                  </a:rPr>
                                  <m:t>𝑇</m:t>
                                </m:r>
                              </m:sup>
                            </m:sSup>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e>
                        </m:mr>
                        <m:mr>
                          <m:e>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r>
                              <a:rPr lang="en-US" sz="2100" i="1">
                                <a:latin typeface="Cambria Math" panose="02040503050406030204" pitchFamily="18" charset="0"/>
                              </a:rPr>
                              <m:t>=</m:t>
                            </m:r>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𝐼</m:t>
                                        </m:r>
                                      </m:e>
                                      <m:sub>
                                        <m:r>
                                          <a:rPr lang="en-US" sz="2100" i="1">
                                            <a:latin typeface="Cambria Math" panose="02040503050406030204" pitchFamily="18" charset="0"/>
                                          </a:rPr>
                                          <m:t>𝑐</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e>
                                        </m:d>
                                      </m:sub>
                                    </m:sSub>
                                    <m:r>
                                      <a:rPr lang="en-US" sz="2100" i="1">
                                        <a:latin typeface="Cambria Math" panose="02040503050406030204" pitchFamily="18" charset="0"/>
                                      </a:rPr>
                                      <m:t>⨂</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𝑘</m:t>
                                            </m:r>
                                            <m:r>
                                              <a:rPr lang="en-US" sz="2100" i="1">
                                                <a:latin typeface="Cambria Math" panose="02040503050406030204" pitchFamily="18" charset="0"/>
                                              </a:rPr>
                                              <m:t>−1</m:t>
                                            </m:r>
                                          </m:sub>
                                        </m:sSub>
                                      </m:e>
                                    </m:d>
                                  </m:e>
                                </m:d>
                              </m:e>
                              <m:sup>
                                <m:r>
                                  <a:rPr lang="en-US" sz="2100" i="1">
                                    <a:latin typeface="Cambria Math" panose="02040503050406030204" pitchFamily="18" charset="0"/>
                                  </a:rPr>
                                  <m:t>𝑇</m:t>
                                </m:r>
                              </m:sup>
                            </m:sSup>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e>
                        </m:mr>
                        <m:mr>
                          <m:e>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r>
                              <a:rPr lang="en-US" sz="2100" i="1">
                                <a:latin typeface="Cambria Math" panose="02040503050406030204" pitchFamily="18" charset="0"/>
                              </a:rPr>
                              <m:t>=</m:t>
                            </m:r>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i="1">
                                            <a:latin typeface="Cambria Math" panose="02040503050406030204" pitchFamily="18" charset="0"/>
                                          </a:rPr>
                                          <m:t>𝑓</m:t>
                                        </m:r>
                                      </m:e>
                                      <m:sub>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𝑘</m:t>
                                            </m:r>
                                          </m:sub>
                                        </m:sSub>
                                      </m:sub>
                                      <m:sup>
                                        <m:r>
                                          <a:rPr lang="en-US" sz="2100" i="1">
                                            <a:latin typeface="Cambria Math" panose="02040503050406030204" pitchFamily="18" charset="0"/>
                                          </a:rPr>
                                          <m:t>′</m:t>
                                        </m:r>
                                      </m:sup>
                                    </m:sSubSup>
                                    <m:d>
                                      <m:dPr>
                                        <m:ctrlPr>
                                          <a:rPr lang="en-US" sz="2100" i="1">
                                            <a:latin typeface="Cambria Math" panose="02040503050406030204" pitchFamily="18" charset="0"/>
                                          </a:rPr>
                                        </m:ctrlPr>
                                      </m:dPr>
                                      <m:e>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acc>
                                                  <m:accPr>
                                                    <m:chr m:val="̂"/>
                                                    <m:ctrlPr>
                                                      <a:rPr lang="en-US" sz="2100" i="1">
                                                        <a:latin typeface="Cambria Math" panose="02040503050406030204" pitchFamily="18" charset="0"/>
                                                      </a:rPr>
                                                    </m:ctrlPr>
                                                  </m:accPr>
                                                  <m:e>
                                                    <m:r>
                                                      <a:rPr lang="en-US" sz="2100" b="1" i="1">
                                                        <a:latin typeface="Cambria Math" panose="02040503050406030204" pitchFamily="18" charset="0"/>
                                                      </a:rPr>
                                                      <m:t>𝑿</m:t>
                                                    </m:r>
                                                  </m:e>
                                                </m:acc>
                                              </m:e>
                                              <m:sub>
                                                <m:r>
                                                  <a:rPr lang="en-US" sz="2100" i="1">
                                                    <a:latin typeface="Cambria Math" panose="02040503050406030204" pitchFamily="18" charset="0"/>
                                                  </a:rPr>
                                                  <m:t>𝑘</m:t>
                                                </m:r>
                                                <m:r>
                                                  <a:rPr lang="en-US" sz="2100" i="1">
                                                    <a:latin typeface="Cambria Math" panose="02040503050406030204" pitchFamily="18" charset="0"/>
                                                  </a:rPr>
                                                  <m:t>−1</m:t>
                                                </m:r>
                                              </m:sub>
                                            </m:sSub>
                                          </m:e>
                                        </m:d>
                                      </m:e>
                                    </m:d>
                                  </m:e>
                                </m:d>
                              </m:e>
                              <m:sup>
                                <m:r>
                                  <a:rPr lang="en-US" sz="2100" i="1">
                                    <a:latin typeface="Cambria Math" panose="02040503050406030204" pitchFamily="18" charset="0"/>
                                  </a:rPr>
                                  <m:t>𝑇</m:t>
                                </m:r>
                              </m:sup>
                            </m:sSup>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i="1">
                                            <a:latin typeface="Cambria Math" panose="02040503050406030204" pitchFamily="18" charset="0"/>
                                          </a:rPr>
                                          <m:t>𝑉</m:t>
                                        </m:r>
                                      </m:e>
                                      <m:sub>
                                        <m:r>
                                          <a:rPr lang="en-US" sz="2100" i="1">
                                            <a:latin typeface="Cambria Math" panose="02040503050406030204" pitchFamily="18" charset="0"/>
                                          </a:rPr>
                                          <m:t>𝑘</m:t>
                                        </m:r>
                                        <m:r>
                                          <a:rPr lang="en-US" sz="2100" i="1">
                                            <a:latin typeface="Cambria Math" panose="02040503050406030204" pitchFamily="18" charset="0"/>
                                          </a:rPr>
                                          <m:t>+1</m:t>
                                        </m:r>
                                      </m:sub>
                                      <m:sup>
                                        <m:r>
                                          <a:rPr lang="en-US" sz="2100" i="1">
                                            <a:latin typeface="Cambria Math" panose="02040503050406030204" pitchFamily="18" charset="0"/>
                                          </a:rPr>
                                          <m:t>𝑇</m:t>
                                        </m:r>
                                      </m:sup>
                                    </m:sSub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r>
                                          <a:rPr lang="en-US" sz="2100" i="1">
                                            <a:latin typeface="Cambria Math" panose="02040503050406030204" pitchFamily="18" charset="0"/>
                                          </a:rPr>
                                          <m:t>+1</m:t>
                                        </m:r>
                                      </m:sub>
                                    </m:sSub>
                                  </m:e>
                                </m:d>
                              </m:e>
                              <m:sup>
                                <m:r>
                                  <a:rPr lang="en-US" sz="2100" i="1">
                                    <a:latin typeface="Cambria Math" panose="02040503050406030204" pitchFamily="18" charset="0"/>
                                  </a:rPr>
                                  <m:t>𝑇</m:t>
                                </m:r>
                              </m:sup>
                            </m:sSup>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𝑘</m:t>
                                    </m:r>
                                    <m:r>
                                      <a:rPr lang="en-US" sz="2100" i="1">
                                        <a:latin typeface="Cambria Math" panose="02040503050406030204" pitchFamily="18" charset="0"/>
                                      </a:rPr>
                                      <m:t>+1</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e>
                        </m:mr>
                        <m:mr>
                          <m:e>
                            <m:sSub>
                              <m:sSubPr>
                                <m:ctrlPr>
                                  <a:rPr lang="en-US" sz="2100" i="1">
                                    <a:latin typeface="Cambria Math" panose="02040503050406030204" pitchFamily="18" charset="0"/>
                                  </a:rPr>
                                </m:ctrlPr>
                              </m:sSubPr>
                              <m:e>
                                <m:r>
                                  <a:rPr lang="en-US" sz="2100">
                                    <a:latin typeface="Cambria Math" panose="02040503050406030204" pitchFamily="18" charset="0"/>
                                  </a:rPr>
                                  <m:t>𝛻</m:t>
                                </m:r>
                              </m:e>
                              <m:sub>
                                <m:sSub>
                                  <m:sSubPr>
                                    <m:ctrlPr>
                                      <a:rPr lang="en-US" sz="2100" i="1">
                                        <a:latin typeface="Cambria Math" panose="02040503050406030204" pitchFamily="18" charset="0"/>
                                      </a:rPr>
                                    </m:ctrlPr>
                                  </m:sSubPr>
                                  <m:e>
                                    <m:r>
                                      <m:rPr>
                                        <m:sty m:val="p"/>
                                      </m:rPr>
                                      <a:rPr lang="en-US" sz="2100">
                                        <a:latin typeface="Cambria Math" panose="02040503050406030204" pitchFamily="18" charset="0"/>
                                      </a:rPr>
                                      <m:t>Θ</m:t>
                                    </m:r>
                                  </m:e>
                                  <m:sub>
                                    <m:r>
                                      <a:rPr lang="en-US" sz="2100" i="1">
                                        <a:latin typeface="Cambria Math" panose="02040503050406030204" pitchFamily="18" charset="0"/>
                                      </a:rPr>
                                      <m:t>𝐾</m:t>
                                    </m:r>
                                  </m:sub>
                                </m:sSub>
                              </m:sub>
                            </m:sSub>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r>
                                  <a:rPr lang="en-US" sz="2100" i="1">
                                    <a:latin typeface="Cambria Math" panose="02040503050406030204" pitchFamily="18" charset="0"/>
                                  </a:rPr>
                                  <m:t>𝑙</m:t>
                                </m:r>
                              </m:e>
                            </m:d>
                            <m:r>
                              <a:rPr lang="en-US" sz="2100" i="1">
                                <a:latin typeface="Cambria Math" panose="02040503050406030204" pitchFamily="18" charset="0"/>
                              </a:rPr>
                              <m:t>=</m:t>
                            </m:r>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i="1">
                                            <a:latin typeface="Cambria Math" panose="02040503050406030204" pitchFamily="18" charset="0"/>
                                          </a:rPr>
                                          <m:t>𝑓</m:t>
                                        </m:r>
                                      </m:e>
                                      <m:sub>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sub>
                                      <m:sup>
                                        <m:r>
                                          <a:rPr lang="en-US" sz="2100" i="1">
                                            <a:latin typeface="Cambria Math" panose="02040503050406030204" pitchFamily="18" charset="0"/>
                                          </a:rPr>
                                          <m:t>′</m:t>
                                        </m:r>
                                      </m:sup>
                                    </m:sSubSup>
                                    <m:d>
                                      <m:dPr>
                                        <m:ctrlPr>
                                          <a:rPr lang="en-US" sz="2100" i="1">
                                            <a:latin typeface="Cambria Math" panose="02040503050406030204" pitchFamily="18" charset="0"/>
                                          </a:rPr>
                                        </m:ctrlPr>
                                      </m:dPr>
                                      <m:e>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acc>
                                                  <m:accPr>
                                                    <m:chr m:val="̂"/>
                                                    <m:ctrlPr>
                                                      <a:rPr lang="en-US" sz="2100" i="1">
                                                        <a:latin typeface="Cambria Math" panose="02040503050406030204" pitchFamily="18" charset="0"/>
                                                      </a:rPr>
                                                    </m:ctrlPr>
                                                  </m:accPr>
                                                  <m:e>
                                                    <m:r>
                                                      <a:rPr lang="en-US" sz="2100" b="1" i="1">
                                                        <a:latin typeface="Cambria Math" panose="02040503050406030204" pitchFamily="18" charset="0"/>
                                                      </a:rPr>
                                                      <m:t>𝑿</m:t>
                                                    </m:r>
                                                  </m:e>
                                                </m:acc>
                                              </m:e>
                                              <m:sub>
                                                <m:r>
                                                  <a:rPr lang="en-US" sz="2100" i="1">
                                                    <a:latin typeface="Cambria Math" panose="02040503050406030204" pitchFamily="18" charset="0"/>
                                                  </a:rPr>
                                                  <m:t>𝐾</m:t>
                                                </m:r>
                                                <m:r>
                                                  <a:rPr lang="en-US" sz="2100" i="1">
                                                    <a:latin typeface="Cambria Math" panose="02040503050406030204" pitchFamily="18" charset="0"/>
                                                  </a:rPr>
                                                  <m:t>−1</m:t>
                                                </m:r>
                                              </m:sub>
                                            </m:sSub>
                                          </m:e>
                                        </m:d>
                                      </m:e>
                                    </m:d>
                                  </m:e>
                                </m:d>
                              </m:e>
                              <m:sup>
                                <m:r>
                                  <a:rPr lang="en-US" sz="2100" i="1">
                                    <a:latin typeface="Cambria Math" panose="02040503050406030204" pitchFamily="18" charset="0"/>
                                  </a:rPr>
                                  <m:t>𝑇</m:t>
                                </m:r>
                              </m:sup>
                            </m:sSup>
                            <m:r>
                              <m:rPr>
                                <m:sty m:val="p"/>
                              </m:rPr>
                              <a:rPr lang="en-US" sz="2100">
                                <a:latin typeface="Cambria Math" panose="02040503050406030204" pitchFamily="18" charset="0"/>
                              </a:rPr>
                              <m:t>vec</m:t>
                            </m:r>
                            <m:d>
                              <m:dPr>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b="1" i="1">
                                        <a:latin typeface="Cambria Math" panose="02040503050406030204" pitchFamily="18" charset="0"/>
                                      </a:rPr>
                                      <m:t>𝑿</m:t>
                                    </m:r>
                                  </m:e>
                                  <m:sub>
                                    <m:r>
                                      <a:rPr lang="en-US" sz="2100" i="1">
                                        <a:latin typeface="Cambria Math" panose="02040503050406030204" pitchFamily="18" charset="0"/>
                                      </a:rPr>
                                      <m:t>𝐾</m:t>
                                    </m:r>
                                  </m:sub>
                                  <m:sup>
                                    <m:r>
                                      <a:rPr lang="en-US" sz="2100" i="1">
                                        <a:latin typeface="Cambria Math" panose="02040503050406030204" pitchFamily="18" charset="0"/>
                                      </a:rPr>
                                      <m:t>′</m:t>
                                    </m:r>
                                  </m:sup>
                                </m:sSub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b="1" i="1">
                                        <a:latin typeface="Cambria Math" panose="02040503050406030204" pitchFamily="18" charset="0"/>
                                      </a:rPr>
                                      <m:t>𝑿</m:t>
                                    </m:r>
                                  </m:e>
                                  <m:sub>
                                    <m:r>
                                      <a:rPr lang="en-US" sz="2100" i="1">
                                        <a:latin typeface="Cambria Math" panose="02040503050406030204" pitchFamily="18" charset="0"/>
                                      </a:rPr>
                                      <m:t>𝐾</m:t>
                                    </m:r>
                                  </m:sub>
                                </m:sSub>
                              </m:e>
                            </m:d>
                          </m:e>
                        </m:mr>
                      </m:m>
                    </m:oMath>
                  </m:oMathPara>
                </a14:m>
                <a:endParaRPr lang="en-US" sz="2100" dirty="0" smtClean="0"/>
              </a:p>
              <a:p>
                <a:pPr marL="0" indent="0">
                  <a:buNone/>
                </a:pPr>
                <a:r>
                  <a:rPr lang="en-US" sz="2100" dirty="0"/>
                  <a:t>Please pay attention that functions </a:t>
                </a:r>
                <a:r>
                  <a:rPr lang="en-US" sz="2100" i="1" dirty="0"/>
                  <a:t>r</a:t>
                </a:r>
                <a:r>
                  <a:rPr lang="en-US" sz="2100" dirty="0"/>
                  <a:t>(</a:t>
                </a:r>
                <a:r>
                  <a:rPr lang="en-US" sz="2100" i="1" dirty="0"/>
                  <a:t>A</a:t>
                </a:r>
                <a:r>
                  <a:rPr lang="en-US" sz="2100" dirty="0"/>
                  <a:t>) and </a:t>
                </a:r>
                <a:r>
                  <a:rPr lang="en-US" sz="2100" i="1" dirty="0"/>
                  <a:t>c</a:t>
                </a:r>
                <a:r>
                  <a:rPr lang="en-US" sz="2100" dirty="0"/>
                  <a:t>(</a:t>
                </a:r>
                <a:r>
                  <a:rPr lang="en-US" sz="2100" i="1" dirty="0"/>
                  <a:t>A</a:t>
                </a:r>
                <a:r>
                  <a:rPr lang="en-US" sz="2100" dirty="0"/>
                  <a:t>) returns the number of rows and the number of columns for matrix </a:t>
                </a:r>
                <a:r>
                  <a:rPr lang="en-US" sz="2100" i="1" dirty="0"/>
                  <a:t>A</a:t>
                </a:r>
                <a:r>
                  <a:rPr lang="en-US" sz="2100" dirty="0" smtClean="0"/>
                  <a:t>.</a:t>
                </a:r>
                <a:r>
                  <a:rPr lang="en-US" sz="2100" dirty="0"/>
                  <a:t> Therefore, </a:t>
                </a:r>
                <a14:m>
                  <m:oMath xmlns:m="http://schemas.openxmlformats.org/officeDocument/2006/math">
                    <m:sSub>
                      <m:sSubPr>
                        <m:ctrlPr>
                          <a:rPr lang="en-US" sz="2100" i="1">
                            <a:latin typeface="Cambria Math" panose="02040503050406030204" pitchFamily="18" charset="0"/>
                          </a:rPr>
                        </m:ctrlPr>
                      </m:sSubPr>
                      <m:e>
                        <m:r>
                          <a:rPr lang="en-US" sz="2100" i="1">
                            <a:latin typeface="Cambria Math" panose="02040503050406030204" pitchFamily="18" charset="0"/>
                          </a:rPr>
                          <m:t>𝐼</m:t>
                        </m:r>
                      </m:e>
                      <m:sub>
                        <m:r>
                          <a:rPr lang="en-US" sz="2100" i="1">
                            <a:latin typeface="Cambria Math" panose="02040503050406030204" pitchFamily="18" charset="0"/>
                          </a:rPr>
                          <m:t>𝑟</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𝑈</m:t>
                                </m:r>
                              </m:e>
                              <m:sub>
                                <m:r>
                                  <a:rPr lang="en-US" sz="2100" i="1">
                                    <a:latin typeface="Cambria Math" panose="02040503050406030204" pitchFamily="18" charset="0"/>
                                  </a:rPr>
                                  <m:t>𝑘</m:t>
                                </m:r>
                              </m:sub>
                            </m:sSub>
                          </m:e>
                        </m:d>
                      </m:sub>
                    </m:sSub>
                  </m:oMath>
                </a14:m>
                <a:r>
                  <a:rPr lang="en-US" sz="2100" dirty="0"/>
                  <a:t> is identity matrix whose dimension is </a:t>
                </a:r>
                <a:r>
                  <a:rPr lang="en-US" sz="2100" i="1" dirty="0"/>
                  <a:t>r</a:t>
                </a:r>
                <a:r>
                  <a:rPr lang="en-US" sz="2100" dirty="0"/>
                  <a:t>(</a:t>
                </a:r>
                <a:r>
                  <a:rPr lang="en-US" sz="2100" i="1" dirty="0" err="1"/>
                  <a:t>U</a:t>
                </a:r>
                <a:r>
                  <a:rPr lang="en-US" sz="2100" i="1" baseline="-25000" dirty="0" err="1"/>
                  <a:t>k</a:t>
                </a:r>
                <a:r>
                  <a:rPr lang="en-US" sz="2100" dirty="0"/>
                  <a:t>)</a:t>
                </a:r>
                <a:r>
                  <a:rPr lang="en-US" sz="2100" dirty="0" err="1"/>
                  <a:t>x</a:t>
                </a:r>
                <a:r>
                  <a:rPr lang="en-US" sz="2100" i="1" dirty="0" err="1"/>
                  <a:t>r</a:t>
                </a:r>
                <a:r>
                  <a:rPr lang="en-US" sz="2100" dirty="0"/>
                  <a:t>(</a:t>
                </a:r>
                <a:r>
                  <a:rPr lang="en-US" sz="2100" i="1" dirty="0" err="1"/>
                  <a:t>U</a:t>
                </a:r>
                <a:r>
                  <a:rPr lang="en-US" sz="2100" i="1" baseline="-25000" dirty="0" err="1"/>
                  <a:t>k</a:t>
                </a:r>
                <a:r>
                  <a:rPr lang="en-US" sz="2100" dirty="0"/>
                  <a:t>) and </a:t>
                </a:r>
                <a14:m>
                  <m:oMath xmlns:m="http://schemas.openxmlformats.org/officeDocument/2006/math">
                    <m:sSub>
                      <m:sSubPr>
                        <m:ctrlPr>
                          <a:rPr lang="en-US" sz="2100" i="1">
                            <a:latin typeface="Cambria Math" panose="02040503050406030204" pitchFamily="18" charset="0"/>
                          </a:rPr>
                        </m:ctrlPr>
                      </m:sSubPr>
                      <m:e>
                        <m:r>
                          <a:rPr lang="en-US" sz="2100" i="1">
                            <a:latin typeface="Cambria Math" panose="02040503050406030204" pitchFamily="18" charset="0"/>
                          </a:rPr>
                          <m:t>𝐼</m:t>
                        </m:r>
                      </m:e>
                      <m:sub>
                        <m:r>
                          <a:rPr lang="en-US" sz="2100" i="1">
                            <a:latin typeface="Cambria Math" panose="02040503050406030204" pitchFamily="18" charset="0"/>
                          </a:rPr>
                          <m:t>𝑐</m:t>
                        </m:r>
                        <m:d>
                          <m:dPr>
                            <m:ctrlPr>
                              <a:rPr lang="en-US" sz="2100" i="1">
                                <a:latin typeface="Cambria Math" panose="02040503050406030204" pitchFamily="18" charset="0"/>
                              </a:rPr>
                            </m:ctrlPr>
                          </m:dPr>
                          <m:e>
                            <m:sSub>
                              <m:sSubPr>
                                <m:ctrlPr>
                                  <a:rPr lang="en-US" sz="2100" i="1">
                                    <a:latin typeface="Cambria Math" panose="02040503050406030204" pitchFamily="18" charset="0"/>
                                  </a:rPr>
                                </m:ctrlPr>
                              </m:sSubPr>
                              <m:e>
                                <m:r>
                                  <a:rPr lang="en-US" sz="2100" i="1">
                                    <a:latin typeface="Cambria Math" panose="02040503050406030204" pitchFamily="18" charset="0"/>
                                  </a:rPr>
                                  <m:t>𝑉</m:t>
                                </m:r>
                              </m:e>
                              <m:sub>
                                <m:r>
                                  <a:rPr lang="en-US" sz="2100" i="1">
                                    <a:latin typeface="Cambria Math" panose="02040503050406030204" pitchFamily="18" charset="0"/>
                                  </a:rPr>
                                  <m:t>𝑘</m:t>
                                </m:r>
                              </m:sub>
                            </m:sSub>
                          </m:e>
                        </m:d>
                      </m:sub>
                    </m:sSub>
                  </m:oMath>
                </a14:m>
                <a:r>
                  <a:rPr lang="en-US" sz="2100" dirty="0"/>
                  <a:t> is identity matrix whose dimension is </a:t>
                </a:r>
                <a:r>
                  <a:rPr lang="en-US" sz="2100" i="1" dirty="0"/>
                  <a:t>c</a:t>
                </a:r>
                <a:r>
                  <a:rPr lang="en-US" sz="2100" dirty="0"/>
                  <a:t>(</a:t>
                </a:r>
                <a:r>
                  <a:rPr lang="en-US" sz="2100" i="1" dirty="0" err="1"/>
                  <a:t>V</a:t>
                </a:r>
                <a:r>
                  <a:rPr lang="en-US" sz="2100" i="1" baseline="-25000" dirty="0" err="1"/>
                  <a:t>k</a:t>
                </a:r>
                <a:r>
                  <a:rPr lang="en-US" sz="2100" dirty="0"/>
                  <a:t>)x</a:t>
                </a:r>
                <a:r>
                  <a:rPr lang="en-US" sz="2100" i="1" dirty="0"/>
                  <a:t>c</a:t>
                </a:r>
                <a:r>
                  <a:rPr lang="en-US" sz="2100" dirty="0"/>
                  <a:t>(</a:t>
                </a:r>
                <a:r>
                  <a:rPr lang="en-US" sz="2100" i="1" dirty="0" err="1"/>
                  <a:t>V</a:t>
                </a:r>
                <a:r>
                  <a:rPr lang="en-US" sz="2100" i="1" baseline="-25000" dirty="0" err="1"/>
                  <a:t>k</a:t>
                </a:r>
                <a:r>
                  <a:rPr lang="en-US" sz="2100" dirty="0" smtClean="0"/>
                  <a:t>). </a:t>
                </a:r>
                <a:r>
                  <a:rPr lang="en-US" sz="2100" dirty="0" smtClean="0">
                    <a:effectLst>
                      <a:outerShdw blurRad="38100" dist="38100" dir="2700000" algn="tl">
                        <a:srgbClr val="000000">
                          <a:alpha val="43137"/>
                        </a:srgbClr>
                      </a:outerShdw>
                    </a:effectLst>
                  </a:rPr>
                  <a:t>Although </a:t>
                </a:r>
                <a:r>
                  <a:rPr lang="en-US" sz="2100" dirty="0">
                    <a:effectLst>
                      <a:outerShdw blurRad="38100" dist="38100" dir="2700000" algn="tl">
                        <a:srgbClr val="000000">
                          <a:alpha val="43137"/>
                        </a:srgbClr>
                      </a:outerShdw>
                    </a:effectLst>
                  </a:rPr>
                  <a:t>MNN is not new, please read the research paper “Matrix Neural Networks” (Gao, </a:t>
                </a:r>
                <a:r>
                  <a:rPr lang="en-US" sz="2100" dirty="0" err="1">
                    <a:effectLst>
                      <a:outerShdw blurRad="38100" dist="38100" dir="2700000" algn="tl">
                        <a:srgbClr val="000000">
                          <a:alpha val="43137"/>
                        </a:srgbClr>
                      </a:outerShdw>
                    </a:effectLst>
                  </a:rPr>
                  <a:t>Guo</a:t>
                </a:r>
                <a:r>
                  <a:rPr lang="en-US" sz="2100" dirty="0">
                    <a:effectLst>
                      <a:outerShdw blurRad="38100" dist="38100" dir="2700000" algn="tl">
                        <a:srgbClr val="000000">
                          <a:alpha val="43137"/>
                        </a:srgbClr>
                      </a:outerShdw>
                    </a:effectLst>
                  </a:rPr>
                  <a:t>, &amp; Wang, 2016) for comprehending </a:t>
                </a:r>
                <a:r>
                  <a:rPr lang="en-US" sz="2100" dirty="0" smtClean="0">
                    <a:effectLst>
                      <a:outerShdw blurRad="38100" dist="38100" dir="2700000" algn="tl">
                        <a:srgbClr val="000000">
                          <a:alpha val="43137"/>
                        </a:srgbClr>
                      </a:outerShdw>
                    </a:effectLst>
                  </a:rPr>
                  <a:t>MNN, </a:t>
                </a:r>
                <a:r>
                  <a:rPr lang="en-US" sz="2100" dirty="0">
                    <a:effectLst>
                      <a:outerShdw blurRad="38100" dist="38100" dir="2700000" algn="tl">
                        <a:srgbClr val="000000">
                          <a:alpha val="43137"/>
                        </a:srgbClr>
                      </a:outerShdw>
                    </a:effectLst>
                  </a:rPr>
                  <a:t>this research contributes to reproduce the succinct and practical equations above to train MNN</a:t>
                </a:r>
                <a:r>
                  <a:rPr lang="en-US" sz="2100"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39600" cy="5176066"/>
              </a:xfrm>
              <a:blipFill>
                <a:blip r:embed="rId2"/>
                <a:stretch>
                  <a:fillRect l="-658" t="-824" r="-810" b="-3298"/>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19</a:t>
            </a:fld>
            <a:endParaRPr lang="en-US"/>
          </a:p>
        </p:txBody>
      </p:sp>
    </p:spTree>
    <p:extLst>
      <p:ext uri="{BB962C8B-B14F-4D97-AF65-F5344CB8AC3E}">
        <p14:creationId xmlns:p14="http://schemas.microsoft.com/office/powerpoint/2010/main" val="1895690203"/>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850" dirty="0"/>
                  <a:t>In practical calculation, the estimation equations are not significantly simpler than traditional ANN training because of vectorization operator and </a:t>
                </a:r>
                <a:r>
                  <a:rPr lang="en-US" sz="1850" dirty="0" err="1"/>
                  <a:t>Kronecker</a:t>
                </a:r>
                <a:r>
                  <a:rPr lang="en-US" sz="1850" dirty="0"/>
                  <a:t> product. Fortunately, </a:t>
                </a:r>
                <a:r>
                  <a:rPr lang="en-US" sz="1850" dirty="0" smtClean="0">
                    <a:effectLst>
                      <a:outerShdw blurRad="38100" dist="38100" dir="2700000" algn="tl">
                        <a:srgbClr val="000000">
                          <a:alpha val="43137"/>
                        </a:srgbClr>
                      </a:outerShdw>
                    </a:effectLst>
                  </a:rPr>
                  <a:t>wise-multiplication </a:t>
                </a:r>
                <a14:m>
                  <m:oMath xmlns:m="http://schemas.openxmlformats.org/officeDocument/2006/math">
                    <m:r>
                      <a:rPr lang="en-US" sz="1850" i="1">
                        <a:effectLst>
                          <a:outerShdw blurRad="38100" dist="38100" dir="2700000" algn="tl">
                            <a:srgbClr val="000000">
                              <a:alpha val="43137"/>
                            </a:srgbClr>
                          </a:outerShdw>
                        </a:effectLst>
                        <a:latin typeface="Cambria Math" panose="02040503050406030204" pitchFamily="18" charset="0"/>
                      </a:rPr>
                      <m:t>⨀</m:t>
                    </m:r>
                  </m:oMath>
                </a14:m>
                <a:r>
                  <a:rPr lang="en-US" sz="1850" dirty="0">
                    <a:effectLst>
                      <a:outerShdw blurRad="38100" dist="38100" dir="2700000" algn="tl">
                        <a:srgbClr val="000000">
                          <a:alpha val="43137"/>
                        </a:srgbClr>
                      </a:outerShdw>
                    </a:effectLst>
                  </a:rPr>
                  <a:t> </a:t>
                </a:r>
                <a:r>
                  <a:rPr lang="en-US" sz="1850" dirty="0" smtClean="0">
                    <a:effectLst>
                      <a:outerShdw blurRad="38100" dist="38100" dir="2700000" algn="tl">
                        <a:srgbClr val="000000">
                          <a:alpha val="43137"/>
                        </a:srgbClr>
                      </a:outerShdw>
                    </a:effectLst>
                  </a:rPr>
                  <a:t>is </a:t>
                </a:r>
                <a:r>
                  <a:rPr lang="en-US" sz="1850" dirty="0">
                    <a:effectLst>
                      <a:outerShdw blurRad="38100" dist="38100" dir="2700000" algn="tl">
                        <a:srgbClr val="000000">
                          <a:alpha val="43137"/>
                        </a:srgbClr>
                      </a:outerShdw>
                    </a:effectLst>
                  </a:rPr>
                  <a:t>applied into reducing computational cost </a:t>
                </a:r>
                <a:r>
                  <a:rPr lang="en-US" sz="1850" dirty="0" smtClean="0"/>
                  <a:t>with note that the inverse </a:t>
                </a:r>
                <a:r>
                  <a:rPr lang="en-US" sz="1850" dirty="0"/>
                  <a:t>vectorization operator </a:t>
                </a:r>
                <a:r>
                  <a:rPr lang="en-US" sz="1850" dirty="0" err="1"/>
                  <a:t>vec</a:t>
                </a:r>
                <a:r>
                  <a:rPr lang="en-US" sz="1850" baseline="30000" dirty="0"/>
                  <a:t>–1</a:t>
                </a:r>
                <a:r>
                  <a:rPr lang="en-US" sz="1850" dirty="0" smtClean="0"/>
                  <a:t>(.) converts </a:t>
                </a:r>
                <a:r>
                  <a:rPr lang="en-US" sz="1850" dirty="0"/>
                  <a:t>reversely a single column vector into original </a:t>
                </a:r>
                <a:r>
                  <a:rPr lang="en-US" sz="1850" dirty="0" smtClean="0"/>
                  <a:t>matrix.</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1850" i="1">
                              <a:latin typeface="Cambria Math" panose="02040503050406030204" pitchFamily="18" charset="0"/>
                            </a:rPr>
                          </m:ctrlPr>
                        </m:mPr>
                        <m:m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𝑘</m:t>
                                    </m:r>
                                  </m:sub>
                                </m:sSub>
                              </m:sub>
                            </m:sSub>
                            <m:r>
                              <a:rPr lang="en-US" sz="1850" i="1">
                                <a:latin typeface="Cambria Math" panose="02040503050406030204" pitchFamily="18" charset="0"/>
                              </a:rPr>
                              <m:t>𝑙</m:t>
                            </m:r>
                            <m:r>
                              <a:rPr lang="en-US" sz="1850" i="1">
                                <a:latin typeface="Cambria Math" panose="02040503050406030204" pitchFamily="18" charset="0"/>
                              </a:rPr>
                              <m:t>=</m:t>
                            </m:r>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e>
                              <m:sup>
                                <m:r>
                                  <a:rPr lang="en-US" sz="1850" i="1">
                                    <a:latin typeface="Cambria Math" panose="02040503050406030204" pitchFamily="18" charset="0"/>
                                  </a:rPr>
                                  <m:t>−1</m:t>
                                </m:r>
                              </m:sup>
                            </m:sSup>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𝑘</m:t>
                                                    </m:r>
                                                    <m:r>
                                                      <a:rPr lang="en-US" sz="1850" i="1">
                                                        <a:latin typeface="Cambria Math" panose="02040503050406030204" pitchFamily="18" charset="0"/>
                                                      </a:rPr>
                                                      <m:t>−1</m:t>
                                                    </m:r>
                                                  </m:sub>
                                                </m:sSub>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𝑘</m:t>
                                                    </m:r>
                                                  </m:sub>
                                                </m:sSub>
                                              </m:e>
                                            </m:d>
                                          </m:e>
                                          <m:sup>
                                            <m:r>
                                              <a:rPr lang="en-US" sz="1850" i="1">
                                                <a:latin typeface="Cambria Math" panose="02040503050406030204" pitchFamily="18" charset="0"/>
                                              </a:rPr>
                                              <m:t>𝑇</m:t>
                                            </m:r>
                                          </m:sup>
                                        </m:s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𝑟</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𝑘</m:t>
                                                    </m:r>
                                                  </m:sub>
                                                </m:sSub>
                                              </m:e>
                                            </m:d>
                                          </m:sub>
                                        </m:sSub>
                                      </m:e>
                                    </m:d>
                                  </m:e>
                                  <m:sup>
                                    <m:r>
                                      <a:rPr lang="en-US" sz="1850" i="1">
                                        <a:latin typeface="Cambria Math" panose="02040503050406030204" pitchFamily="18" charset="0"/>
                                      </a:rPr>
                                      <m:t>𝑇</m:t>
                                    </m:r>
                                  </m:sup>
                                </m:sSup>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𝑘</m:t>
                                            </m:r>
                                          </m:sub>
                                        </m:sSub>
                                      </m:sub>
                                    </m:sSub>
                                    <m:r>
                                      <a:rPr lang="en-US" sz="1850" i="1">
                                        <a:latin typeface="Cambria Math" panose="02040503050406030204" pitchFamily="18" charset="0"/>
                                      </a:rPr>
                                      <m:t>𝑙</m:t>
                                    </m:r>
                                  </m:e>
                                </m:d>
                              </m:e>
                            </m:d>
                          </m:e>
                        </m:mr>
                        <m:m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𝑘</m:t>
                                    </m:r>
                                  </m:sub>
                                </m:sSub>
                              </m:sub>
                            </m:sSub>
                            <m:r>
                              <a:rPr lang="en-US" sz="1850" i="1">
                                <a:latin typeface="Cambria Math" panose="02040503050406030204" pitchFamily="18" charset="0"/>
                              </a:rPr>
                              <m:t>𝑙</m:t>
                            </m:r>
                            <m:r>
                              <a:rPr lang="en-US" sz="1850" i="1">
                                <a:latin typeface="Cambria Math" panose="02040503050406030204" pitchFamily="18" charset="0"/>
                              </a:rPr>
                              <m:t>=</m:t>
                            </m:r>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e>
                              <m:sup>
                                <m:r>
                                  <a:rPr lang="en-US" sz="1850" i="1">
                                    <a:latin typeface="Cambria Math" panose="02040503050406030204" pitchFamily="18" charset="0"/>
                                  </a:rPr>
                                  <m:t>−1</m:t>
                                </m:r>
                              </m:sup>
                            </m:sSup>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𝐼</m:t>
                                            </m:r>
                                          </m:e>
                                          <m:sub>
                                            <m:r>
                                              <a:rPr lang="en-US" sz="1850" i="1">
                                                <a:latin typeface="Cambria Math" panose="02040503050406030204" pitchFamily="18" charset="0"/>
                                              </a:rPr>
                                              <m:t>𝑐</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𝑉</m:t>
                                                    </m:r>
                                                  </m:e>
                                                  <m:sub>
                                                    <m:r>
                                                      <a:rPr lang="en-US" sz="1850" i="1">
                                                        <a:latin typeface="Cambria Math" panose="02040503050406030204" pitchFamily="18" charset="0"/>
                                                      </a:rPr>
                                                      <m:t>𝑘</m:t>
                                                    </m:r>
                                                  </m:sub>
                                                </m:sSub>
                                              </m:e>
                                            </m:d>
                                          </m:sub>
                                        </m:sSub>
                                        <m:r>
                                          <a:rPr lang="en-US" sz="1850" i="1">
                                            <a:latin typeface="Cambria Math" panose="02040503050406030204" pitchFamily="18" charset="0"/>
                                          </a:rPr>
                                          <m:t>⨂</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𝑘</m:t>
                                                </m:r>
                                              </m:sub>
                                            </m:s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𝑘</m:t>
                                                </m:r>
                                                <m:r>
                                                  <a:rPr lang="en-US" sz="1850" i="1">
                                                    <a:latin typeface="Cambria Math" panose="02040503050406030204" pitchFamily="18" charset="0"/>
                                                  </a:rPr>
                                                  <m:t>−1</m:t>
                                                </m:r>
                                              </m:sub>
                                            </m:sSub>
                                          </m:e>
                                        </m:d>
                                      </m:e>
                                    </m:d>
                                  </m:e>
                                  <m:sup>
                                    <m:r>
                                      <a:rPr lang="en-US" sz="1850" i="1">
                                        <a:latin typeface="Cambria Math" panose="02040503050406030204" pitchFamily="18" charset="0"/>
                                      </a:rPr>
                                      <m:t>𝑇</m:t>
                                    </m:r>
                                  </m:sup>
                                </m:sSup>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𝑘</m:t>
                                            </m:r>
                                          </m:sub>
                                        </m:sSub>
                                      </m:sub>
                                    </m:sSub>
                                    <m:r>
                                      <a:rPr lang="en-US" sz="1850" i="1">
                                        <a:latin typeface="Cambria Math" panose="02040503050406030204" pitchFamily="18" charset="0"/>
                                      </a:rPr>
                                      <m:t>𝑙</m:t>
                                    </m:r>
                                  </m:e>
                                </m:d>
                              </m:e>
                            </m:d>
                          </m:e>
                        </m:mr>
                        <m:m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𝑘</m:t>
                                    </m:r>
                                  </m:sub>
                                </m:sSub>
                              </m:sub>
                            </m:sSub>
                            <m:r>
                              <a:rPr lang="en-US" sz="1850" i="1">
                                <a:latin typeface="Cambria Math" panose="02040503050406030204" pitchFamily="18" charset="0"/>
                              </a:rPr>
                              <m:t>𝑙</m:t>
                            </m:r>
                            <m:r>
                              <a:rPr lang="en-US" sz="1850" i="1">
                                <a:latin typeface="Cambria Math" panose="02040503050406030204" pitchFamily="18" charset="0"/>
                              </a:rPr>
                              <m:t>=</m:t>
                            </m:r>
                            <m:d>
                              <m:dPr>
                                <m:begChr m:val="{"/>
                                <m:endChr m:val="}"/>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𝑘</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𝑘</m:t>
                                        </m:r>
                                        <m:r>
                                          <a:rPr lang="en-US" sz="1850" i="1">
                                            <a:latin typeface="Cambria Math" panose="02040503050406030204" pitchFamily="18" charset="0"/>
                                          </a:rPr>
                                          <m:t>−1</m:t>
                                        </m:r>
                                      </m:sub>
                                    </m:sSub>
                                  </m:e>
                                </m:d>
                              </m:e>
                            </m:d>
                            <m:r>
                              <a:rPr lang="en-US" sz="1850" i="1">
                                <a:latin typeface="Cambria Math" panose="02040503050406030204" pitchFamily="18" charset="0"/>
                              </a:rPr>
                              <m:t>⨀</m:t>
                            </m:r>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m:rPr>
                                        <m:sty m:val="p"/>
                                      </m:rPr>
                                      <a:rPr lang="en-US" sz="1850">
                                        <a:latin typeface="Cambria Math" panose="02040503050406030204" pitchFamily="18" charset="0"/>
                                      </a:rPr>
                                      <m:t>vec</m:t>
                                    </m:r>
                                  </m:e>
                                  <m:sup>
                                    <m:r>
                                      <a:rPr lang="en-US" sz="1850" i="1">
                                        <a:latin typeface="Cambria Math" panose="02040503050406030204" pitchFamily="18" charset="0"/>
                                      </a:rPr>
                                      <m:t>−1</m:t>
                                    </m:r>
                                  </m:sup>
                                </m:sSup>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𝑉</m:t>
                                                </m:r>
                                              </m:e>
                                              <m:sub>
                                                <m:r>
                                                  <a:rPr lang="en-US" sz="1850" i="1">
                                                    <a:latin typeface="Cambria Math" panose="02040503050406030204" pitchFamily="18" charset="0"/>
                                                  </a:rPr>
                                                  <m:t>𝑘</m:t>
                                                </m:r>
                                                <m:r>
                                                  <a:rPr lang="en-US" sz="1850" i="1">
                                                    <a:latin typeface="Cambria Math" panose="02040503050406030204" pitchFamily="18" charset="0"/>
                                                  </a:rPr>
                                                  <m:t>+1</m:t>
                                                </m:r>
                                              </m:sub>
                                              <m:sup>
                                                <m:r>
                                                  <a:rPr lang="en-US" sz="1850" i="1">
                                                    <a:latin typeface="Cambria Math" panose="02040503050406030204" pitchFamily="18" charset="0"/>
                                                  </a:rPr>
                                                  <m:t>𝑇</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𝑈</m:t>
                                                </m:r>
                                              </m:e>
                                              <m:sub>
                                                <m:r>
                                                  <a:rPr lang="en-US" sz="1850" i="1">
                                                    <a:latin typeface="Cambria Math" panose="02040503050406030204" pitchFamily="18" charset="0"/>
                                                  </a:rPr>
                                                  <m:t>𝑘</m:t>
                                                </m:r>
                                                <m:r>
                                                  <a:rPr lang="en-US" sz="1850" i="1">
                                                    <a:latin typeface="Cambria Math" panose="02040503050406030204" pitchFamily="18" charset="0"/>
                                                  </a:rPr>
                                                  <m:t>+1</m:t>
                                                </m:r>
                                              </m:sub>
                                            </m:sSub>
                                          </m:e>
                                        </m:d>
                                      </m:e>
                                      <m:sup>
                                        <m:r>
                                          <a:rPr lang="en-US" sz="1850" i="1">
                                            <a:latin typeface="Cambria Math" panose="02040503050406030204" pitchFamily="18" charset="0"/>
                                          </a:rPr>
                                          <m:t>𝑇</m:t>
                                        </m:r>
                                      </m:sup>
                                    </m:sSup>
                                    <m:r>
                                      <m:rPr>
                                        <m:sty m:val="p"/>
                                      </m:rPr>
                                      <a:rPr lang="en-US" sz="1850">
                                        <a:latin typeface="Cambria Math" panose="02040503050406030204" pitchFamily="18" charset="0"/>
                                      </a:rPr>
                                      <m:t>vec</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𝑘</m:t>
                                                </m:r>
                                                <m:r>
                                                  <a:rPr lang="en-US" sz="1850" i="1">
                                                    <a:latin typeface="Cambria Math" panose="02040503050406030204" pitchFamily="18" charset="0"/>
                                                  </a:rPr>
                                                  <m:t>+1</m:t>
                                                </m:r>
                                              </m:sub>
                                            </m:sSub>
                                          </m:sub>
                                        </m:sSub>
                                        <m:r>
                                          <a:rPr lang="en-US" sz="1850" i="1">
                                            <a:latin typeface="Cambria Math" panose="02040503050406030204" pitchFamily="18" charset="0"/>
                                          </a:rPr>
                                          <m:t>𝑙</m:t>
                                        </m:r>
                                      </m:e>
                                    </m:d>
                                  </m:e>
                                </m:d>
                              </m:e>
                            </m:d>
                          </m:e>
                        </m:mr>
                        <m:mr>
                          <m:e>
                            <m:sSub>
                              <m:sSubPr>
                                <m:ctrlPr>
                                  <a:rPr lang="en-US" sz="1850" i="1">
                                    <a:latin typeface="Cambria Math" panose="02040503050406030204" pitchFamily="18" charset="0"/>
                                  </a:rPr>
                                </m:ctrlPr>
                              </m:sSubPr>
                              <m:e>
                                <m:r>
                                  <a:rPr lang="en-US" sz="1850">
                                    <a:latin typeface="Cambria Math" panose="02040503050406030204" pitchFamily="18" charset="0"/>
                                  </a:rPr>
                                  <m:t>𝛻</m:t>
                                </m:r>
                              </m:e>
                              <m:sub>
                                <m:sSub>
                                  <m:sSubPr>
                                    <m:ctrlPr>
                                      <a:rPr lang="en-US" sz="1850" i="1">
                                        <a:latin typeface="Cambria Math" panose="02040503050406030204" pitchFamily="18" charset="0"/>
                                      </a:rPr>
                                    </m:ctrlPr>
                                  </m:sSubPr>
                                  <m:e>
                                    <m:r>
                                      <m:rPr>
                                        <m:sty m:val="p"/>
                                      </m:rPr>
                                      <a:rPr lang="en-US" sz="1850">
                                        <a:latin typeface="Cambria Math" panose="02040503050406030204" pitchFamily="18" charset="0"/>
                                      </a:rPr>
                                      <m:t>Θ</m:t>
                                    </m:r>
                                  </m:e>
                                  <m:sub>
                                    <m:r>
                                      <a:rPr lang="en-US" sz="1850" i="1">
                                        <a:latin typeface="Cambria Math" panose="02040503050406030204" pitchFamily="18" charset="0"/>
                                      </a:rPr>
                                      <m:t>𝐾</m:t>
                                    </m:r>
                                  </m:sub>
                                </m:sSub>
                              </m:sub>
                            </m:sSub>
                            <m:r>
                              <a:rPr lang="en-US" sz="1850" i="1">
                                <a:latin typeface="Cambria Math" panose="02040503050406030204" pitchFamily="18" charset="0"/>
                              </a:rPr>
                              <m:t>𝑙</m:t>
                            </m:r>
                            <m:r>
                              <a:rPr lang="en-US" sz="1850" i="1">
                                <a:latin typeface="Cambria Math" panose="02040503050406030204" pitchFamily="18" charset="0"/>
                              </a:rPr>
                              <m:t>=</m:t>
                            </m:r>
                            <m:d>
                              <m:dPr>
                                <m:begChr m:val="{"/>
                                <m:endChr m:val="}"/>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𝐾</m:t>
                                        </m:r>
                                        <m:r>
                                          <a:rPr lang="en-US" sz="1850" i="1">
                                            <a:latin typeface="Cambria Math" panose="02040503050406030204" pitchFamily="18" charset="0"/>
                                          </a:rPr>
                                          <m:t>−1</m:t>
                                        </m:r>
                                      </m:sub>
                                    </m:sSub>
                                  </m:e>
                                </m:d>
                              </m:e>
                            </m:d>
                            <m:r>
                              <a:rPr lang="en-US" sz="1850" i="1">
                                <a:latin typeface="Cambria Math" panose="02040503050406030204" pitchFamily="18" charset="0"/>
                              </a:rPr>
                              <m:t>⨀</m:t>
                            </m:r>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𝑿</m:t>
                                    </m:r>
                                  </m:e>
                                  <m:sub>
                                    <m:r>
                                      <a:rPr lang="en-US" sz="1850" i="1">
                                        <a:latin typeface="Cambria Math" panose="02040503050406030204" pitchFamily="18" charset="0"/>
                                      </a:rPr>
                                      <m:t>𝐾</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𝐾</m:t>
                                    </m:r>
                                  </m:sub>
                                </m:sSub>
                              </m:e>
                            </m:d>
                          </m:e>
                        </m:mr>
                      </m:m>
                    </m:oMath>
                  </m:oMathPara>
                </a14:m>
                <a:endParaRPr lang="en-US" sz="1850" dirty="0" smtClean="0"/>
              </a:p>
              <a:p>
                <a:pPr marL="0" indent="0">
                  <a:buNone/>
                </a:pPr>
                <a:r>
                  <a:rPr lang="en-US" sz="1850" dirty="0" smtClean="0"/>
                  <a:t>Note </a:t>
                </a:r>
                <a:r>
                  <a:rPr lang="en-US" sz="1850" dirty="0"/>
                  <a:t>that </a:t>
                </a:r>
                <a14:m>
                  <m:oMath xmlns:m="http://schemas.openxmlformats.org/officeDocument/2006/math">
                    <m:d>
                      <m:dPr>
                        <m:begChr m:val="{"/>
                        <m:endChr m:val="}"/>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𝑘</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𝑘</m:t>
                                </m:r>
                                <m:r>
                                  <a:rPr lang="en-US" sz="1850" i="1">
                                    <a:latin typeface="Cambria Math" panose="02040503050406030204" pitchFamily="18" charset="0"/>
                                  </a:rPr>
                                  <m:t>−1</m:t>
                                </m:r>
                              </m:sub>
                            </m:sSub>
                          </m:e>
                        </m:d>
                      </m:e>
                    </m:d>
                  </m:oMath>
                </a14:m>
                <a:r>
                  <a:rPr lang="en-US" sz="1850" dirty="0"/>
                  <a:t> is not the derivative of the activation function </a:t>
                </a:r>
                <a:r>
                  <a:rPr lang="en-US" sz="1850" i="1" dirty="0"/>
                  <a:t>f</a:t>
                </a:r>
                <a:r>
                  <a:rPr lang="en-US" sz="1850" dirty="0"/>
                  <a:t>(.) with respective to </a:t>
                </a:r>
                <a14:m>
                  <m:oMath xmlns:m="http://schemas.openxmlformats.org/officeDocument/2006/math">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𝑘</m:t>
                        </m:r>
                        <m:r>
                          <a:rPr lang="en-US" sz="1850" i="1">
                            <a:latin typeface="Cambria Math" panose="02040503050406030204" pitchFamily="18" charset="0"/>
                          </a:rPr>
                          <m:t>−1</m:t>
                        </m:r>
                      </m:sub>
                    </m:sSub>
                  </m:oMath>
                </a14:m>
                <a:r>
                  <a:rPr lang="en-US" sz="1850" dirty="0"/>
                  <a:t>, indeed, which is the matrix of taking derivatives of all elements of </a:t>
                </a:r>
                <a14:m>
                  <m:oMath xmlns:m="http://schemas.openxmlformats.org/officeDocument/2006/math">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𝑘</m:t>
                        </m:r>
                        <m:r>
                          <a:rPr lang="en-US" sz="1850" i="1">
                            <a:latin typeface="Cambria Math" panose="02040503050406030204" pitchFamily="18" charset="0"/>
                          </a:rPr>
                          <m:t>−1</m:t>
                        </m:r>
                      </m:sub>
                    </m:sSub>
                  </m:oMath>
                </a14:m>
                <a:r>
                  <a:rPr lang="en-US" sz="1850" dirty="0" smtClean="0"/>
                  <a:t>.</a:t>
                </a:r>
                <a:r>
                  <a:rPr lang="en-US" sz="1850" dirty="0"/>
                  <a:t> Moreover, </a:t>
                </a:r>
                <a:r>
                  <a:rPr lang="en-US" sz="1850" dirty="0" err="1"/>
                  <a:t>Kronecker</a:t>
                </a:r>
                <a:r>
                  <a:rPr lang="en-US" sz="1850" dirty="0"/>
                  <a:t> product </a:t>
                </a:r>
                <a14:m>
                  <m:oMath xmlns:m="http://schemas.openxmlformats.org/officeDocument/2006/math">
                    <m:r>
                      <a:rPr lang="en-US" sz="1850" i="1">
                        <a:latin typeface="Cambria Math" panose="02040503050406030204" pitchFamily="18" charset="0"/>
                      </a:rPr>
                      <m:t>⨂</m:t>
                    </m:r>
                  </m:oMath>
                </a14:m>
                <a:r>
                  <a:rPr lang="en-US" sz="1850" dirty="0"/>
                  <a:t> is easily optimized in calculation by programming technique.</a:t>
                </a:r>
                <a:endParaRPr lang="en-US" sz="1850" dirty="0" smtClean="0"/>
              </a:p>
              <a:p>
                <a:pPr marL="0" indent="0">
                  <a:buNone/>
                </a:pPr>
                <a14:m>
                  <m:oMathPara xmlns:m="http://schemas.openxmlformats.org/officeDocument/2006/math">
                    <m:oMathParaPr>
                      <m:jc m:val="centerGroup"/>
                    </m:oMathParaPr>
                    <m:oMath xmlns:m="http://schemas.openxmlformats.org/officeDocument/2006/math">
                      <m:d>
                        <m:dPr>
                          <m:begChr m:val="{"/>
                          <m:endChr m:val="}"/>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𝑓</m:t>
                              </m:r>
                            </m:e>
                            <m:sub>
                              <m:sSub>
                                <m:sSubPr>
                                  <m:ctrlPr>
                                    <a:rPr lang="en-US" sz="1850" i="1">
                                      <a:latin typeface="Cambria Math" panose="02040503050406030204" pitchFamily="18" charset="0"/>
                                    </a:rPr>
                                  </m:ctrlPr>
                                </m:sSubPr>
                                <m:e>
                                  <m:r>
                                    <a:rPr lang="en-US" sz="1850" b="1" i="1">
                                      <a:latin typeface="Cambria Math" panose="02040503050406030204" pitchFamily="18" charset="0"/>
                                    </a:rPr>
                                    <m:t>𝑿</m:t>
                                  </m:r>
                                </m:e>
                                <m:sub>
                                  <m:r>
                                    <a:rPr lang="en-US" sz="1850" i="1">
                                      <a:latin typeface="Cambria Math" panose="02040503050406030204" pitchFamily="18" charset="0"/>
                                    </a:rPr>
                                    <m:t>𝑘</m:t>
                                  </m:r>
                                </m:sub>
                              </m:sSub>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sub>
                                  <m:r>
                                    <a:rPr lang="en-US" sz="1850" i="1">
                                      <a:latin typeface="Cambria Math" panose="02040503050406030204" pitchFamily="18" charset="0"/>
                                    </a:rPr>
                                    <m:t>𝑘</m:t>
                                  </m:r>
                                  <m:r>
                                    <a:rPr lang="en-US" sz="1850" i="1">
                                      <a:latin typeface="Cambria Math" panose="02040503050406030204" pitchFamily="18" charset="0"/>
                                    </a:rPr>
                                    <m:t>−1</m:t>
                                  </m:r>
                                </m:sub>
                              </m:sSub>
                            </m:e>
                          </m:d>
                        </m:e>
                      </m:d>
                      <m:r>
                        <a:rPr lang="en-US" sz="1850" i="1">
                          <a:latin typeface="Cambria Math" panose="02040503050406030204" pitchFamily="18" charset="0"/>
                        </a:rPr>
                        <m:t>=</m:t>
                      </m:r>
                      <m:d>
                        <m:dPr>
                          <m:begChr m:val="{"/>
                          <m:endChr m:val="}"/>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acc>
                                <m:accPr>
                                  <m:chr m:val="̂"/>
                                  <m:ctrlPr>
                                    <a:rPr lang="en-US" sz="1850" i="1">
                                      <a:latin typeface="Cambria Math" panose="02040503050406030204" pitchFamily="18" charset="0"/>
                                    </a:rPr>
                                  </m:ctrlPr>
                                </m:accPr>
                                <m:e>
                                  <m:r>
                                    <a:rPr lang="en-US" sz="1850" b="1" i="1">
                                      <a:latin typeface="Cambria Math" panose="02040503050406030204" pitchFamily="18" charset="0"/>
                                    </a:rPr>
                                    <m:t>𝑿</m:t>
                                  </m:r>
                                </m:e>
                              </m:acc>
                            </m:e>
                          </m:d>
                        </m:e>
                      </m:d>
                      <m:r>
                        <a:rPr lang="en-US" sz="1850" i="1">
                          <a:latin typeface="Cambria Math" panose="02040503050406030204" pitchFamily="18" charset="0"/>
                        </a:rPr>
                        <m:t>=</m:t>
                      </m:r>
                      <m:d>
                        <m:dPr>
                          <m:ctrlPr>
                            <a:rPr lang="en-US" sz="1850" i="1">
                              <a:latin typeface="Cambria Math" panose="02040503050406030204" pitchFamily="18" charset="0"/>
                            </a:rPr>
                          </m:ctrlPr>
                        </m:dPr>
                        <m:e>
                          <m:m>
                            <m:mPr>
                              <m:mcs>
                                <m:mc>
                                  <m:mcPr>
                                    <m:count m:val="4"/>
                                    <m:mcJc m:val="center"/>
                                  </m:mcPr>
                                </m:mc>
                              </m:mcs>
                              <m:ctrlPr>
                                <a:rPr lang="en-US" sz="1850" i="1">
                                  <a:latin typeface="Cambria Math" panose="02040503050406030204" pitchFamily="18" charset="0"/>
                                </a:rPr>
                              </m:ctrlPr>
                            </m:mPr>
                            <m:mr>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i="1">
                                                <a:latin typeface="Cambria Math" panose="02040503050406030204" pitchFamily="18" charset="0"/>
                                              </a:rPr>
                                              <m:t>𝑥</m:t>
                                            </m:r>
                                          </m:e>
                                        </m:acc>
                                      </m:e>
                                      <m:sub>
                                        <m:r>
                                          <a:rPr lang="en-US" sz="1850" i="1">
                                            <a:latin typeface="Cambria Math" panose="02040503050406030204" pitchFamily="18" charset="0"/>
                                          </a:rPr>
                                          <m:t>11</m:t>
                                        </m:r>
                                      </m:sub>
                                    </m:sSub>
                                  </m:e>
                                </m:d>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acc>
                                          <m:accPr>
                                            <m:chr m:val="̂"/>
                                            <m:ctrlPr>
                                              <a:rPr lang="en-US" sz="1850" i="1">
                                                <a:latin typeface="Cambria Math" panose="02040503050406030204" pitchFamily="18" charset="0"/>
                                              </a:rPr>
                                            </m:ctrlPr>
                                          </m:accPr>
                                          <m:e>
                                            <m:r>
                                              <a:rPr lang="en-US" sz="1850" i="1">
                                                <a:latin typeface="Cambria Math" panose="02040503050406030204" pitchFamily="18" charset="0"/>
                                              </a:rPr>
                                              <m:t>𝑥</m:t>
                                            </m:r>
                                          </m:e>
                                        </m:acc>
                                      </m:e>
                                      <m:sub>
                                        <m:r>
                                          <a:rPr lang="en-US" sz="1850" i="1">
                                            <a:latin typeface="Cambria Math" panose="02040503050406030204" pitchFamily="18" charset="0"/>
                                          </a:rPr>
                                          <m:t>12</m:t>
                                        </m:r>
                                      </m:sub>
                                    </m:sSub>
                                  </m:e>
                                </m:d>
                              </m:e>
                              <m:e>
                                <m:r>
                                  <a:rPr lang="en-US" sz="1850" i="1">
                                    <a:latin typeface="Cambria Math" panose="02040503050406030204" pitchFamily="18" charset="0"/>
                                  </a:rPr>
                                  <m:t>⋯</m:t>
                                </m:r>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1</m:t>
                                        </m:r>
                                        <m:r>
                                          <a:rPr lang="en-US" sz="1850" i="1">
                                            <a:latin typeface="Cambria Math" panose="02040503050406030204" pitchFamily="18" charset="0"/>
                                          </a:rPr>
                                          <m:t>𝑛</m:t>
                                        </m:r>
                                      </m:sub>
                                      <m:sup>
                                        <m:r>
                                          <a:rPr lang="en-US" sz="1850" i="1">
                                            <a:latin typeface="Cambria Math" panose="02040503050406030204" pitchFamily="18" charset="0"/>
                                          </a:rPr>
                                          <m:t>′</m:t>
                                        </m:r>
                                      </m:sup>
                                    </m:sSubSup>
                                  </m:e>
                                </m:d>
                              </m:e>
                            </m:mr>
                            <m:mr>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21</m:t>
                                        </m:r>
                                      </m:sub>
                                      <m:sup>
                                        <m:r>
                                          <a:rPr lang="en-US" sz="1850" i="1">
                                            <a:latin typeface="Cambria Math" panose="02040503050406030204" pitchFamily="18" charset="0"/>
                                          </a:rPr>
                                          <m:t>′</m:t>
                                        </m:r>
                                      </m:sup>
                                    </m:sSubSup>
                                  </m:e>
                                </m:d>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22</m:t>
                                        </m:r>
                                      </m:sub>
                                      <m:sup>
                                        <m:r>
                                          <a:rPr lang="en-US" sz="1850" i="1">
                                            <a:latin typeface="Cambria Math" panose="02040503050406030204" pitchFamily="18" charset="0"/>
                                          </a:rPr>
                                          <m:t>′</m:t>
                                        </m:r>
                                      </m:sup>
                                    </m:sSubSup>
                                  </m:e>
                                </m:d>
                              </m:e>
                              <m:e>
                                <m:r>
                                  <a:rPr lang="en-US" sz="1850" i="1">
                                    <a:latin typeface="Cambria Math" panose="02040503050406030204" pitchFamily="18" charset="0"/>
                                  </a:rPr>
                                  <m:t>⋯</m:t>
                                </m:r>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2</m:t>
                                        </m:r>
                                        <m:r>
                                          <a:rPr lang="en-US" sz="1850" i="1">
                                            <a:latin typeface="Cambria Math" panose="02040503050406030204" pitchFamily="18" charset="0"/>
                                          </a:rPr>
                                          <m:t>𝑛</m:t>
                                        </m:r>
                                      </m:sub>
                                      <m:sup>
                                        <m:r>
                                          <a:rPr lang="en-US" sz="1850" i="1">
                                            <a:latin typeface="Cambria Math" panose="02040503050406030204" pitchFamily="18" charset="0"/>
                                          </a:rPr>
                                          <m:t>′</m:t>
                                        </m:r>
                                      </m:sup>
                                    </m:sSubSup>
                                  </m:e>
                                </m:d>
                              </m:e>
                            </m:mr>
                            <m:mr>
                              <m:e>
                                <m:r>
                                  <a:rPr lang="en-US" sz="1850" i="1">
                                    <a:latin typeface="Cambria Math" panose="02040503050406030204" pitchFamily="18" charset="0"/>
                                  </a:rPr>
                                  <m:t>⋮</m:t>
                                </m:r>
                              </m:e>
                              <m:e>
                                <m:r>
                                  <a:rPr lang="en-US" sz="1850" i="1">
                                    <a:latin typeface="Cambria Math" panose="02040503050406030204" pitchFamily="18" charset="0"/>
                                  </a:rPr>
                                  <m:t>⋮</m:t>
                                </m:r>
                              </m:e>
                              <m:e>
                                <m:r>
                                  <a:rPr lang="en-US" sz="1850" i="1">
                                    <a:latin typeface="Cambria Math" panose="02040503050406030204" pitchFamily="18" charset="0"/>
                                  </a:rPr>
                                  <m:t>⋱</m:t>
                                </m:r>
                              </m:e>
                              <m:e>
                                <m:r>
                                  <a:rPr lang="en-US" sz="1850" i="1">
                                    <a:latin typeface="Cambria Math" panose="02040503050406030204" pitchFamily="18" charset="0"/>
                                  </a:rPr>
                                  <m:t>⋮</m:t>
                                </m:r>
                              </m:e>
                            </m:mr>
                            <m:mr>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𝑚</m:t>
                                        </m:r>
                                        <m:r>
                                          <a:rPr lang="en-US" sz="1850" i="1">
                                            <a:latin typeface="Cambria Math" panose="02040503050406030204" pitchFamily="18" charset="0"/>
                                          </a:rPr>
                                          <m:t>1</m:t>
                                        </m:r>
                                      </m:sub>
                                      <m:sup>
                                        <m:r>
                                          <a:rPr lang="en-US" sz="1850" i="1">
                                            <a:latin typeface="Cambria Math" panose="02040503050406030204" pitchFamily="18" charset="0"/>
                                          </a:rPr>
                                          <m:t>′</m:t>
                                        </m:r>
                                      </m:sup>
                                    </m:sSubSup>
                                  </m:e>
                                </m:d>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𝑚</m:t>
                                        </m:r>
                                        <m:r>
                                          <a:rPr lang="en-US" sz="1850" i="1">
                                            <a:latin typeface="Cambria Math" panose="02040503050406030204" pitchFamily="18" charset="0"/>
                                          </a:rPr>
                                          <m:t>2</m:t>
                                        </m:r>
                                      </m:sub>
                                      <m:sup>
                                        <m:r>
                                          <a:rPr lang="en-US" sz="1850" i="1">
                                            <a:latin typeface="Cambria Math" panose="02040503050406030204" pitchFamily="18" charset="0"/>
                                          </a:rPr>
                                          <m:t>′</m:t>
                                        </m:r>
                                      </m:sup>
                                    </m:sSubSup>
                                  </m:e>
                                </m:d>
                              </m:e>
                              <m:e>
                                <m:r>
                                  <a:rPr lang="en-US" sz="1850" i="1">
                                    <a:latin typeface="Cambria Math" panose="02040503050406030204" pitchFamily="18" charset="0"/>
                                  </a:rPr>
                                  <m:t>⋯</m:t>
                                </m:r>
                              </m:e>
                              <m:e>
                                <m:sSup>
                                  <m:sSupPr>
                                    <m:ctrlPr>
                                      <a:rPr lang="en-US" sz="1850" i="1">
                                        <a:latin typeface="Cambria Math" panose="02040503050406030204" pitchFamily="18" charset="0"/>
                                      </a:rPr>
                                    </m:ctrlPr>
                                  </m:sSupPr>
                                  <m:e>
                                    <m:r>
                                      <a:rPr lang="en-US" sz="1850" i="1">
                                        <a:latin typeface="Cambria Math" panose="02040503050406030204" pitchFamily="18" charset="0"/>
                                      </a:rPr>
                                      <m:t>𝑓</m:t>
                                    </m:r>
                                  </m:e>
                                  <m:sup>
                                    <m:r>
                                      <a:rPr lang="en-US" sz="1850" i="1">
                                        <a:latin typeface="Cambria Math" panose="02040503050406030204" pitchFamily="18" charset="0"/>
                                      </a:rPr>
                                      <m:t>′</m:t>
                                    </m:r>
                                  </m:sup>
                                </m:sSup>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𝑥</m:t>
                                        </m:r>
                                      </m:e>
                                      <m:sub>
                                        <m:r>
                                          <a:rPr lang="en-US" sz="1850" i="1">
                                            <a:latin typeface="Cambria Math" panose="02040503050406030204" pitchFamily="18" charset="0"/>
                                          </a:rPr>
                                          <m:t>𝑚𝑛</m:t>
                                        </m:r>
                                      </m:sub>
                                      <m:sup>
                                        <m:r>
                                          <a:rPr lang="en-US" sz="1850" i="1">
                                            <a:latin typeface="Cambria Math" panose="02040503050406030204" pitchFamily="18" charset="0"/>
                                          </a:rPr>
                                          <m:t>′</m:t>
                                        </m:r>
                                      </m:sup>
                                    </m:sSubSup>
                                  </m:e>
                                </m:d>
                              </m:e>
                            </m:mr>
                          </m:m>
                        </m:e>
                      </m:d>
                    </m:oMath>
                  </m:oMathPara>
                </a14:m>
                <a:endParaRPr lang="en-US" sz="18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49760" cy="5176066"/>
              </a:xfrm>
              <a:blipFill>
                <a:blip r:embed="rId2"/>
                <a:stretch>
                  <a:fillRect l="-455" t="-707" r="-709" b="-2120"/>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20</a:t>
            </a:fld>
            <a:endParaRPr lang="en-US"/>
          </a:p>
        </p:txBody>
      </p:sp>
    </p:spTree>
    <p:extLst>
      <p:ext uri="{BB962C8B-B14F-4D97-AF65-F5344CB8AC3E}">
        <p14:creationId xmlns:p14="http://schemas.microsoft.com/office/powerpoint/2010/main" val="203915089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2000" dirty="0" smtClean="0"/>
                  <a:t>The gradient </a:t>
                </a:r>
                <a14:m>
                  <m:oMath xmlns:m="http://schemas.openxmlformats.org/officeDocument/2006/math">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r>
                          <a:rPr lang="en-US" sz="2000" i="1">
                            <a:latin typeface="Cambria Math" panose="02040503050406030204" pitchFamily="18" charset="0"/>
                          </a:rPr>
                          <m:t>𝑙</m:t>
                        </m:r>
                      </m:e>
                    </m:d>
                  </m:oMath>
                </a14:m>
                <a:r>
                  <a:rPr lang="en-US" sz="2000" dirty="0"/>
                  <a:t> of the bias </a:t>
                </a:r>
                <a:r>
                  <a:rPr lang="en-US" sz="2000" dirty="0" err="1"/>
                  <a:t>Θ</a:t>
                </a:r>
                <a:r>
                  <a:rPr lang="en-US" sz="2000" i="1" baseline="-25000" dirty="0" err="1"/>
                  <a:t>k</a:t>
                </a:r>
                <a:r>
                  <a:rPr lang="en-US" sz="2000" dirty="0"/>
                  <a:t> at the layer </a:t>
                </a:r>
                <a:r>
                  <a:rPr lang="en-US" sz="2000" b="1" i="1" dirty="0" err="1"/>
                  <a:t>X</a:t>
                </a:r>
                <a:r>
                  <a:rPr lang="en-US" sz="2000" i="1" baseline="-25000" dirty="0" err="1"/>
                  <a:t>k</a:t>
                </a:r>
                <a:r>
                  <a:rPr lang="en-US" sz="2000" dirty="0"/>
                  <a:t> is called the </a:t>
                </a:r>
                <a:r>
                  <a:rPr lang="en-US" sz="2000" i="1" dirty="0"/>
                  <a:t>k</a:t>
                </a:r>
                <a:r>
                  <a:rPr lang="en-US" sz="2000" baseline="30000" dirty="0"/>
                  <a:t>th</a:t>
                </a:r>
                <a:r>
                  <a:rPr lang="en-US" sz="2000" dirty="0"/>
                  <a:t> bias is extended as follows</a:t>
                </a:r>
                <a:r>
                  <a:rPr lang="en-US" sz="200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𝑘</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𝑘</m:t>
                                  </m:r>
                                </m:sub>
                              </m:sSub>
                            </m:e>
                          </m:d>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r>
                            <a:rPr lang="en-US" sz="2000" i="1">
                              <a:latin typeface="Cambria Math" panose="02040503050406030204" pitchFamily="18" charset="0"/>
                            </a:rPr>
                            <m:t>𝑙</m:t>
                          </m:r>
                        </m:e>
                      </m:d>
                      <m:r>
                        <a:rPr lang="en-US" sz="2000" i="1">
                          <a:latin typeface="Cambria Math" panose="02040503050406030204" pitchFamily="18" charset="0"/>
                        </a:rPr>
                        <m:t>=</m:t>
                      </m:r>
                      <m:d>
                        <m:dPr>
                          <m:ctrlPr>
                            <a:rPr lang="en-US" sz="2000" i="1">
                              <a:latin typeface="Cambria Math" panose="02040503050406030204" pitchFamily="18" charset="0"/>
                            </a:rPr>
                          </m:ctrlPr>
                        </m:dPr>
                        <m:e>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𝑙</m:t>
                              </m:r>
                              <m:r>
                                <a:rPr lang="en-US" sz="2000" i="1">
                                  <a:latin typeface="Cambria Math" panose="02040503050406030204" pitchFamily="18" charset="0"/>
                                </a:rPr>
                                <m:t>=</m:t>
                              </m:r>
                              <m:r>
                                <a:rPr lang="en-US" sz="2000" i="1">
                                  <a:latin typeface="Cambria Math" panose="02040503050406030204" pitchFamily="18" charset="0"/>
                                </a:rPr>
                                <m:t>𝑘</m:t>
                              </m:r>
                            </m:sub>
                            <m:sup>
                              <m:r>
                                <a:rPr lang="en-US" sz="2000" i="1">
                                  <a:latin typeface="Cambria Math" panose="02040503050406030204" pitchFamily="18" charset="0"/>
                                </a:rPr>
                                <m:t>𝐾</m:t>
                              </m:r>
                              <m:r>
                                <a:rPr lang="en-US" sz="2000" i="1">
                                  <a:latin typeface="Cambria Math" panose="02040503050406030204" pitchFamily="18" charset="0"/>
                                </a:rPr>
                                <m:t>−1</m:t>
                              </m:r>
                            </m:sup>
                            <m:e>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𝑓</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𝑙</m:t>
                                              </m:r>
                                            </m:sub>
                                          </m:sSub>
                                        </m:sub>
                                        <m:sup>
                                          <m:r>
                                            <a:rPr lang="en-US" sz="2000" i="1">
                                              <a:latin typeface="Cambria Math" panose="02040503050406030204" pitchFamily="18" charset="0"/>
                                            </a:rPr>
                                            <m:t>′</m:t>
                                          </m:r>
                                        </m:sup>
                                      </m:sSubSup>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𝑿</m:t>
                                                      </m:r>
                                                    </m:e>
                                                  </m:acc>
                                                </m:e>
                                                <m:sub>
                                                  <m:r>
                                                    <a:rPr lang="en-US" sz="2000" i="1">
                                                      <a:latin typeface="Cambria Math" panose="02040503050406030204" pitchFamily="18" charset="0"/>
                                                    </a:rPr>
                                                    <m:t>𝑙</m:t>
                                                  </m:r>
                                                  <m:r>
                                                    <a:rPr lang="en-US" sz="2000" i="1">
                                                      <a:latin typeface="Cambria Math" panose="02040503050406030204" pitchFamily="18" charset="0"/>
                                                    </a:rPr>
                                                    <m:t>−1</m:t>
                                                  </m:r>
                                                </m:sub>
                                              </m:sSub>
                                            </m:e>
                                          </m:d>
                                        </m:e>
                                      </m:d>
                                    </m:e>
                                  </m:d>
                                </m:e>
                                <m:sup>
                                  <m:r>
                                    <a:rPr lang="en-US" sz="2000" i="1">
                                      <a:latin typeface="Cambria Math" panose="02040503050406030204" pitchFamily="18" charset="0"/>
                                    </a:rPr>
                                    <m:t>𝑇</m:t>
                                  </m:r>
                                </m:sup>
                              </m:sSup>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𝑉</m:t>
                                          </m:r>
                                        </m:e>
                                        <m:sub>
                                          <m:r>
                                            <a:rPr lang="en-US" sz="2000" i="1">
                                              <a:latin typeface="Cambria Math" panose="02040503050406030204" pitchFamily="18" charset="0"/>
                                            </a:rPr>
                                            <m:t>𝑙</m:t>
                                          </m:r>
                                          <m:r>
                                            <a:rPr lang="en-US" sz="2000" i="1">
                                              <a:latin typeface="Cambria Math" panose="02040503050406030204" pitchFamily="18" charset="0"/>
                                            </a:rPr>
                                            <m:t>+1</m:t>
                                          </m:r>
                                        </m:sub>
                                        <m:sup>
                                          <m:r>
                                            <a:rPr lang="en-US" sz="2000" i="1">
                                              <a:latin typeface="Cambria Math" panose="02040503050406030204" pitchFamily="18" charset="0"/>
                                            </a:rPr>
                                            <m:t>𝑇</m:t>
                                          </m:r>
                                        </m:sup>
                                      </m:sSubSup>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𝑈</m:t>
                                          </m:r>
                                        </m:e>
                                        <m:sub>
                                          <m:r>
                                            <a:rPr lang="en-US" sz="2000" i="1">
                                              <a:latin typeface="Cambria Math" panose="02040503050406030204" pitchFamily="18" charset="0"/>
                                            </a:rPr>
                                            <m:t>𝑙</m:t>
                                          </m:r>
                                          <m:r>
                                            <a:rPr lang="en-US" sz="2000" i="1">
                                              <a:latin typeface="Cambria Math" panose="02040503050406030204" pitchFamily="18" charset="0"/>
                                            </a:rPr>
                                            <m:t>+1</m:t>
                                          </m:r>
                                        </m:sub>
                                      </m:sSub>
                                    </m:e>
                                  </m:d>
                                </m:e>
                                <m:sup>
                                  <m:r>
                                    <a:rPr lang="en-US" sz="2000" i="1">
                                      <a:latin typeface="Cambria Math" panose="02040503050406030204" pitchFamily="18" charset="0"/>
                                    </a:rPr>
                                    <m:t>𝑇</m:t>
                                  </m:r>
                                </m:sup>
                              </m:sSup>
                            </m:e>
                          </m:nary>
                        </m:e>
                      </m:d>
                      <m:r>
                        <a:rPr lang="en-US" sz="2000" b="0" i="1" smtClean="0">
                          <a:latin typeface="Cambria Math" panose="02040503050406030204" pitchFamily="18" charset="0"/>
                        </a:rPr>
                        <m:t>∗</m:t>
                      </m:r>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i="1">
                                      <a:latin typeface="Cambria Math" panose="02040503050406030204" pitchFamily="18" charset="0"/>
                                    </a:rPr>
                                    <m:t>𝑓</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sub>
                                <m:sup>
                                  <m:r>
                                    <a:rPr lang="en-US" sz="2000" i="1">
                                      <a:latin typeface="Cambria Math" panose="02040503050406030204" pitchFamily="18" charset="0"/>
                                    </a:rPr>
                                    <m:t>′</m:t>
                                  </m:r>
                                </m:sup>
                              </m:sSubSup>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𝑿</m:t>
                                              </m:r>
                                            </m:e>
                                          </m:acc>
                                        </m:e>
                                        <m:sub>
                                          <m:r>
                                            <a:rPr lang="en-US" sz="2000" i="1">
                                              <a:latin typeface="Cambria Math" panose="02040503050406030204" pitchFamily="18" charset="0"/>
                                            </a:rPr>
                                            <m:t>𝐾</m:t>
                                          </m:r>
                                          <m:r>
                                            <a:rPr lang="en-US" sz="2000" i="1">
                                              <a:latin typeface="Cambria Math" panose="02040503050406030204" pitchFamily="18" charset="0"/>
                                            </a:rPr>
                                            <m:t>−1</m:t>
                                          </m:r>
                                        </m:sub>
                                      </m:sSub>
                                    </m:e>
                                  </m:d>
                                </m:e>
                              </m:d>
                            </m:e>
                          </m:d>
                        </m:e>
                        <m:sup>
                          <m:r>
                            <a:rPr lang="en-US" sz="2000" i="1">
                              <a:latin typeface="Cambria Math" panose="02040503050406030204" pitchFamily="18" charset="0"/>
                            </a:rPr>
                            <m:t>𝑇</m:t>
                          </m:r>
                        </m:sup>
                      </m:sSup>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e>
                      </m:d>
                    </m:oMath>
                  </m:oMathPara>
                </a14:m>
                <a:endParaRPr lang="en-US" sz="2000" dirty="0" smtClean="0"/>
              </a:p>
              <a:p>
                <a:pPr marL="0" indent="0">
                  <a:buNone/>
                </a:pPr>
                <a:r>
                  <a:rPr lang="en-US" sz="2000" dirty="0"/>
                  <a:t>Where </a:t>
                </a:r>
                <a:r>
                  <a:rPr lang="en-US" sz="2000" dirty="0">
                    <a:effectLst>
                      <a:outerShdw blurRad="38100" dist="38100" dir="2700000" algn="tl">
                        <a:srgbClr val="000000">
                          <a:alpha val="43137"/>
                        </a:srgbClr>
                      </a:outerShdw>
                    </a:effectLst>
                  </a:rPr>
                  <a:t>the quantity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e>
                    </m:d>
                  </m:oMath>
                </a14:m>
                <a:r>
                  <a:rPr lang="en-US" sz="2000" dirty="0"/>
                  <a:t> </a:t>
                </a:r>
                <a:r>
                  <a:rPr lang="en-US" sz="2000" dirty="0">
                    <a:effectLst>
                      <a:outerShdw blurRad="38100" dist="38100" dir="2700000" algn="tl">
                        <a:srgbClr val="000000">
                          <a:alpha val="43137"/>
                        </a:srgbClr>
                      </a:outerShdw>
                    </a:effectLst>
                  </a:rPr>
                  <a:t>is called the </a:t>
                </a:r>
                <a:r>
                  <a:rPr lang="en-US" sz="2000" i="1" dirty="0">
                    <a:effectLst>
                      <a:outerShdw blurRad="38100" dist="38100" dir="2700000" algn="tl">
                        <a:srgbClr val="000000">
                          <a:alpha val="43137"/>
                        </a:srgbClr>
                      </a:outerShdw>
                    </a:effectLst>
                  </a:rPr>
                  <a:t>core last bias</a:t>
                </a:r>
                <a:r>
                  <a:rPr lang="en-US" sz="2000" dirty="0">
                    <a:effectLst>
                      <a:outerShdw blurRad="38100" dist="38100" dir="2700000" algn="tl">
                        <a:srgbClr val="000000">
                          <a:alpha val="43137"/>
                        </a:srgbClr>
                      </a:outerShdw>
                    </a:effectLst>
                  </a:rPr>
                  <a:t> which was calculated by the likelihood</a:t>
                </a:r>
                <a:r>
                  <a:rPr lang="en-US" sz="2000" dirty="0"/>
                  <a:t> based on squared </a:t>
                </a:r>
                <a:r>
                  <a:rPr lang="en-US" sz="2000" dirty="0" err="1"/>
                  <a:t>Frobenius</a:t>
                </a:r>
                <a:r>
                  <a:rPr lang="en-US" sz="2000" dirty="0"/>
                  <a:t> </a:t>
                </a:r>
                <a:r>
                  <a:rPr lang="en-US" sz="2000" dirty="0" smtClean="0"/>
                  <a:t>norm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e>
                    </m:d>
                    <m:r>
                      <a:rPr lang="en-US" sz="2000" i="1">
                        <a:latin typeface="Cambria Math" panose="02040503050406030204" pitchFamily="18" charset="0"/>
                      </a:rPr>
                      <m:t>=</m:t>
                    </m:r>
                    <m:sSubSup>
                      <m:sSubSupPr>
                        <m:ctrlPr>
                          <a:rPr lang="en-US" sz="2000" i="1">
                            <a:latin typeface="Cambria Math" panose="02040503050406030204" pitchFamily="18" charset="0"/>
                          </a:rPr>
                        </m:ctrlPr>
                      </m:sSubSupPr>
                      <m:e>
                        <m:r>
                          <a:rPr lang="en-US" sz="2000" b="1" i="1">
                            <a:latin typeface="Cambria Math" panose="02040503050406030204" pitchFamily="18" charset="0"/>
                          </a:rPr>
                          <m:t>𝑿</m:t>
                        </m:r>
                      </m:e>
                      <m:sub>
                        <m:r>
                          <a:rPr lang="en-US" sz="2000" i="1">
                            <a:latin typeface="Cambria Math" panose="02040503050406030204" pitchFamily="18" charset="0"/>
                          </a:rPr>
                          <m:t>𝐾</m:t>
                        </m:r>
                      </m:sub>
                      <m:sup>
                        <m:r>
                          <a:rPr lang="en-US" sz="2000" i="1">
                            <a:latin typeface="Cambria Math" panose="02040503050406030204" pitchFamily="18" charset="0"/>
                          </a:rPr>
                          <m:t>′</m:t>
                        </m:r>
                      </m:sup>
                    </m:sSubSup>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oMath>
                </a14:m>
                <a:r>
                  <a:rPr lang="en-US" sz="2000" dirty="0" smtClean="0"/>
                  <a:t>.</a:t>
                </a:r>
                <a:r>
                  <a:rPr lang="en-US" sz="2000" dirty="0"/>
                  <a:t> If MNN is applied into aforementioned classification task in order to derive MNN classifier, it is simpler to modify the core last bias to minimize the cross-entropy loss function as follows</a:t>
                </a:r>
                <a:r>
                  <a:rPr lang="en-US" sz="200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e>
                      </m:d>
                      <m:r>
                        <a:rPr lang="en-US" sz="2000" i="1">
                          <a:latin typeface="Cambria Math" panose="02040503050406030204" pitchFamily="18" charset="0"/>
                        </a:rPr>
                        <m:t>=</m:t>
                      </m:r>
                      <m:sSubSup>
                        <m:sSubSupPr>
                          <m:ctrlPr>
                            <a:rPr lang="en-US" sz="2000" i="1">
                              <a:latin typeface="Cambria Math" panose="02040503050406030204" pitchFamily="18" charset="0"/>
                            </a:rPr>
                          </m:ctrlPr>
                        </m:sSubSupPr>
                        <m:e>
                          <m:d>
                            <m:dPr>
                              <m:ctrlPr>
                                <a:rPr lang="en-US" sz="2000" i="1">
                                  <a:latin typeface="Cambria Math" panose="02040503050406030204" pitchFamily="18" charset="0"/>
                                </a:rPr>
                              </m:ctrlPr>
                            </m:dPr>
                            <m:e>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𝑛</m:t>
                                  </m:r>
                                </m:sup>
                                <m:e>
                                  <m:sSub>
                                    <m:sSubPr>
                                      <m:ctrlPr>
                                        <a:rPr lang="en-US" sz="2000" i="1">
                                          <a:latin typeface="Cambria Math" panose="02040503050406030204" pitchFamily="18" charset="0"/>
                                        </a:rPr>
                                      </m:ctrlPr>
                                    </m:sSubPr>
                                    <m:e>
                                      <m:r>
                                        <a:rPr lang="en-US" sz="2000" i="1">
                                          <a:latin typeface="Cambria Math" panose="02040503050406030204" pitchFamily="18" charset="0"/>
                                        </a:rPr>
                                        <m:t>𝑝</m:t>
                                      </m:r>
                                    </m:e>
                                    <m:sub>
                                      <m:r>
                                        <a:rPr lang="en-US" sz="2000" i="1">
                                          <a:latin typeface="Cambria Math" panose="02040503050406030204" pitchFamily="18" charset="0"/>
                                        </a:rPr>
                                        <m:t>𝑖</m:t>
                                      </m:r>
                                    </m:sub>
                                  </m:sSub>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𝛿</m:t>
                                          </m:r>
                                        </m:e>
                                        <m:sub>
                                          <m:r>
                                            <a:rPr lang="en-US" sz="2000" i="1">
                                              <a:latin typeface="Cambria Math" panose="02040503050406030204" pitchFamily="18" charset="0"/>
                                            </a:rPr>
                                            <m:t>𝑖𝑗</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i="1">
                                                  <a:latin typeface="Cambria Math" panose="02040503050406030204" pitchFamily="18" charset="0"/>
                                                </a:rPr>
                                                <m:t>𝑝</m:t>
                                              </m:r>
                                            </m:e>
                                          </m:acc>
                                        </m:e>
                                        <m:sub>
                                          <m:r>
                                            <a:rPr lang="en-US" sz="2000" i="1">
                                              <a:latin typeface="Cambria Math" panose="02040503050406030204" pitchFamily="18" charset="0"/>
                                            </a:rPr>
                                            <m:t>𝑗</m:t>
                                          </m:r>
                                        </m:sub>
                                      </m:sSub>
                                    </m:e>
                                  </m:d>
                                </m:e>
                              </m:nary>
                            </m:e>
                          </m:d>
                        </m:e>
                        <m:sub>
                          <m:r>
                            <a:rPr lang="en-US" sz="2000" i="1">
                              <a:latin typeface="Cambria Math" panose="02040503050406030204" pitchFamily="18" charset="0"/>
                            </a:rPr>
                            <m:t>𝑗</m:t>
                          </m:r>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1,</m:t>
                              </m:r>
                              <m:r>
                                <a:rPr lang="en-US" sz="2000" i="1">
                                  <a:latin typeface="Cambria Math" panose="02040503050406030204" pitchFamily="18" charset="0"/>
                                </a:rPr>
                                <m:t>𝑛</m:t>
                              </m:r>
                            </m:e>
                          </m:acc>
                        </m:sub>
                        <m:sup>
                          <m:r>
                            <a:rPr lang="en-US" sz="2000" i="1">
                              <a:latin typeface="Cambria Math" panose="02040503050406030204" pitchFamily="18" charset="0"/>
                            </a:rPr>
                            <m:t>𝑇</m:t>
                          </m:r>
                        </m:sup>
                      </m:sSubSup>
                    </m:oMath>
                  </m:oMathPara>
                </a14:m>
                <a:endParaRPr lang="en-US" sz="2000" dirty="0"/>
              </a:p>
              <a:p>
                <a:pPr marL="0" indent="0">
                  <a:buNone/>
                </a:pPr>
                <a:r>
                  <a:rPr lang="en-US" sz="2000" dirty="0" smtClean="0"/>
                  <a:t>Moreover</a:t>
                </a:r>
                <a:r>
                  <a:rPr lang="en-US" sz="2000" dirty="0"/>
                  <a:t>, the </a:t>
                </a:r>
                <a:r>
                  <a:rPr lang="en-US" sz="2000" i="1" dirty="0"/>
                  <a:t>k</a:t>
                </a:r>
                <a:r>
                  <a:rPr lang="en-US" sz="2000" baseline="30000" dirty="0"/>
                  <a:t>th</a:t>
                </a:r>
                <a:r>
                  <a:rPr lang="en-US" sz="2000" dirty="0"/>
                  <a:t> bias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𝑘</m:t>
                            </m:r>
                          </m:sub>
                        </m:sSub>
                      </m:sub>
                    </m:sSub>
                    <m:d>
                      <m:dPr>
                        <m:ctrlPr>
                          <a:rPr lang="en-US" sz="2000" i="1">
                            <a:latin typeface="Cambria Math" panose="02040503050406030204" pitchFamily="18" charset="0"/>
                          </a:rPr>
                        </m:ctrlPr>
                      </m:dPr>
                      <m:e>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𝑘</m:t>
                                </m:r>
                              </m:sub>
                            </m:sSub>
                          </m:e>
                        </m:d>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r>
                          <a:rPr lang="en-US" sz="2000" i="1">
                            <a:latin typeface="Cambria Math" panose="02040503050406030204" pitchFamily="18" charset="0"/>
                          </a:rPr>
                          <m:t>𝑙</m:t>
                        </m:r>
                      </m:e>
                    </m:d>
                  </m:oMath>
                </a14:m>
                <a:r>
                  <a:rPr lang="en-US" sz="2000" dirty="0"/>
                  <a:t> which is also called backward bias or </a:t>
                </a:r>
                <a:r>
                  <a:rPr lang="en-US" sz="2000" i="1" dirty="0"/>
                  <a:t>backward error</a:t>
                </a:r>
                <a:r>
                  <a:rPr lang="en-US" sz="2000" dirty="0"/>
                  <a:t> at </a:t>
                </a:r>
                <a:r>
                  <a:rPr lang="en-US" sz="2000" i="1" dirty="0"/>
                  <a:t>k</a:t>
                </a:r>
                <a:r>
                  <a:rPr lang="en-US" sz="2000" baseline="30000" dirty="0"/>
                  <a:t>th</a:t>
                </a:r>
                <a:r>
                  <a:rPr lang="en-US" sz="2000" dirty="0"/>
                  <a:t> layer is the cornerstone of association of backpropagation algorithm and </a:t>
                </a:r>
                <a:r>
                  <a:rPr lang="en-US" sz="2000" dirty="0" smtClean="0"/>
                  <a:t>SGD </a:t>
                </a:r>
                <a:r>
                  <a:rPr lang="en-US" sz="2000" dirty="0"/>
                  <a:t>algorithm because the </a:t>
                </a:r>
                <a:r>
                  <a:rPr lang="en-US" sz="2000" dirty="0" smtClean="0"/>
                  <a:t>gradient (bias) </a:t>
                </a:r>
                <a14:m>
                  <m:oMath xmlns:m="http://schemas.openxmlformats.org/officeDocument/2006/math">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r>
                          <a:rPr lang="en-US" sz="2000" i="1">
                            <a:latin typeface="Cambria Math" panose="02040503050406030204" pitchFamily="18" charset="0"/>
                          </a:rPr>
                          <m:t>𝑙</m:t>
                        </m:r>
                      </m:e>
                    </m:d>
                  </m:oMath>
                </a14:m>
                <a:r>
                  <a:rPr lang="en-US" sz="2000" dirty="0"/>
                  <a:t> is also the first-order derivative of training likelihood </a:t>
                </a:r>
                <a:r>
                  <a:rPr lang="en-US" sz="2000" i="1" dirty="0"/>
                  <a:t>l</a:t>
                </a:r>
                <a:r>
                  <a:rPr lang="en-US" sz="2000" dirty="0"/>
                  <a:t>(</a:t>
                </a:r>
                <a:r>
                  <a:rPr lang="en-US" sz="2000" b="1" i="1" dirty="0"/>
                  <a:t>X</a:t>
                </a:r>
                <a:r>
                  <a:rPr lang="en-US" sz="2000" i="1" baseline="-25000" dirty="0"/>
                  <a:t>K</a:t>
                </a:r>
                <a:r>
                  <a:rPr lang="en-US" sz="2000" dirty="0"/>
                  <a:t>) with respect to </a:t>
                </a:r>
                <a14:m>
                  <m:oMath xmlns:m="http://schemas.openxmlformats.org/officeDocument/2006/math">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𝑿</m:t>
                            </m:r>
                          </m:e>
                        </m:acc>
                      </m:e>
                      <m:sub>
                        <m:r>
                          <a:rPr lang="en-US" sz="2000" i="1">
                            <a:latin typeface="Cambria Math" panose="02040503050406030204" pitchFamily="18" charset="0"/>
                          </a:rPr>
                          <m:t>𝑘</m:t>
                        </m:r>
                        <m:r>
                          <a:rPr lang="en-US" sz="2000" i="1">
                            <a:latin typeface="Cambria Math" panose="02040503050406030204" pitchFamily="18" charset="0"/>
                          </a:rPr>
                          <m:t>−1</m:t>
                        </m:r>
                      </m:sub>
                    </m:sSub>
                  </m:oMath>
                </a14:m>
                <a:r>
                  <a:rPr lang="en-US" sz="2000" dirty="0"/>
                  <a:t> at the layer </a:t>
                </a:r>
                <a:r>
                  <a:rPr lang="en-US" sz="2000" b="1" i="1" dirty="0" err="1" smtClean="0"/>
                  <a:t>X</a:t>
                </a:r>
                <a:r>
                  <a:rPr lang="en-US" sz="2000" i="1" baseline="-25000" dirty="0" err="1" smtClean="0"/>
                  <a:t>k</a:t>
                </a:r>
                <a:r>
                  <a:rPr lang="en-US" sz="2000" dirty="0"/>
                  <a:t> </a:t>
                </a:r>
                <a:r>
                  <a:rPr lang="en-US" sz="2000" dirty="0" smtClean="0"/>
                  <a:t>as </a:t>
                </a:r>
                <a14:m>
                  <m:oMath xmlns:m="http://schemas.openxmlformats.org/officeDocument/2006/math">
                    <m:sSub>
                      <m:sSubPr>
                        <m:ctrlPr>
                          <a:rPr lang="en-US" sz="2000" i="1">
                            <a:latin typeface="Cambria Math" panose="02040503050406030204" pitchFamily="18" charset="0"/>
                          </a:rPr>
                        </m:ctrlPr>
                      </m:sSubPr>
                      <m:e>
                        <m:r>
                          <a:rPr lang="en-US" sz="2000">
                            <a:latin typeface="Cambria Math" panose="02040503050406030204" pitchFamily="18" charset="0"/>
                          </a:rPr>
                          <m:t>𝛻</m:t>
                        </m:r>
                      </m:e>
                      <m:sub>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sub>
                    </m:sSub>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r>
                          <a:rPr lang="en-US" sz="2000" i="1">
                            <a:latin typeface="Cambria Math" panose="02040503050406030204" pitchFamily="18" charset="0"/>
                          </a:rPr>
                          <m:t>𝑙</m:t>
                        </m:r>
                      </m:e>
                    </m:d>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𝑑𝑙</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num>
                      <m:den>
                        <m:r>
                          <a:rPr lang="en-US" sz="2000" i="1">
                            <a:latin typeface="Cambria Math" panose="02040503050406030204" pitchFamily="18" charset="0"/>
                          </a:rPr>
                          <m:t>𝑑</m:t>
                        </m:r>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m:rPr>
                                    <m:sty m:val="p"/>
                                  </m:rPr>
                                  <a:rPr lang="en-US" sz="2000">
                                    <a:latin typeface="Cambria Math" panose="02040503050406030204" pitchFamily="18" charset="0"/>
                                  </a:rPr>
                                  <m:t>Θ</m:t>
                                </m:r>
                              </m:e>
                              <m:sub>
                                <m:r>
                                  <a:rPr lang="en-US" sz="2000" i="1">
                                    <a:latin typeface="Cambria Math" panose="02040503050406030204" pitchFamily="18" charset="0"/>
                                  </a:rPr>
                                  <m:t>𝑘</m:t>
                                </m:r>
                              </m:sub>
                            </m:sSub>
                          </m:e>
                        </m:d>
                      </m:den>
                    </m:f>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𝑑𝑙</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1" i="1">
                                    <a:latin typeface="Cambria Math" panose="02040503050406030204" pitchFamily="18" charset="0"/>
                                  </a:rPr>
                                  <m:t>𝑿</m:t>
                                </m:r>
                              </m:e>
                              <m:sub>
                                <m:r>
                                  <a:rPr lang="en-US" sz="2000" i="1">
                                    <a:latin typeface="Cambria Math" panose="02040503050406030204" pitchFamily="18" charset="0"/>
                                  </a:rPr>
                                  <m:t>𝐾</m:t>
                                </m:r>
                              </m:sub>
                            </m:sSub>
                          </m:e>
                        </m:d>
                      </m:num>
                      <m:den>
                        <m:r>
                          <a:rPr lang="en-US" sz="2000" i="1">
                            <a:latin typeface="Cambria Math" panose="02040503050406030204" pitchFamily="18" charset="0"/>
                          </a:rPr>
                          <m:t>𝑑</m:t>
                        </m:r>
                        <m:r>
                          <m:rPr>
                            <m:sty m:val="p"/>
                          </m:rPr>
                          <a:rPr lang="en-US" sz="2000">
                            <a:latin typeface="Cambria Math" panose="02040503050406030204" pitchFamily="18" charset="0"/>
                          </a:rPr>
                          <m:t>vec</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acc>
                                  <m:accPr>
                                    <m:chr m:val="̂"/>
                                    <m:ctrlPr>
                                      <a:rPr lang="en-US" sz="2000" i="1">
                                        <a:latin typeface="Cambria Math" panose="02040503050406030204" pitchFamily="18" charset="0"/>
                                      </a:rPr>
                                    </m:ctrlPr>
                                  </m:accPr>
                                  <m:e>
                                    <m:r>
                                      <a:rPr lang="en-US" sz="2000" b="1" i="1">
                                        <a:latin typeface="Cambria Math" panose="02040503050406030204" pitchFamily="18" charset="0"/>
                                      </a:rPr>
                                      <m:t>𝑿</m:t>
                                    </m:r>
                                  </m:e>
                                </m:acc>
                              </m:e>
                              <m:sub>
                                <m:r>
                                  <a:rPr lang="en-US" sz="2000" i="1">
                                    <a:latin typeface="Cambria Math" panose="02040503050406030204" pitchFamily="18" charset="0"/>
                                  </a:rPr>
                                  <m:t>𝑘</m:t>
                                </m:r>
                                <m:r>
                                  <a:rPr lang="en-US" sz="2000" i="1">
                                    <a:latin typeface="Cambria Math" panose="02040503050406030204" pitchFamily="18" charset="0"/>
                                  </a:rPr>
                                  <m:t>−1</m:t>
                                </m:r>
                              </m:sub>
                            </m:sSub>
                          </m:e>
                        </m:d>
                      </m:den>
                    </m:f>
                  </m:oMath>
                </a14:m>
                <a:r>
                  <a:rPr lang="en-US" sz="2000" dirty="0" smtClean="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49760" cy="5176066"/>
              </a:xfrm>
              <a:blipFill>
                <a:blip r:embed="rId2"/>
                <a:stretch>
                  <a:fillRect l="-557" t="-589" r="-55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21</a:t>
            </a:fld>
            <a:endParaRPr lang="en-US"/>
          </a:p>
        </p:txBody>
      </p:sp>
    </p:spTree>
    <p:extLst>
      <p:ext uri="{BB962C8B-B14F-4D97-AF65-F5344CB8AC3E}">
        <p14:creationId xmlns:p14="http://schemas.microsoft.com/office/powerpoint/2010/main" val="288664156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 y="914399"/>
                <a:ext cx="12009120" cy="5176066"/>
              </a:xfrm>
            </p:spPr>
            <p:txBody>
              <a:bodyPr>
                <a:noAutofit/>
              </a:bodyPr>
              <a:lstStyle/>
              <a:p>
                <a:r>
                  <a:rPr lang="en-US" sz="1900" i="1" dirty="0">
                    <a:effectLst>
                      <a:outerShdw blurRad="38100" dist="38100" dir="2700000" algn="tl">
                        <a:srgbClr val="000000">
                          <a:alpha val="43137"/>
                        </a:srgbClr>
                      </a:outerShdw>
                    </a:effectLst>
                  </a:rPr>
                  <a:t>Transformer</a:t>
                </a:r>
                <a:r>
                  <a:rPr lang="en-US" sz="1900" dirty="0"/>
                  <a:t> developed by </a:t>
                </a:r>
                <a:r>
                  <a:rPr lang="en-US" sz="1900" dirty="0" err="1"/>
                  <a:t>Vaswani</a:t>
                </a:r>
                <a:r>
                  <a:rPr lang="en-US" sz="1900" dirty="0"/>
                  <a:t> et al. (</a:t>
                </a:r>
                <a:r>
                  <a:rPr lang="en-US" sz="1900" dirty="0" err="1"/>
                  <a:t>Vaswani</a:t>
                </a:r>
                <a:r>
                  <a:rPr lang="en-US" sz="1900" dirty="0"/>
                  <a:t>, et al., 2017) </a:t>
                </a:r>
                <a:r>
                  <a:rPr lang="en-US" sz="1900" dirty="0">
                    <a:effectLst>
                      <a:outerShdw blurRad="38100" dist="38100" dir="2700000" algn="tl">
                        <a:srgbClr val="000000">
                          <a:alpha val="43137"/>
                        </a:srgbClr>
                      </a:outerShdw>
                    </a:effectLst>
                  </a:rPr>
                  <a:t>is invented to improve deep neural network (DNN) so that it discovers the self-structure </a:t>
                </a:r>
                <a:r>
                  <a:rPr lang="en-US" sz="1900" dirty="0" smtClean="0">
                    <a:effectLst>
                      <a:outerShdw blurRad="38100" dist="38100" dir="2700000" algn="tl">
                        <a:srgbClr val="000000">
                          <a:alpha val="43137"/>
                        </a:srgbClr>
                      </a:outerShdw>
                    </a:effectLst>
                  </a:rPr>
                  <a:t>or the internal feature </a:t>
                </a:r>
                <a:r>
                  <a:rPr lang="en-US" sz="1900" dirty="0">
                    <a:effectLst>
                      <a:outerShdw blurRad="38100" dist="38100" dir="2700000" algn="tl">
                        <a:srgbClr val="000000">
                          <a:alpha val="43137"/>
                        </a:srgbClr>
                      </a:outerShdw>
                    </a:effectLst>
                  </a:rPr>
                  <a:t>of input for DNN</a:t>
                </a:r>
                <a:r>
                  <a:rPr lang="en-US" sz="1900" dirty="0"/>
                  <a:t>. Exactly, given input </a:t>
                </a:r>
                <a:r>
                  <a:rPr lang="en-US" sz="1900" b="1" i="1" dirty="0"/>
                  <a:t>X</a:t>
                </a:r>
                <a:r>
                  <a:rPr lang="en-US" sz="1900" dirty="0"/>
                  <a:t> = </a:t>
                </a:r>
                <a:r>
                  <a:rPr lang="en-US" sz="1900" b="1" i="1" dirty="0"/>
                  <a:t>X</a:t>
                </a:r>
                <a:r>
                  <a:rPr lang="en-US" sz="1900" baseline="-25000" dirty="0"/>
                  <a:t>0</a:t>
                </a:r>
                <a:r>
                  <a:rPr lang="en-US" sz="1900" dirty="0"/>
                  <a:t> of DNN, self-structure of </a:t>
                </a:r>
                <a:r>
                  <a:rPr lang="en-US" sz="1900" b="1" i="1" dirty="0"/>
                  <a:t>X</a:t>
                </a:r>
                <a:r>
                  <a:rPr lang="en-US" sz="1900" dirty="0"/>
                  <a:t> which is internal structure of </a:t>
                </a:r>
                <a:r>
                  <a:rPr lang="en-US" sz="1900" b="1" i="1" dirty="0"/>
                  <a:t>X</a:t>
                </a:r>
                <a:r>
                  <a:rPr lang="en-US" sz="1900" dirty="0"/>
                  <a:t> is known as self-attention or attention in context of transformer. In other words, transformer extracts such attention denoted </a:t>
                </a:r>
                <a:r>
                  <a:rPr lang="en-US" sz="1900" i="1" dirty="0"/>
                  <a:t>A</a:t>
                </a:r>
                <a:r>
                  <a:rPr lang="en-US" sz="1900" dirty="0"/>
                  <a:t> = </a:t>
                </a:r>
                <a:r>
                  <a:rPr lang="en-US" sz="1900" i="1" dirty="0"/>
                  <a:t>A</a:t>
                </a:r>
                <a:r>
                  <a:rPr lang="en-US" sz="1900" dirty="0"/>
                  <a:t>(</a:t>
                </a:r>
                <a:r>
                  <a:rPr lang="en-US" sz="1900" b="1" i="1" dirty="0"/>
                  <a:t>X</a:t>
                </a:r>
                <a:r>
                  <a:rPr lang="en-US" sz="1900" dirty="0"/>
                  <a:t>) so that DNN processes the finer feature </a:t>
                </a:r>
                <a:r>
                  <a:rPr lang="en-US" sz="1900" i="1" dirty="0"/>
                  <a:t>A</a:t>
                </a:r>
                <a:r>
                  <a:rPr lang="en-US" sz="1900" dirty="0"/>
                  <a:t> instead of processing the coarser input </a:t>
                </a:r>
                <a:r>
                  <a:rPr lang="en-US" sz="1900" b="1" i="1" dirty="0"/>
                  <a:t>X</a:t>
                </a:r>
                <a:r>
                  <a:rPr lang="en-US" sz="1900" dirty="0"/>
                  <a:t>. </a:t>
                </a:r>
                <a:r>
                  <a:rPr lang="en-US" sz="1900" dirty="0" smtClean="0"/>
                  <a:t>In </a:t>
                </a:r>
                <a:r>
                  <a:rPr lang="en-US" sz="1900" dirty="0"/>
                  <a:t>practice, transformer is associated with feedforward network (FFN) in order to establish a complex transformer which aims to provide the self-supervised learning mechanism to </a:t>
                </a:r>
                <a:r>
                  <a:rPr lang="en-US" sz="1900" dirty="0" smtClean="0"/>
                  <a:t>ANN, </a:t>
                </a:r>
                <a:r>
                  <a:rPr lang="en-US" sz="1900" dirty="0"/>
                  <a:t>which is actually a revolution in domain of </a:t>
                </a:r>
                <a:r>
                  <a:rPr lang="en-US" sz="1900" dirty="0" smtClean="0"/>
                  <a:t>AI.</a:t>
                </a:r>
              </a:p>
              <a:p>
                <a:r>
                  <a:rPr lang="en-US" sz="1900" dirty="0">
                    <a:effectLst>
                      <a:outerShdw blurRad="38100" dist="38100" dir="2700000" algn="tl">
                        <a:srgbClr val="000000">
                          <a:alpha val="43137"/>
                        </a:srgbClr>
                      </a:outerShdw>
                    </a:effectLst>
                  </a:rPr>
                  <a:t>At the other hand, transformer built in its core “attention” without FFN is also a different methodology from traditional ANN </a:t>
                </a:r>
                <a:r>
                  <a:rPr lang="en-US" sz="1900" dirty="0"/>
                  <a:t>because the propagation rule of attentional transformer </a:t>
                </a:r>
                <a14:m>
                  <m:oMath xmlns:m="http://schemas.openxmlformats.org/officeDocument/2006/math">
                    <m:r>
                      <a:rPr lang="en-US" sz="1900" i="1">
                        <a:latin typeface="Cambria Math" panose="02040503050406030204" pitchFamily="18" charset="0"/>
                      </a:rPr>
                      <m:t>𝐴</m:t>
                    </m:r>
                    <m:r>
                      <a:rPr lang="en-US" sz="1900" i="1">
                        <a:latin typeface="Cambria Math" panose="02040503050406030204" pitchFamily="18" charset="0"/>
                      </a:rPr>
                      <m:t>=</m:t>
                    </m:r>
                    <m:r>
                      <m:rPr>
                        <m:sty m:val="p"/>
                      </m:rPr>
                      <a:rPr lang="en-US" sz="1900">
                        <a:latin typeface="Cambria Math" panose="02040503050406030204" pitchFamily="18" charset="0"/>
                      </a:rPr>
                      <m:t>softmax</m:t>
                    </m:r>
                    <m:d>
                      <m:dPr>
                        <m:ctrlPr>
                          <a:rPr lang="en-US" sz="1900" i="1">
                            <a:latin typeface="Cambria Math" panose="02040503050406030204" pitchFamily="18" charset="0"/>
                          </a:rPr>
                        </m:ctrlPr>
                      </m:dPr>
                      <m:e>
                        <m:f>
                          <m:fPr>
                            <m:ctrlPr>
                              <a:rPr lang="en-US" sz="1900" i="1">
                                <a:latin typeface="Cambria Math" panose="02040503050406030204" pitchFamily="18" charset="0"/>
                              </a:rPr>
                            </m:ctrlPr>
                          </m:fPr>
                          <m:num>
                            <m:r>
                              <a:rPr lang="en-US" sz="1900" i="1">
                                <a:latin typeface="Cambria Math" panose="02040503050406030204" pitchFamily="18" charset="0"/>
                              </a:rPr>
                              <m:t>𝑄</m:t>
                            </m:r>
                            <m:sSup>
                              <m:sSupPr>
                                <m:ctrlPr>
                                  <a:rPr lang="en-US" sz="1900" i="1">
                                    <a:latin typeface="Cambria Math" panose="02040503050406030204" pitchFamily="18" charset="0"/>
                                  </a:rPr>
                                </m:ctrlPr>
                              </m:sSupPr>
                              <m:e>
                                <m:r>
                                  <a:rPr lang="en-US" sz="1900" i="1">
                                    <a:latin typeface="Cambria Math" panose="02040503050406030204" pitchFamily="18" charset="0"/>
                                  </a:rPr>
                                  <m:t>𝐾</m:t>
                                </m:r>
                              </m:e>
                              <m:sup>
                                <m:r>
                                  <a:rPr lang="en-US" sz="1900" i="1">
                                    <a:latin typeface="Cambria Math" panose="02040503050406030204" pitchFamily="18" charset="0"/>
                                  </a:rPr>
                                  <m:t>𝑇</m:t>
                                </m:r>
                              </m:sup>
                            </m:sSup>
                          </m:num>
                          <m:den>
                            <m:rad>
                              <m:radPr>
                                <m:degHide m:val="on"/>
                                <m:ctrlPr>
                                  <a:rPr lang="en-US" sz="1900" i="1">
                                    <a:latin typeface="Cambria Math" panose="02040503050406030204" pitchFamily="18" charset="0"/>
                                  </a:rPr>
                                </m:ctrlPr>
                              </m:radPr>
                              <m:deg/>
                              <m:e>
                                <m:sSub>
                                  <m:sSubPr>
                                    <m:ctrlPr>
                                      <a:rPr lang="en-US" sz="1900" i="1">
                                        <a:latin typeface="Cambria Math" panose="02040503050406030204" pitchFamily="18" charset="0"/>
                                      </a:rPr>
                                    </m:ctrlPr>
                                  </m:sSubPr>
                                  <m:e>
                                    <m:r>
                                      <a:rPr lang="en-US" sz="1900" i="1">
                                        <a:latin typeface="Cambria Math" panose="02040503050406030204" pitchFamily="18" charset="0"/>
                                      </a:rPr>
                                      <m:t>𝑑</m:t>
                                    </m:r>
                                  </m:e>
                                  <m:sub>
                                    <m:r>
                                      <a:rPr lang="en-US" sz="1900" i="1">
                                        <a:latin typeface="Cambria Math" panose="02040503050406030204" pitchFamily="18" charset="0"/>
                                      </a:rPr>
                                      <m:t>𝑘</m:t>
                                    </m:r>
                                  </m:sub>
                                </m:sSub>
                              </m:e>
                            </m:rad>
                          </m:den>
                        </m:f>
                      </m:e>
                    </m:d>
                    <m:r>
                      <a:rPr lang="en-US" sz="1900" i="1">
                        <a:latin typeface="Cambria Math" panose="02040503050406030204" pitchFamily="18" charset="0"/>
                      </a:rPr>
                      <m:t>𝑉</m:t>
                    </m:r>
                  </m:oMath>
                </a14:m>
                <a:r>
                  <a:rPr lang="en-US" sz="1900" dirty="0"/>
                  <a:t> mentioned later is an improvement of the propagation rule of </a:t>
                </a:r>
                <a:r>
                  <a:rPr lang="en-US" sz="1900" dirty="0" smtClean="0"/>
                  <a:t>ANN. </a:t>
                </a:r>
                <a:r>
                  <a:rPr lang="en-US" sz="1900" dirty="0"/>
                  <a:t>Actually, the transformer-based propagation rule </a:t>
                </a:r>
                <a14:m>
                  <m:oMath xmlns:m="http://schemas.openxmlformats.org/officeDocument/2006/math">
                    <m:r>
                      <a:rPr lang="en-US" sz="1900" i="1">
                        <a:latin typeface="Cambria Math" panose="02040503050406030204" pitchFamily="18" charset="0"/>
                      </a:rPr>
                      <m:t>𝐴</m:t>
                    </m:r>
                    <m:r>
                      <a:rPr lang="en-US" sz="1900" i="1">
                        <a:latin typeface="Cambria Math" panose="02040503050406030204" pitchFamily="18" charset="0"/>
                      </a:rPr>
                      <m:t>=</m:t>
                    </m:r>
                    <m:r>
                      <m:rPr>
                        <m:sty m:val="p"/>
                      </m:rPr>
                      <a:rPr lang="en-US" sz="1900">
                        <a:latin typeface="Cambria Math" panose="02040503050406030204" pitchFamily="18" charset="0"/>
                      </a:rPr>
                      <m:t>softmax</m:t>
                    </m:r>
                    <m:d>
                      <m:dPr>
                        <m:ctrlPr>
                          <a:rPr lang="en-US" sz="1900" i="1">
                            <a:latin typeface="Cambria Math" panose="02040503050406030204" pitchFamily="18" charset="0"/>
                          </a:rPr>
                        </m:ctrlPr>
                      </m:dPr>
                      <m:e>
                        <m:f>
                          <m:fPr>
                            <m:ctrlPr>
                              <a:rPr lang="en-US" sz="1900" i="1">
                                <a:latin typeface="Cambria Math" panose="02040503050406030204" pitchFamily="18" charset="0"/>
                              </a:rPr>
                            </m:ctrlPr>
                          </m:fPr>
                          <m:num>
                            <m:r>
                              <a:rPr lang="en-US" sz="1900" i="1">
                                <a:latin typeface="Cambria Math" panose="02040503050406030204" pitchFamily="18" charset="0"/>
                              </a:rPr>
                              <m:t>𝑄</m:t>
                            </m:r>
                            <m:sSup>
                              <m:sSupPr>
                                <m:ctrlPr>
                                  <a:rPr lang="en-US" sz="1900" i="1">
                                    <a:latin typeface="Cambria Math" panose="02040503050406030204" pitchFamily="18" charset="0"/>
                                  </a:rPr>
                                </m:ctrlPr>
                              </m:sSupPr>
                              <m:e>
                                <m:r>
                                  <a:rPr lang="en-US" sz="1900" i="1">
                                    <a:latin typeface="Cambria Math" panose="02040503050406030204" pitchFamily="18" charset="0"/>
                                  </a:rPr>
                                  <m:t>𝐾</m:t>
                                </m:r>
                              </m:e>
                              <m:sup>
                                <m:r>
                                  <a:rPr lang="en-US" sz="1900" i="1">
                                    <a:latin typeface="Cambria Math" panose="02040503050406030204" pitchFamily="18" charset="0"/>
                                  </a:rPr>
                                  <m:t>𝑇</m:t>
                                </m:r>
                              </m:sup>
                            </m:sSup>
                          </m:num>
                          <m:den>
                            <m:rad>
                              <m:radPr>
                                <m:degHide m:val="on"/>
                                <m:ctrlPr>
                                  <a:rPr lang="en-US" sz="1900" i="1">
                                    <a:latin typeface="Cambria Math" panose="02040503050406030204" pitchFamily="18" charset="0"/>
                                  </a:rPr>
                                </m:ctrlPr>
                              </m:radPr>
                              <m:deg/>
                              <m:e>
                                <m:sSub>
                                  <m:sSubPr>
                                    <m:ctrlPr>
                                      <a:rPr lang="en-US" sz="1900" i="1">
                                        <a:latin typeface="Cambria Math" panose="02040503050406030204" pitchFamily="18" charset="0"/>
                                      </a:rPr>
                                    </m:ctrlPr>
                                  </m:sSubPr>
                                  <m:e>
                                    <m:r>
                                      <a:rPr lang="en-US" sz="1900" i="1">
                                        <a:latin typeface="Cambria Math" panose="02040503050406030204" pitchFamily="18" charset="0"/>
                                      </a:rPr>
                                      <m:t>𝑑</m:t>
                                    </m:r>
                                  </m:e>
                                  <m:sub>
                                    <m:r>
                                      <a:rPr lang="en-US" sz="1900" i="1">
                                        <a:latin typeface="Cambria Math" panose="02040503050406030204" pitchFamily="18" charset="0"/>
                                      </a:rPr>
                                      <m:t>𝑘</m:t>
                                    </m:r>
                                  </m:sub>
                                </m:sSub>
                              </m:e>
                            </m:rad>
                          </m:den>
                        </m:f>
                      </m:e>
                    </m:d>
                    <m:r>
                      <a:rPr lang="en-US" sz="1900" i="1">
                        <a:latin typeface="Cambria Math" panose="02040503050406030204" pitchFamily="18" charset="0"/>
                      </a:rPr>
                      <m:t>𝑉</m:t>
                    </m:r>
                  </m:oMath>
                </a14:m>
                <a:r>
                  <a:rPr lang="en-US" sz="1900" dirty="0"/>
                  <a:t> is more complicated and clever than the ANN-based propagation rule </a:t>
                </a:r>
                <a14:m>
                  <m:oMath xmlns:m="http://schemas.openxmlformats.org/officeDocument/2006/math">
                    <m:sSub>
                      <m:sSubPr>
                        <m:ctrlPr>
                          <a:rPr lang="en-US" sz="1900" i="1">
                            <a:latin typeface="Cambria Math" panose="02040503050406030204" pitchFamily="18" charset="0"/>
                          </a:rPr>
                        </m:ctrlPr>
                      </m:sSubPr>
                      <m:e>
                        <m:r>
                          <a:rPr lang="en-US" sz="1900" b="1" i="1">
                            <a:latin typeface="Cambria Math" panose="02040503050406030204" pitchFamily="18" charset="0"/>
                          </a:rPr>
                          <m:t>𝑿</m:t>
                        </m:r>
                      </m:e>
                      <m:sub>
                        <m:r>
                          <a:rPr lang="en-US" sz="1900" i="1">
                            <a:latin typeface="Cambria Math" panose="02040503050406030204" pitchFamily="18" charset="0"/>
                          </a:rPr>
                          <m:t>𝑘</m:t>
                        </m:r>
                      </m:sub>
                    </m:sSub>
                    <m:r>
                      <a:rPr lang="en-US" sz="1900" i="1">
                        <a:latin typeface="Cambria Math" panose="02040503050406030204" pitchFamily="18" charset="0"/>
                      </a:rPr>
                      <m:t>=</m:t>
                    </m:r>
                    <m:r>
                      <a:rPr lang="en-US" sz="1900" i="1">
                        <a:latin typeface="Cambria Math" panose="02040503050406030204" pitchFamily="18" charset="0"/>
                      </a:rPr>
                      <m:t>𝑓</m:t>
                    </m:r>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acc>
                              <m:accPr>
                                <m:chr m:val="̂"/>
                                <m:ctrlPr>
                                  <a:rPr lang="en-US" sz="1900" i="1">
                                    <a:latin typeface="Cambria Math" panose="02040503050406030204" pitchFamily="18" charset="0"/>
                                  </a:rPr>
                                </m:ctrlPr>
                              </m:accPr>
                              <m:e>
                                <m:r>
                                  <a:rPr lang="en-US" sz="1900" b="1" i="1">
                                    <a:latin typeface="Cambria Math" panose="02040503050406030204" pitchFamily="18" charset="0"/>
                                  </a:rPr>
                                  <m:t>𝑿</m:t>
                                </m:r>
                              </m:e>
                            </m:acc>
                          </m:e>
                          <m:sub>
                            <m:r>
                              <a:rPr lang="en-US" sz="1900" i="1">
                                <a:latin typeface="Cambria Math" panose="02040503050406030204" pitchFamily="18" charset="0"/>
                              </a:rPr>
                              <m:t>𝑘</m:t>
                            </m:r>
                            <m:r>
                              <a:rPr lang="en-US" sz="1900" i="1">
                                <a:latin typeface="Cambria Math" panose="02040503050406030204" pitchFamily="18" charset="0"/>
                              </a:rPr>
                              <m:t>−1</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𝑈</m:t>
                            </m:r>
                          </m:e>
                          <m:sub>
                            <m:r>
                              <a:rPr lang="en-US" sz="1900" i="1">
                                <a:latin typeface="Cambria Math" panose="02040503050406030204" pitchFamily="18" charset="0"/>
                              </a:rPr>
                              <m:t>𝑘</m:t>
                            </m:r>
                          </m:sub>
                        </m:sSub>
                        <m:sSub>
                          <m:sSubPr>
                            <m:ctrlPr>
                              <a:rPr lang="en-US" sz="1900" i="1">
                                <a:latin typeface="Cambria Math" panose="02040503050406030204" pitchFamily="18" charset="0"/>
                              </a:rPr>
                            </m:ctrlPr>
                          </m:sSubPr>
                          <m:e>
                            <m:r>
                              <a:rPr lang="en-US" sz="1900" b="1" i="1">
                                <a:latin typeface="Cambria Math" panose="02040503050406030204" pitchFamily="18" charset="0"/>
                              </a:rPr>
                              <m:t>𝑿</m:t>
                            </m:r>
                          </m:e>
                          <m:sub>
                            <m:r>
                              <a:rPr lang="en-US" sz="1900" i="1">
                                <a:latin typeface="Cambria Math" panose="02040503050406030204" pitchFamily="18" charset="0"/>
                              </a:rPr>
                              <m:t>𝑘</m:t>
                            </m:r>
                            <m:r>
                              <a:rPr lang="en-US" sz="1900" i="1">
                                <a:latin typeface="Cambria Math" panose="02040503050406030204" pitchFamily="18" charset="0"/>
                              </a:rPr>
                              <m:t>−1</m:t>
                            </m:r>
                          </m:sub>
                        </m:sSub>
                        <m:sSub>
                          <m:sSubPr>
                            <m:ctrlPr>
                              <a:rPr lang="en-US" sz="1900" i="1">
                                <a:latin typeface="Cambria Math" panose="02040503050406030204" pitchFamily="18" charset="0"/>
                              </a:rPr>
                            </m:ctrlPr>
                          </m:sSubPr>
                          <m:e>
                            <m:r>
                              <a:rPr lang="en-US" sz="1900" i="1">
                                <a:latin typeface="Cambria Math" panose="02040503050406030204" pitchFamily="18" charset="0"/>
                              </a:rPr>
                              <m:t>𝑉</m:t>
                            </m:r>
                          </m:e>
                          <m:sub>
                            <m:r>
                              <a:rPr lang="en-US" sz="1900" i="1">
                                <a:latin typeface="Cambria Math" panose="02040503050406030204" pitchFamily="18" charset="0"/>
                              </a:rPr>
                              <m:t>𝑘</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m:rPr>
                                <m:sty m:val="p"/>
                              </m:rPr>
                              <a:rPr lang="en-US" sz="1900">
                                <a:latin typeface="Cambria Math" panose="02040503050406030204" pitchFamily="18" charset="0"/>
                              </a:rPr>
                              <m:t>Θ</m:t>
                            </m:r>
                          </m:e>
                          <m:sub>
                            <m:r>
                              <a:rPr lang="en-US" sz="1900" i="1">
                                <a:latin typeface="Cambria Math" panose="02040503050406030204" pitchFamily="18" charset="0"/>
                              </a:rPr>
                              <m:t>𝑘</m:t>
                            </m:r>
                          </m:sub>
                        </m:sSub>
                      </m:e>
                    </m:d>
                  </m:oMath>
                </a14:m>
                <a:r>
                  <a:rPr lang="en-US" sz="1900" dirty="0"/>
                  <a:t> with note that the soft-max function </a:t>
                </a:r>
                <a:r>
                  <a:rPr lang="en-US" sz="1900" dirty="0" smtClean="0"/>
                  <a:t>is </a:t>
                </a:r>
                <a:r>
                  <a:rPr lang="en-US" sz="1900" dirty="0"/>
                  <a:t>also a perfect squash activation function. Therefore, it is totally to connect many attentions as attentional layers together by the same way that ANN connects its neuron layers together</a:t>
                </a:r>
                <a:r>
                  <a:rPr lang="en-US" sz="1900" dirty="0" smtClean="0"/>
                  <a:t>.</a:t>
                </a:r>
              </a:p>
              <a:p>
                <a:r>
                  <a:rPr lang="en-US" sz="1900" dirty="0"/>
                  <a:t>The reason that the FFN connects the attention </a:t>
                </a:r>
                <a:r>
                  <a:rPr lang="en-US" sz="1900" i="1" dirty="0"/>
                  <a:t>A</a:t>
                </a:r>
                <a:r>
                  <a:rPr lang="en-US" sz="1900" dirty="0"/>
                  <a:t>(</a:t>
                </a:r>
                <a:r>
                  <a:rPr lang="en-US" sz="1900" b="1" i="1" dirty="0"/>
                  <a:t>X</a:t>
                </a:r>
                <a:r>
                  <a:rPr lang="en-US" sz="1900" dirty="0"/>
                  <a:t>) for constituting a complex transformer is to fine-tune the attention </a:t>
                </a:r>
                <a:r>
                  <a:rPr lang="en-US" sz="1900" i="1" dirty="0"/>
                  <a:t>A</a:t>
                </a:r>
                <a:r>
                  <a:rPr lang="en-US" sz="1900" dirty="0"/>
                  <a:t>(</a:t>
                </a:r>
                <a:r>
                  <a:rPr lang="en-US" sz="1900" b="1" i="1" dirty="0"/>
                  <a:t>X</a:t>
                </a:r>
                <a:r>
                  <a:rPr lang="en-US" sz="1900" dirty="0"/>
                  <a:t>), which is the second viewpoint that is opposite to the aforementioned first viewpoint that the attention </a:t>
                </a:r>
                <a:r>
                  <a:rPr lang="en-US" sz="1900" i="1" dirty="0"/>
                  <a:t>A</a:t>
                </a:r>
                <a:r>
                  <a:rPr lang="en-US" sz="1900" dirty="0"/>
                  <a:t>(</a:t>
                </a:r>
                <a:r>
                  <a:rPr lang="en-US" sz="1900" b="1" i="1" dirty="0"/>
                  <a:t>X</a:t>
                </a:r>
                <a:r>
                  <a:rPr lang="en-US" sz="1900" dirty="0"/>
                  <a:t>) aims to fine-tune the coarse input data </a:t>
                </a:r>
                <a:r>
                  <a:rPr lang="en-US" sz="1900" b="1" i="1" dirty="0"/>
                  <a:t>X</a:t>
                </a:r>
                <a:r>
                  <a:rPr lang="en-US" sz="1900" dirty="0"/>
                  <a:t> into finer feature </a:t>
                </a:r>
                <a:r>
                  <a:rPr lang="en-US" sz="1900" i="1" dirty="0"/>
                  <a:t>A</a:t>
                </a:r>
                <a:r>
                  <a:rPr lang="en-US" sz="1900" dirty="0"/>
                  <a:t>(</a:t>
                </a:r>
                <a:r>
                  <a:rPr lang="en-US" sz="1900" b="1" i="1" dirty="0"/>
                  <a:t>X</a:t>
                </a:r>
                <a:r>
                  <a:rPr lang="en-US" sz="1900"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 y="914399"/>
                <a:ext cx="12009120" cy="5176066"/>
              </a:xfrm>
              <a:blipFill>
                <a:blip r:embed="rId2"/>
                <a:stretch>
                  <a:fillRect l="-406" t="-707" r="-711" b="-3298"/>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22</a:t>
            </a:fld>
            <a:endParaRPr lang="en-US"/>
          </a:p>
        </p:txBody>
      </p:sp>
    </p:spTree>
    <p:extLst>
      <p:ext uri="{BB962C8B-B14F-4D97-AF65-F5344CB8AC3E}">
        <p14:creationId xmlns:p14="http://schemas.microsoft.com/office/powerpoint/2010/main" val="174435637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p:sp>
        <p:nvSpPr>
          <p:cNvPr id="3" name="Content Placeholder 2"/>
          <p:cNvSpPr>
            <a:spLocks noGrp="1"/>
          </p:cNvSpPr>
          <p:nvPr>
            <p:ph idx="1"/>
          </p:nvPr>
        </p:nvSpPr>
        <p:spPr>
          <a:xfrm>
            <a:off x="71120" y="914399"/>
            <a:ext cx="12049760" cy="5176066"/>
          </a:xfrm>
        </p:spPr>
        <p:txBody>
          <a:bodyPr>
            <a:noAutofit/>
          </a:bodyPr>
          <a:lstStyle/>
          <a:p>
            <a:r>
              <a:rPr lang="en-US" sz="2250" dirty="0"/>
              <a:t>The essence of convolutional neural network (CNN) is to extract feature of image whereas the essence of transformer-based attention discovering is to extract feature of general data in matrix form. That is the reason of the main hypothesis of this </a:t>
            </a:r>
            <a:r>
              <a:rPr lang="en-US" sz="2250" dirty="0" smtClean="0"/>
              <a:t>research “Is </a:t>
            </a:r>
            <a:r>
              <a:rPr lang="en-US" sz="2250" dirty="0"/>
              <a:t>matrix neural network </a:t>
            </a:r>
            <a:r>
              <a:rPr lang="en-US" sz="2250" dirty="0" smtClean="0"/>
              <a:t>(MNN) the </a:t>
            </a:r>
            <a:r>
              <a:rPr lang="en-US" sz="2250" dirty="0"/>
              <a:t>alternative of </a:t>
            </a:r>
            <a:r>
              <a:rPr lang="en-US" sz="2250" dirty="0" smtClean="0"/>
              <a:t>CNN?”, </a:t>
            </a:r>
            <a:r>
              <a:rPr lang="en-US" sz="2250" dirty="0"/>
              <a:t>which also implies that whether attention extracted by transformer can be the alternative of convolutional layer resulted by CNN when attention of transformer is always based on matrix. The first hazard problem is that CNN processes fast convolutional layer because of the implication of filter operating by small size of kernel whereas there is the aforementioned boom problem of ANN depends on flattening high-dimensional matrix-form data like image into vector-form input </a:t>
            </a:r>
            <a:r>
              <a:rPr lang="en-US" sz="2250" dirty="0" smtClean="0"/>
              <a:t>layer.</a:t>
            </a:r>
          </a:p>
          <a:p>
            <a:r>
              <a:rPr lang="en-US" sz="2250" dirty="0" smtClean="0"/>
              <a:t>Fortunately</a:t>
            </a:r>
            <a:r>
              <a:rPr lang="en-US" sz="2250" dirty="0"/>
              <a:t>, the first hazard problem is solved exactly by </a:t>
            </a:r>
            <a:r>
              <a:rPr lang="en-US" sz="2250" dirty="0" smtClean="0"/>
              <a:t>MNN </a:t>
            </a:r>
            <a:r>
              <a:rPr lang="en-US" sz="2250" dirty="0"/>
              <a:t>where parameters of MNN are in matrix form. As a result, </a:t>
            </a:r>
            <a:r>
              <a:rPr lang="en-US" sz="2250" dirty="0">
                <a:effectLst>
                  <a:outerShdw blurRad="38100" dist="38100" dir="2700000" algn="tl">
                    <a:srgbClr val="000000">
                      <a:alpha val="43137"/>
                    </a:srgbClr>
                  </a:outerShdw>
                </a:effectLst>
              </a:rPr>
              <a:t>the fact that FFN of transformer is MNN is application of MNN into transformer so that the research focuses on the effectiveness of MNN in comparison with CNN in order to evaluate the hypothesis “Is </a:t>
            </a:r>
            <a:r>
              <a:rPr lang="en-US" sz="2250" dirty="0" smtClean="0">
                <a:effectLst>
                  <a:outerShdw blurRad="38100" dist="38100" dir="2700000" algn="tl">
                    <a:srgbClr val="000000">
                      <a:alpha val="43137"/>
                    </a:srgbClr>
                  </a:outerShdw>
                </a:effectLst>
              </a:rPr>
              <a:t>MNN </a:t>
            </a:r>
            <a:r>
              <a:rPr lang="en-US" sz="2250" dirty="0">
                <a:effectLst>
                  <a:outerShdw blurRad="38100" dist="38100" dir="2700000" algn="tl">
                    <a:srgbClr val="000000">
                      <a:alpha val="43137"/>
                    </a:srgbClr>
                  </a:outerShdw>
                </a:effectLst>
              </a:rPr>
              <a:t>the alternative of </a:t>
            </a:r>
            <a:r>
              <a:rPr lang="en-US" sz="2250" dirty="0" smtClean="0">
                <a:effectLst>
                  <a:outerShdw blurRad="38100" dist="38100" dir="2700000" algn="tl">
                    <a:srgbClr val="000000">
                      <a:alpha val="43137"/>
                    </a:srgbClr>
                  </a:outerShdw>
                </a:effectLst>
              </a:rPr>
              <a:t>CNN?”</a:t>
            </a:r>
            <a:r>
              <a:rPr lang="en-US" sz="2250" dirty="0" smtClean="0"/>
              <a:t> </a:t>
            </a:r>
            <a:r>
              <a:rPr lang="en-US" sz="2250" dirty="0"/>
              <a:t>with note that convergence speed is also concerned when evaluating this hypothesis. Anyhow, it is necessary to sketch transformer and its extraction mechanism for extracting attention.</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23</a:t>
            </a:fld>
            <a:endParaRPr lang="en-US"/>
          </a:p>
        </p:txBody>
      </p:sp>
    </p:spTree>
    <p:extLst>
      <p:ext uri="{BB962C8B-B14F-4D97-AF65-F5344CB8AC3E}">
        <p14:creationId xmlns:p14="http://schemas.microsoft.com/office/powerpoint/2010/main" val="209967988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29440" cy="5176066"/>
              </a:xfrm>
            </p:spPr>
            <p:txBody>
              <a:bodyPr>
                <a:noAutofit/>
              </a:bodyPr>
              <a:lstStyle/>
              <a:p>
                <a:pPr marL="0" indent="0">
                  <a:buNone/>
                </a:pPr>
                <a:r>
                  <a:rPr lang="en-US" sz="2100" dirty="0" smtClean="0">
                    <a:effectLst>
                      <a:outerShdw blurRad="38100" dist="38100" dir="2700000" algn="tl">
                        <a:srgbClr val="000000">
                          <a:alpha val="43137"/>
                        </a:srgbClr>
                      </a:outerShdw>
                    </a:effectLst>
                  </a:rPr>
                  <a:t>Given input data </a:t>
                </a:r>
                <a:r>
                  <a:rPr lang="en-US" sz="2100" b="1" i="1" dirty="0">
                    <a:effectLst>
                      <a:outerShdw blurRad="38100" dist="38100" dir="2700000" algn="tl">
                        <a:srgbClr val="000000">
                          <a:alpha val="43137"/>
                        </a:srgbClr>
                      </a:outerShdw>
                    </a:effectLst>
                  </a:rPr>
                  <a:t>X</a:t>
                </a:r>
                <a:r>
                  <a:rPr lang="en-US" sz="2100" dirty="0">
                    <a:effectLst>
                      <a:outerShdw blurRad="38100" dist="38100" dir="2700000" algn="tl">
                        <a:srgbClr val="000000">
                          <a:alpha val="43137"/>
                        </a:srgbClr>
                      </a:outerShdw>
                    </a:effectLst>
                  </a:rPr>
                  <a:t> = </a:t>
                </a:r>
                <a:r>
                  <a:rPr lang="en-US" sz="2100" b="1" i="1" dirty="0">
                    <a:effectLst>
                      <a:outerShdw blurRad="38100" dist="38100" dir="2700000" algn="tl">
                        <a:srgbClr val="000000">
                          <a:alpha val="43137"/>
                        </a:srgbClr>
                      </a:outerShdw>
                    </a:effectLst>
                  </a:rPr>
                  <a:t>X</a:t>
                </a:r>
                <a:r>
                  <a:rPr lang="en-US" sz="2100" baseline="-25000" dirty="0">
                    <a:effectLst>
                      <a:outerShdw blurRad="38100" dist="38100" dir="2700000" algn="tl">
                        <a:srgbClr val="000000">
                          <a:alpha val="43137"/>
                        </a:srgbClr>
                      </a:outerShdw>
                    </a:effectLst>
                  </a:rPr>
                  <a:t>0</a:t>
                </a:r>
                <a:r>
                  <a:rPr lang="en-US" sz="2100" dirty="0">
                    <a:effectLst>
                      <a:outerShdw blurRad="38100" dist="38100" dir="2700000" algn="tl">
                        <a:srgbClr val="000000">
                          <a:alpha val="43137"/>
                        </a:srgbClr>
                      </a:outerShdw>
                    </a:effectLst>
                  </a:rPr>
                  <a:t> and three weight </a:t>
                </a:r>
                <a:r>
                  <a:rPr lang="en-US" sz="2100" dirty="0" smtClean="0">
                    <a:effectLst>
                      <a:outerShdw blurRad="38100" dist="38100" dir="2700000" algn="tl">
                        <a:srgbClr val="000000">
                          <a:alpha val="43137"/>
                        </a:srgbClr>
                      </a:outerShdw>
                    </a:effectLst>
                  </a:rPr>
                  <a:t>matrices </a:t>
                </a:r>
                <a:r>
                  <a:rPr lang="en-US" sz="2100" i="1" dirty="0">
                    <a:effectLst>
                      <a:outerShdw blurRad="38100" dist="38100" dir="2700000" algn="tl">
                        <a:srgbClr val="000000">
                          <a:alpha val="43137"/>
                        </a:srgbClr>
                      </a:outerShdw>
                    </a:effectLst>
                  </a:rPr>
                  <a:t>W</a:t>
                </a:r>
                <a:r>
                  <a:rPr lang="en-US" sz="2100" i="1" baseline="30000" dirty="0">
                    <a:effectLst>
                      <a:outerShdw blurRad="38100" dist="38100" dir="2700000" algn="tl">
                        <a:srgbClr val="000000">
                          <a:alpha val="43137"/>
                        </a:srgbClr>
                      </a:outerShdw>
                    </a:effectLst>
                  </a:rPr>
                  <a:t>Q</a:t>
                </a:r>
                <a:r>
                  <a:rPr lang="en-US" sz="2100" dirty="0">
                    <a:effectLst>
                      <a:outerShdw blurRad="38100" dist="38100" dir="2700000" algn="tl">
                        <a:srgbClr val="000000">
                          <a:alpha val="43137"/>
                        </a:srgbClr>
                      </a:outerShdw>
                    </a:effectLst>
                  </a:rPr>
                  <a:t>, </a:t>
                </a:r>
                <a:r>
                  <a:rPr lang="en-US" sz="2100" i="1" dirty="0">
                    <a:effectLst>
                      <a:outerShdw blurRad="38100" dist="38100" dir="2700000" algn="tl">
                        <a:srgbClr val="000000">
                          <a:alpha val="43137"/>
                        </a:srgbClr>
                      </a:outerShdw>
                    </a:effectLst>
                  </a:rPr>
                  <a:t>W</a:t>
                </a:r>
                <a:r>
                  <a:rPr lang="en-US" sz="2100" i="1" baseline="30000" dirty="0">
                    <a:effectLst>
                      <a:outerShdw blurRad="38100" dist="38100" dir="2700000" algn="tl">
                        <a:srgbClr val="000000">
                          <a:alpha val="43137"/>
                        </a:srgbClr>
                      </a:outerShdw>
                    </a:effectLst>
                  </a:rPr>
                  <a:t>K</a:t>
                </a:r>
                <a:r>
                  <a:rPr lang="en-US" sz="2100" dirty="0">
                    <a:effectLst>
                      <a:outerShdw blurRad="38100" dist="38100" dir="2700000" algn="tl">
                        <a:srgbClr val="000000">
                          <a:alpha val="43137"/>
                        </a:srgbClr>
                      </a:outerShdw>
                    </a:effectLst>
                  </a:rPr>
                  <a:t>, and </a:t>
                </a:r>
                <a:r>
                  <a:rPr lang="en-US" sz="2100" i="1" dirty="0">
                    <a:effectLst>
                      <a:outerShdw blurRad="38100" dist="38100" dir="2700000" algn="tl">
                        <a:srgbClr val="000000">
                          <a:alpha val="43137"/>
                        </a:srgbClr>
                      </a:outerShdw>
                    </a:effectLst>
                  </a:rPr>
                  <a:t>W</a:t>
                </a:r>
                <a:r>
                  <a:rPr lang="en-US" sz="2100" i="1" baseline="30000" dirty="0">
                    <a:effectLst>
                      <a:outerShdw blurRad="38100" dist="38100" dir="2700000" algn="tl">
                        <a:srgbClr val="000000">
                          <a:alpha val="43137"/>
                        </a:srgbClr>
                      </a:outerShdw>
                    </a:effectLst>
                  </a:rPr>
                  <a:t>V</a:t>
                </a:r>
                <a:r>
                  <a:rPr lang="en-US" sz="2100" dirty="0">
                    <a:effectLst>
                      <a:outerShdw blurRad="38100" dist="38100" dir="2700000" algn="tl">
                        <a:srgbClr val="000000">
                          <a:alpha val="43137"/>
                        </a:srgbClr>
                      </a:outerShdw>
                    </a:effectLst>
                  </a:rPr>
                  <a:t> which are parameters of transformer, then query matrix </a:t>
                </a:r>
                <a:r>
                  <a:rPr lang="en-US" sz="2100" i="1" dirty="0">
                    <a:effectLst>
                      <a:outerShdw blurRad="38100" dist="38100" dir="2700000" algn="tl">
                        <a:srgbClr val="000000">
                          <a:alpha val="43137"/>
                        </a:srgbClr>
                      </a:outerShdw>
                    </a:effectLst>
                  </a:rPr>
                  <a:t>Q</a:t>
                </a:r>
                <a:r>
                  <a:rPr lang="en-US" sz="2100" dirty="0">
                    <a:effectLst>
                      <a:outerShdw blurRad="38100" dist="38100" dir="2700000" algn="tl">
                        <a:srgbClr val="000000">
                          <a:alpha val="43137"/>
                        </a:srgbClr>
                      </a:outerShdw>
                    </a:effectLst>
                  </a:rPr>
                  <a:t>, key matrix </a:t>
                </a:r>
                <a:r>
                  <a:rPr lang="en-US" sz="2100" i="1" dirty="0">
                    <a:effectLst>
                      <a:outerShdw blurRad="38100" dist="38100" dir="2700000" algn="tl">
                        <a:srgbClr val="000000">
                          <a:alpha val="43137"/>
                        </a:srgbClr>
                      </a:outerShdw>
                    </a:effectLst>
                  </a:rPr>
                  <a:t>K</a:t>
                </a:r>
                <a:r>
                  <a:rPr lang="en-US" sz="2100" dirty="0">
                    <a:effectLst>
                      <a:outerShdw blurRad="38100" dist="38100" dir="2700000" algn="tl">
                        <a:srgbClr val="000000">
                          <a:alpha val="43137"/>
                        </a:srgbClr>
                      </a:outerShdw>
                    </a:effectLst>
                  </a:rPr>
                  <a:t>, and value matrix </a:t>
                </a:r>
                <a:r>
                  <a:rPr lang="en-US" sz="2100" i="1" dirty="0">
                    <a:effectLst>
                      <a:outerShdw blurRad="38100" dist="38100" dir="2700000" algn="tl">
                        <a:srgbClr val="000000">
                          <a:alpha val="43137"/>
                        </a:srgbClr>
                      </a:outerShdw>
                    </a:effectLst>
                  </a:rPr>
                  <a:t>V</a:t>
                </a:r>
                <a:r>
                  <a:rPr lang="en-US" sz="2100" dirty="0">
                    <a:effectLst>
                      <a:outerShdw blurRad="38100" dist="38100" dir="2700000" algn="tl">
                        <a:srgbClr val="000000">
                          <a:alpha val="43137"/>
                        </a:srgbClr>
                      </a:outerShdw>
                    </a:effectLst>
                  </a:rPr>
                  <a:t> are specified as follows</a:t>
                </a:r>
                <a:r>
                  <a:rPr lang="en-US" sz="2100" dirty="0" smtClean="0">
                    <a:effectLst>
                      <a:outerShdw blurRad="38100" dist="38100" dir="2700000" algn="tl">
                        <a:srgbClr val="000000">
                          <a:alpha val="43137"/>
                        </a:srgbClr>
                      </a:outerShdw>
                    </a:effectLst>
                  </a:rPr>
                  <a:t>:</a:t>
                </a:r>
              </a:p>
              <a:p>
                <a:pPr marL="0" indent="0">
                  <a:buNone/>
                </a:pPr>
                <a14:m>
                  <m:oMathPara xmlns:m="http://schemas.openxmlformats.org/officeDocument/2006/math">
                    <m:oMathParaPr>
                      <m:jc m:val="centerGroup"/>
                    </m:oMathParaPr>
                    <m:oMath xmlns:m="http://schemas.openxmlformats.org/officeDocument/2006/math">
                      <m:r>
                        <a:rPr lang="en-US" sz="2100" i="1">
                          <a:latin typeface="Cambria Math" panose="02040503050406030204" pitchFamily="18" charset="0"/>
                        </a:rPr>
                        <m:t>𝑄</m:t>
                      </m:r>
                      <m:r>
                        <a:rPr lang="en-US" sz="2100" i="1">
                          <a:latin typeface="Cambria Math" panose="02040503050406030204" pitchFamily="18" charset="0"/>
                        </a:rPr>
                        <m:t>=</m:t>
                      </m:r>
                      <m:r>
                        <a:rPr lang="en-US" sz="2100" b="1" i="1">
                          <a:latin typeface="Cambria Math" panose="02040503050406030204" pitchFamily="18" charset="0"/>
                        </a:rPr>
                        <m:t>𝑿</m:t>
                      </m:r>
                      <m:sSup>
                        <m:sSupPr>
                          <m:ctrlPr>
                            <a:rPr lang="en-US" sz="2100" i="1">
                              <a:latin typeface="Cambria Math" panose="02040503050406030204" pitchFamily="18" charset="0"/>
                            </a:rPr>
                          </m:ctrlPr>
                        </m:sSupPr>
                        <m:e>
                          <m:r>
                            <a:rPr lang="en-US" sz="2100" i="1">
                              <a:latin typeface="Cambria Math" panose="02040503050406030204" pitchFamily="18" charset="0"/>
                            </a:rPr>
                            <m:t>𝑊</m:t>
                          </m:r>
                        </m:e>
                        <m:sup>
                          <m:r>
                            <a:rPr lang="en-US" sz="2100" i="1">
                              <a:latin typeface="Cambria Math" panose="02040503050406030204" pitchFamily="18" charset="0"/>
                            </a:rPr>
                            <m:t>𝑄</m:t>
                          </m:r>
                        </m:sup>
                      </m:sSup>
                      <m:r>
                        <a:rPr lang="en-US" sz="2100" b="0" i="1" smtClean="0">
                          <a:latin typeface="Cambria Math" panose="02040503050406030204" pitchFamily="18" charset="0"/>
                        </a:rPr>
                        <m:t>,</m:t>
                      </m:r>
                      <m:r>
                        <a:rPr lang="en-US" sz="2100" i="1">
                          <a:latin typeface="Cambria Math" panose="02040503050406030204" pitchFamily="18" charset="0"/>
                        </a:rPr>
                        <m:t>𝐾</m:t>
                      </m:r>
                      <m:r>
                        <a:rPr lang="en-US" sz="2100" i="1">
                          <a:latin typeface="Cambria Math" panose="02040503050406030204" pitchFamily="18" charset="0"/>
                        </a:rPr>
                        <m:t>=</m:t>
                      </m:r>
                      <m:r>
                        <a:rPr lang="en-US" sz="2100" b="1" i="1">
                          <a:latin typeface="Cambria Math" panose="02040503050406030204" pitchFamily="18" charset="0"/>
                        </a:rPr>
                        <m:t>𝑿</m:t>
                      </m:r>
                      <m:sSup>
                        <m:sSupPr>
                          <m:ctrlPr>
                            <a:rPr lang="en-US" sz="2100" i="1">
                              <a:latin typeface="Cambria Math" panose="02040503050406030204" pitchFamily="18" charset="0"/>
                            </a:rPr>
                          </m:ctrlPr>
                        </m:sSupPr>
                        <m:e>
                          <m:r>
                            <a:rPr lang="en-US" sz="2100" i="1">
                              <a:latin typeface="Cambria Math" panose="02040503050406030204" pitchFamily="18" charset="0"/>
                            </a:rPr>
                            <m:t>𝑊</m:t>
                          </m:r>
                        </m:e>
                        <m:sup>
                          <m:r>
                            <a:rPr lang="en-US" sz="2100" i="1">
                              <a:latin typeface="Cambria Math" panose="02040503050406030204" pitchFamily="18" charset="0"/>
                            </a:rPr>
                            <m:t>𝐾</m:t>
                          </m:r>
                        </m:sup>
                      </m:sSup>
                      <m:r>
                        <a:rPr lang="en-US" sz="2100" b="0" i="1" smtClean="0">
                          <a:latin typeface="Cambria Math" panose="02040503050406030204" pitchFamily="18" charset="0"/>
                        </a:rPr>
                        <m:t>,</m:t>
                      </m:r>
                      <m:r>
                        <a:rPr lang="en-US" sz="2100" i="1">
                          <a:latin typeface="Cambria Math" panose="02040503050406030204" pitchFamily="18" charset="0"/>
                        </a:rPr>
                        <m:t>𝑉</m:t>
                      </m:r>
                      <m:r>
                        <a:rPr lang="en-US" sz="2100" i="1">
                          <a:latin typeface="Cambria Math" panose="02040503050406030204" pitchFamily="18" charset="0"/>
                        </a:rPr>
                        <m:t>=</m:t>
                      </m:r>
                      <m:r>
                        <a:rPr lang="en-US" sz="2100" b="1" i="1">
                          <a:latin typeface="Cambria Math" panose="02040503050406030204" pitchFamily="18" charset="0"/>
                        </a:rPr>
                        <m:t>𝑿</m:t>
                      </m:r>
                      <m:sSup>
                        <m:sSupPr>
                          <m:ctrlPr>
                            <a:rPr lang="en-US" sz="2100" i="1">
                              <a:latin typeface="Cambria Math" panose="02040503050406030204" pitchFamily="18" charset="0"/>
                            </a:rPr>
                          </m:ctrlPr>
                        </m:sSupPr>
                        <m:e>
                          <m:r>
                            <a:rPr lang="en-US" sz="2100" i="1">
                              <a:latin typeface="Cambria Math" panose="02040503050406030204" pitchFamily="18" charset="0"/>
                            </a:rPr>
                            <m:t>𝑊</m:t>
                          </m:r>
                        </m:e>
                        <m:sup>
                          <m:r>
                            <a:rPr lang="en-US" sz="2100" i="1">
                              <a:latin typeface="Cambria Math" panose="02040503050406030204" pitchFamily="18" charset="0"/>
                            </a:rPr>
                            <m:t>𝑉</m:t>
                          </m:r>
                        </m:sup>
                      </m:sSup>
                    </m:oMath>
                  </m:oMathPara>
                </a14:m>
                <a:endParaRPr lang="en-US" sz="2100" dirty="0" smtClean="0"/>
              </a:p>
              <a:p>
                <a:pPr marL="0" indent="0">
                  <a:buNone/>
                </a:pPr>
                <a:r>
                  <a:rPr lang="en-US" sz="2100" dirty="0"/>
                  <a:t>Query matrix </a:t>
                </a:r>
                <a:r>
                  <a:rPr lang="en-US" sz="2100" i="1" dirty="0"/>
                  <a:t>Q</a:t>
                </a:r>
                <a:r>
                  <a:rPr lang="en-US" sz="2100" dirty="0"/>
                  <a:t> represents what the system necessarily searches and key matrix </a:t>
                </a:r>
                <a:r>
                  <a:rPr lang="en-US" sz="2100" i="1" dirty="0"/>
                  <a:t>K</a:t>
                </a:r>
                <a:r>
                  <a:rPr lang="en-US" sz="2100" dirty="0"/>
                  <a:t> represents the information that sequence </a:t>
                </a:r>
                <a:r>
                  <a:rPr lang="en-US" sz="2100" b="1" i="1" dirty="0"/>
                  <a:t>X</a:t>
                </a:r>
                <a:r>
                  <a:rPr lang="en-US" sz="2100" dirty="0"/>
                  <a:t> may expectedly contain whereas value matrix </a:t>
                </a:r>
                <a:r>
                  <a:rPr lang="en-US" sz="2100" i="1" dirty="0"/>
                  <a:t>V</a:t>
                </a:r>
                <a:r>
                  <a:rPr lang="en-US" sz="2100" dirty="0"/>
                  <a:t> represents the actual content of sequence </a:t>
                </a:r>
                <a:r>
                  <a:rPr lang="en-US" sz="2100" b="1" i="1" dirty="0"/>
                  <a:t>X</a:t>
                </a:r>
                <a:r>
                  <a:rPr lang="en-US" sz="2100" dirty="0"/>
                  <a:t> (Gemini 2025). As usual, the three parametric matrices</a:t>
                </a:r>
                <a:r>
                  <a:rPr lang="en-US" sz="2100" i="1" dirty="0"/>
                  <a:t> W</a:t>
                </a:r>
                <a:r>
                  <a:rPr lang="en-US" sz="2100" i="1" baseline="30000" dirty="0"/>
                  <a:t>Q</a:t>
                </a:r>
                <a:r>
                  <a:rPr lang="en-US" sz="2100" dirty="0"/>
                  <a:t>, </a:t>
                </a:r>
                <a:r>
                  <a:rPr lang="en-US" sz="2100" i="1" dirty="0"/>
                  <a:t>W</a:t>
                </a:r>
                <a:r>
                  <a:rPr lang="en-US" sz="2100" i="1" baseline="30000" dirty="0"/>
                  <a:t>K</a:t>
                </a:r>
                <a:r>
                  <a:rPr lang="en-US" sz="2100" dirty="0"/>
                  <a:t>, and </a:t>
                </a:r>
                <a:r>
                  <a:rPr lang="en-US" sz="2100" i="1" dirty="0"/>
                  <a:t>W</a:t>
                </a:r>
                <a:r>
                  <a:rPr lang="en-US" sz="2100" i="1" baseline="30000" dirty="0"/>
                  <a:t>V</a:t>
                </a:r>
                <a:r>
                  <a:rPr lang="en-US" sz="2100" dirty="0"/>
                  <a:t> are called query weight matrix, key weight matrix, value weight matrix, respectively. </a:t>
                </a:r>
                <a:r>
                  <a:rPr lang="en-US" sz="2100" dirty="0">
                    <a:effectLst>
                      <a:outerShdw blurRad="38100" dist="38100" dir="2700000" algn="tl">
                        <a:srgbClr val="000000">
                          <a:alpha val="43137"/>
                        </a:srgbClr>
                      </a:outerShdw>
                    </a:effectLst>
                  </a:rPr>
                  <a:t>Attention </a:t>
                </a:r>
                <a:r>
                  <a:rPr lang="en-US" sz="2100" i="1" dirty="0">
                    <a:effectLst>
                      <a:outerShdw blurRad="38100" dist="38100" dir="2700000" algn="tl">
                        <a:srgbClr val="000000">
                          <a:alpha val="43137"/>
                        </a:srgbClr>
                      </a:outerShdw>
                    </a:effectLst>
                  </a:rPr>
                  <a:t>A</a:t>
                </a:r>
                <a:r>
                  <a:rPr lang="en-US" sz="2100" dirty="0">
                    <a:effectLst>
                      <a:outerShdw blurRad="38100" dist="38100" dir="2700000" algn="tl">
                        <a:srgbClr val="000000">
                          <a:alpha val="43137"/>
                        </a:srgbClr>
                      </a:outerShdw>
                    </a:effectLst>
                  </a:rPr>
                  <a:t> = </a:t>
                </a:r>
                <a:r>
                  <a:rPr lang="en-US" sz="2100" i="1" dirty="0">
                    <a:effectLst>
                      <a:outerShdw blurRad="38100" dist="38100" dir="2700000" algn="tl">
                        <a:srgbClr val="000000">
                          <a:alpha val="43137"/>
                        </a:srgbClr>
                      </a:outerShdw>
                    </a:effectLst>
                  </a:rPr>
                  <a:t>A</a:t>
                </a:r>
                <a:r>
                  <a:rPr lang="en-US" sz="2100" dirty="0">
                    <a:effectLst>
                      <a:outerShdw blurRad="38100" dist="38100" dir="2700000" algn="tl">
                        <a:srgbClr val="000000">
                          <a:alpha val="43137"/>
                        </a:srgbClr>
                      </a:outerShdw>
                    </a:effectLst>
                  </a:rPr>
                  <a:t>(</a:t>
                </a:r>
                <a:r>
                  <a:rPr lang="en-US" sz="2100" b="1" i="1" dirty="0">
                    <a:effectLst>
                      <a:outerShdw blurRad="38100" dist="38100" dir="2700000" algn="tl">
                        <a:srgbClr val="000000">
                          <a:alpha val="43137"/>
                        </a:srgbClr>
                      </a:outerShdw>
                    </a:effectLst>
                  </a:rPr>
                  <a:t>X</a:t>
                </a:r>
                <a:r>
                  <a:rPr lang="en-US" sz="2100" dirty="0">
                    <a:effectLst>
                      <a:outerShdw blurRad="38100" dist="38100" dir="2700000" algn="tl">
                        <a:srgbClr val="000000">
                          <a:alpha val="43137"/>
                        </a:srgbClr>
                      </a:outerShdw>
                    </a:effectLst>
                  </a:rPr>
                  <a:t>) is calculated based on product of </a:t>
                </a:r>
                <a:r>
                  <a:rPr lang="en-US" sz="2100" i="1" dirty="0">
                    <a:effectLst>
                      <a:outerShdw blurRad="38100" dist="38100" dir="2700000" algn="tl">
                        <a:srgbClr val="000000">
                          <a:alpha val="43137"/>
                        </a:srgbClr>
                      </a:outerShdw>
                    </a:effectLst>
                  </a:rPr>
                  <a:t>Q</a:t>
                </a:r>
                <a:r>
                  <a:rPr lang="en-US" sz="2100" dirty="0">
                    <a:effectLst>
                      <a:outerShdw blurRad="38100" dist="38100" dir="2700000" algn="tl">
                        <a:srgbClr val="000000">
                          <a:alpha val="43137"/>
                        </a:srgbClr>
                      </a:outerShdw>
                    </a:effectLst>
                  </a:rPr>
                  <a:t>, </a:t>
                </a:r>
                <a:r>
                  <a:rPr lang="en-US" sz="2100" i="1" dirty="0">
                    <a:effectLst>
                      <a:outerShdw blurRad="38100" dist="38100" dir="2700000" algn="tl">
                        <a:srgbClr val="000000">
                          <a:alpha val="43137"/>
                        </a:srgbClr>
                      </a:outerShdw>
                    </a:effectLst>
                  </a:rPr>
                  <a:t>K</a:t>
                </a:r>
                <a:r>
                  <a:rPr lang="en-US" sz="2100" dirty="0">
                    <a:effectLst>
                      <a:outerShdw blurRad="38100" dist="38100" dir="2700000" algn="tl">
                        <a:srgbClr val="000000">
                          <a:alpha val="43137"/>
                        </a:srgbClr>
                      </a:outerShdw>
                    </a:effectLst>
                  </a:rPr>
                  <a:t>, and </a:t>
                </a:r>
                <a:r>
                  <a:rPr lang="en-US" sz="2100" i="1" dirty="0">
                    <a:effectLst>
                      <a:outerShdw blurRad="38100" dist="38100" dir="2700000" algn="tl">
                        <a:srgbClr val="000000">
                          <a:alpha val="43137"/>
                        </a:srgbClr>
                      </a:outerShdw>
                    </a:effectLst>
                  </a:rPr>
                  <a:t>V</a:t>
                </a:r>
                <a:r>
                  <a:rPr lang="en-US" sz="2100" dirty="0">
                    <a:effectLst>
                      <a:outerShdw blurRad="38100" dist="38100" dir="2700000" algn="tl">
                        <a:srgbClr val="000000">
                          <a:alpha val="43137"/>
                        </a:srgbClr>
                      </a:outerShdw>
                    </a:effectLst>
                  </a:rPr>
                  <a:t> in association with soft-max function, as follows</a:t>
                </a:r>
                <a:r>
                  <a:rPr lang="en-US" sz="2100" dirty="0" smtClean="0">
                    <a:effectLst>
                      <a:outerShdw blurRad="38100" dist="38100" dir="2700000" algn="tl">
                        <a:srgbClr val="000000">
                          <a:alpha val="43137"/>
                        </a:srgbClr>
                      </a:outerShdw>
                    </a:effectLst>
                  </a:rPr>
                  <a:t>:</a:t>
                </a:r>
              </a:p>
              <a:p>
                <a:pPr marL="0" indent="0">
                  <a:buNone/>
                </a:pPr>
                <a14:m>
                  <m:oMathPara xmlns:m="http://schemas.openxmlformats.org/officeDocument/2006/math">
                    <m:oMathParaPr>
                      <m:jc m:val="centerGroup"/>
                    </m:oMathParaPr>
                    <m:oMath xmlns:m="http://schemas.openxmlformats.org/officeDocument/2006/math">
                      <m:r>
                        <a:rPr lang="en-US" sz="2100" i="1">
                          <a:latin typeface="Cambria Math" panose="02040503050406030204" pitchFamily="18" charset="0"/>
                        </a:rPr>
                        <m:t>𝐴</m:t>
                      </m:r>
                      <m:r>
                        <a:rPr lang="en-US" sz="2100" i="1">
                          <a:latin typeface="Cambria Math" panose="02040503050406030204" pitchFamily="18" charset="0"/>
                        </a:rPr>
                        <m:t>=</m:t>
                      </m:r>
                      <m:r>
                        <a:rPr lang="en-US" sz="2100" i="1">
                          <a:latin typeface="Cambria Math" panose="02040503050406030204" pitchFamily="18" charset="0"/>
                        </a:rPr>
                        <m:t>𝐴</m:t>
                      </m:r>
                      <m:d>
                        <m:dPr>
                          <m:ctrlPr>
                            <a:rPr lang="en-US" sz="2100" i="1">
                              <a:latin typeface="Cambria Math" panose="02040503050406030204" pitchFamily="18" charset="0"/>
                            </a:rPr>
                          </m:ctrlPr>
                        </m:dPr>
                        <m:e>
                          <m:r>
                            <a:rPr lang="en-US" sz="2100" b="1" i="1">
                              <a:latin typeface="Cambria Math" panose="02040503050406030204" pitchFamily="18" charset="0"/>
                            </a:rPr>
                            <m:t>𝑿</m:t>
                          </m:r>
                        </m:e>
                      </m:d>
                      <m:r>
                        <a:rPr lang="en-US" sz="2100" i="1">
                          <a:latin typeface="Cambria Math" panose="02040503050406030204" pitchFamily="18" charset="0"/>
                        </a:rPr>
                        <m:t>=</m:t>
                      </m:r>
                      <m:r>
                        <m:rPr>
                          <m:sty m:val="p"/>
                        </m:rPr>
                        <a:rPr lang="en-US" sz="2100">
                          <a:latin typeface="Cambria Math" panose="02040503050406030204" pitchFamily="18" charset="0"/>
                        </a:rPr>
                        <m:t>Attention</m:t>
                      </m:r>
                      <m:d>
                        <m:dPr>
                          <m:ctrlPr>
                            <a:rPr lang="en-US" sz="2100" i="1">
                              <a:latin typeface="Cambria Math" panose="02040503050406030204" pitchFamily="18" charset="0"/>
                            </a:rPr>
                          </m:ctrlPr>
                        </m:dPr>
                        <m:e>
                          <m:r>
                            <a:rPr lang="en-US" sz="2100" b="1" i="1">
                              <a:latin typeface="Cambria Math" panose="02040503050406030204" pitchFamily="18" charset="0"/>
                            </a:rPr>
                            <m:t>𝑿</m:t>
                          </m:r>
                        </m:e>
                      </m:d>
                      <m:r>
                        <a:rPr lang="en-US" sz="2100">
                          <a:latin typeface="Cambria Math" panose="02040503050406030204" pitchFamily="18" charset="0"/>
                        </a:rPr>
                        <m:t>=</m:t>
                      </m:r>
                      <m:r>
                        <m:rPr>
                          <m:sty m:val="p"/>
                        </m:rPr>
                        <a:rPr lang="en-US" sz="2100">
                          <a:latin typeface="Cambria Math" panose="02040503050406030204" pitchFamily="18" charset="0"/>
                        </a:rPr>
                        <m:t>Attention</m:t>
                      </m:r>
                      <m:d>
                        <m:dPr>
                          <m:ctrlPr>
                            <a:rPr lang="en-US" sz="2100" i="1">
                              <a:latin typeface="Cambria Math" panose="02040503050406030204" pitchFamily="18" charset="0"/>
                            </a:rPr>
                          </m:ctrlPr>
                        </m:dPr>
                        <m:e>
                          <m:r>
                            <a:rPr lang="en-US" sz="2100" i="1">
                              <a:latin typeface="Cambria Math" panose="02040503050406030204" pitchFamily="18" charset="0"/>
                            </a:rPr>
                            <m:t>𝑄</m:t>
                          </m:r>
                          <m:r>
                            <a:rPr lang="en-US" sz="2100" i="1">
                              <a:latin typeface="Cambria Math" panose="02040503050406030204" pitchFamily="18" charset="0"/>
                            </a:rPr>
                            <m:t>,</m:t>
                          </m:r>
                          <m:r>
                            <a:rPr lang="en-US" sz="2100" i="1">
                              <a:latin typeface="Cambria Math" panose="02040503050406030204" pitchFamily="18" charset="0"/>
                            </a:rPr>
                            <m:t>𝐾</m:t>
                          </m:r>
                          <m:r>
                            <a:rPr lang="en-US" sz="2100" i="1">
                              <a:latin typeface="Cambria Math" panose="02040503050406030204" pitchFamily="18" charset="0"/>
                            </a:rPr>
                            <m:t>,</m:t>
                          </m:r>
                          <m:r>
                            <a:rPr lang="en-US" sz="2100" i="1">
                              <a:latin typeface="Cambria Math" panose="02040503050406030204" pitchFamily="18" charset="0"/>
                            </a:rPr>
                            <m:t>𝑉</m:t>
                          </m:r>
                        </m:e>
                      </m:d>
                      <m:r>
                        <a:rPr lang="en-US" sz="2100" i="1">
                          <a:latin typeface="Cambria Math" panose="02040503050406030204" pitchFamily="18" charset="0"/>
                        </a:rPr>
                        <m:t>=</m:t>
                      </m:r>
                      <m:r>
                        <m:rPr>
                          <m:sty m:val="p"/>
                        </m:rPr>
                        <a:rPr lang="en-US" sz="2100">
                          <a:latin typeface="Cambria Math" panose="02040503050406030204" pitchFamily="18" charset="0"/>
                        </a:rPr>
                        <m:t>softmax</m:t>
                      </m:r>
                      <m:d>
                        <m:dPr>
                          <m:ctrlPr>
                            <a:rPr lang="en-US" sz="2100" i="1">
                              <a:latin typeface="Cambria Math" panose="02040503050406030204" pitchFamily="18" charset="0"/>
                            </a:rPr>
                          </m:ctrlPr>
                        </m:dPr>
                        <m:e>
                          <m:f>
                            <m:fPr>
                              <m:ctrlPr>
                                <a:rPr lang="en-US" sz="2100" i="1">
                                  <a:latin typeface="Cambria Math" panose="02040503050406030204" pitchFamily="18" charset="0"/>
                                </a:rPr>
                              </m:ctrlPr>
                            </m:fPr>
                            <m:num>
                              <m:r>
                                <a:rPr lang="en-US" sz="2100" i="1">
                                  <a:latin typeface="Cambria Math" panose="02040503050406030204" pitchFamily="18" charset="0"/>
                                </a:rPr>
                                <m:t>𝑄</m:t>
                              </m:r>
                              <m:sSup>
                                <m:sSupPr>
                                  <m:ctrlPr>
                                    <a:rPr lang="en-US" sz="2100" i="1">
                                      <a:latin typeface="Cambria Math" panose="02040503050406030204" pitchFamily="18" charset="0"/>
                                    </a:rPr>
                                  </m:ctrlPr>
                                </m:sSupPr>
                                <m:e>
                                  <m:r>
                                    <a:rPr lang="en-US" sz="2100" i="1">
                                      <a:latin typeface="Cambria Math" panose="02040503050406030204" pitchFamily="18" charset="0"/>
                                    </a:rPr>
                                    <m:t>𝐾</m:t>
                                  </m:r>
                                </m:e>
                                <m:sup>
                                  <m:r>
                                    <a:rPr lang="en-US" sz="2100" i="1">
                                      <a:latin typeface="Cambria Math" panose="02040503050406030204" pitchFamily="18" charset="0"/>
                                    </a:rPr>
                                    <m:t>𝑇</m:t>
                                  </m:r>
                                </m:sup>
                              </m:sSup>
                            </m:num>
                            <m:den>
                              <m:rad>
                                <m:radPr>
                                  <m:degHide m:val="on"/>
                                  <m:ctrlPr>
                                    <a:rPr lang="en-US" sz="2100" i="1">
                                      <a:latin typeface="Cambria Math" panose="02040503050406030204" pitchFamily="18" charset="0"/>
                                    </a:rPr>
                                  </m:ctrlPr>
                                </m:radPr>
                                <m:deg/>
                                <m:e>
                                  <m:sSub>
                                    <m:sSubPr>
                                      <m:ctrlPr>
                                        <a:rPr lang="en-US" sz="2100" i="1">
                                          <a:latin typeface="Cambria Math" panose="02040503050406030204" pitchFamily="18" charset="0"/>
                                        </a:rPr>
                                      </m:ctrlPr>
                                    </m:sSubPr>
                                    <m:e>
                                      <m:r>
                                        <a:rPr lang="en-US" sz="2100" i="1">
                                          <a:latin typeface="Cambria Math" panose="02040503050406030204" pitchFamily="18" charset="0"/>
                                        </a:rPr>
                                        <m:t>𝑑</m:t>
                                      </m:r>
                                    </m:e>
                                    <m:sub>
                                      <m:r>
                                        <a:rPr lang="en-US" sz="2100" i="1">
                                          <a:latin typeface="Cambria Math" panose="02040503050406030204" pitchFamily="18" charset="0"/>
                                        </a:rPr>
                                        <m:t>𝑘</m:t>
                                      </m:r>
                                    </m:sub>
                                  </m:sSub>
                                </m:e>
                              </m:rad>
                            </m:den>
                          </m:f>
                        </m:e>
                      </m:d>
                      <m:r>
                        <a:rPr lang="en-US" sz="2100" i="1">
                          <a:latin typeface="Cambria Math" panose="02040503050406030204" pitchFamily="18" charset="0"/>
                        </a:rPr>
                        <m:t>𝑉</m:t>
                      </m:r>
                    </m:oMath>
                  </m:oMathPara>
                </a14:m>
                <a:endParaRPr lang="en-US" sz="2100" dirty="0" smtClean="0"/>
              </a:p>
              <a:p>
                <a:pPr marL="0" indent="0">
                  <a:buNone/>
                </a:pPr>
                <a:r>
                  <a:rPr lang="en-US" sz="2100" dirty="0"/>
                  <a:t>Attention is learned by association of stochastic gradient descent (SGD) and backpropagation algorithm for maximizing the likelihood function which in turn is squared </a:t>
                </a:r>
                <a:r>
                  <a:rPr lang="en-US" sz="2100" dirty="0" err="1"/>
                  <a:t>Frobenius</a:t>
                </a:r>
                <a:r>
                  <a:rPr lang="en-US" sz="2100" dirty="0"/>
                  <a:t> norm of the distance between computed attention </a:t>
                </a:r>
                <a:r>
                  <a:rPr lang="en-US" sz="2100" i="1" dirty="0"/>
                  <a:t>A</a:t>
                </a:r>
                <a:r>
                  <a:rPr lang="en-US" sz="2100" dirty="0"/>
                  <a:t> and environmental real attention </a:t>
                </a:r>
                <a:r>
                  <a:rPr lang="en-US" sz="2100" i="1" dirty="0"/>
                  <a:t>A</a:t>
                </a:r>
                <a:r>
                  <a:rPr lang="en-US" sz="2100" dirty="0" smtClean="0"/>
                  <a:t>’.</a:t>
                </a:r>
              </a:p>
              <a:p>
                <a:pPr marL="0" indent="0">
                  <a:buNone/>
                </a:pPr>
                <a14:m>
                  <m:oMathPara xmlns:m="http://schemas.openxmlformats.org/officeDocument/2006/math">
                    <m:oMathParaPr>
                      <m:jc m:val="centerGroup"/>
                    </m:oMathParaPr>
                    <m:oMath xmlns:m="http://schemas.openxmlformats.org/officeDocument/2006/math">
                      <m:r>
                        <a:rPr lang="en-US" sz="2100" i="1">
                          <a:latin typeface="Cambria Math" panose="02040503050406030204" pitchFamily="18" charset="0"/>
                        </a:rPr>
                        <m:t>𝐿</m:t>
                      </m:r>
                      <m:d>
                        <m:dPr>
                          <m:ctrlPr>
                            <a:rPr lang="en-US" sz="2100" i="1">
                              <a:latin typeface="Cambria Math" panose="02040503050406030204" pitchFamily="18" charset="0"/>
                            </a:rPr>
                          </m:ctrlPr>
                        </m:dPr>
                        <m:e>
                          <m:r>
                            <a:rPr lang="en-US" sz="2100" i="1">
                              <a:latin typeface="Cambria Math" panose="02040503050406030204" pitchFamily="18" charset="0"/>
                            </a:rPr>
                            <m:t>𝐴</m:t>
                          </m:r>
                        </m:e>
                      </m:d>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2</m:t>
                          </m:r>
                        </m:den>
                      </m:f>
                      <m:sSup>
                        <m:sSupPr>
                          <m:ctrlPr>
                            <a:rPr lang="en-US" sz="2100" i="1">
                              <a:latin typeface="Cambria Math" panose="02040503050406030204" pitchFamily="18" charset="0"/>
                            </a:rPr>
                          </m:ctrlPr>
                        </m:sSupPr>
                        <m:e>
                          <m:d>
                            <m:dPr>
                              <m:begChr m:val="‖"/>
                              <m:endChr m:val="‖"/>
                              <m:ctrlPr>
                                <a:rPr lang="en-US" sz="2100" i="1">
                                  <a:latin typeface="Cambria Math" panose="02040503050406030204" pitchFamily="18" charset="0"/>
                                </a:rPr>
                              </m:ctrlPr>
                            </m:dPr>
                            <m:e>
                              <m:sSup>
                                <m:sSupPr>
                                  <m:ctrlPr>
                                    <a:rPr lang="en-US" sz="2100" i="1">
                                      <a:latin typeface="Cambria Math" panose="02040503050406030204" pitchFamily="18" charset="0"/>
                                    </a:rPr>
                                  </m:ctrlPr>
                                </m:sSupPr>
                                <m:e>
                                  <m:r>
                                    <a:rPr lang="en-US" sz="2100" i="1">
                                      <a:latin typeface="Cambria Math" panose="02040503050406030204" pitchFamily="18" charset="0"/>
                                    </a:rPr>
                                    <m:t>𝐴</m:t>
                                  </m:r>
                                </m:e>
                                <m:sup>
                                  <m:r>
                                    <a:rPr lang="en-US" sz="2100" i="1">
                                      <a:latin typeface="Cambria Math" panose="02040503050406030204" pitchFamily="18" charset="0"/>
                                    </a:rPr>
                                    <m:t>′</m:t>
                                  </m:r>
                                </m:sup>
                              </m:sSup>
                              <m:r>
                                <a:rPr lang="en-US" sz="2100" i="1">
                                  <a:latin typeface="Cambria Math" panose="02040503050406030204" pitchFamily="18" charset="0"/>
                                </a:rPr>
                                <m:t>−</m:t>
                              </m:r>
                              <m:r>
                                <a:rPr lang="en-US" sz="2100" i="1">
                                  <a:latin typeface="Cambria Math" panose="02040503050406030204" pitchFamily="18" charset="0"/>
                                </a:rPr>
                                <m:t>𝐴</m:t>
                              </m:r>
                            </m:e>
                          </m:d>
                        </m:e>
                        <m:sup>
                          <m:r>
                            <a:rPr lang="en-US" sz="2100" i="1">
                              <a:latin typeface="Cambria Math" panose="02040503050406030204" pitchFamily="18" charset="0"/>
                            </a:rPr>
                            <m:t>2</m:t>
                          </m:r>
                        </m:sup>
                      </m:sSup>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2</m:t>
                          </m:r>
                        </m:den>
                      </m:f>
                      <m:nary>
                        <m:naryPr>
                          <m:chr m:val="∑"/>
                          <m:limLoc m:val="undOvr"/>
                          <m:supHide m:val="on"/>
                          <m:ctrlPr>
                            <a:rPr lang="en-US" sz="2100" i="1">
                              <a:latin typeface="Cambria Math" panose="02040503050406030204" pitchFamily="18" charset="0"/>
                            </a:rPr>
                          </m:ctrlPr>
                        </m:naryPr>
                        <m:sub>
                          <m:r>
                            <a:rPr lang="en-US" sz="2100" i="1">
                              <a:latin typeface="Cambria Math" panose="02040503050406030204" pitchFamily="18" charset="0"/>
                            </a:rPr>
                            <m:t>𝑖</m:t>
                          </m:r>
                        </m:sub>
                        <m:sup/>
                        <m:e>
                          <m:nary>
                            <m:naryPr>
                              <m:chr m:val="∑"/>
                              <m:limLoc m:val="undOvr"/>
                              <m:supHide m:val="on"/>
                              <m:ctrlPr>
                                <a:rPr lang="en-US" sz="2100" i="1">
                                  <a:latin typeface="Cambria Math" panose="02040503050406030204" pitchFamily="18" charset="0"/>
                                </a:rPr>
                              </m:ctrlPr>
                            </m:naryPr>
                            <m:sub>
                              <m:r>
                                <a:rPr lang="en-US" sz="2100" i="1">
                                  <a:latin typeface="Cambria Math" panose="02040503050406030204" pitchFamily="18" charset="0"/>
                                </a:rPr>
                                <m:t>𝑗</m:t>
                              </m:r>
                            </m:sub>
                            <m:sup/>
                            <m:e>
                              <m:sSup>
                                <m:sSupPr>
                                  <m:ctrlPr>
                                    <a:rPr lang="en-US" sz="2100" i="1">
                                      <a:latin typeface="Cambria Math" panose="02040503050406030204" pitchFamily="18" charset="0"/>
                                    </a:rPr>
                                  </m:ctrlPr>
                                </m:sSupPr>
                                <m:e>
                                  <m:d>
                                    <m:dPr>
                                      <m:ctrlPr>
                                        <a:rPr lang="en-US" sz="2100" i="1">
                                          <a:latin typeface="Cambria Math" panose="02040503050406030204" pitchFamily="18" charset="0"/>
                                        </a:rPr>
                                      </m:ctrlPr>
                                    </m:dPr>
                                    <m:e>
                                      <m:sSubSup>
                                        <m:sSubSupPr>
                                          <m:ctrlPr>
                                            <a:rPr lang="en-US" sz="2100" i="1">
                                              <a:latin typeface="Cambria Math" panose="02040503050406030204" pitchFamily="18" charset="0"/>
                                            </a:rPr>
                                          </m:ctrlPr>
                                        </m:sSubSupPr>
                                        <m:e>
                                          <m:r>
                                            <a:rPr lang="en-US" sz="2100" i="1">
                                              <a:latin typeface="Cambria Math" panose="02040503050406030204" pitchFamily="18" charset="0"/>
                                            </a:rPr>
                                            <m:t>𝑎</m:t>
                                          </m:r>
                                        </m:e>
                                        <m:sub>
                                          <m:r>
                                            <a:rPr lang="en-US" sz="2100" i="1">
                                              <a:latin typeface="Cambria Math" panose="02040503050406030204" pitchFamily="18" charset="0"/>
                                            </a:rPr>
                                            <m:t>𝑖𝑗</m:t>
                                          </m:r>
                                        </m:sub>
                                        <m:sup>
                                          <m:r>
                                            <a:rPr lang="en-US" sz="2100" i="1">
                                              <a:latin typeface="Cambria Math" panose="02040503050406030204" pitchFamily="18" charset="0"/>
                                            </a:rPr>
                                            <m:t>′</m:t>
                                          </m:r>
                                        </m:sup>
                                      </m:sSub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𝑎</m:t>
                                          </m:r>
                                        </m:e>
                                        <m:sub>
                                          <m:r>
                                            <a:rPr lang="en-US" sz="2100" i="1">
                                              <a:latin typeface="Cambria Math" panose="02040503050406030204" pitchFamily="18" charset="0"/>
                                            </a:rPr>
                                            <m:t>𝑖𝑗</m:t>
                                          </m:r>
                                        </m:sub>
                                      </m:sSub>
                                    </m:e>
                                  </m:d>
                                </m:e>
                                <m:sup>
                                  <m:r>
                                    <a:rPr lang="en-US" sz="2100" i="1">
                                      <a:latin typeface="Cambria Math" panose="02040503050406030204" pitchFamily="18" charset="0"/>
                                    </a:rPr>
                                    <m:t>2</m:t>
                                  </m:r>
                                </m:sup>
                              </m:sSup>
                            </m:e>
                          </m:nary>
                        </m:e>
                      </m:nary>
                    </m:oMath>
                  </m:oMathPara>
                </a14:m>
                <a:endParaRPr lang="en-US" sz="21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29440" cy="5176066"/>
              </a:xfrm>
              <a:blipFill>
                <a:blip r:embed="rId2"/>
                <a:stretch>
                  <a:fillRect l="-659" t="-824" r="-811" b="-70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24</a:t>
            </a:fld>
            <a:endParaRPr lang="en-US"/>
          </a:p>
        </p:txBody>
      </p:sp>
    </p:spTree>
    <p:extLst>
      <p:ext uri="{BB962C8B-B14F-4D97-AF65-F5344CB8AC3E}">
        <p14:creationId xmlns:p14="http://schemas.microsoft.com/office/powerpoint/2010/main" val="1403426576"/>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300" dirty="0" smtClean="0">
                    <a:effectLst>
                      <a:outerShdw blurRad="38100" dist="38100" dir="2700000" algn="tl">
                        <a:srgbClr val="000000">
                          <a:alpha val="43137"/>
                        </a:srgbClr>
                      </a:outerShdw>
                    </a:effectLst>
                  </a:rPr>
                  <a:t>Attention learning is the core of learning transformer </a:t>
                </a:r>
                <a:r>
                  <a:rPr lang="en-US" sz="2300" dirty="0" smtClean="0"/>
                  <a:t>and the essence of attention learning is to estimate the three parametric matrices</a:t>
                </a:r>
                <a:r>
                  <a:rPr lang="en-US" sz="2300" i="1" dirty="0"/>
                  <a:t> W</a:t>
                </a:r>
                <a:r>
                  <a:rPr lang="en-US" sz="2300" i="1" baseline="30000" dirty="0"/>
                  <a:t>Q</a:t>
                </a:r>
                <a:r>
                  <a:rPr lang="en-US" sz="2300" dirty="0"/>
                  <a:t>, </a:t>
                </a:r>
                <a:r>
                  <a:rPr lang="en-US" sz="2300" i="1" dirty="0"/>
                  <a:t>W</a:t>
                </a:r>
                <a:r>
                  <a:rPr lang="en-US" sz="2300" i="1" baseline="30000" dirty="0"/>
                  <a:t>K</a:t>
                </a:r>
                <a:r>
                  <a:rPr lang="en-US" sz="2300" dirty="0"/>
                  <a:t>, and </a:t>
                </a:r>
                <a:r>
                  <a:rPr lang="en-US" sz="2300" i="1" dirty="0"/>
                  <a:t>W</a:t>
                </a:r>
                <a:r>
                  <a:rPr lang="en-US" sz="2300" i="1" baseline="30000" dirty="0"/>
                  <a:t>V</a:t>
                </a:r>
                <a:r>
                  <a:rPr lang="en-US" sz="2300" dirty="0" smtClean="0"/>
                  <a:t>.</a:t>
                </a:r>
              </a:p>
              <a:p>
                <a:pPr marL="0" indent="0">
                  <a:buNone/>
                </a:pPr>
                <a14:m>
                  <m:oMathPara xmlns:m="http://schemas.openxmlformats.org/officeDocument/2006/math">
                    <m:oMathParaPr>
                      <m:jc m:val="centerGroup"/>
                    </m:oMathParaPr>
                    <m:oMath xmlns:m="http://schemas.openxmlformats.org/officeDocument/2006/math">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r>
                        <a:rPr lang="en-US" sz="2300" i="1">
                          <a:latin typeface="Cambria Math" panose="02040503050406030204" pitchFamily="18" charset="0"/>
                        </a:rPr>
                        <m:t>=</m:t>
                      </m:r>
                      <m:func>
                        <m:funcPr>
                          <m:ctrlPr>
                            <a:rPr lang="en-US" sz="2300" i="1">
                              <a:latin typeface="Cambria Math" panose="02040503050406030204" pitchFamily="18" charset="0"/>
                            </a:rPr>
                          </m:ctrlPr>
                        </m:funcPr>
                        <m:fName>
                          <m:limLow>
                            <m:limLowPr>
                              <m:ctrlPr>
                                <a:rPr lang="en-US" sz="2300" i="1">
                                  <a:latin typeface="Cambria Math" panose="02040503050406030204" pitchFamily="18" charset="0"/>
                                </a:rPr>
                              </m:ctrlPr>
                            </m:limLowPr>
                            <m:e>
                              <m:r>
                                <m:rPr>
                                  <m:sty m:val="p"/>
                                </m:rPr>
                                <a:rPr lang="en-US" sz="2300">
                                  <a:latin typeface="Cambria Math" panose="02040503050406030204" pitchFamily="18" charset="0"/>
                                </a:rPr>
                                <m:t>argmax</m:t>
                              </m:r>
                            </m:e>
                            <m:lim>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lim>
                          </m:limLow>
                        </m:fName>
                        <m:e>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e>
                      </m:func>
                      <m:r>
                        <a:rPr lang="en-US" sz="2300" b="0" i="1" smtClean="0">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r>
                        <a:rPr lang="en-US" sz="2300" i="1">
                          <a:latin typeface="Cambria Math" panose="02040503050406030204" pitchFamily="18" charset="0"/>
                        </a:rPr>
                        <m:t>=</m:t>
                      </m:r>
                      <m:func>
                        <m:funcPr>
                          <m:ctrlPr>
                            <a:rPr lang="en-US" sz="2300" i="1">
                              <a:latin typeface="Cambria Math" panose="02040503050406030204" pitchFamily="18" charset="0"/>
                            </a:rPr>
                          </m:ctrlPr>
                        </m:funcPr>
                        <m:fName>
                          <m:limLow>
                            <m:limLowPr>
                              <m:ctrlPr>
                                <a:rPr lang="en-US" sz="2300" i="1">
                                  <a:latin typeface="Cambria Math" panose="02040503050406030204" pitchFamily="18" charset="0"/>
                                </a:rPr>
                              </m:ctrlPr>
                            </m:limLowPr>
                            <m:e>
                              <m:r>
                                <m:rPr>
                                  <m:sty m:val="p"/>
                                </m:rPr>
                                <a:rPr lang="en-US" sz="2300">
                                  <a:latin typeface="Cambria Math" panose="02040503050406030204" pitchFamily="18" charset="0"/>
                                </a:rPr>
                                <m:t>argmax</m:t>
                              </m:r>
                            </m:e>
                            <m:lim>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lim>
                          </m:limLow>
                        </m:fName>
                        <m:e>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e>
                      </m:func>
                      <m:r>
                        <a:rPr lang="en-US" sz="2300" b="0" i="1" smtClean="0">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r>
                        <a:rPr lang="en-US" sz="2300" i="1">
                          <a:latin typeface="Cambria Math" panose="02040503050406030204" pitchFamily="18" charset="0"/>
                        </a:rPr>
                        <m:t>=</m:t>
                      </m:r>
                      <m:func>
                        <m:funcPr>
                          <m:ctrlPr>
                            <a:rPr lang="en-US" sz="2300" i="1">
                              <a:latin typeface="Cambria Math" panose="02040503050406030204" pitchFamily="18" charset="0"/>
                            </a:rPr>
                          </m:ctrlPr>
                        </m:funcPr>
                        <m:fName>
                          <m:limLow>
                            <m:limLowPr>
                              <m:ctrlPr>
                                <a:rPr lang="en-US" sz="2300" i="1">
                                  <a:latin typeface="Cambria Math" panose="02040503050406030204" pitchFamily="18" charset="0"/>
                                </a:rPr>
                              </m:ctrlPr>
                            </m:limLowPr>
                            <m:e>
                              <m:r>
                                <m:rPr>
                                  <m:sty m:val="p"/>
                                </m:rPr>
                                <a:rPr lang="en-US" sz="2300">
                                  <a:latin typeface="Cambria Math" panose="02040503050406030204" pitchFamily="18" charset="0"/>
                                </a:rPr>
                                <m:t>argmax</m:t>
                              </m:r>
                            </m:e>
                            <m:lim>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lim>
                          </m:limLow>
                        </m:fName>
                        <m:e>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e>
                      </m:func>
                    </m:oMath>
                  </m:oMathPara>
                </a14:m>
                <a:endParaRPr lang="en-US" sz="2300" dirty="0"/>
              </a:p>
              <a:p>
                <a:pPr marL="0" indent="0">
                  <a:buNone/>
                </a:pPr>
                <a:r>
                  <a:rPr lang="en-US" sz="2300" dirty="0" smtClean="0"/>
                  <a:t>According </a:t>
                </a:r>
                <a:r>
                  <a:rPr lang="en-US" sz="2300" dirty="0"/>
                  <a:t>to SGD algorithm, parameters </a:t>
                </a:r>
                <a:r>
                  <a:rPr lang="en-US" sz="2300" i="1" dirty="0"/>
                  <a:t>W</a:t>
                </a:r>
                <a:r>
                  <a:rPr lang="en-US" sz="2300" i="1" baseline="30000" dirty="0"/>
                  <a:t>Q</a:t>
                </a:r>
                <a:r>
                  <a:rPr lang="en-US" sz="2300" dirty="0"/>
                  <a:t>, </a:t>
                </a:r>
                <a:r>
                  <a:rPr lang="en-US" sz="2300" i="1" dirty="0"/>
                  <a:t>W</a:t>
                </a:r>
                <a:r>
                  <a:rPr lang="en-US" sz="2300" i="1" baseline="30000" dirty="0"/>
                  <a:t>K</a:t>
                </a:r>
                <a:r>
                  <a:rPr lang="en-US" sz="2300" dirty="0"/>
                  <a:t>, and </a:t>
                </a:r>
                <a:r>
                  <a:rPr lang="en-US" sz="2300" i="1" dirty="0"/>
                  <a:t>W</a:t>
                </a:r>
                <a:r>
                  <a:rPr lang="en-US" sz="2300" i="1" baseline="30000" dirty="0"/>
                  <a:t>V</a:t>
                </a:r>
                <a:r>
                  <a:rPr lang="en-US" sz="2300" dirty="0"/>
                  <a:t> are computed iteratively as follows</a:t>
                </a:r>
                <a:r>
                  <a:rPr lang="en-US" sz="2300" dirty="0" smtClean="0"/>
                  <a:t>:</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300" i="1">
                              <a:latin typeface="Cambria Math" panose="02040503050406030204" pitchFamily="18" charset="0"/>
                            </a:rPr>
                          </m:ctrlPr>
                        </m:mPr>
                        <m:mr>
                          <m:e>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r>
                              <a:rPr lang="en-US" sz="2300" i="1">
                                <a:latin typeface="Cambria Math" panose="02040503050406030204" pitchFamily="18" charset="0"/>
                              </a:rPr>
                              <m:t>+</m:t>
                            </m:r>
                            <m:r>
                              <a:rPr lang="en-US" sz="2300" i="1">
                                <a:latin typeface="Cambria Math" panose="02040503050406030204" pitchFamily="18" charset="0"/>
                              </a:rPr>
                              <m:t>𝛾</m:t>
                            </m:r>
                            <m:f>
                              <m:fPr>
                                <m:ctrlPr>
                                  <a:rPr lang="en-US" sz="2300" i="1">
                                    <a:latin typeface="Cambria Math" panose="02040503050406030204" pitchFamily="18" charset="0"/>
                                  </a:rPr>
                                </m:ctrlPr>
                              </m:fPr>
                              <m:num>
                                <m:r>
                                  <a:rPr lang="en-US" sz="2300" i="1">
                                    <a:latin typeface="Cambria Math" panose="02040503050406030204" pitchFamily="18" charset="0"/>
                                  </a:rPr>
                                  <m:t>𝜕</m:t>
                                </m:r>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den>
                            </m:f>
                          </m:e>
                        </m:mr>
                        <m:mr>
                          <m:e>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r>
                              <a:rPr lang="en-US" sz="2300" i="1">
                                <a:latin typeface="Cambria Math" panose="02040503050406030204" pitchFamily="18" charset="0"/>
                              </a:rPr>
                              <m:t>+</m:t>
                            </m:r>
                            <m:r>
                              <a:rPr lang="en-US" sz="2300" i="1">
                                <a:latin typeface="Cambria Math" panose="02040503050406030204" pitchFamily="18" charset="0"/>
                              </a:rPr>
                              <m:t>𝛾</m:t>
                            </m:r>
                            <m:f>
                              <m:fPr>
                                <m:ctrlPr>
                                  <a:rPr lang="en-US" sz="2300" i="1">
                                    <a:latin typeface="Cambria Math" panose="02040503050406030204" pitchFamily="18" charset="0"/>
                                  </a:rPr>
                                </m:ctrlPr>
                              </m:fPr>
                              <m:num>
                                <m:r>
                                  <a:rPr lang="en-US" sz="2300" i="1">
                                    <a:latin typeface="Cambria Math" panose="02040503050406030204" pitchFamily="18" charset="0"/>
                                  </a:rPr>
                                  <m:t>𝜕</m:t>
                                </m:r>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den>
                            </m:f>
                          </m:e>
                        </m:mr>
                        <m:mr>
                          <m:e>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r>
                              <a:rPr lang="en-US" sz="2300" i="1">
                                <a:latin typeface="Cambria Math" panose="02040503050406030204" pitchFamily="18" charset="0"/>
                              </a:rPr>
                              <m:t>+</m:t>
                            </m:r>
                            <m:r>
                              <a:rPr lang="en-US" sz="2300" i="1">
                                <a:latin typeface="Cambria Math" panose="02040503050406030204" pitchFamily="18" charset="0"/>
                              </a:rPr>
                              <m:t>𝛾</m:t>
                            </m:r>
                            <m:f>
                              <m:fPr>
                                <m:ctrlPr>
                                  <a:rPr lang="en-US" sz="2300" i="1">
                                    <a:latin typeface="Cambria Math" panose="02040503050406030204" pitchFamily="18" charset="0"/>
                                  </a:rPr>
                                </m:ctrlPr>
                              </m:fPr>
                              <m:num>
                                <m:r>
                                  <a:rPr lang="en-US" sz="2300" i="1">
                                    <a:latin typeface="Cambria Math" panose="02040503050406030204" pitchFamily="18" charset="0"/>
                                  </a:rPr>
                                  <m:t>𝜕</m:t>
                                </m:r>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den>
                            </m:f>
                          </m:e>
                        </m:mr>
                      </m:m>
                    </m:oMath>
                  </m:oMathPara>
                </a14:m>
                <a:endParaRPr lang="en-US" sz="2300" dirty="0"/>
              </a:p>
              <a:p>
                <a:pPr marL="0" indent="0">
                  <a:buNone/>
                </a:pPr>
                <a:r>
                  <a:rPr lang="en-US" sz="2300" dirty="0" smtClean="0"/>
                  <a:t>Note</a:t>
                </a:r>
                <a:r>
                  <a:rPr lang="en-US" sz="2300" dirty="0"/>
                  <a:t>, </a:t>
                </a:r>
                <a:r>
                  <a:rPr lang="en-US" sz="2300" i="1" dirty="0"/>
                  <a:t>γ</a:t>
                </a:r>
                <a:r>
                  <a:rPr lang="en-US" sz="2300" dirty="0"/>
                  <a:t> (0 &lt; </a:t>
                </a:r>
                <a:r>
                  <a:rPr lang="en-US" sz="2300" i="1" dirty="0"/>
                  <a:t>γ</a:t>
                </a:r>
                <a:r>
                  <a:rPr lang="en-US" sz="2300" dirty="0"/>
                  <a:t> ≤ 1) is learning rate whereas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den>
                    </m:f>
                  </m:oMath>
                </a14:m>
                <a:r>
                  <a:rPr lang="en-US" sz="2300" dirty="0"/>
                  <a:t>,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den>
                    </m:f>
                  </m:oMath>
                </a14:m>
                <a:r>
                  <a:rPr lang="en-US" sz="2300" dirty="0"/>
                  <a:t>, and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den>
                    </m:f>
                  </m:oMath>
                </a14:m>
                <a:r>
                  <a:rPr lang="en-US" sz="2300" dirty="0"/>
                  <a:t> are first-order derivatives (gradients) of </a:t>
                </a:r>
                <a:r>
                  <a:rPr lang="en-US" sz="2300" i="1" dirty="0"/>
                  <a:t>L</a:t>
                </a:r>
                <a:r>
                  <a:rPr lang="en-US" sz="2300" dirty="0"/>
                  <a:t>(</a:t>
                </a:r>
                <a:r>
                  <a:rPr lang="en-US" sz="2300" i="1" dirty="0"/>
                  <a:t>A</a:t>
                </a:r>
                <a:r>
                  <a:rPr lang="en-US" sz="2300" dirty="0"/>
                  <a:t>) with respect to </a:t>
                </a:r>
                <a:r>
                  <a:rPr lang="en-US" sz="2300" i="1" dirty="0"/>
                  <a:t>W</a:t>
                </a:r>
                <a:r>
                  <a:rPr lang="en-US" sz="2300" i="1" baseline="30000" dirty="0"/>
                  <a:t>Q</a:t>
                </a:r>
                <a:r>
                  <a:rPr lang="en-US" sz="2300" dirty="0"/>
                  <a:t>, </a:t>
                </a:r>
                <a:r>
                  <a:rPr lang="en-US" sz="2300" i="1" dirty="0"/>
                  <a:t>W</a:t>
                </a:r>
                <a:r>
                  <a:rPr lang="en-US" sz="2300" i="1" baseline="30000" dirty="0"/>
                  <a:t>K</a:t>
                </a:r>
                <a:r>
                  <a:rPr lang="en-US" sz="2300" dirty="0"/>
                  <a:t>, and </a:t>
                </a:r>
                <a:r>
                  <a:rPr lang="en-US" sz="2300" i="1" dirty="0"/>
                  <a:t>W</a:t>
                </a:r>
                <a:r>
                  <a:rPr lang="en-US" sz="2300" i="1" baseline="30000" dirty="0"/>
                  <a:t>V</a:t>
                </a:r>
                <a:r>
                  <a:rPr lang="en-US" sz="2300" dirty="0"/>
                  <a:t>, respectively. However, it is not easy to calculate directly calculating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𝑄</m:t>
                            </m:r>
                          </m:sup>
                        </m:sSup>
                      </m:den>
                    </m:f>
                  </m:oMath>
                </a14:m>
                <a:r>
                  <a:rPr lang="en-US" sz="2300" dirty="0"/>
                  <a:t>,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𝐾</m:t>
                            </m:r>
                          </m:sup>
                        </m:sSup>
                      </m:den>
                    </m:f>
                  </m:oMath>
                </a14:m>
                <a:r>
                  <a:rPr lang="en-US" sz="2300" dirty="0"/>
                  <a:t>, and </a:t>
                </a:r>
                <a14:m>
                  <m:oMath xmlns:m="http://schemas.openxmlformats.org/officeDocument/2006/math">
                    <m:f>
                      <m:fPr>
                        <m:ctrlPr>
                          <a:rPr lang="en-US" sz="2300" i="1">
                            <a:latin typeface="Cambria Math" panose="02040503050406030204" pitchFamily="18" charset="0"/>
                          </a:rPr>
                        </m:ctrlPr>
                      </m:fPr>
                      <m:num>
                        <m:r>
                          <a:rPr lang="en-US" sz="2300" i="1">
                            <a:latin typeface="Cambria Math" panose="02040503050406030204" pitchFamily="18" charset="0"/>
                          </a:rPr>
                          <m:t>𝐿</m:t>
                        </m:r>
                        <m:d>
                          <m:dPr>
                            <m:ctrlPr>
                              <a:rPr lang="en-US" sz="2300" i="1">
                                <a:latin typeface="Cambria Math" panose="02040503050406030204" pitchFamily="18" charset="0"/>
                              </a:rPr>
                            </m:ctrlPr>
                          </m:dPr>
                          <m:e>
                            <m:r>
                              <a:rPr lang="en-US" sz="2300" i="1">
                                <a:latin typeface="Cambria Math" panose="02040503050406030204" pitchFamily="18" charset="0"/>
                              </a:rPr>
                              <m:t>𝐴</m:t>
                            </m:r>
                          </m:e>
                        </m:d>
                      </m:num>
                      <m:den>
                        <m:r>
                          <a:rPr lang="en-US" sz="2300" i="1">
                            <a:latin typeface="Cambria Math" panose="02040503050406030204" pitchFamily="18" charset="0"/>
                          </a:rPr>
                          <m:t>𝜕</m:t>
                        </m:r>
                        <m:sSup>
                          <m:sSupPr>
                            <m:ctrlPr>
                              <a:rPr lang="en-US" sz="2300" i="1">
                                <a:latin typeface="Cambria Math" panose="02040503050406030204" pitchFamily="18" charset="0"/>
                              </a:rPr>
                            </m:ctrlPr>
                          </m:sSupPr>
                          <m:e>
                            <m:r>
                              <a:rPr lang="en-US" sz="2300" i="1">
                                <a:latin typeface="Cambria Math" panose="02040503050406030204" pitchFamily="18" charset="0"/>
                              </a:rPr>
                              <m:t>𝑊</m:t>
                            </m:r>
                          </m:e>
                          <m:sup>
                            <m:r>
                              <a:rPr lang="en-US" sz="2300" i="1">
                                <a:latin typeface="Cambria Math" panose="02040503050406030204" pitchFamily="18" charset="0"/>
                              </a:rPr>
                              <m:t>𝑉</m:t>
                            </m:r>
                          </m:sup>
                        </m:sSup>
                      </m:den>
                    </m:f>
                  </m:oMath>
                </a14:m>
                <a:r>
                  <a:rPr lang="en-US" sz="2300" dirty="0"/>
                  <a:t> based only on </a:t>
                </a:r>
                <a:r>
                  <a:rPr lang="en-US" sz="2300" i="1" dirty="0"/>
                  <a:t>L</a:t>
                </a:r>
                <a:r>
                  <a:rPr lang="en-US" sz="2300" dirty="0"/>
                  <a:t>(</a:t>
                </a:r>
                <a:r>
                  <a:rPr lang="en-US" sz="2300" i="1" dirty="0"/>
                  <a:t>A</a:t>
                </a:r>
                <a:r>
                  <a:rPr lang="en-US" sz="2300"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39600" cy="5176066"/>
              </a:xfrm>
              <a:blipFill>
                <a:blip r:embed="rId2"/>
                <a:stretch>
                  <a:fillRect l="-810" t="-1060" r="-709" b="-2120"/>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25</a:t>
            </a:fld>
            <a:endParaRPr lang="en-US"/>
          </a:p>
        </p:txBody>
      </p:sp>
    </p:spTree>
    <p:extLst>
      <p:ext uri="{BB962C8B-B14F-4D97-AF65-F5344CB8AC3E}">
        <p14:creationId xmlns:p14="http://schemas.microsoft.com/office/powerpoint/2010/main" val="3235865332"/>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850" dirty="0" smtClean="0"/>
                  <a:t>SGD is applied into attention learning but calculating gradients in SGD is seemly infeasible in practice because derivative of the matrix-by-matrix soft-max function </a:t>
                </a:r>
                <a14:m>
                  <m:oMath xmlns:m="http://schemas.openxmlformats.org/officeDocument/2006/math">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oMath>
                </a14:m>
                <a:r>
                  <a:rPr lang="en-US" sz="1850" dirty="0"/>
                  <a:t> is high-dimensional tensor. Fortunately, </a:t>
                </a:r>
                <a:r>
                  <a:rPr lang="en-US" sz="1850" dirty="0" smtClean="0">
                    <a:effectLst>
                      <a:outerShdw blurRad="38100" dist="38100" dir="2700000" algn="tl">
                        <a:srgbClr val="000000">
                          <a:alpha val="43137"/>
                        </a:srgbClr>
                      </a:outerShdw>
                    </a:effectLst>
                  </a:rPr>
                  <a:t>the soft-max function is </a:t>
                </a:r>
                <a:r>
                  <a:rPr lang="en-US" sz="1850" dirty="0">
                    <a:effectLst>
                      <a:outerShdw blurRad="38100" dist="38100" dir="2700000" algn="tl">
                        <a:srgbClr val="000000">
                          <a:alpha val="43137"/>
                        </a:srgbClr>
                      </a:outerShdw>
                    </a:effectLst>
                  </a:rPr>
                  <a:t>calculated by row-by-row way so that its rows are mutually independent so that the likelihood function </a:t>
                </a:r>
                <a:r>
                  <a:rPr lang="en-US" sz="1850" i="1" dirty="0">
                    <a:effectLst>
                      <a:outerShdw blurRad="38100" dist="38100" dir="2700000" algn="tl">
                        <a:srgbClr val="000000">
                          <a:alpha val="43137"/>
                        </a:srgbClr>
                      </a:outerShdw>
                    </a:effectLst>
                  </a:rPr>
                  <a:t>L</a:t>
                </a:r>
                <a:r>
                  <a:rPr lang="en-US" sz="1850" dirty="0">
                    <a:effectLst>
                      <a:outerShdw blurRad="38100" dist="38100" dir="2700000" algn="tl">
                        <a:srgbClr val="000000">
                          <a:alpha val="43137"/>
                        </a:srgbClr>
                      </a:outerShdw>
                    </a:effectLst>
                  </a:rPr>
                  <a:t>(</a:t>
                </a:r>
                <a:r>
                  <a:rPr lang="en-US" sz="1850" i="1" dirty="0">
                    <a:effectLst>
                      <a:outerShdw blurRad="38100" dist="38100" dir="2700000" algn="tl">
                        <a:srgbClr val="000000">
                          <a:alpha val="43137"/>
                        </a:srgbClr>
                      </a:outerShdw>
                    </a:effectLst>
                  </a:rPr>
                  <a:t>A</a:t>
                </a:r>
                <a:r>
                  <a:rPr lang="en-US" sz="1850" dirty="0">
                    <a:effectLst>
                      <a:outerShdw blurRad="38100" dist="38100" dir="2700000" algn="tl">
                        <a:srgbClr val="000000">
                          <a:alpha val="43137"/>
                        </a:srgbClr>
                      </a:outerShdw>
                    </a:effectLst>
                  </a:rPr>
                  <a:t>) will be partitioned into partial likelihood functions </a:t>
                </a:r>
                <a:r>
                  <a:rPr lang="en-US" sz="1850" i="1" dirty="0">
                    <a:effectLst>
                      <a:outerShdw blurRad="38100" dist="38100" dir="2700000" algn="tl">
                        <a:srgbClr val="000000">
                          <a:alpha val="43137"/>
                        </a:srgbClr>
                      </a:outerShdw>
                    </a:effectLst>
                  </a:rPr>
                  <a:t>l</a:t>
                </a:r>
                <a:r>
                  <a:rPr lang="en-US" sz="1850" i="1" baseline="-25000" dirty="0">
                    <a:effectLst>
                      <a:outerShdw blurRad="38100" dist="38100" dir="2700000" algn="tl">
                        <a:srgbClr val="000000">
                          <a:alpha val="43137"/>
                        </a:srgbClr>
                      </a:outerShdw>
                    </a:effectLst>
                  </a:rPr>
                  <a:t>i</a:t>
                </a:r>
                <a:r>
                  <a:rPr lang="en-US" sz="1850" dirty="0">
                    <a:effectLst>
                      <a:outerShdw blurRad="38100" dist="38100" dir="2700000" algn="tl">
                        <a:srgbClr val="000000">
                          <a:alpha val="43137"/>
                        </a:srgbClr>
                      </a:outerShdw>
                    </a:effectLst>
                  </a:rPr>
                  <a:t>(</a:t>
                </a:r>
                <a:r>
                  <a:rPr lang="en-US" sz="1850" b="1" i="1" dirty="0" err="1">
                    <a:effectLst>
                      <a:outerShdw blurRad="38100" dist="38100" dir="2700000" algn="tl">
                        <a:srgbClr val="000000">
                          <a:alpha val="43137"/>
                        </a:srgbClr>
                      </a:outerShdw>
                    </a:effectLst>
                  </a:rPr>
                  <a:t>a</a:t>
                </a:r>
                <a:r>
                  <a:rPr lang="en-US" sz="1850" i="1" baseline="-25000" dirty="0" err="1">
                    <a:effectLst>
                      <a:outerShdw blurRad="38100" dist="38100" dir="2700000" algn="tl">
                        <a:srgbClr val="000000">
                          <a:alpha val="43137"/>
                        </a:srgbClr>
                      </a:outerShdw>
                    </a:effectLst>
                  </a:rPr>
                  <a:t>i</a:t>
                </a:r>
                <a:r>
                  <a:rPr lang="en-US" sz="1850" dirty="0">
                    <a:effectLst>
                      <a:outerShdw blurRad="38100" dist="38100" dir="2700000" algn="tl">
                        <a:srgbClr val="000000">
                          <a:alpha val="43137"/>
                        </a:srgbClr>
                      </a:outerShdw>
                    </a:effectLst>
                  </a:rPr>
                  <a:t>)</a:t>
                </a:r>
                <a:r>
                  <a:rPr lang="en-US" sz="1850" dirty="0"/>
                  <a:t> where every partial attention </a:t>
                </a:r>
                <a:r>
                  <a:rPr lang="en-US" sz="1850" b="1" i="1" dirty="0" err="1"/>
                  <a:t>a</a:t>
                </a:r>
                <a:r>
                  <a:rPr lang="en-US" sz="1850" i="1" baseline="-25000" dirty="0" err="1"/>
                  <a:t>i</a:t>
                </a:r>
                <a:r>
                  <a:rPr lang="en-US" sz="1850" dirty="0"/>
                  <a:t> is the column vector representing the </a:t>
                </a:r>
                <a:r>
                  <a:rPr lang="en-US" sz="1850" i="1" dirty="0" err="1"/>
                  <a:t>i</a:t>
                </a:r>
                <a:r>
                  <a:rPr lang="en-US" sz="1850" baseline="30000" dirty="0" err="1"/>
                  <a:t>th</a:t>
                </a:r>
                <a:r>
                  <a:rPr lang="en-US" sz="1850" dirty="0"/>
                  <a:t> row of </a:t>
                </a:r>
                <a:r>
                  <a:rPr lang="en-US" sz="1850" i="1" dirty="0"/>
                  <a:t>A</a:t>
                </a:r>
                <a:r>
                  <a:rPr lang="en-US" sz="1850" dirty="0" smtClean="0"/>
                  <a:t>.</a:t>
                </a:r>
              </a:p>
              <a:p>
                <a:pPr marL="0" indent="0">
                  <a:buNone/>
                </a:pPr>
                <a14:m>
                  <m:oMathPara xmlns:m="http://schemas.openxmlformats.org/officeDocument/2006/math">
                    <m:oMathParaPr>
                      <m:jc m:val="centerGroup"/>
                    </m:oMathParaPr>
                    <m:oMath xmlns:m="http://schemas.openxmlformats.org/officeDocument/2006/math">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𝑖</m:t>
                          </m:r>
                        </m:sub>
                      </m:sSub>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e>
                      </m:d>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1</m:t>
                          </m:r>
                        </m:num>
                        <m:den>
                          <m:r>
                            <a:rPr lang="en-US" sz="1850" i="1">
                              <a:latin typeface="Cambria Math" panose="02040503050406030204" pitchFamily="18" charset="0"/>
                            </a:rPr>
                            <m:t>2</m:t>
                          </m:r>
                        </m:den>
                      </m:f>
                      <m:sSup>
                        <m:sSupPr>
                          <m:ctrlPr>
                            <a:rPr lang="en-US" sz="1850" i="1">
                              <a:latin typeface="Cambria Math" panose="02040503050406030204" pitchFamily="18" charset="0"/>
                            </a:rPr>
                          </m:ctrlPr>
                        </m:sSupPr>
                        <m:e>
                          <m:d>
                            <m:dPr>
                              <m:begChr m:val="‖"/>
                              <m:endChr m:val="‖"/>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𝒂</m:t>
                                  </m:r>
                                </m:e>
                                <m:sub>
                                  <m:r>
                                    <a:rPr lang="en-US" sz="1850" i="1">
                                      <a:latin typeface="Cambria Math" panose="02040503050406030204" pitchFamily="18" charset="0"/>
                                    </a:rPr>
                                    <m:t>𝑖</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e>
                          </m:d>
                        </m:e>
                        <m:sup>
                          <m:r>
                            <a:rPr lang="en-US" sz="1850" i="1">
                              <a:latin typeface="Cambria Math" panose="02040503050406030204" pitchFamily="18" charset="0"/>
                            </a:rPr>
                            <m:t>2</m:t>
                          </m:r>
                        </m:sup>
                      </m:sSup>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1</m:t>
                          </m:r>
                        </m:num>
                        <m:den>
                          <m:r>
                            <a:rPr lang="en-US" sz="1850" i="1">
                              <a:latin typeface="Cambria Math" panose="02040503050406030204" pitchFamily="18" charset="0"/>
                            </a:rPr>
                            <m:t>2</m:t>
                          </m:r>
                        </m:den>
                      </m:f>
                      <m:nary>
                        <m:naryPr>
                          <m:chr m:val="∑"/>
                          <m:limLoc m:val="undOvr"/>
                          <m:supHide m:val="on"/>
                          <m:ctrlPr>
                            <a:rPr lang="en-US" sz="1850" i="1">
                              <a:latin typeface="Cambria Math" panose="02040503050406030204" pitchFamily="18" charset="0"/>
                            </a:rPr>
                          </m:ctrlPr>
                        </m:naryPr>
                        <m:sub>
                          <m:r>
                            <a:rPr lang="en-US" sz="1850" i="1">
                              <a:latin typeface="Cambria Math" panose="02040503050406030204" pitchFamily="18" charset="0"/>
                            </a:rPr>
                            <m:t>𝑗</m:t>
                          </m:r>
                        </m:sub>
                        <m:sup/>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i="1">
                                          <a:latin typeface="Cambria Math" panose="02040503050406030204" pitchFamily="18" charset="0"/>
                                        </a:rPr>
                                        <m:t>𝑎</m:t>
                                      </m:r>
                                    </m:e>
                                    <m:sub>
                                      <m:r>
                                        <a:rPr lang="en-US" sz="1850" i="1">
                                          <a:latin typeface="Cambria Math" panose="02040503050406030204" pitchFamily="18" charset="0"/>
                                        </a:rPr>
                                        <m:t>𝑖𝑗</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𝑖𝑗</m:t>
                                      </m:r>
                                    </m:sub>
                                  </m:sSub>
                                </m:e>
                              </m:d>
                            </m:e>
                            <m:sup>
                              <m:r>
                                <a:rPr lang="en-US" sz="1850" i="1">
                                  <a:latin typeface="Cambria Math" panose="02040503050406030204" pitchFamily="18" charset="0"/>
                                </a:rPr>
                                <m:t>2</m:t>
                              </m:r>
                            </m:sup>
                          </m:sSup>
                        </m:e>
                      </m:nary>
                    </m:oMath>
                  </m:oMathPara>
                </a14:m>
                <a:endParaRPr lang="en-US" sz="1850" dirty="0" smtClean="0"/>
              </a:p>
              <a:p>
                <a:pPr marL="0" indent="0">
                  <a:buNone/>
                </a:pPr>
                <a:r>
                  <a:rPr lang="en-US" sz="1850" dirty="0"/>
                  <a:t>Such that differential of </a:t>
                </a:r>
                <a:r>
                  <a:rPr lang="en-US" sz="1850" i="1" dirty="0"/>
                  <a:t>L</a:t>
                </a:r>
                <a:r>
                  <a:rPr lang="en-US" sz="1850" dirty="0"/>
                  <a:t>(</a:t>
                </a:r>
                <a:r>
                  <a:rPr lang="en-US" sz="1850" i="1" dirty="0"/>
                  <a:t>A</a:t>
                </a:r>
                <a:r>
                  <a:rPr lang="en-US" sz="1850" dirty="0"/>
                  <a:t>) </a:t>
                </a:r>
                <a:r>
                  <a:rPr lang="en-US" sz="1850" dirty="0" smtClean="0"/>
                  <a:t>is </a:t>
                </a:r>
                <a:r>
                  <a:rPr lang="en-US" sz="1850" dirty="0"/>
                  <a:t>sum of partial differentials of </a:t>
                </a:r>
                <a:r>
                  <a:rPr lang="en-US" sz="1850" i="1" dirty="0"/>
                  <a:t>l</a:t>
                </a:r>
                <a:r>
                  <a:rPr lang="en-US" sz="1850" i="1" baseline="-25000" dirty="0"/>
                  <a:t>i</a:t>
                </a:r>
                <a:r>
                  <a:rPr lang="en-US" sz="1850" dirty="0"/>
                  <a:t>(</a:t>
                </a:r>
                <a:r>
                  <a:rPr lang="en-US" sz="1850" b="1" i="1" dirty="0" err="1"/>
                  <a:t>a</a:t>
                </a:r>
                <a:r>
                  <a:rPr lang="en-US" sz="1850" i="1" baseline="-25000" dirty="0" err="1"/>
                  <a:t>i</a:t>
                </a:r>
                <a:r>
                  <a:rPr lang="en-US" sz="1850" dirty="0" smtClean="0"/>
                  <a:t>).</a:t>
                </a:r>
              </a:p>
              <a:p>
                <a:pPr marL="0" indent="0">
                  <a:buNone/>
                </a:pPr>
                <a14:m>
                  <m:oMathPara xmlns:m="http://schemas.openxmlformats.org/officeDocument/2006/math">
                    <m:oMathParaPr>
                      <m:jc m:val="centerGroup"/>
                    </m:oMathParaPr>
                    <m:oMath xmlns:m="http://schemas.openxmlformats.org/officeDocument/2006/math">
                      <m:r>
                        <a:rPr lang="en-US" sz="1850" i="1">
                          <a:latin typeface="Cambria Math" panose="02040503050406030204" pitchFamily="18" charset="0"/>
                        </a:rPr>
                        <m:t>𝐿</m:t>
                      </m:r>
                      <m:d>
                        <m:dPr>
                          <m:ctrlPr>
                            <a:rPr lang="en-US" sz="1850" i="1">
                              <a:latin typeface="Cambria Math" panose="02040503050406030204" pitchFamily="18" charset="0"/>
                            </a:rPr>
                          </m:ctrlPr>
                        </m:dPr>
                        <m:e>
                          <m:r>
                            <a:rPr lang="en-US" sz="1850" i="1">
                              <a:latin typeface="Cambria Math" panose="02040503050406030204" pitchFamily="18" charset="0"/>
                            </a:rPr>
                            <m:t>𝐴</m:t>
                          </m:r>
                        </m:e>
                      </m:d>
                      <m:r>
                        <a:rPr lang="en-US" sz="1850" i="1">
                          <a:latin typeface="Cambria Math" panose="02040503050406030204" pitchFamily="18" charset="0"/>
                        </a:rPr>
                        <m:t>=</m:t>
                      </m:r>
                      <m:nary>
                        <m:naryPr>
                          <m:chr m:val="∑"/>
                          <m:limLoc m:val="undOvr"/>
                          <m:ctrlPr>
                            <a:rPr lang="en-US" sz="1850" i="1">
                              <a:latin typeface="Cambria Math" panose="02040503050406030204" pitchFamily="18" charset="0"/>
                            </a:rPr>
                          </m:ctrlPr>
                        </m:naryPr>
                        <m:sub>
                          <m:r>
                            <a:rPr lang="en-US" sz="1850" i="1">
                              <a:latin typeface="Cambria Math" panose="02040503050406030204" pitchFamily="18" charset="0"/>
                            </a:rPr>
                            <m:t>𝑖</m:t>
                          </m:r>
                          <m:r>
                            <a:rPr lang="en-US" sz="1850" i="1">
                              <a:latin typeface="Cambria Math" panose="02040503050406030204" pitchFamily="18" charset="0"/>
                            </a:rPr>
                            <m:t>=1</m:t>
                          </m:r>
                        </m:sub>
                        <m:sup>
                          <m:r>
                            <a:rPr lang="en-US" sz="1850" i="1">
                              <a:latin typeface="Cambria Math" panose="02040503050406030204" pitchFamily="18" charset="0"/>
                            </a:rPr>
                            <m:t>𝑚</m:t>
                          </m:r>
                        </m:sup>
                        <m:e>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𝑖</m:t>
                              </m:r>
                            </m:sub>
                          </m:sSub>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e>
                          </m:d>
                        </m:e>
                      </m:nary>
                      <m:r>
                        <a:rPr lang="en-US" sz="1850" b="0" i="1" smtClean="0">
                          <a:latin typeface="Cambria Math" panose="02040503050406030204" pitchFamily="18" charset="0"/>
                        </a:rPr>
                        <m:t> </m:t>
                      </m:r>
                      <m:r>
                        <m:rPr>
                          <m:sty m:val="p"/>
                        </m:rPr>
                        <a:rPr lang="en-US" sz="1850" b="0" i="0" smtClean="0">
                          <a:latin typeface="Cambria Math" panose="02040503050406030204" pitchFamily="18" charset="0"/>
                        </a:rPr>
                        <m:t>and</m:t>
                      </m:r>
                      <m:r>
                        <a:rPr lang="en-US" sz="1850" b="0" i="1" smtClean="0">
                          <a:latin typeface="Cambria Math" panose="02040503050406030204" pitchFamily="18" charset="0"/>
                        </a:rPr>
                        <m:t> </m:t>
                      </m:r>
                      <m:r>
                        <a:rPr lang="en-US" sz="1850" i="1">
                          <a:latin typeface="Cambria Math" panose="02040503050406030204" pitchFamily="18" charset="0"/>
                        </a:rPr>
                        <m:t>𝑑𝐿</m:t>
                      </m:r>
                      <m:d>
                        <m:dPr>
                          <m:ctrlPr>
                            <a:rPr lang="en-US" sz="1850" i="1">
                              <a:latin typeface="Cambria Math" panose="02040503050406030204" pitchFamily="18" charset="0"/>
                            </a:rPr>
                          </m:ctrlPr>
                        </m:dPr>
                        <m:e>
                          <m:r>
                            <a:rPr lang="en-US" sz="1850" i="1">
                              <a:latin typeface="Cambria Math" panose="02040503050406030204" pitchFamily="18" charset="0"/>
                            </a:rPr>
                            <m:t>𝐴</m:t>
                          </m:r>
                        </m:e>
                      </m:d>
                      <m:r>
                        <a:rPr lang="en-US" sz="1850" i="1">
                          <a:latin typeface="Cambria Math" panose="02040503050406030204" pitchFamily="18" charset="0"/>
                        </a:rPr>
                        <m:t>=</m:t>
                      </m:r>
                      <m:nary>
                        <m:naryPr>
                          <m:chr m:val="∑"/>
                          <m:limLoc m:val="undOvr"/>
                          <m:ctrlPr>
                            <a:rPr lang="en-US" sz="1850" i="1">
                              <a:latin typeface="Cambria Math" panose="02040503050406030204" pitchFamily="18" charset="0"/>
                            </a:rPr>
                          </m:ctrlPr>
                        </m:naryPr>
                        <m:sub>
                          <m:r>
                            <a:rPr lang="en-US" sz="1850" i="1">
                              <a:latin typeface="Cambria Math" panose="02040503050406030204" pitchFamily="18" charset="0"/>
                            </a:rPr>
                            <m:t>𝑖</m:t>
                          </m:r>
                          <m:r>
                            <a:rPr lang="en-US" sz="1850" i="1">
                              <a:latin typeface="Cambria Math" panose="02040503050406030204" pitchFamily="18" charset="0"/>
                            </a:rPr>
                            <m:t>=1</m:t>
                          </m:r>
                        </m:sub>
                        <m:sup>
                          <m:r>
                            <a:rPr lang="en-US" sz="1850" i="1">
                              <a:latin typeface="Cambria Math" panose="02040503050406030204" pitchFamily="18" charset="0"/>
                            </a:rPr>
                            <m:t>𝑚</m:t>
                          </m:r>
                        </m:sup>
                        <m:e>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𝑖</m:t>
                              </m:r>
                            </m:sub>
                          </m:sSub>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e>
                          </m:d>
                        </m:e>
                      </m:nary>
                    </m:oMath>
                  </m:oMathPara>
                </a14:m>
                <a:endParaRPr lang="en-US" sz="1850" dirty="0" smtClean="0"/>
              </a:p>
              <a:p>
                <a:pPr marL="0" indent="0">
                  <a:buNone/>
                </a:pPr>
                <a:r>
                  <a:rPr lang="en-US" sz="1850" dirty="0"/>
                  <a:t>Note, dimensions of weight matrices </a:t>
                </a:r>
                <a:r>
                  <a:rPr lang="en-US" sz="1850" i="1" dirty="0"/>
                  <a:t>W</a:t>
                </a:r>
                <a:r>
                  <a:rPr lang="en-US" sz="1850" i="1" baseline="30000" dirty="0"/>
                  <a:t>Q</a:t>
                </a:r>
                <a:r>
                  <a:rPr lang="en-US" sz="1850" dirty="0"/>
                  <a:t>, </a:t>
                </a:r>
                <a:r>
                  <a:rPr lang="en-US" sz="1850" i="1" dirty="0"/>
                  <a:t>W</a:t>
                </a:r>
                <a:r>
                  <a:rPr lang="en-US" sz="1850" i="1" baseline="30000" dirty="0"/>
                  <a:t>K</a:t>
                </a:r>
                <a:r>
                  <a:rPr lang="en-US" sz="1850" dirty="0"/>
                  <a:t>, and </a:t>
                </a:r>
                <a:r>
                  <a:rPr lang="en-US" sz="1850" i="1" dirty="0"/>
                  <a:t>W</a:t>
                </a:r>
                <a:r>
                  <a:rPr lang="en-US" sz="1850" i="1" baseline="30000" dirty="0"/>
                  <a:t>V</a:t>
                </a:r>
                <a:r>
                  <a:rPr lang="en-US" sz="1850" dirty="0"/>
                  <a:t> are </a:t>
                </a:r>
                <a:r>
                  <a:rPr lang="en-US" sz="1850" i="1" dirty="0" err="1"/>
                  <a:t>d</a:t>
                </a:r>
                <a:r>
                  <a:rPr lang="en-US" sz="1850" i="1" baseline="-25000" dirty="0" err="1"/>
                  <a:t>m</a:t>
                </a:r>
                <a:r>
                  <a:rPr lang="en-US" sz="1850" dirty="0"/>
                  <a:t> x </a:t>
                </a:r>
                <a:r>
                  <a:rPr lang="en-US" sz="1850" i="1" dirty="0" err="1"/>
                  <a:t>d</a:t>
                </a:r>
                <a:r>
                  <a:rPr lang="en-US" sz="1850" i="1" baseline="-25000" dirty="0" err="1"/>
                  <a:t>k</a:t>
                </a:r>
                <a:r>
                  <a:rPr lang="en-US" sz="1850" dirty="0"/>
                  <a:t>, </a:t>
                </a:r>
                <a:r>
                  <a:rPr lang="en-US" sz="1850" i="1" dirty="0" err="1"/>
                  <a:t>d</a:t>
                </a:r>
                <a:r>
                  <a:rPr lang="en-US" sz="1850" i="1" baseline="-25000" dirty="0" err="1"/>
                  <a:t>m</a:t>
                </a:r>
                <a:r>
                  <a:rPr lang="en-US" sz="1850" dirty="0"/>
                  <a:t> x </a:t>
                </a:r>
                <a:r>
                  <a:rPr lang="en-US" sz="1850" i="1" dirty="0" err="1"/>
                  <a:t>d</a:t>
                </a:r>
                <a:r>
                  <a:rPr lang="en-US" sz="1850" i="1" baseline="-25000" dirty="0" err="1"/>
                  <a:t>k</a:t>
                </a:r>
                <a:r>
                  <a:rPr lang="en-US" sz="1850" dirty="0"/>
                  <a:t>, and </a:t>
                </a:r>
                <a:r>
                  <a:rPr lang="en-US" sz="1850" i="1" dirty="0" err="1"/>
                  <a:t>d</a:t>
                </a:r>
                <a:r>
                  <a:rPr lang="en-US" sz="1850" i="1" baseline="-25000" dirty="0" err="1"/>
                  <a:t>m</a:t>
                </a:r>
                <a:r>
                  <a:rPr lang="en-US" sz="1850" dirty="0"/>
                  <a:t> x </a:t>
                </a:r>
                <a:r>
                  <a:rPr lang="en-US" sz="1850" i="1" dirty="0"/>
                  <a:t>d</a:t>
                </a:r>
                <a:r>
                  <a:rPr lang="en-US" sz="1850" i="1" baseline="-25000" dirty="0"/>
                  <a:t>v</a:t>
                </a:r>
                <a:r>
                  <a:rPr lang="en-US" sz="1850" dirty="0"/>
                  <a:t>, respectively. </a:t>
                </a:r>
                <a:r>
                  <a:rPr lang="en-US" sz="1850" dirty="0" smtClean="0"/>
                  <a:t>In </a:t>
                </a:r>
                <a:r>
                  <a:rPr lang="en-US" sz="1850" dirty="0"/>
                  <a:t>literature, </a:t>
                </a:r>
                <a:r>
                  <a:rPr lang="en-US" sz="1850" i="1" dirty="0" err="1"/>
                  <a:t>d</a:t>
                </a:r>
                <a:r>
                  <a:rPr lang="en-US" sz="1850" i="1" baseline="-25000" dirty="0" err="1"/>
                  <a:t>m</a:t>
                </a:r>
                <a:r>
                  <a:rPr lang="en-US" sz="1850" dirty="0"/>
                  <a:t> which is most important is called model </a:t>
                </a:r>
                <a:r>
                  <a:rPr lang="en-US" sz="1850" dirty="0" smtClean="0"/>
                  <a:t>dimension. </a:t>
                </a:r>
                <a:r>
                  <a:rPr lang="en-US" sz="1850" dirty="0"/>
                  <a:t>Given the self-attention </a:t>
                </a:r>
                <a:r>
                  <a:rPr lang="en-US" sz="1850" b="1" i="1" dirty="0" err="1"/>
                  <a:t>a</a:t>
                </a:r>
                <a:r>
                  <a:rPr lang="en-US" sz="1850" i="1" baseline="-25000" dirty="0" err="1"/>
                  <a:t>i</a:t>
                </a:r>
                <a:r>
                  <a:rPr lang="en-US" sz="1850" dirty="0"/>
                  <a:t> = (</a:t>
                </a:r>
                <a:r>
                  <a:rPr lang="en-US" sz="1850" i="1" dirty="0"/>
                  <a:t>a</a:t>
                </a:r>
                <a:r>
                  <a:rPr lang="en-US" sz="1850" i="1" baseline="-25000" dirty="0"/>
                  <a:t>i</a:t>
                </a:r>
                <a:r>
                  <a:rPr lang="en-US" sz="1850" baseline="-25000" dirty="0"/>
                  <a:t>1</a:t>
                </a:r>
                <a:r>
                  <a:rPr lang="en-US" sz="1850" dirty="0"/>
                  <a:t>, </a:t>
                </a:r>
                <a:r>
                  <a:rPr lang="en-US" sz="1850" i="1" dirty="0"/>
                  <a:t>a</a:t>
                </a:r>
                <a:r>
                  <a:rPr lang="en-US" sz="1850" i="1" baseline="-25000" dirty="0"/>
                  <a:t>i</a:t>
                </a:r>
                <a:r>
                  <a:rPr lang="en-US" sz="1850" baseline="-25000" dirty="0"/>
                  <a:t>2</a:t>
                </a:r>
                <a:r>
                  <a:rPr lang="en-US" sz="1850" dirty="0"/>
                  <a:t>,…, </a:t>
                </a:r>
                <a14:m>
                  <m:oMath xmlns:m="http://schemas.openxmlformats.org/officeDocument/2006/math">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1</m:t>
                        </m:r>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𝑣</m:t>
                            </m:r>
                          </m:sub>
                        </m:sSub>
                      </m:sub>
                    </m:sSub>
                  </m:oMath>
                </a14:m>
                <a:r>
                  <a:rPr lang="en-US" sz="1850" dirty="0"/>
                  <a:t>)</a:t>
                </a:r>
                <a:r>
                  <a:rPr lang="en-US" sz="1850" i="1" baseline="30000" dirty="0"/>
                  <a:t>T</a:t>
                </a:r>
                <a:r>
                  <a:rPr lang="en-US" sz="1850" dirty="0"/>
                  <a:t> of the </a:t>
                </a:r>
                <a:r>
                  <a:rPr lang="en-US" sz="1850" i="1" dirty="0" err="1"/>
                  <a:t>i</a:t>
                </a:r>
                <a:r>
                  <a:rPr lang="en-US" sz="1850" baseline="30000" dirty="0" err="1"/>
                  <a:t>th</a:t>
                </a:r>
                <a:r>
                  <a:rPr lang="en-US" sz="1850" dirty="0"/>
                  <a:t> token, its element </a:t>
                </a:r>
                <a14:m>
                  <m:oMath xmlns:m="http://schemas.openxmlformats.org/officeDocument/2006/math">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𝑖𝑗</m:t>
                        </m:r>
                      </m:sub>
                    </m:sSub>
                    <m:r>
                      <a:rPr lang="en-US" sz="1850" i="1">
                        <a:latin typeface="Cambria Math" panose="02040503050406030204" pitchFamily="18" charset="0"/>
                      </a:rPr>
                      <m:t>=</m:t>
                    </m:r>
                    <m:nary>
                      <m:naryPr>
                        <m:chr m:val="∑"/>
                        <m:limLoc m:val="undOvr"/>
                        <m:ctrlPr>
                          <a:rPr lang="en-US" sz="1850" i="1">
                            <a:latin typeface="Cambria Math" panose="02040503050406030204" pitchFamily="18" charset="0"/>
                          </a:rPr>
                        </m:ctrlPr>
                      </m:naryPr>
                      <m:sub>
                        <m:r>
                          <a:rPr lang="en-US" sz="1850" i="1">
                            <a:latin typeface="Cambria Math" panose="02040503050406030204" pitchFamily="18" charset="0"/>
                          </a:rPr>
                          <m:t>𝑘</m:t>
                        </m:r>
                        <m:r>
                          <a:rPr lang="en-US" sz="1850" i="1">
                            <a:latin typeface="Cambria Math" panose="02040503050406030204" pitchFamily="18" charset="0"/>
                          </a:rPr>
                          <m:t>=1</m:t>
                        </m:r>
                      </m:sub>
                      <m:sup>
                        <m:r>
                          <a:rPr lang="en-US" sz="1850" i="1">
                            <a:latin typeface="Cambria Math" panose="02040503050406030204" pitchFamily="18" charset="0"/>
                          </a:rPr>
                          <m:t>𝑚</m:t>
                        </m:r>
                      </m:sup>
                      <m:e>
                        <m:sSub>
                          <m:sSubPr>
                            <m:ctrlPr>
                              <a:rPr lang="en-US" sz="1850" i="1">
                                <a:latin typeface="Cambria Math" panose="02040503050406030204" pitchFamily="18" charset="0"/>
                              </a:rPr>
                            </m:ctrlPr>
                          </m:sSubPr>
                          <m:e>
                            <m:r>
                              <a:rPr lang="en-US" sz="1850" i="1">
                                <a:latin typeface="Cambria Math" panose="02040503050406030204" pitchFamily="18" charset="0"/>
                              </a:rPr>
                              <m:t>𝑝</m:t>
                            </m:r>
                          </m:e>
                          <m:sub>
                            <m:r>
                              <a:rPr lang="en-US" sz="1850" i="1">
                                <a:latin typeface="Cambria Math" panose="02040503050406030204" pitchFamily="18" charset="0"/>
                              </a:rPr>
                              <m:t>𝑖𝑘</m:t>
                            </m:r>
                          </m:sub>
                        </m:sSub>
                        <m:sSub>
                          <m:sSubPr>
                            <m:ctrlPr>
                              <a:rPr lang="en-US" sz="1850" i="1">
                                <a:latin typeface="Cambria Math" panose="02040503050406030204" pitchFamily="18" charset="0"/>
                              </a:rPr>
                            </m:ctrlPr>
                          </m:sSubPr>
                          <m:e>
                            <m:r>
                              <a:rPr lang="en-US" sz="1850" i="1">
                                <a:latin typeface="Cambria Math" panose="02040503050406030204" pitchFamily="18" charset="0"/>
                              </a:rPr>
                              <m:t>𝑣</m:t>
                            </m:r>
                          </m:e>
                          <m:sub>
                            <m:r>
                              <a:rPr lang="en-US" sz="1850" i="1">
                                <a:latin typeface="Cambria Math" panose="02040503050406030204" pitchFamily="18" charset="0"/>
                              </a:rPr>
                              <m:t>𝑘𝑗</m:t>
                            </m:r>
                          </m:sub>
                        </m:sSub>
                      </m:e>
                    </m:nary>
                  </m:oMath>
                </a14:m>
                <a:r>
                  <a:rPr lang="en-US" sz="1850" dirty="0"/>
                  <a:t> is the weighted sum of all </a:t>
                </a:r>
                <a:r>
                  <a:rPr lang="en-US" sz="1850" i="1" dirty="0" err="1"/>
                  <a:t>j</a:t>
                </a:r>
                <a:r>
                  <a:rPr lang="en-US" sz="1850" baseline="30000" dirty="0" err="1"/>
                  <a:t>th</a:t>
                </a:r>
                <a:r>
                  <a:rPr lang="en-US" sz="1850" dirty="0"/>
                  <a:t> terms (at the same </a:t>
                </a:r>
                <a:r>
                  <a:rPr lang="en-US" sz="1850" i="1" dirty="0" err="1"/>
                  <a:t>j</a:t>
                </a:r>
                <a:r>
                  <a:rPr lang="en-US" sz="1850" baseline="30000" dirty="0" err="1"/>
                  <a:t>th</a:t>
                </a:r>
                <a:r>
                  <a:rPr lang="en-US" sz="1850" dirty="0"/>
                  <a:t> column) over all tokens where every </a:t>
                </a:r>
                <a:r>
                  <a:rPr lang="en-US" sz="1850" i="1" dirty="0"/>
                  <a:t>k</a:t>
                </a:r>
                <a:r>
                  <a:rPr lang="en-US" sz="1850" baseline="30000" dirty="0"/>
                  <a:t>th</a:t>
                </a:r>
                <a:r>
                  <a:rPr lang="en-US" sz="1850" dirty="0"/>
                  <a:t> weight is specified as the probability </a:t>
                </a:r>
                <a:r>
                  <a:rPr lang="en-US" sz="1850" i="1" dirty="0" err="1"/>
                  <a:t>p</a:t>
                </a:r>
                <a:r>
                  <a:rPr lang="en-US" sz="1850" i="1" baseline="-25000" dirty="0" err="1"/>
                  <a:t>ik</a:t>
                </a:r>
                <a:r>
                  <a:rPr lang="en-US" sz="1850" dirty="0"/>
                  <a:t> that measures the similarity of the </a:t>
                </a:r>
                <a:r>
                  <a:rPr lang="en-US" sz="1850" i="1" dirty="0" err="1"/>
                  <a:t>i</a:t>
                </a:r>
                <a:r>
                  <a:rPr lang="en-US" sz="1850" baseline="30000" dirty="0" err="1"/>
                  <a:t>th</a:t>
                </a:r>
                <a:r>
                  <a:rPr lang="en-US" sz="1850" dirty="0"/>
                  <a:t> token and the </a:t>
                </a:r>
                <a:r>
                  <a:rPr lang="en-US" sz="1850" i="1" dirty="0"/>
                  <a:t>k</a:t>
                </a:r>
                <a:r>
                  <a:rPr lang="en-US" sz="1850" baseline="30000" dirty="0"/>
                  <a:t>th</a:t>
                </a:r>
                <a:r>
                  <a:rPr lang="en-US" sz="1850" dirty="0"/>
                  <a:t> token. It is interesting that such probability </a:t>
                </a:r>
                <a:r>
                  <a:rPr lang="en-US" sz="1850" i="1" dirty="0" err="1"/>
                  <a:t>p</a:t>
                </a:r>
                <a:r>
                  <a:rPr lang="en-US" sz="1850" i="1" baseline="-25000" dirty="0" err="1"/>
                  <a:t>ik</a:t>
                </a:r>
                <a:r>
                  <a:rPr lang="en-US" sz="1850" dirty="0"/>
                  <a:t> which is essentially the similarity is calculated as the association of dot product (non-normalized cosine) and soft-max function (for normalizing), which can be interpreted by another way as the frequency that the current </a:t>
                </a:r>
                <a:r>
                  <a:rPr lang="en-US" sz="1850" i="1" dirty="0" err="1"/>
                  <a:t>i</a:t>
                </a:r>
                <a:r>
                  <a:rPr lang="en-US" sz="1850" baseline="30000" dirty="0" err="1"/>
                  <a:t>th</a:t>
                </a:r>
                <a:r>
                  <a:rPr lang="en-US" sz="1850" dirty="0"/>
                  <a:t> token matches the </a:t>
                </a:r>
                <a:r>
                  <a:rPr lang="en-US" sz="1850" i="1" dirty="0"/>
                  <a:t>k</a:t>
                </a:r>
                <a:r>
                  <a:rPr lang="en-US" sz="1850" baseline="30000" dirty="0"/>
                  <a:t>th</a:t>
                </a:r>
                <a:r>
                  <a:rPr lang="en-US" sz="1850" dirty="0"/>
                  <a:t> token.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49760" cy="5176066"/>
              </a:xfrm>
              <a:blipFill>
                <a:blip r:embed="rId2"/>
                <a:stretch>
                  <a:fillRect l="-2834" t="-707" r="-759" b="-3180"/>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26</a:t>
            </a:fld>
            <a:endParaRPr lang="en-US"/>
          </a:p>
        </p:txBody>
      </p:sp>
    </p:spTree>
    <p:extLst>
      <p:ext uri="{BB962C8B-B14F-4D97-AF65-F5344CB8AC3E}">
        <p14:creationId xmlns:p14="http://schemas.microsoft.com/office/powerpoint/2010/main" val="391475085"/>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(skip)</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Autofit/>
              </a:bodyPr>
              <a:lstStyle/>
              <a:p>
                <a:pPr marL="0" indent="0">
                  <a:buNone/>
                </a:pPr>
                <a:r>
                  <a:rPr lang="en-US" sz="1850" dirty="0" smtClean="0">
                    <a:effectLst>
                      <a:outerShdw blurRad="38100" dist="38100" dir="2700000" algn="tl">
                        <a:srgbClr val="000000">
                          <a:alpha val="43137"/>
                        </a:srgbClr>
                      </a:outerShdw>
                    </a:effectLst>
                  </a:rPr>
                  <a:t>Some important notes:</a:t>
                </a:r>
              </a:p>
              <a:p>
                <a:pPr marL="0" indent="0">
                  <a:buNone/>
                </a:pPr>
                <a14:m>
                  <m:oMathPara xmlns:m="http://schemas.openxmlformats.org/officeDocument/2006/math">
                    <m:oMathParaPr>
                      <m:jc m:val="left"/>
                    </m:oMathParaPr>
                    <m:oMath xmlns:m="http://schemas.openxmlformats.org/officeDocument/2006/math">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r>
                        <m:rPr>
                          <m:aln/>
                        </m:rPr>
                        <a:rPr lang="en-US" sz="1850">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𝒑</m:t>
                                  </m:r>
                                </m:e>
                                <m:sub>
                                  <m:r>
                                    <a:rPr lang="en-US" sz="1850" i="1">
                                      <a:latin typeface="Cambria Math" panose="02040503050406030204" pitchFamily="18" charset="0"/>
                                    </a:rPr>
                                    <m:t>1</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𝒑</m:t>
                                  </m:r>
                                </m:e>
                                <m:sub>
                                  <m:r>
                                    <a:rPr lang="en-US" sz="1850" i="1">
                                      <a:latin typeface="Cambria Math" panose="02040503050406030204" pitchFamily="18" charset="0"/>
                                    </a:rPr>
                                    <m:t>2</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𝒑</m:t>
                                  </m:r>
                                </m:e>
                                <m:sub>
                                  <m:r>
                                    <a:rPr lang="en-US" sz="1850" i="1">
                                      <a:latin typeface="Cambria Math" panose="02040503050406030204" pitchFamily="18" charset="0"/>
                                    </a:rPr>
                                    <m:t>𝑚</m:t>
                                  </m:r>
                                </m:sub>
                                <m:sup>
                                  <m:r>
                                    <a:rPr lang="en-US" sz="1850" i="1">
                                      <a:latin typeface="Cambria Math" panose="02040503050406030204" pitchFamily="18" charset="0"/>
                                    </a:rPr>
                                    <m:t>𝑇</m:t>
                                  </m:r>
                                </m:sup>
                              </m:sSubSup>
                            </m:e>
                          </m:d>
                        </m:e>
                        <m:sup>
                          <m:r>
                            <a:rPr lang="en-US" sz="1850" i="1">
                              <a:latin typeface="Cambria Math" panose="02040503050406030204" pitchFamily="18" charset="0"/>
                            </a:rPr>
                            <m:t>𝑇</m:t>
                          </m:r>
                        </m:sup>
                      </m:sSup>
                    </m:oMath>
                  </m:oMathPara>
                </a14:m>
                <a:endParaRPr lang="en-US" sz="1850" dirty="0" smtClean="0"/>
              </a:p>
              <a:p>
                <a:pPr marL="0" indent="0">
                  <a:buNone/>
                </a:pPr>
                <a14:m>
                  <m:oMathPara xmlns:m="http://schemas.openxmlformats.org/officeDocument/2006/math">
                    <m:oMathParaPr>
                      <m:jc m:val="left"/>
                    </m:oMathParaPr>
                    <m:oMath xmlns:m="http://schemas.openxmlformats.org/officeDocument/2006/math">
                      <m:r>
                        <a:rPr lang="en-US" sz="1850" i="1">
                          <a:latin typeface="Cambria Math" panose="02040503050406030204" pitchFamily="18" charset="0"/>
                        </a:rPr>
                        <m:t>𝑅</m:t>
                      </m:r>
                      <m:r>
                        <m:rPr>
                          <m:aln/>
                        </m:rPr>
                        <a:rPr lang="en-US" sz="1850">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𝒓</m:t>
                                  </m:r>
                                </m:e>
                                <m:sub>
                                  <m:r>
                                    <a:rPr lang="en-US" sz="1850" i="1">
                                      <a:latin typeface="Cambria Math" panose="02040503050406030204" pitchFamily="18" charset="0"/>
                                    </a:rPr>
                                    <m:t>1</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𝒓</m:t>
                                  </m:r>
                                </m:e>
                                <m:sub>
                                  <m:r>
                                    <a:rPr lang="en-US" sz="1850" i="1">
                                      <a:latin typeface="Cambria Math" panose="02040503050406030204" pitchFamily="18" charset="0"/>
                                    </a:rPr>
                                    <m:t>2</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𝒓</m:t>
                                  </m:r>
                                </m:e>
                                <m:sub>
                                  <m:r>
                                    <a:rPr lang="en-US" sz="1850" i="1">
                                      <a:latin typeface="Cambria Math" panose="02040503050406030204" pitchFamily="18" charset="0"/>
                                    </a:rPr>
                                    <m:t>𝑚</m:t>
                                  </m:r>
                                </m:sub>
                                <m:sup>
                                  <m:r>
                                    <a:rPr lang="en-US" sz="1850" i="1">
                                      <a:latin typeface="Cambria Math" panose="02040503050406030204" pitchFamily="18" charset="0"/>
                                    </a:rPr>
                                    <m:t>𝑇</m:t>
                                  </m:r>
                                </m:sup>
                              </m:sSubSup>
                            </m:e>
                          </m:d>
                        </m:e>
                        <m:sup>
                          <m:r>
                            <a:rPr lang="en-US" sz="1850" i="1">
                              <a:latin typeface="Cambria Math" panose="02040503050406030204" pitchFamily="18" charset="0"/>
                            </a:rPr>
                            <m:t>𝑇</m:t>
                          </m:r>
                        </m:sup>
                      </m:sSup>
                      <m:r>
                        <a:rPr lang="en-US" sz="1850" i="1">
                          <a:latin typeface="Cambria Math" panose="02040503050406030204" pitchFamily="18" charset="0"/>
                        </a:rPr>
                        <m:t>=</m:t>
                      </m:r>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oMath>
                  </m:oMathPara>
                </a14:m>
                <a:endParaRPr lang="en-US" sz="1850" dirty="0" smtClean="0"/>
              </a:p>
              <a:p>
                <a:pPr marL="0" indent="0">
                  <a:buNone/>
                </a:pPr>
                <a14:m>
                  <m:oMathPara xmlns:m="http://schemas.openxmlformats.org/officeDocument/2006/math">
                    <m:oMathParaPr>
                      <m:jc m:val="left"/>
                    </m:oMathParaPr>
                    <m:oMath xmlns:m="http://schemas.openxmlformats.org/officeDocument/2006/math">
                      <m:sSub>
                        <m:sSubPr>
                          <m:ctrlPr>
                            <a:rPr lang="en-US" sz="1850" i="1">
                              <a:latin typeface="Cambria Math" panose="02040503050406030204" pitchFamily="18" charset="0"/>
                            </a:rPr>
                          </m:ctrlPr>
                        </m:sSubPr>
                        <m:e>
                          <m:r>
                            <a:rPr lang="en-US" sz="1850" b="1" i="1">
                              <a:latin typeface="Cambria Math" panose="02040503050406030204" pitchFamily="18" charset="0"/>
                            </a:rPr>
                            <m:t>𝒑</m:t>
                          </m:r>
                        </m:e>
                        <m:sub>
                          <m:r>
                            <a:rPr lang="en-US" sz="1850" i="1">
                              <a:latin typeface="Cambria Math" panose="02040503050406030204" pitchFamily="18" charset="0"/>
                            </a:rPr>
                            <m:t>𝑖</m:t>
                          </m:r>
                        </m:sub>
                      </m:sSub>
                      <m:r>
                        <m:rPr>
                          <m:aln/>
                        </m:rPr>
                        <a:rPr lang="en-US" sz="1850" i="1">
                          <a:latin typeface="Cambria Math" panose="02040503050406030204" pitchFamily="18" charset="0"/>
                        </a:rPr>
                        <m:t>=</m:t>
                      </m:r>
                      <m:r>
                        <m:rPr>
                          <m:sty m:val="p"/>
                        </m:rPr>
                        <a:rPr lang="en-US" sz="1850">
                          <a:latin typeface="Cambria Math" panose="02040503050406030204" pitchFamily="18" charset="0"/>
                        </a:rPr>
                        <m:t>softmax</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sSubSup>
                                    <m:sSubSupPr>
                                      <m:ctrlPr>
                                        <a:rPr lang="en-US" sz="1850" i="1">
                                          <a:latin typeface="Cambria Math" panose="02040503050406030204" pitchFamily="18" charset="0"/>
                                        </a:rPr>
                                      </m:ctrlPr>
                                    </m:sSubSupPr>
                                    <m:e>
                                      <m:r>
                                        <a:rPr lang="en-US" sz="1850" b="1" i="1">
                                          <a:latin typeface="Cambria Math" panose="02040503050406030204" pitchFamily="18" charset="0"/>
                                        </a:rPr>
                                        <m:t>𝒒</m:t>
                                      </m:r>
                                    </m:e>
                                    <m:sub>
                                      <m:r>
                                        <a:rPr lang="en-US" sz="1850" i="1">
                                          <a:latin typeface="Cambria Math" panose="02040503050406030204" pitchFamily="18" charset="0"/>
                                        </a:rPr>
                                        <m:t>𝑖</m:t>
                                      </m:r>
                                    </m:sub>
                                    <m:sup>
                                      <m:r>
                                        <a:rPr lang="en-US" sz="1850" i="1">
                                          <a:latin typeface="Cambria Math" panose="02040503050406030204" pitchFamily="18" charset="0"/>
                                        </a:rPr>
                                        <m:t>𝑇</m:t>
                                      </m:r>
                                    </m:sup>
                                  </m:sSubSup>
                                  <m:sSub>
                                    <m:sSubPr>
                                      <m:ctrlPr>
                                        <a:rPr lang="en-US" sz="1850" i="1">
                                          <a:latin typeface="Cambria Math" panose="02040503050406030204" pitchFamily="18" charset="0"/>
                                        </a:rPr>
                                      </m:ctrlPr>
                                    </m:sSubPr>
                                    <m:e>
                                      <m:r>
                                        <a:rPr lang="en-US" sz="1850" b="1" i="1">
                                          <a:latin typeface="Cambria Math" panose="02040503050406030204" pitchFamily="18" charset="0"/>
                                        </a:rPr>
                                        <m:t>𝒌</m:t>
                                      </m:r>
                                    </m:e>
                                    <m:sub>
                                      <m:r>
                                        <a:rPr lang="en-US" sz="1850" i="1">
                                          <a:latin typeface="Cambria Math" panose="02040503050406030204" pitchFamily="18" charset="0"/>
                                        </a:rPr>
                                        <m:t>1</m:t>
                                      </m:r>
                                    </m:sub>
                                  </m:sSub>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r>
                                <a:rPr lang="en-US" sz="1850" i="1">
                                  <a:latin typeface="Cambria Math" panose="02040503050406030204" pitchFamily="18" charset="0"/>
                                </a:rPr>
                                <m:t>,</m:t>
                              </m:r>
                              <m:f>
                                <m:fPr>
                                  <m:ctrlPr>
                                    <a:rPr lang="en-US" sz="1850" i="1">
                                      <a:latin typeface="Cambria Math" panose="02040503050406030204" pitchFamily="18" charset="0"/>
                                    </a:rPr>
                                  </m:ctrlPr>
                                </m:fPr>
                                <m:num>
                                  <m:sSubSup>
                                    <m:sSubSupPr>
                                      <m:ctrlPr>
                                        <a:rPr lang="en-US" sz="1850" i="1">
                                          <a:latin typeface="Cambria Math" panose="02040503050406030204" pitchFamily="18" charset="0"/>
                                        </a:rPr>
                                      </m:ctrlPr>
                                    </m:sSubSupPr>
                                    <m:e>
                                      <m:r>
                                        <a:rPr lang="en-US" sz="1850" b="1" i="1">
                                          <a:latin typeface="Cambria Math" panose="02040503050406030204" pitchFamily="18" charset="0"/>
                                        </a:rPr>
                                        <m:t>𝒒</m:t>
                                      </m:r>
                                    </m:e>
                                    <m:sub>
                                      <m:r>
                                        <a:rPr lang="en-US" sz="1850" i="1">
                                          <a:latin typeface="Cambria Math" panose="02040503050406030204" pitchFamily="18" charset="0"/>
                                        </a:rPr>
                                        <m:t>𝑖</m:t>
                                      </m:r>
                                    </m:sub>
                                    <m:sup>
                                      <m:r>
                                        <a:rPr lang="en-US" sz="1850" i="1">
                                          <a:latin typeface="Cambria Math" panose="02040503050406030204" pitchFamily="18" charset="0"/>
                                        </a:rPr>
                                        <m:t>𝑇</m:t>
                                      </m:r>
                                    </m:sup>
                                  </m:sSubSup>
                                  <m:sSub>
                                    <m:sSubPr>
                                      <m:ctrlPr>
                                        <a:rPr lang="en-US" sz="1850" i="1">
                                          <a:latin typeface="Cambria Math" panose="02040503050406030204" pitchFamily="18" charset="0"/>
                                        </a:rPr>
                                      </m:ctrlPr>
                                    </m:sSubPr>
                                    <m:e>
                                      <m:r>
                                        <a:rPr lang="en-US" sz="1850" b="1" i="1">
                                          <a:latin typeface="Cambria Math" panose="02040503050406030204" pitchFamily="18" charset="0"/>
                                        </a:rPr>
                                        <m:t>𝒌</m:t>
                                      </m:r>
                                    </m:e>
                                    <m:sub>
                                      <m:r>
                                        <a:rPr lang="en-US" sz="1850" i="1">
                                          <a:latin typeface="Cambria Math" panose="02040503050406030204" pitchFamily="18" charset="0"/>
                                        </a:rPr>
                                        <m:t>2</m:t>
                                      </m:r>
                                    </m:sub>
                                  </m:sSub>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r>
                                <a:rPr lang="en-US" sz="1850" i="1">
                                  <a:latin typeface="Cambria Math" panose="02040503050406030204" pitchFamily="18" charset="0"/>
                                </a:rPr>
                                <m:t>,…,</m:t>
                              </m:r>
                              <m:f>
                                <m:fPr>
                                  <m:ctrlPr>
                                    <a:rPr lang="en-US" sz="1850" i="1">
                                      <a:latin typeface="Cambria Math" panose="02040503050406030204" pitchFamily="18" charset="0"/>
                                    </a:rPr>
                                  </m:ctrlPr>
                                </m:fPr>
                                <m:num>
                                  <m:sSubSup>
                                    <m:sSubSupPr>
                                      <m:ctrlPr>
                                        <a:rPr lang="en-US" sz="1850" i="1">
                                          <a:latin typeface="Cambria Math" panose="02040503050406030204" pitchFamily="18" charset="0"/>
                                        </a:rPr>
                                      </m:ctrlPr>
                                    </m:sSubSupPr>
                                    <m:e>
                                      <m:r>
                                        <a:rPr lang="en-US" sz="1850" b="1" i="1">
                                          <a:latin typeface="Cambria Math" panose="02040503050406030204" pitchFamily="18" charset="0"/>
                                        </a:rPr>
                                        <m:t>𝒒</m:t>
                                      </m:r>
                                    </m:e>
                                    <m:sub>
                                      <m:r>
                                        <a:rPr lang="en-US" sz="1850" i="1">
                                          <a:latin typeface="Cambria Math" panose="02040503050406030204" pitchFamily="18" charset="0"/>
                                        </a:rPr>
                                        <m:t>𝑖</m:t>
                                      </m:r>
                                    </m:sub>
                                    <m:sup>
                                      <m:r>
                                        <a:rPr lang="en-US" sz="1850" i="1">
                                          <a:latin typeface="Cambria Math" panose="02040503050406030204" pitchFamily="18" charset="0"/>
                                        </a:rPr>
                                        <m:t>𝑇</m:t>
                                      </m:r>
                                    </m:sup>
                                  </m:sSubSup>
                                  <m:sSub>
                                    <m:sSubPr>
                                      <m:ctrlPr>
                                        <a:rPr lang="en-US" sz="1850" i="1">
                                          <a:latin typeface="Cambria Math" panose="02040503050406030204" pitchFamily="18" charset="0"/>
                                        </a:rPr>
                                      </m:ctrlPr>
                                    </m:sSubPr>
                                    <m:e>
                                      <m:r>
                                        <a:rPr lang="en-US" sz="1850" b="1" i="1">
                                          <a:latin typeface="Cambria Math" panose="02040503050406030204" pitchFamily="18" charset="0"/>
                                        </a:rPr>
                                        <m:t>𝒌</m:t>
                                      </m:r>
                                    </m:e>
                                    <m:sub>
                                      <m:r>
                                        <a:rPr lang="en-US" sz="1850" i="1">
                                          <a:latin typeface="Cambria Math" panose="02040503050406030204" pitchFamily="18" charset="0"/>
                                        </a:rPr>
                                        <m:t>𝑚</m:t>
                                      </m:r>
                                    </m:sub>
                                  </m:sSub>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e>
                        <m:sup>
                          <m:r>
                            <a:rPr lang="en-US" sz="1850" i="1">
                              <a:latin typeface="Cambria Math" panose="02040503050406030204" pitchFamily="18" charset="0"/>
                            </a:rPr>
                            <m:t>𝑇</m:t>
                          </m:r>
                        </m:sup>
                      </m:sSup>
                      <m: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𝑝</m:t>
                                  </m:r>
                                </m:e>
                                <m:sub>
                                  <m:r>
                                    <a:rPr lang="en-US" sz="1850" i="1">
                                      <a:latin typeface="Cambria Math" panose="02040503050406030204" pitchFamily="18" charset="0"/>
                                    </a:rPr>
                                    <m:t>𝑖</m:t>
                                  </m:r>
                                  <m:r>
                                    <a:rPr lang="en-US" sz="1850" i="1">
                                      <a:latin typeface="Cambria Math" panose="02040503050406030204" pitchFamily="18" charset="0"/>
                                    </a:rPr>
                                    <m:t>1</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𝑝</m:t>
                                  </m:r>
                                </m:e>
                                <m:sub>
                                  <m:r>
                                    <a:rPr lang="en-US" sz="1850" i="1">
                                      <a:latin typeface="Cambria Math" panose="02040503050406030204" pitchFamily="18" charset="0"/>
                                    </a:rPr>
                                    <m:t>𝑖</m:t>
                                  </m:r>
                                  <m:r>
                                    <a:rPr lang="en-US" sz="1850" i="1">
                                      <a:latin typeface="Cambria Math" panose="02040503050406030204" pitchFamily="18" charset="0"/>
                                    </a:rPr>
                                    <m:t>2</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𝑝</m:t>
                                  </m:r>
                                </m:e>
                                <m:sub>
                                  <m:r>
                                    <a:rPr lang="en-US" sz="1850" i="1">
                                      <a:latin typeface="Cambria Math" panose="02040503050406030204" pitchFamily="18" charset="0"/>
                                    </a:rPr>
                                    <m:t>𝑖𝑚</m:t>
                                  </m:r>
                                </m:sub>
                              </m:sSub>
                            </m:e>
                          </m:d>
                        </m:e>
                        <m:sup>
                          <m:r>
                            <a:rPr lang="en-US" sz="1850" i="1">
                              <a:latin typeface="Cambria Math" panose="02040503050406030204" pitchFamily="18" charset="0"/>
                            </a:rPr>
                            <m:t>𝑇</m:t>
                          </m:r>
                        </m:sup>
                      </m:sSup>
                      <m:r>
                        <a:rPr lang="en-US" sz="1850" b="0" i="1" smtClean="0">
                          <a:latin typeface="Cambria Math" panose="02040503050406030204" pitchFamily="18" charset="0"/>
                        </a:rPr>
                        <m:t> </m:t>
                      </m:r>
                      <m:r>
                        <m:rPr>
                          <m:sty m:val="p"/>
                        </m:rPr>
                        <a:rPr lang="en-US" sz="1850" b="0" i="0" smtClean="0">
                          <a:latin typeface="Cambria Math" panose="02040503050406030204" pitchFamily="18" charset="0"/>
                        </a:rPr>
                        <m:t>where</m:t>
                      </m:r>
                      <m:r>
                        <a:rPr lang="en-US" sz="1850" b="0" i="1" smtClean="0">
                          <a:latin typeface="Cambria Math" panose="02040503050406030204" pitchFamily="18" charset="0"/>
                        </a:rPr>
                        <m:t> </m:t>
                      </m:r>
                      <m:sSub>
                        <m:sSubPr>
                          <m:ctrlPr>
                            <a:rPr lang="en-US" sz="1850" i="1">
                              <a:latin typeface="Cambria Math" panose="02040503050406030204" pitchFamily="18" charset="0"/>
                            </a:rPr>
                          </m:ctrlPr>
                        </m:sSubPr>
                        <m:e>
                          <m:r>
                            <a:rPr lang="en-US" sz="1850" i="1">
                              <a:latin typeface="Cambria Math" panose="02040503050406030204" pitchFamily="18" charset="0"/>
                            </a:rPr>
                            <m:t>𝑝</m:t>
                          </m:r>
                        </m:e>
                        <m:sub>
                          <m:r>
                            <a:rPr lang="en-US" sz="1850" i="1">
                              <a:latin typeface="Cambria Math" panose="02040503050406030204" pitchFamily="18" charset="0"/>
                            </a:rPr>
                            <m:t>𝑖𝑗</m:t>
                          </m:r>
                        </m:sub>
                      </m:sSub>
                      <m:r>
                        <m:rPr>
                          <m:aln/>
                        </m:rPr>
                        <a:rPr lang="en-US" sz="1850" i="1">
                          <a:latin typeface="Cambria Math" panose="02040503050406030204" pitchFamily="18" charset="0"/>
                        </a:rPr>
                        <m:t>=</m:t>
                      </m:r>
                      <m:f>
                        <m:fPr>
                          <m:ctrlPr>
                            <a:rPr lang="en-US" sz="1850" i="1">
                              <a:latin typeface="Cambria Math" panose="02040503050406030204" pitchFamily="18" charset="0"/>
                            </a:rPr>
                          </m:ctrlPr>
                        </m:fPr>
                        <m:num>
                          <m:r>
                            <m:rPr>
                              <m:sty m:val="p"/>
                            </m:rPr>
                            <a:rPr lang="en-US" sz="1850">
                              <a:latin typeface="Cambria Math" panose="02040503050406030204" pitchFamily="18" charset="0"/>
                            </a:rPr>
                            <m:t>exp</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sSubSup>
                                    <m:sSubSupPr>
                                      <m:ctrlPr>
                                        <a:rPr lang="en-US" sz="1850" i="1">
                                          <a:latin typeface="Cambria Math" panose="02040503050406030204" pitchFamily="18" charset="0"/>
                                        </a:rPr>
                                      </m:ctrlPr>
                                    </m:sSubSupPr>
                                    <m:e>
                                      <m:r>
                                        <a:rPr lang="en-US" sz="1850" b="1" i="1">
                                          <a:latin typeface="Cambria Math" panose="02040503050406030204" pitchFamily="18" charset="0"/>
                                        </a:rPr>
                                        <m:t>𝒒</m:t>
                                      </m:r>
                                    </m:e>
                                    <m:sub>
                                      <m:r>
                                        <a:rPr lang="en-US" sz="1850" i="1">
                                          <a:latin typeface="Cambria Math" panose="02040503050406030204" pitchFamily="18" charset="0"/>
                                        </a:rPr>
                                        <m:t>𝑖</m:t>
                                      </m:r>
                                    </m:sub>
                                    <m:sup>
                                      <m:r>
                                        <a:rPr lang="en-US" sz="1850" i="1">
                                          <a:latin typeface="Cambria Math" panose="02040503050406030204" pitchFamily="18" charset="0"/>
                                        </a:rPr>
                                        <m:t>𝑇</m:t>
                                      </m:r>
                                    </m:sup>
                                  </m:sSubSup>
                                  <m:sSub>
                                    <m:sSubPr>
                                      <m:ctrlPr>
                                        <a:rPr lang="en-US" sz="1850" i="1">
                                          <a:latin typeface="Cambria Math" panose="02040503050406030204" pitchFamily="18" charset="0"/>
                                        </a:rPr>
                                      </m:ctrlPr>
                                    </m:sSubPr>
                                    <m:e>
                                      <m:r>
                                        <a:rPr lang="en-US" sz="1850" b="1" i="1">
                                          <a:latin typeface="Cambria Math" panose="02040503050406030204" pitchFamily="18" charset="0"/>
                                        </a:rPr>
                                        <m:t>𝒌</m:t>
                                      </m:r>
                                    </m:e>
                                    <m:sub>
                                      <m:r>
                                        <a:rPr lang="en-US" sz="1850" i="1">
                                          <a:latin typeface="Cambria Math" panose="02040503050406030204" pitchFamily="18" charset="0"/>
                                        </a:rPr>
                                        <m:t>𝑗</m:t>
                                      </m:r>
                                    </m:sub>
                                  </m:sSub>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num>
                        <m:den>
                          <m:nary>
                            <m:naryPr>
                              <m:chr m:val="∑"/>
                              <m:limLoc m:val="undOvr"/>
                              <m:ctrlPr>
                                <a:rPr lang="en-US" sz="1850" i="1">
                                  <a:latin typeface="Cambria Math" panose="02040503050406030204" pitchFamily="18" charset="0"/>
                                </a:rPr>
                              </m:ctrlPr>
                            </m:naryPr>
                            <m:sub>
                              <m:r>
                                <a:rPr lang="en-US" sz="1850" i="1">
                                  <a:latin typeface="Cambria Math" panose="02040503050406030204" pitchFamily="18" charset="0"/>
                                </a:rPr>
                                <m:t>𝑙</m:t>
                              </m:r>
                              <m:r>
                                <a:rPr lang="en-US" sz="1850" i="1">
                                  <a:latin typeface="Cambria Math" panose="02040503050406030204" pitchFamily="18" charset="0"/>
                                </a:rPr>
                                <m:t>=1</m:t>
                              </m:r>
                            </m:sub>
                            <m:sup>
                              <m:r>
                                <a:rPr lang="en-US" sz="1850" i="1">
                                  <a:latin typeface="Cambria Math" panose="02040503050406030204" pitchFamily="18" charset="0"/>
                                </a:rPr>
                                <m:t>𝑚</m:t>
                              </m:r>
                            </m:sup>
                            <m:e>
                              <m:r>
                                <m:rPr>
                                  <m:sty m:val="p"/>
                                </m:rPr>
                                <a:rPr lang="en-US" sz="1850">
                                  <a:latin typeface="Cambria Math" panose="02040503050406030204" pitchFamily="18" charset="0"/>
                                </a:rPr>
                                <m:t>exp</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sSubSup>
                                        <m:sSubSupPr>
                                          <m:ctrlPr>
                                            <a:rPr lang="en-US" sz="1850" i="1">
                                              <a:latin typeface="Cambria Math" panose="02040503050406030204" pitchFamily="18" charset="0"/>
                                            </a:rPr>
                                          </m:ctrlPr>
                                        </m:sSubSupPr>
                                        <m:e>
                                          <m:r>
                                            <a:rPr lang="en-US" sz="1850" b="1" i="1">
                                              <a:latin typeface="Cambria Math" panose="02040503050406030204" pitchFamily="18" charset="0"/>
                                            </a:rPr>
                                            <m:t>𝒒</m:t>
                                          </m:r>
                                        </m:e>
                                        <m:sub>
                                          <m:r>
                                            <a:rPr lang="en-US" sz="1850" i="1">
                                              <a:latin typeface="Cambria Math" panose="02040503050406030204" pitchFamily="18" charset="0"/>
                                            </a:rPr>
                                            <m:t>𝑖</m:t>
                                          </m:r>
                                        </m:sub>
                                        <m:sup>
                                          <m:r>
                                            <a:rPr lang="en-US" sz="1850" i="1">
                                              <a:latin typeface="Cambria Math" panose="02040503050406030204" pitchFamily="18" charset="0"/>
                                            </a:rPr>
                                            <m:t>𝑇</m:t>
                                          </m:r>
                                        </m:sup>
                                      </m:sSubSup>
                                      <m:sSub>
                                        <m:sSubPr>
                                          <m:ctrlPr>
                                            <a:rPr lang="en-US" sz="1850" i="1">
                                              <a:latin typeface="Cambria Math" panose="02040503050406030204" pitchFamily="18" charset="0"/>
                                            </a:rPr>
                                          </m:ctrlPr>
                                        </m:sSubPr>
                                        <m:e>
                                          <m:r>
                                            <a:rPr lang="en-US" sz="1850" b="1" i="1">
                                              <a:latin typeface="Cambria Math" panose="02040503050406030204" pitchFamily="18" charset="0"/>
                                            </a:rPr>
                                            <m:t>𝒌</m:t>
                                          </m:r>
                                        </m:e>
                                        <m:sub>
                                          <m:r>
                                            <a:rPr lang="en-US" sz="1850" i="1">
                                              <a:latin typeface="Cambria Math" panose="02040503050406030204" pitchFamily="18" charset="0"/>
                                            </a:rPr>
                                            <m:t>𝑙</m:t>
                                          </m:r>
                                        </m:sub>
                                      </m:sSub>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e>
                          </m:nary>
                        </m:den>
                      </m:f>
                    </m:oMath>
                  </m:oMathPara>
                </a14:m>
                <a:endParaRPr lang="en-US" sz="1850" dirty="0" smtClean="0"/>
              </a:p>
              <a:p>
                <a:pPr marL="0" indent="0">
                  <a:buNone/>
                </a:pPr>
                <a14:m>
                  <m:oMathPara xmlns:m="http://schemas.openxmlformats.org/officeDocument/2006/math">
                    <m:oMathParaPr>
                      <m:jc m:val="left"/>
                    </m:oMathParaPr>
                    <m:oMath xmlns:m="http://schemas.openxmlformats.org/officeDocument/2006/math">
                      <m:sSub>
                        <m:sSubPr>
                          <m:ctrlPr>
                            <a:rPr lang="en-US" sz="1850" i="1">
                              <a:latin typeface="Cambria Math" panose="02040503050406030204" pitchFamily="18" charset="0"/>
                            </a:rPr>
                          </m:ctrlPr>
                        </m:sSubPr>
                        <m:e>
                          <m:r>
                            <a:rPr lang="en-US" sz="1850" b="1" i="1">
                              <a:latin typeface="Cambria Math" panose="02040503050406030204" pitchFamily="18" charset="0"/>
                            </a:rPr>
                            <m:t>𝒓</m:t>
                          </m:r>
                        </m:e>
                        <m:sub>
                          <m:r>
                            <a:rPr lang="en-US" sz="1850" i="1">
                              <a:latin typeface="Cambria Math" panose="02040503050406030204" pitchFamily="18" charset="0"/>
                            </a:rPr>
                            <m:t>𝑖</m:t>
                          </m:r>
                        </m:sub>
                      </m:sSub>
                      <m:r>
                        <m:rPr>
                          <m:aln/>
                        </m:rP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𝑟</m:t>
                                  </m:r>
                                </m:e>
                                <m:sub>
                                  <m:r>
                                    <a:rPr lang="en-US" sz="1850" i="1">
                                      <a:latin typeface="Cambria Math" panose="02040503050406030204" pitchFamily="18" charset="0"/>
                                    </a:rPr>
                                    <m:t>𝑖</m:t>
                                  </m:r>
                                  <m:r>
                                    <a:rPr lang="en-US" sz="1850" i="1">
                                      <a:latin typeface="Cambria Math" panose="02040503050406030204" pitchFamily="18" charset="0"/>
                                    </a:rPr>
                                    <m:t>1</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𝑟</m:t>
                                  </m:r>
                                </m:e>
                                <m:sub>
                                  <m:r>
                                    <a:rPr lang="en-US" sz="1850" i="1">
                                      <a:latin typeface="Cambria Math" panose="02040503050406030204" pitchFamily="18" charset="0"/>
                                    </a:rPr>
                                    <m:t>𝑖</m:t>
                                  </m:r>
                                  <m:r>
                                    <a:rPr lang="en-US" sz="1850" i="1">
                                      <a:latin typeface="Cambria Math" panose="02040503050406030204" pitchFamily="18" charset="0"/>
                                    </a:rPr>
                                    <m:t>1</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𝑟</m:t>
                                  </m:r>
                                </m:e>
                                <m:sub>
                                  <m:r>
                                    <a:rPr lang="en-US" sz="1850" i="1">
                                      <a:latin typeface="Cambria Math" panose="02040503050406030204" pitchFamily="18" charset="0"/>
                                    </a:rPr>
                                    <m:t>𝑖𝑚</m:t>
                                  </m:r>
                                </m:sub>
                              </m:sSub>
                            </m:e>
                          </m:d>
                        </m:e>
                        <m:sup>
                          <m:r>
                            <a:rPr lang="en-US" sz="1850" i="1">
                              <a:latin typeface="Cambria Math" panose="02040503050406030204" pitchFamily="18" charset="0"/>
                            </a:rPr>
                            <m:t>𝑇</m:t>
                          </m:r>
                        </m:sup>
                      </m:sSup>
                      <m: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sSub>
                                    <m:sSubPr>
                                      <m:ctrlPr>
                                        <a:rPr lang="en-US" sz="1850" i="1">
                                          <a:latin typeface="Cambria Math" panose="02040503050406030204" pitchFamily="18" charset="0"/>
                                        </a:rPr>
                                      </m:ctrlPr>
                                    </m:sSubPr>
                                    <m:e>
                                      <m:r>
                                        <a:rPr lang="en-US" sz="1850" b="1" i="1">
                                          <a:latin typeface="Cambria Math" panose="02040503050406030204" pitchFamily="18" charset="0"/>
                                        </a:rPr>
                                        <m:t>𝒒</m:t>
                                      </m:r>
                                    </m:e>
                                    <m:sub>
                                      <m:r>
                                        <a:rPr lang="en-US" sz="1850" i="1">
                                          <a:latin typeface="Cambria Math" panose="02040503050406030204" pitchFamily="18" charset="0"/>
                                        </a:rPr>
                                        <m:t>𝑖</m:t>
                                      </m:r>
                                    </m:sub>
                                  </m:sSub>
                                  <m:sSubSup>
                                    <m:sSubSupPr>
                                      <m:ctrlPr>
                                        <a:rPr lang="en-US" sz="1850" i="1">
                                          <a:latin typeface="Cambria Math" panose="02040503050406030204" pitchFamily="18" charset="0"/>
                                        </a:rPr>
                                      </m:ctrlPr>
                                    </m:sSubSupPr>
                                    <m:e>
                                      <m:r>
                                        <a:rPr lang="en-US" sz="1850" b="1" i="1">
                                          <a:latin typeface="Cambria Math" panose="02040503050406030204" pitchFamily="18" charset="0"/>
                                        </a:rPr>
                                        <m:t>𝒌</m:t>
                                      </m:r>
                                    </m:e>
                                    <m:sub>
                                      <m:r>
                                        <a:rPr lang="en-US" sz="1850" i="1">
                                          <a:latin typeface="Cambria Math" panose="02040503050406030204" pitchFamily="18" charset="0"/>
                                        </a:rPr>
                                        <m:t>1</m:t>
                                      </m:r>
                                    </m:sub>
                                    <m:sup>
                                      <m:r>
                                        <a:rPr lang="en-US" sz="1850" i="1">
                                          <a:latin typeface="Cambria Math" panose="02040503050406030204" pitchFamily="18" charset="0"/>
                                        </a:rPr>
                                        <m:t>𝑇</m:t>
                                      </m:r>
                                    </m:sup>
                                  </m:sSub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r>
                                <a:rPr lang="en-US" sz="1850" i="1">
                                  <a:latin typeface="Cambria Math" panose="02040503050406030204" pitchFamily="18" charset="0"/>
                                </a:rPr>
                                <m:t>,</m:t>
                              </m:r>
                              <m:f>
                                <m:fPr>
                                  <m:ctrlPr>
                                    <a:rPr lang="en-US" sz="1850" i="1">
                                      <a:latin typeface="Cambria Math" panose="02040503050406030204" pitchFamily="18" charset="0"/>
                                    </a:rPr>
                                  </m:ctrlPr>
                                </m:fPr>
                                <m:num>
                                  <m:sSub>
                                    <m:sSubPr>
                                      <m:ctrlPr>
                                        <a:rPr lang="en-US" sz="1850" i="1">
                                          <a:latin typeface="Cambria Math" panose="02040503050406030204" pitchFamily="18" charset="0"/>
                                        </a:rPr>
                                      </m:ctrlPr>
                                    </m:sSubPr>
                                    <m:e>
                                      <m:r>
                                        <a:rPr lang="en-US" sz="1850" b="1" i="1">
                                          <a:latin typeface="Cambria Math" panose="02040503050406030204" pitchFamily="18" charset="0"/>
                                        </a:rPr>
                                        <m:t>𝒒</m:t>
                                      </m:r>
                                    </m:e>
                                    <m:sub>
                                      <m:r>
                                        <a:rPr lang="en-US" sz="1850" i="1">
                                          <a:latin typeface="Cambria Math" panose="02040503050406030204" pitchFamily="18" charset="0"/>
                                        </a:rPr>
                                        <m:t>𝑖</m:t>
                                      </m:r>
                                    </m:sub>
                                  </m:sSub>
                                  <m:sSubSup>
                                    <m:sSubSupPr>
                                      <m:ctrlPr>
                                        <a:rPr lang="en-US" sz="1850" i="1">
                                          <a:latin typeface="Cambria Math" panose="02040503050406030204" pitchFamily="18" charset="0"/>
                                        </a:rPr>
                                      </m:ctrlPr>
                                    </m:sSubSupPr>
                                    <m:e>
                                      <m:r>
                                        <a:rPr lang="en-US" sz="1850" b="1" i="1">
                                          <a:latin typeface="Cambria Math" panose="02040503050406030204" pitchFamily="18" charset="0"/>
                                        </a:rPr>
                                        <m:t>𝒌</m:t>
                                      </m:r>
                                    </m:e>
                                    <m:sub>
                                      <m:r>
                                        <a:rPr lang="en-US" sz="1850" i="1">
                                          <a:latin typeface="Cambria Math" panose="02040503050406030204" pitchFamily="18" charset="0"/>
                                        </a:rPr>
                                        <m:t>2</m:t>
                                      </m:r>
                                    </m:sub>
                                    <m:sup>
                                      <m:r>
                                        <a:rPr lang="en-US" sz="1850" i="1">
                                          <a:latin typeface="Cambria Math" panose="02040503050406030204" pitchFamily="18" charset="0"/>
                                        </a:rPr>
                                        <m:t>𝑇</m:t>
                                      </m:r>
                                    </m:sup>
                                  </m:sSub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r>
                                <a:rPr lang="en-US" sz="1850" i="1">
                                  <a:latin typeface="Cambria Math" panose="02040503050406030204" pitchFamily="18" charset="0"/>
                                </a:rPr>
                                <m:t>,…,</m:t>
                              </m:r>
                              <m:f>
                                <m:fPr>
                                  <m:ctrlPr>
                                    <a:rPr lang="en-US" sz="1850" i="1">
                                      <a:latin typeface="Cambria Math" panose="02040503050406030204" pitchFamily="18" charset="0"/>
                                    </a:rPr>
                                  </m:ctrlPr>
                                </m:fPr>
                                <m:num>
                                  <m:sSub>
                                    <m:sSubPr>
                                      <m:ctrlPr>
                                        <a:rPr lang="en-US" sz="1850" i="1">
                                          <a:latin typeface="Cambria Math" panose="02040503050406030204" pitchFamily="18" charset="0"/>
                                        </a:rPr>
                                      </m:ctrlPr>
                                    </m:sSubPr>
                                    <m:e>
                                      <m:r>
                                        <a:rPr lang="en-US" sz="1850" b="1" i="1">
                                          <a:latin typeface="Cambria Math" panose="02040503050406030204" pitchFamily="18" charset="0"/>
                                        </a:rPr>
                                        <m:t>𝒒</m:t>
                                      </m:r>
                                    </m:e>
                                    <m:sub>
                                      <m:r>
                                        <a:rPr lang="en-US" sz="1850" i="1">
                                          <a:latin typeface="Cambria Math" panose="02040503050406030204" pitchFamily="18" charset="0"/>
                                        </a:rPr>
                                        <m:t>𝑖</m:t>
                                      </m:r>
                                    </m:sub>
                                  </m:sSub>
                                  <m:sSubSup>
                                    <m:sSubSupPr>
                                      <m:ctrlPr>
                                        <a:rPr lang="en-US" sz="1850" i="1">
                                          <a:latin typeface="Cambria Math" panose="02040503050406030204" pitchFamily="18" charset="0"/>
                                        </a:rPr>
                                      </m:ctrlPr>
                                    </m:sSubSupPr>
                                    <m:e>
                                      <m:r>
                                        <a:rPr lang="en-US" sz="1850" b="1" i="1">
                                          <a:latin typeface="Cambria Math" panose="02040503050406030204" pitchFamily="18" charset="0"/>
                                        </a:rPr>
                                        <m:t>𝒌</m:t>
                                      </m:r>
                                    </m:e>
                                    <m:sub>
                                      <m:r>
                                        <a:rPr lang="en-US" sz="1850" i="1">
                                          <a:latin typeface="Cambria Math" panose="02040503050406030204" pitchFamily="18" charset="0"/>
                                        </a:rPr>
                                        <m:t>𝑚</m:t>
                                      </m:r>
                                    </m:sub>
                                    <m:sup>
                                      <m:r>
                                        <a:rPr lang="en-US" sz="1850" i="1">
                                          <a:latin typeface="Cambria Math" panose="02040503050406030204" pitchFamily="18" charset="0"/>
                                        </a:rPr>
                                        <m:t>𝑇</m:t>
                                      </m:r>
                                    </m:sup>
                                  </m:sSub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e>
                        <m:sup>
                          <m:r>
                            <a:rPr lang="en-US" sz="1850" i="1">
                              <a:latin typeface="Cambria Math" panose="02040503050406030204" pitchFamily="18" charset="0"/>
                            </a:rPr>
                            <m:t>𝑇</m:t>
                          </m:r>
                        </m:sup>
                      </m:sSup>
                      <m:r>
                        <m:rPr>
                          <m:sty m:val="p"/>
                        </m:rPr>
                        <a:rPr lang="en-US" sz="1850" b="0" i="0" smtClean="0">
                          <a:latin typeface="Cambria Math" panose="02040503050406030204" pitchFamily="18" charset="0"/>
                        </a:rPr>
                        <m:t>and</m:t>
                      </m:r>
                      <m:r>
                        <a:rPr lang="en-US" sz="1850" b="0" i="1" smtClean="0">
                          <a:latin typeface="Cambria Math" panose="02040503050406030204" pitchFamily="18" charset="0"/>
                        </a:rPr>
                        <m:t> </m:t>
                      </m:r>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r>
                        <m:rPr>
                          <m:aln/>
                        </m:rP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𝑖</m:t>
                                  </m:r>
                                  <m:r>
                                    <a:rPr lang="en-US" sz="1850" i="1">
                                      <a:latin typeface="Cambria Math" panose="02040503050406030204" pitchFamily="18" charset="0"/>
                                    </a:rPr>
                                    <m:t>1</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𝑖</m:t>
                                  </m:r>
                                  <m:r>
                                    <a:rPr lang="en-US" sz="1850" i="1">
                                      <a:latin typeface="Cambria Math" panose="02040503050406030204" pitchFamily="18" charset="0"/>
                                    </a:rPr>
                                    <m:t>2</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𝑎</m:t>
                                  </m:r>
                                </m:e>
                                <m:sub>
                                  <m:r>
                                    <a:rPr lang="en-US" sz="1850" i="1">
                                      <a:latin typeface="Cambria Math" panose="02040503050406030204" pitchFamily="18" charset="0"/>
                                    </a:rPr>
                                    <m:t>𝑖</m:t>
                                  </m:r>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𝑣</m:t>
                                      </m:r>
                                    </m:sub>
                                  </m:sSub>
                                </m:sub>
                              </m:sSub>
                            </m:e>
                          </m:d>
                        </m:e>
                        <m:sup>
                          <m:r>
                            <a:rPr lang="en-US" sz="1850" i="1">
                              <a:latin typeface="Cambria Math" panose="02040503050406030204" pitchFamily="18" charset="0"/>
                            </a:rPr>
                            <m:t>𝑇</m:t>
                          </m:r>
                        </m:sup>
                      </m:sSup>
                    </m:oMath>
                  </m:oMathPara>
                </a14:m>
                <a:endParaRPr lang="en-US" sz="1850" dirty="0" smtClean="0"/>
              </a:p>
              <a:p>
                <a:pPr marL="0" indent="0">
                  <a:buNone/>
                </a:pPr>
                <a:r>
                  <a:rPr lang="en-US" sz="1850" dirty="0" smtClean="0"/>
                  <a:t>Given</a:t>
                </a:r>
                <a:endParaRPr lang="en-US" sz="1850" dirty="0"/>
              </a:p>
              <a:p>
                <a:pPr marL="0" indent="0">
                  <a:buNone/>
                </a:pPr>
                <a14:m>
                  <m:oMathPara xmlns:m="http://schemas.openxmlformats.org/officeDocument/2006/math">
                    <m:oMathParaPr>
                      <m:jc m:val="centerGroup"/>
                    </m:oMathParaPr>
                    <m:oMath xmlns:m="http://schemas.openxmlformats.org/officeDocument/2006/math">
                      <m:r>
                        <a:rPr lang="en-US" sz="1850" b="1" i="1">
                          <a:latin typeface="Cambria Math" panose="02040503050406030204" pitchFamily="18" charset="0"/>
                        </a:rPr>
                        <m:t>𝑿</m:t>
                      </m:r>
                      <m:r>
                        <m:rPr>
                          <m:aln/>
                        </m:rP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𝒙</m:t>
                                  </m:r>
                                </m:e>
                                <m:sub>
                                  <m:r>
                                    <a:rPr lang="en-US" sz="1850" i="1">
                                      <a:latin typeface="Cambria Math" panose="02040503050406030204" pitchFamily="18" charset="0"/>
                                    </a:rPr>
                                    <m:t>1</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𝒙</m:t>
                                  </m:r>
                                </m:e>
                                <m:sub>
                                  <m:r>
                                    <a:rPr lang="en-US" sz="1850" i="1">
                                      <a:latin typeface="Cambria Math" panose="02040503050406030204" pitchFamily="18" charset="0"/>
                                    </a:rPr>
                                    <m:t>2</m:t>
                                  </m:r>
                                </m:sub>
                                <m:sup>
                                  <m:r>
                                    <a:rPr lang="en-US" sz="1850" i="1">
                                      <a:latin typeface="Cambria Math" panose="02040503050406030204" pitchFamily="18" charset="0"/>
                                    </a:rPr>
                                    <m:t>𝑇</m:t>
                                  </m:r>
                                </m:sup>
                              </m:sSubSup>
                              <m:r>
                                <a:rPr lang="en-US" sz="1850" i="1">
                                  <a:latin typeface="Cambria Math" panose="02040503050406030204" pitchFamily="18" charset="0"/>
                                </a:rPr>
                                <m:t>,…,</m:t>
                              </m:r>
                              <m:sSubSup>
                                <m:sSubSupPr>
                                  <m:ctrlPr>
                                    <a:rPr lang="en-US" sz="1850" i="1">
                                      <a:latin typeface="Cambria Math" panose="02040503050406030204" pitchFamily="18" charset="0"/>
                                    </a:rPr>
                                  </m:ctrlPr>
                                </m:sSubSupPr>
                                <m:e>
                                  <m:r>
                                    <a:rPr lang="en-US" sz="1850" b="1" i="1">
                                      <a:latin typeface="Cambria Math" panose="02040503050406030204" pitchFamily="18" charset="0"/>
                                    </a:rPr>
                                    <m:t>𝒙</m:t>
                                  </m:r>
                                </m:e>
                                <m:sub>
                                  <m:r>
                                    <a:rPr lang="en-US" sz="1850" i="1">
                                      <a:latin typeface="Cambria Math" panose="02040503050406030204" pitchFamily="18" charset="0"/>
                                    </a:rPr>
                                    <m:t>𝑚</m:t>
                                  </m:r>
                                </m:sub>
                                <m:sup>
                                  <m:r>
                                    <a:rPr lang="en-US" sz="1850" i="1">
                                      <a:latin typeface="Cambria Math" panose="02040503050406030204" pitchFamily="18" charset="0"/>
                                    </a:rPr>
                                    <m:t>𝑇</m:t>
                                  </m:r>
                                </m:sup>
                              </m:sSubSup>
                            </m:e>
                          </m:d>
                        </m:e>
                        <m:sup>
                          <m:r>
                            <a:rPr lang="en-US" sz="1850" i="1">
                              <a:latin typeface="Cambria Math" panose="02040503050406030204" pitchFamily="18" charset="0"/>
                            </a:rPr>
                            <m:t>𝑇</m:t>
                          </m:r>
                        </m:sup>
                      </m:sSup>
                      <m:r>
                        <a:rPr lang="en-US" sz="1850" b="0" i="1" smtClean="0">
                          <a:latin typeface="Cambria Math" panose="02040503050406030204" pitchFamily="18" charset="0"/>
                        </a:rPr>
                        <m:t> </m:t>
                      </m:r>
                      <m:r>
                        <m:rPr>
                          <m:sty m:val="p"/>
                        </m:rPr>
                        <a:rPr lang="en-US" sz="1850" b="0" i="0" smtClean="0">
                          <a:latin typeface="Cambria Math" panose="02040503050406030204" pitchFamily="18" charset="0"/>
                        </a:rPr>
                        <m:t>and</m:t>
                      </m:r>
                      <m:r>
                        <a:rPr lang="en-US" sz="1850" b="0" i="0" smtClean="0">
                          <a:latin typeface="Cambria Math" panose="02040503050406030204" pitchFamily="18" charset="0"/>
                        </a:rPr>
                        <m:t> </m:t>
                      </m:r>
                      <m:sSub>
                        <m:sSubPr>
                          <m:ctrlPr>
                            <a:rPr lang="en-US" sz="1850" i="1">
                              <a:latin typeface="Cambria Math" panose="02040503050406030204" pitchFamily="18" charset="0"/>
                            </a:rPr>
                          </m:ctrlPr>
                        </m:sSubPr>
                        <m:e>
                          <m:r>
                            <a:rPr lang="en-US" sz="1850" b="1" i="1">
                              <a:latin typeface="Cambria Math" panose="02040503050406030204" pitchFamily="18" charset="0"/>
                            </a:rPr>
                            <m:t>𝒙</m:t>
                          </m:r>
                        </m:e>
                        <m:sub>
                          <m:r>
                            <a:rPr lang="en-US" sz="1850" i="1">
                              <a:latin typeface="Cambria Math" panose="02040503050406030204" pitchFamily="18" charset="0"/>
                            </a:rPr>
                            <m:t>𝑖</m:t>
                          </m:r>
                        </m:sub>
                      </m:sSub>
                      <m:r>
                        <m:rPr>
                          <m:aln/>
                        </m:rP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i="1">
                                      <a:latin typeface="Cambria Math" panose="02040503050406030204" pitchFamily="18" charset="0"/>
                                    </a:rPr>
                                    <m:t>𝑥</m:t>
                                  </m:r>
                                </m:e>
                                <m:sub>
                                  <m:r>
                                    <a:rPr lang="en-US" sz="1850" i="1">
                                      <a:latin typeface="Cambria Math" panose="02040503050406030204" pitchFamily="18" charset="0"/>
                                    </a:rPr>
                                    <m:t>𝑖</m:t>
                                  </m:r>
                                  <m:r>
                                    <a:rPr lang="en-US" sz="1850" i="1">
                                      <a:latin typeface="Cambria Math" panose="02040503050406030204" pitchFamily="18" charset="0"/>
                                    </a:rPr>
                                    <m:t>1</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𝑥</m:t>
                                  </m:r>
                                </m:e>
                                <m:sub>
                                  <m:r>
                                    <a:rPr lang="en-US" sz="1850" i="1">
                                      <a:latin typeface="Cambria Math" panose="02040503050406030204" pitchFamily="18" charset="0"/>
                                    </a:rPr>
                                    <m:t>𝑖</m:t>
                                  </m:r>
                                  <m:r>
                                    <a:rPr lang="en-US" sz="1850" i="1">
                                      <a:latin typeface="Cambria Math" panose="02040503050406030204" pitchFamily="18" charset="0"/>
                                    </a:rPr>
                                    <m:t>2</m:t>
                                  </m:r>
                                </m:sub>
                              </m:sSub>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i="1">
                                      <a:latin typeface="Cambria Math" panose="02040503050406030204" pitchFamily="18" charset="0"/>
                                    </a:rPr>
                                    <m:t>𝑥</m:t>
                                  </m:r>
                                </m:e>
                                <m:sub>
                                  <m:r>
                                    <a:rPr lang="en-US" sz="1850" i="1">
                                      <a:latin typeface="Cambria Math" panose="02040503050406030204" pitchFamily="18" charset="0"/>
                                    </a:rPr>
                                    <m:t>𝑖</m:t>
                                  </m:r>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𝑚</m:t>
                                      </m:r>
                                    </m:sub>
                                  </m:sSub>
                                </m:sub>
                              </m:sSub>
                            </m:e>
                          </m:d>
                        </m:e>
                        <m:sup>
                          <m:r>
                            <a:rPr lang="en-US" sz="1850" i="1">
                              <a:latin typeface="Cambria Math" panose="02040503050406030204" pitchFamily="18" charset="0"/>
                            </a:rPr>
                            <m:t>𝑇</m:t>
                          </m:r>
                        </m:sup>
                      </m:sSup>
                    </m:oMath>
                  </m:oMathPara>
                </a14:m>
                <a:endParaRPr lang="en-US" sz="1850" dirty="0" smtClean="0"/>
              </a:p>
              <a:p>
                <a:pPr marL="0" indent="0">
                  <a:buNone/>
                </a:pPr>
                <a:r>
                  <a:rPr lang="en-US" sz="1850" dirty="0" smtClean="0"/>
                  <a:t>Such </a:t>
                </a:r>
                <a:r>
                  <a:rPr lang="en-US" sz="1850" dirty="0"/>
                  <a:t>that:</a:t>
                </a:r>
              </a:p>
              <a:p>
                <a:pPr marL="0" indent="0">
                  <a:buNone/>
                </a:pPr>
                <a14:m>
                  <m:oMathPara xmlns:m="http://schemas.openxmlformats.org/officeDocument/2006/math">
                    <m:oMathParaPr>
                      <m:jc m:val="centerGroup"/>
                    </m:oMathParaPr>
                    <m:oMath xmlns:m="http://schemas.openxmlformats.org/officeDocument/2006/math">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r>
                            <a:rPr lang="en-US" sz="1850" i="1">
                              <a:latin typeface="Cambria Math" panose="02040503050406030204" pitchFamily="18" charset="0"/>
                            </a:rPr>
                            <m:t>𝑅</m:t>
                          </m:r>
                        </m:e>
                      </m:d>
                      <m:r>
                        <m:rPr>
                          <m:aln/>
                        </m:rPr>
                        <a:rPr lang="en-US" sz="1850" i="1">
                          <a:latin typeface="Cambria Math" panose="02040503050406030204" pitchFamily="18" charset="0"/>
                        </a:rPr>
                        <m:t>=</m:t>
                      </m:r>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r>
                        <a:rPr lang="en-US" sz="1850" b="0" i="1" smtClean="0">
                          <a:latin typeface="Cambria Math" panose="02040503050406030204" pitchFamily="18" charset="0"/>
                        </a:rPr>
                        <m:t> </m:t>
                      </m:r>
                      <m:r>
                        <m:rPr>
                          <m:sty m:val="p"/>
                        </m:rPr>
                        <a:rPr lang="en-US" sz="1850" b="0" i="0" smtClean="0">
                          <a:latin typeface="Cambria Math" panose="02040503050406030204" pitchFamily="18" charset="0"/>
                        </a:rPr>
                        <m:t>and</m:t>
                      </m:r>
                      <m:r>
                        <a:rPr lang="en-US" sz="1850" b="0" i="1" smtClean="0">
                          <a:latin typeface="Cambria Math" panose="02040503050406030204" pitchFamily="18" charset="0"/>
                        </a:rPr>
                        <m:t> </m:t>
                      </m:r>
                      <m:sSub>
                        <m:sSubPr>
                          <m:ctrlPr>
                            <a:rPr lang="en-US" sz="1850" i="1">
                              <a:latin typeface="Cambria Math" panose="02040503050406030204" pitchFamily="18" charset="0"/>
                            </a:rPr>
                          </m:ctrlPr>
                        </m:sSubPr>
                        <m:e>
                          <m:r>
                            <a:rPr lang="en-US" sz="1850" b="1" i="1">
                              <a:latin typeface="Cambria Math" panose="02040503050406030204" pitchFamily="18" charset="0"/>
                            </a:rPr>
                            <m:t>𝒑</m:t>
                          </m:r>
                        </m:e>
                        <m:sub>
                          <m:r>
                            <a:rPr lang="en-US" sz="1850" i="1">
                              <a:latin typeface="Cambria Math" panose="02040503050406030204" pitchFamily="18" charset="0"/>
                            </a:rPr>
                            <m:t>𝑖</m:t>
                          </m:r>
                        </m:sub>
                      </m:sSub>
                      <m:r>
                        <m:rPr>
                          <m:aln/>
                        </m:rPr>
                        <a:rPr lang="en-US" sz="1850" i="1">
                          <a:latin typeface="Cambria Math" panose="02040503050406030204" pitchFamily="18" charset="0"/>
                        </a:rPr>
                        <m:t>=</m:t>
                      </m:r>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sSub>
                            <m:sSubPr>
                              <m:ctrlPr>
                                <a:rPr lang="en-US" sz="1850" i="1">
                                  <a:latin typeface="Cambria Math" panose="02040503050406030204" pitchFamily="18" charset="0"/>
                                </a:rPr>
                              </m:ctrlPr>
                            </m:sSubPr>
                            <m:e>
                              <m:r>
                                <a:rPr lang="en-US" sz="1850" b="1" i="1">
                                  <a:latin typeface="Cambria Math" panose="02040503050406030204" pitchFamily="18" charset="0"/>
                                </a:rPr>
                                <m:t>𝒓</m:t>
                              </m:r>
                            </m:e>
                            <m:sub>
                              <m:r>
                                <a:rPr lang="en-US" sz="1850" i="1">
                                  <a:latin typeface="Cambria Math" panose="02040503050406030204" pitchFamily="18" charset="0"/>
                                </a:rPr>
                                <m:t>𝑖</m:t>
                              </m:r>
                            </m:sub>
                          </m:sSub>
                        </m:e>
                      </m:d>
                    </m:oMath>
                  </m:oMathPara>
                </a14:m>
                <a:endParaRPr lang="en-US" sz="1850" dirty="0"/>
              </a:p>
              <a:p>
                <a:pPr marL="0" indent="0">
                  <a:buNone/>
                </a:pPr>
                <a:endParaRPr lang="en-US" sz="18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456" t="-824" b="-259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27</a:t>
            </a:fld>
            <a:endParaRPr lang="en-US"/>
          </a:p>
        </p:txBody>
      </p:sp>
    </p:spTree>
    <p:extLst>
      <p:ext uri="{BB962C8B-B14F-4D97-AF65-F5344CB8AC3E}">
        <p14:creationId xmlns:p14="http://schemas.microsoft.com/office/powerpoint/2010/main" val="232029163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(skip)</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19280" cy="5176066"/>
              </a:xfrm>
            </p:spPr>
            <p:txBody>
              <a:bodyPr>
                <a:noAutofit/>
              </a:bodyPr>
              <a:lstStyle/>
              <a:p>
                <a:pPr marL="0" indent="0">
                  <a:buNone/>
                </a:pPr>
                <a:r>
                  <a:rPr lang="en-US" sz="1950" dirty="0"/>
                  <a:t>By partitioning </a:t>
                </a:r>
                <a:r>
                  <a:rPr lang="en-US" sz="1950" i="1" dirty="0"/>
                  <a:t>L</a:t>
                </a:r>
                <a:r>
                  <a:rPr lang="en-US" sz="1950" dirty="0"/>
                  <a:t>(</a:t>
                </a:r>
                <a:r>
                  <a:rPr lang="en-US" sz="1950" i="1" dirty="0"/>
                  <a:t>A</a:t>
                </a:r>
                <a:r>
                  <a:rPr lang="en-US" sz="1950" dirty="0"/>
                  <a:t>) into many </a:t>
                </a:r>
                <a:r>
                  <a:rPr lang="en-US" sz="1950" i="1" dirty="0"/>
                  <a:t>l</a:t>
                </a:r>
                <a:r>
                  <a:rPr lang="en-US" sz="1950" i="1" baseline="-25000" dirty="0"/>
                  <a:t>i</a:t>
                </a:r>
                <a:r>
                  <a:rPr lang="en-US" sz="1950" dirty="0"/>
                  <a:t>(</a:t>
                </a:r>
                <a:r>
                  <a:rPr lang="en-US" sz="1950" b="1" i="1" dirty="0" err="1"/>
                  <a:t>a</a:t>
                </a:r>
                <a:r>
                  <a:rPr lang="en-US" sz="1950" i="1" baseline="-25000" dirty="0" err="1"/>
                  <a:t>i</a:t>
                </a:r>
                <a:r>
                  <a:rPr lang="en-US" sz="1950" dirty="0"/>
                  <a:t>), it is possible to calculate gradients </a:t>
                </a:r>
                <a14:m>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𝐿</m:t>
                        </m:r>
                        <m:d>
                          <m:dPr>
                            <m:ctrlPr>
                              <a:rPr lang="en-US" sz="1950" i="1">
                                <a:latin typeface="Cambria Math" panose="02040503050406030204" pitchFamily="18" charset="0"/>
                              </a:rPr>
                            </m:ctrlPr>
                          </m:dPr>
                          <m:e>
                            <m:r>
                              <a:rPr lang="en-US" sz="1950" i="1">
                                <a:latin typeface="Cambria Math" panose="02040503050406030204" pitchFamily="18" charset="0"/>
                              </a:rPr>
                              <m:t>𝐴</m:t>
                            </m:r>
                          </m:e>
                        </m:d>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𝑄</m:t>
                            </m:r>
                          </m:sup>
                        </m:sSup>
                      </m:den>
                    </m:f>
                  </m:oMath>
                </a14:m>
                <a:r>
                  <a:rPr lang="en-US" sz="1950" dirty="0"/>
                  <a:t>, </a:t>
                </a:r>
                <a14:m>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𝐿</m:t>
                        </m:r>
                        <m:d>
                          <m:dPr>
                            <m:ctrlPr>
                              <a:rPr lang="en-US" sz="1950" i="1">
                                <a:latin typeface="Cambria Math" panose="02040503050406030204" pitchFamily="18" charset="0"/>
                              </a:rPr>
                            </m:ctrlPr>
                          </m:dPr>
                          <m:e>
                            <m:r>
                              <a:rPr lang="en-US" sz="1950" i="1">
                                <a:latin typeface="Cambria Math" panose="02040503050406030204" pitchFamily="18" charset="0"/>
                              </a:rPr>
                              <m:t>𝐴</m:t>
                            </m:r>
                          </m:e>
                        </m:d>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𝐾</m:t>
                            </m:r>
                          </m:sup>
                        </m:sSup>
                      </m:den>
                    </m:f>
                  </m:oMath>
                </a14:m>
                <a:r>
                  <a:rPr lang="en-US" sz="1950" dirty="0"/>
                  <a:t>, and </a:t>
                </a:r>
                <a14:m>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𝐿</m:t>
                        </m:r>
                        <m:d>
                          <m:dPr>
                            <m:ctrlPr>
                              <a:rPr lang="en-US" sz="1950" i="1">
                                <a:latin typeface="Cambria Math" panose="02040503050406030204" pitchFamily="18" charset="0"/>
                              </a:rPr>
                            </m:ctrlPr>
                          </m:dPr>
                          <m:e>
                            <m:r>
                              <a:rPr lang="en-US" sz="1950" i="1">
                                <a:latin typeface="Cambria Math" panose="02040503050406030204" pitchFamily="18" charset="0"/>
                              </a:rPr>
                              <m:t>𝐴</m:t>
                            </m:r>
                          </m:e>
                        </m:d>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𝑉</m:t>
                            </m:r>
                          </m:sup>
                        </m:sSup>
                      </m:den>
                    </m:f>
                  </m:oMath>
                </a14:m>
                <a:r>
                  <a:rPr lang="en-US" sz="1950" dirty="0"/>
                  <a:t>. Indeed, differential of </a:t>
                </a:r>
                <a:r>
                  <a:rPr lang="en-US" sz="1950" i="1" dirty="0"/>
                  <a:t>l</a:t>
                </a:r>
                <a:r>
                  <a:rPr lang="en-US" sz="1950" i="1" baseline="-25000" dirty="0"/>
                  <a:t>i</a:t>
                </a:r>
                <a:r>
                  <a:rPr lang="en-US" sz="1950" dirty="0"/>
                  <a:t>(</a:t>
                </a:r>
                <a:r>
                  <a:rPr lang="en-US" sz="1950" b="1" i="1" dirty="0" err="1"/>
                  <a:t>a</a:t>
                </a:r>
                <a:r>
                  <a:rPr lang="en-US" sz="1950" i="1" baseline="-25000" dirty="0" err="1"/>
                  <a:t>i</a:t>
                </a:r>
                <a:r>
                  <a:rPr lang="en-US" sz="1950" dirty="0"/>
                  <a:t>) with respect to </a:t>
                </a:r>
                <a:r>
                  <a:rPr lang="en-US" sz="1950" b="1" i="1" dirty="0"/>
                  <a:t>q</a:t>
                </a:r>
                <a:r>
                  <a:rPr lang="en-US" sz="1950" i="1" baseline="-25000" dirty="0"/>
                  <a:t>i</a:t>
                </a:r>
                <a:r>
                  <a:rPr lang="en-US" sz="1950" dirty="0"/>
                  <a:t> is</a:t>
                </a:r>
                <a:r>
                  <a:rPr lang="en-US" sz="1950" dirty="0" smtClean="0"/>
                  <a:t>:</a:t>
                </a:r>
              </a:p>
              <a:p>
                <a:pPr marL="0" indent="0">
                  <a:buNone/>
                </a:pPr>
                <a14:m>
                  <m:oMathPara xmlns:m="http://schemas.openxmlformats.org/officeDocument/2006/math">
                    <m:oMathParaPr>
                      <m:jc m:val="centerGroup"/>
                    </m:oMathParaPr>
                    <m:oMath xmlns:m="http://schemas.openxmlformats.org/officeDocument/2006/math">
                      <m:r>
                        <a:rPr lang="en-US" sz="1950" i="1">
                          <a:latin typeface="Cambria Math" panose="02040503050406030204" pitchFamily="18" charset="0"/>
                        </a:rPr>
                        <m:t>𝑑</m:t>
                      </m:r>
                      <m:sSub>
                        <m:sSubPr>
                          <m:ctrlPr>
                            <a:rPr lang="en-US" sz="1950" i="1">
                              <a:latin typeface="Cambria Math" panose="02040503050406030204" pitchFamily="18" charset="0"/>
                            </a:rPr>
                          </m:ctrlPr>
                        </m:sSubPr>
                        <m:e>
                          <m:r>
                            <a:rPr lang="en-US" sz="1950" i="1">
                              <a:latin typeface="Cambria Math" panose="02040503050406030204" pitchFamily="18" charset="0"/>
                            </a:rPr>
                            <m:t>𝑙</m:t>
                          </m:r>
                        </m:e>
                        <m:sub>
                          <m:r>
                            <a:rPr lang="en-US" sz="1950" i="1">
                              <a:latin typeface="Cambria Math" panose="02040503050406030204" pitchFamily="18" charset="0"/>
                            </a:rPr>
                            <m:t>𝑖</m:t>
                          </m:r>
                        </m:sub>
                      </m:sSub>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1</m:t>
                          </m:r>
                        </m:num>
                        <m:den>
                          <m:rad>
                            <m:radPr>
                              <m:degHide m:val="on"/>
                              <m:ctrlPr>
                                <a:rPr lang="en-US" sz="1950" i="1">
                                  <a:latin typeface="Cambria Math" panose="02040503050406030204" pitchFamily="18" charset="0"/>
                                </a:rPr>
                              </m:ctrlPr>
                            </m:radPr>
                            <m:deg/>
                            <m:e>
                              <m:sSub>
                                <m:sSubPr>
                                  <m:ctrlPr>
                                    <a:rPr lang="en-US" sz="1950" i="1">
                                      <a:latin typeface="Cambria Math" panose="02040503050406030204" pitchFamily="18" charset="0"/>
                                    </a:rPr>
                                  </m:ctrlPr>
                                </m:sSubPr>
                                <m:e>
                                  <m:r>
                                    <a:rPr lang="en-US" sz="1950" i="1">
                                      <a:latin typeface="Cambria Math" panose="02040503050406030204" pitchFamily="18" charset="0"/>
                                    </a:rPr>
                                    <m:t>𝑑</m:t>
                                  </m:r>
                                </m:e>
                                <m:sub>
                                  <m:r>
                                    <a:rPr lang="en-US" sz="1950" i="1">
                                      <a:latin typeface="Cambria Math" panose="02040503050406030204" pitchFamily="18" charset="0"/>
                                    </a:rPr>
                                    <m:t>𝑘</m:t>
                                  </m:r>
                                </m:sub>
                              </m:sSub>
                            </m:e>
                          </m:rad>
                        </m:den>
                      </m:f>
                      <m:r>
                        <m:rPr>
                          <m:sty m:val="p"/>
                        </m:rPr>
                        <a:rPr lang="en-US" sz="1950">
                          <a:latin typeface="Cambria Math" panose="02040503050406030204" pitchFamily="18" charset="0"/>
                        </a:rPr>
                        <m:t>tr</m:t>
                      </m:r>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𝒂</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𝒂</m:t>
                                      </m:r>
                                    </m:e>
                                    <m:sub>
                                      <m:r>
                                        <a:rPr lang="en-US" sz="1950" i="1">
                                          <a:latin typeface="Cambria Math" panose="02040503050406030204" pitchFamily="18" charset="0"/>
                                        </a:rPr>
                                        <m:t>𝑖</m:t>
                                      </m:r>
                                    </m:sub>
                                  </m:sSub>
                                </m:e>
                              </m:d>
                            </m:e>
                            <m:sup>
                              <m:r>
                                <a:rPr lang="en-US" sz="1950" i="1">
                                  <a:latin typeface="Cambria Math" panose="02040503050406030204" pitchFamily="18" charset="0"/>
                                </a:rPr>
                                <m:t>𝑇</m:t>
                              </m:r>
                            </m:sup>
                          </m:sSup>
                          <m:sSup>
                            <m:sSupPr>
                              <m:ctrlPr>
                                <a:rPr lang="en-US" sz="1950" i="1">
                                  <a:latin typeface="Cambria Math" panose="02040503050406030204" pitchFamily="18" charset="0"/>
                                </a:rPr>
                              </m:ctrlPr>
                            </m:sSupPr>
                            <m:e>
                              <m:r>
                                <a:rPr lang="en-US" sz="1950" i="1">
                                  <a:latin typeface="Cambria Math" panose="02040503050406030204" pitchFamily="18" charset="0"/>
                                </a:rPr>
                                <m:t>𝑉</m:t>
                              </m:r>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b="1" i="1">
                                  <a:latin typeface="Cambria Math" panose="02040503050406030204" pitchFamily="18" charset="0"/>
                                </a:rPr>
                                <m:t>𝒑</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𝐾𝑑</m:t>
                          </m:r>
                          <m:sSub>
                            <m:sSubPr>
                              <m:ctrlPr>
                                <a:rPr lang="en-US" sz="1950" i="1">
                                  <a:latin typeface="Cambria Math" panose="02040503050406030204" pitchFamily="18" charset="0"/>
                                </a:rPr>
                              </m:ctrlPr>
                            </m:sSubPr>
                            <m:e>
                              <m:r>
                                <a:rPr lang="en-US" sz="1950" b="1" i="1">
                                  <a:latin typeface="Cambria Math" panose="02040503050406030204" pitchFamily="18" charset="0"/>
                                </a:rPr>
                                <m:t>𝒒</m:t>
                              </m:r>
                            </m:e>
                            <m:sub>
                              <m:r>
                                <a:rPr lang="en-US" sz="1950" i="1">
                                  <a:latin typeface="Cambria Math" panose="02040503050406030204" pitchFamily="18" charset="0"/>
                                </a:rPr>
                                <m:t>𝑖</m:t>
                              </m:r>
                            </m:sub>
                          </m:sSub>
                        </m:e>
                      </m:d>
                    </m:oMath>
                  </m:oMathPara>
                </a14:m>
                <a:endParaRPr lang="en-US" sz="1950" dirty="0"/>
              </a:p>
              <a:p>
                <a:pPr marL="0" indent="0">
                  <a:buNone/>
                </a:pPr>
                <a:r>
                  <a:rPr lang="en-US" sz="1950" dirty="0" smtClean="0"/>
                  <a:t>Due to </a:t>
                </a:r>
                <a14:m>
                  <m:oMath xmlns:m="http://schemas.openxmlformats.org/officeDocument/2006/math">
                    <m:sSubSup>
                      <m:sSubSupPr>
                        <m:ctrlPr>
                          <a:rPr lang="en-US" sz="1950" i="1">
                            <a:latin typeface="Cambria Math" panose="02040503050406030204" pitchFamily="18" charset="0"/>
                          </a:rPr>
                        </m:ctrlPr>
                      </m:sSubSupPr>
                      <m:e>
                        <m:r>
                          <a:rPr lang="en-US" sz="1950" b="1" i="1">
                            <a:latin typeface="Cambria Math" panose="02040503050406030204" pitchFamily="18" charset="0"/>
                          </a:rPr>
                          <m:t>𝒒</m:t>
                        </m:r>
                      </m:e>
                      <m:sub>
                        <m:r>
                          <a:rPr lang="en-US" sz="1950" i="1">
                            <a:latin typeface="Cambria Math" panose="02040503050406030204" pitchFamily="18" charset="0"/>
                          </a:rPr>
                          <m:t>𝑖</m:t>
                        </m:r>
                      </m:sub>
                      <m:sup>
                        <m:r>
                          <a:rPr lang="en-US" sz="1950" i="1">
                            <a:latin typeface="Cambria Math" panose="02040503050406030204" pitchFamily="18" charset="0"/>
                          </a:rPr>
                          <m:t>𝑇</m:t>
                        </m:r>
                      </m:sup>
                    </m:sSubSup>
                    <m:r>
                      <m:rPr>
                        <m:aln/>
                      </m:rPr>
                      <a:rPr lang="en-US" sz="1950" i="1">
                        <a:latin typeface="Cambria Math" panose="02040503050406030204" pitchFamily="18" charset="0"/>
                      </a:rPr>
                      <m:t>=</m:t>
                    </m:r>
                    <m:sSubSup>
                      <m:sSubSupPr>
                        <m:ctrlPr>
                          <a:rPr lang="en-US" sz="1950" i="1">
                            <a:latin typeface="Cambria Math" panose="02040503050406030204" pitchFamily="18" charset="0"/>
                          </a:rPr>
                        </m:ctrlPr>
                      </m:sSubSupPr>
                      <m:e>
                        <m:r>
                          <a:rPr lang="en-US" sz="1950" b="1" i="1">
                            <a:latin typeface="Cambria Math" panose="02040503050406030204" pitchFamily="18" charset="0"/>
                          </a:rPr>
                          <m:t>𝒙</m:t>
                        </m:r>
                      </m:e>
                      <m:sub>
                        <m:r>
                          <a:rPr lang="en-US" sz="1950" i="1">
                            <a:latin typeface="Cambria Math" panose="02040503050406030204" pitchFamily="18" charset="0"/>
                          </a:rPr>
                          <m:t>𝑖</m:t>
                        </m:r>
                      </m:sub>
                      <m:sup>
                        <m:r>
                          <a:rPr lang="en-US" sz="1950" i="1">
                            <a:latin typeface="Cambria Math" panose="02040503050406030204" pitchFamily="18" charset="0"/>
                          </a:rPr>
                          <m:t>𝑇</m:t>
                        </m:r>
                      </m:sup>
                    </m:sSubSup>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𝑄</m:t>
                        </m:r>
                      </m:sup>
                    </m:sSup>
                  </m:oMath>
                </a14:m>
                <a:r>
                  <a:rPr lang="en-US" sz="1950" dirty="0" smtClean="0"/>
                  <a:t>, differential </a:t>
                </a:r>
                <a:r>
                  <a:rPr lang="en-US" sz="1950" dirty="0"/>
                  <a:t>of </a:t>
                </a:r>
                <a:r>
                  <a:rPr lang="en-US" sz="1950" i="1" dirty="0"/>
                  <a:t>l</a:t>
                </a:r>
                <a:r>
                  <a:rPr lang="en-US" sz="1950" i="1" baseline="-25000" dirty="0"/>
                  <a:t>i</a:t>
                </a:r>
                <a:r>
                  <a:rPr lang="en-US" sz="1950" dirty="0"/>
                  <a:t>(</a:t>
                </a:r>
                <a:r>
                  <a:rPr lang="en-US" sz="1950" b="1" i="1" dirty="0" err="1"/>
                  <a:t>a</a:t>
                </a:r>
                <a:r>
                  <a:rPr lang="en-US" sz="1950" i="1" baseline="-25000" dirty="0" err="1"/>
                  <a:t>i</a:t>
                </a:r>
                <a:r>
                  <a:rPr lang="en-US" sz="1950" dirty="0"/>
                  <a:t>) with respect to </a:t>
                </a:r>
                <a:r>
                  <a:rPr lang="en-US" sz="1950" i="1" dirty="0"/>
                  <a:t>W</a:t>
                </a:r>
                <a:r>
                  <a:rPr lang="en-US" sz="1950" i="1" baseline="30000" dirty="0"/>
                  <a:t>Q</a:t>
                </a:r>
                <a:r>
                  <a:rPr lang="en-US" sz="1950" dirty="0"/>
                  <a:t> </a:t>
                </a:r>
                <a:r>
                  <a:rPr lang="en-US" sz="1950" dirty="0" smtClean="0"/>
                  <a:t>is</a:t>
                </a:r>
                <a:r>
                  <a:rPr lang="en-US" sz="1950" dirty="0"/>
                  <a:t> </a:t>
                </a:r>
                <a14:m>
                  <m:oMath xmlns:m="http://schemas.openxmlformats.org/officeDocument/2006/math">
                    <m:r>
                      <a:rPr lang="en-US" sz="1950" i="1">
                        <a:latin typeface="Cambria Math" panose="02040503050406030204" pitchFamily="18" charset="0"/>
                      </a:rPr>
                      <m:t>𝑑</m:t>
                    </m:r>
                    <m:sSub>
                      <m:sSubPr>
                        <m:ctrlPr>
                          <a:rPr lang="en-US" sz="1950" i="1">
                            <a:latin typeface="Cambria Math" panose="02040503050406030204" pitchFamily="18" charset="0"/>
                          </a:rPr>
                        </m:ctrlPr>
                      </m:sSubPr>
                      <m:e>
                        <m:r>
                          <a:rPr lang="en-US" sz="1950" i="1">
                            <a:latin typeface="Cambria Math" panose="02040503050406030204" pitchFamily="18" charset="0"/>
                          </a:rPr>
                          <m:t>𝑙</m:t>
                        </m:r>
                      </m:e>
                      <m:sub>
                        <m:r>
                          <a:rPr lang="en-US" sz="1950" i="1">
                            <a:latin typeface="Cambria Math" panose="02040503050406030204" pitchFamily="18" charset="0"/>
                          </a:rPr>
                          <m:t>𝑖</m:t>
                        </m:r>
                      </m:sub>
                    </m:sSub>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1</m:t>
                        </m:r>
                      </m:num>
                      <m:den>
                        <m:rad>
                          <m:radPr>
                            <m:degHide m:val="on"/>
                            <m:ctrlPr>
                              <a:rPr lang="en-US" sz="1950" i="1">
                                <a:latin typeface="Cambria Math" panose="02040503050406030204" pitchFamily="18" charset="0"/>
                              </a:rPr>
                            </m:ctrlPr>
                          </m:radPr>
                          <m:deg/>
                          <m:e>
                            <m:sSub>
                              <m:sSubPr>
                                <m:ctrlPr>
                                  <a:rPr lang="en-US" sz="1950" i="1">
                                    <a:latin typeface="Cambria Math" panose="02040503050406030204" pitchFamily="18" charset="0"/>
                                  </a:rPr>
                                </m:ctrlPr>
                              </m:sSubPr>
                              <m:e>
                                <m:r>
                                  <a:rPr lang="en-US" sz="1950" i="1">
                                    <a:latin typeface="Cambria Math" panose="02040503050406030204" pitchFamily="18" charset="0"/>
                                  </a:rPr>
                                  <m:t>𝑑</m:t>
                                </m:r>
                              </m:e>
                              <m:sub>
                                <m:r>
                                  <a:rPr lang="en-US" sz="1950" i="1">
                                    <a:latin typeface="Cambria Math" panose="02040503050406030204" pitchFamily="18" charset="0"/>
                                  </a:rPr>
                                  <m:t>𝑘</m:t>
                                </m:r>
                              </m:sub>
                            </m:sSub>
                          </m:e>
                        </m:rad>
                      </m:den>
                    </m:f>
                    <m:r>
                      <m:rPr>
                        <m:sty m:val="p"/>
                      </m:rPr>
                      <a:rPr lang="en-US" sz="1950">
                        <a:latin typeface="Cambria Math" panose="02040503050406030204" pitchFamily="18" charset="0"/>
                      </a:rPr>
                      <m:t>tr</m:t>
                    </m:r>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sSub>
                              <m:sSubPr>
                                <m:ctrlPr>
                                  <a:rPr lang="en-US" sz="1950" i="1">
                                    <a:latin typeface="Cambria Math" panose="02040503050406030204" pitchFamily="18" charset="0"/>
                                  </a:rPr>
                                </m:ctrlPr>
                              </m:sSubPr>
                              <m:e>
                                <m:r>
                                  <a:rPr lang="en-US" sz="1950" b="1" i="1">
                                    <a:latin typeface="Cambria Math" panose="02040503050406030204" pitchFamily="18" charset="0"/>
                                  </a:rPr>
                                  <m:t>𝒙</m:t>
                                </m:r>
                              </m:e>
                              <m:sub>
                                <m:r>
                                  <a:rPr lang="en-US" sz="1950" i="1">
                                    <a:latin typeface="Cambria Math" panose="02040503050406030204" pitchFamily="18" charset="0"/>
                                  </a:rPr>
                                  <m:t>𝑖</m:t>
                                </m:r>
                              </m:sub>
                            </m:sSub>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𝒂</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𝒂</m:t>
                                    </m:r>
                                  </m:e>
                                  <m:sub>
                                    <m:r>
                                      <a:rPr lang="en-US" sz="1950" i="1">
                                        <a:latin typeface="Cambria Math" panose="02040503050406030204" pitchFamily="18" charset="0"/>
                                      </a:rPr>
                                      <m:t>𝑖</m:t>
                                    </m:r>
                                  </m:sub>
                                </m:sSub>
                              </m:e>
                            </m:d>
                          </m:e>
                          <m:sup>
                            <m:r>
                              <a:rPr lang="en-US" sz="1950" i="1">
                                <a:latin typeface="Cambria Math" panose="02040503050406030204" pitchFamily="18" charset="0"/>
                              </a:rPr>
                              <m:t>𝑇</m:t>
                            </m:r>
                          </m:sup>
                        </m:sSup>
                        <m:sSup>
                          <m:sSupPr>
                            <m:ctrlPr>
                              <a:rPr lang="en-US" sz="1950" i="1">
                                <a:latin typeface="Cambria Math" panose="02040503050406030204" pitchFamily="18" charset="0"/>
                              </a:rPr>
                            </m:ctrlPr>
                          </m:sSupPr>
                          <m:e>
                            <m:r>
                              <a:rPr lang="en-US" sz="1950" i="1">
                                <a:latin typeface="Cambria Math" panose="02040503050406030204" pitchFamily="18" charset="0"/>
                              </a:rPr>
                              <m:t>𝑉</m:t>
                            </m:r>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b="1" i="1">
                                <a:latin typeface="Cambria Math" panose="02040503050406030204" pitchFamily="18" charset="0"/>
                              </a:rPr>
                              <m:t>𝒑</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𝐾𝑑</m:t>
                        </m:r>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𝑄</m:t>
                                    </m:r>
                                  </m:sup>
                                </m:sSup>
                              </m:e>
                            </m:d>
                          </m:e>
                          <m:sup>
                            <m:r>
                              <a:rPr lang="en-US" sz="1950" i="1">
                                <a:latin typeface="Cambria Math" panose="02040503050406030204" pitchFamily="18" charset="0"/>
                              </a:rPr>
                              <m:t>𝑇</m:t>
                            </m:r>
                          </m:sup>
                        </m:sSup>
                      </m:e>
                    </m:d>
                  </m:oMath>
                </a14:m>
                <a:r>
                  <a:rPr lang="en-US" sz="1950" dirty="0" smtClean="0"/>
                  <a:t>. </a:t>
                </a:r>
                <a:r>
                  <a:rPr lang="en-US" sz="1950" dirty="0"/>
                  <a:t>Therefore, gradient of </a:t>
                </a:r>
                <a:r>
                  <a:rPr lang="en-US" sz="1950" i="1" dirty="0"/>
                  <a:t>l</a:t>
                </a:r>
                <a:r>
                  <a:rPr lang="en-US" sz="1950" i="1" baseline="-25000" dirty="0"/>
                  <a:t>i</a:t>
                </a:r>
                <a:r>
                  <a:rPr lang="en-US" sz="1950" dirty="0"/>
                  <a:t>(</a:t>
                </a:r>
                <a:r>
                  <a:rPr lang="en-US" sz="1950" b="1" i="1" dirty="0" err="1"/>
                  <a:t>a</a:t>
                </a:r>
                <a:r>
                  <a:rPr lang="en-US" sz="1950" i="1" baseline="-25000" dirty="0" err="1"/>
                  <a:t>i</a:t>
                </a:r>
                <a:r>
                  <a:rPr lang="en-US" sz="1950" dirty="0"/>
                  <a:t>) with respect to </a:t>
                </a:r>
                <a:r>
                  <a:rPr lang="en-US" sz="1950" i="1" dirty="0"/>
                  <a:t>W</a:t>
                </a:r>
                <a:r>
                  <a:rPr lang="en-US" sz="1950" i="1" baseline="30000" dirty="0"/>
                  <a:t>Q</a:t>
                </a:r>
                <a:r>
                  <a:rPr lang="en-US" sz="1950" dirty="0"/>
                  <a:t> </a:t>
                </a:r>
                <a:r>
                  <a:rPr lang="en-US" sz="1950" dirty="0" smtClean="0"/>
                  <a:t>is </a:t>
                </a:r>
                <a14:m>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i="1">
                                <a:latin typeface="Cambria Math" panose="02040503050406030204" pitchFamily="18" charset="0"/>
                              </a:rPr>
                              <m:t>𝑙</m:t>
                            </m:r>
                          </m:e>
                          <m:sub>
                            <m:r>
                              <a:rPr lang="en-US" sz="1950" i="1">
                                <a:latin typeface="Cambria Math" panose="02040503050406030204" pitchFamily="18" charset="0"/>
                              </a:rPr>
                              <m:t>𝑖</m:t>
                            </m:r>
                          </m:sub>
                        </m:sSub>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𝑄</m:t>
                            </m:r>
                          </m:sup>
                        </m:sSup>
                      </m:den>
                    </m:f>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1</m:t>
                        </m:r>
                      </m:num>
                      <m:den>
                        <m:rad>
                          <m:radPr>
                            <m:degHide m:val="on"/>
                            <m:ctrlPr>
                              <a:rPr lang="en-US" sz="1950" i="1">
                                <a:latin typeface="Cambria Math" panose="02040503050406030204" pitchFamily="18" charset="0"/>
                              </a:rPr>
                            </m:ctrlPr>
                          </m:radPr>
                          <m:deg/>
                          <m:e>
                            <m:sSub>
                              <m:sSubPr>
                                <m:ctrlPr>
                                  <a:rPr lang="en-US" sz="1950" i="1">
                                    <a:latin typeface="Cambria Math" panose="02040503050406030204" pitchFamily="18" charset="0"/>
                                  </a:rPr>
                                </m:ctrlPr>
                              </m:sSubPr>
                              <m:e>
                                <m:r>
                                  <a:rPr lang="en-US" sz="1950" i="1">
                                    <a:latin typeface="Cambria Math" panose="02040503050406030204" pitchFamily="18" charset="0"/>
                                  </a:rPr>
                                  <m:t>𝑑</m:t>
                                </m:r>
                              </m:e>
                              <m:sub>
                                <m:r>
                                  <a:rPr lang="en-US" sz="1950" i="1">
                                    <a:latin typeface="Cambria Math" panose="02040503050406030204" pitchFamily="18" charset="0"/>
                                  </a:rPr>
                                  <m:t>𝑘</m:t>
                                </m:r>
                              </m:sub>
                            </m:sSub>
                          </m:e>
                        </m:rad>
                      </m:den>
                    </m:f>
                    <m:sSup>
                      <m:sSupPr>
                        <m:ctrlPr>
                          <a:rPr lang="en-US" sz="1950" i="1">
                            <a:latin typeface="Cambria Math" panose="02040503050406030204" pitchFamily="18" charset="0"/>
                          </a:rPr>
                        </m:ctrlPr>
                      </m:sSupPr>
                      <m:e>
                        <m:sSub>
                          <m:sSubPr>
                            <m:ctrlPr>
                              <a:rPr lang="en-US" sz="1950" i="1">
                                <a:latin typeface="Cambria Math" panose="02040503050406030204" pitchFamily="18" charset="0"/>
                              </a:rPr>
                            </m:ctrlPr>
                          </m:sSubPr>
                          <m:e>
                            <m:r>
                              <a:rPr lang="en-US" sz="1950" b="1" i="1">
                                <a:latin typeface="Cambria Math" panose="02040503050406030204" pitchFamily="18" charset="0"/>
                              </a:rPr>
                              <m:t>𝒙</m:t>
                            </m:r>
                          </m:e>
                          <m:sub>
                            <m:r>
                              <a:rPr lang="en-US" sz="1950" i="1">
                                <a:latin typeface="Cambria Math" panose="02040503050406030204" pitchFamily="18" charset="0"/>
                              </a:rPr>
                              <m:t>𝑖</m:t>
                            </m:r>
                          </m:sub>
                        </m:sSub>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𝒂</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𝒂</m:t>
                                </m:r>
                              </m:e>
                              <m:sub>
                                <m:r>
                                  <a:rPr lang="en-US" sz="1950" i="1">
                                    <a:latin typeface="Cambria Math" panose="02040503050406030204" pitchFamily="18" charset="0"/>
                                  </a:rPr>
                                  <m:t>𝑖</m:t>
                                </m:r>
                              </m:sub>
                            </m:sSub>
                          </m:e>
                        </m:d>
                      </m:e>
                      <m:sup>
                        <m:r>
                          <a:rPr lang="en-US" sz="1950" i="1">
                            <a:latin typeface="Cambria Math" panose="02040503050406030204" pitchFamily="18" charset="0"/>
                          </a:rPr>
                          <m:t>𝑇</m:t>
                        </m:r>
                      </m:sup>
                    </m:sSup>
                    <m:sSup>
                      <m:sSupPr>
                        <m:ctrlPr>
                          <a:rPr lang="en-US" sz="1950" i="1">
                            <a:latin typeface="Cambria Math" panose="02040503050406030204" pitchFamily="18" charset="0"/>
                          </a:rPr>
                        </m:ctrlPr>
                      </m:sSupPr>
                      <m:e>
                        <m:r>
                          <a:rPr lang="en-US" sz="1950" i="1">
                            <a:latin typeface="Cambria Math" panose="02040503050406030204" pitchFamily="18" charset="0"/>
                          </a:rPr>
                          <m:t>𝑉</m:t>
                        </m:r>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b="1" i="1">
                            <a:latin typeface="Cambria Math" panose="02040503050406030204" pitchFamily="18" charset="0"/>
                          </a:rPr>
                          <m:t>𝒑</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𝐾</m:t>
                    </m:r>
                  </m:oMath>
                </a14:m>
                <a:r>
                  <a:rPr lang="en-US" sz="1950" dirty="0" smtClean="0"/>
                  <a:t>.</a:t>
                </a:r>
                <a:r>
                  <a:rPr lang="en-US" sz="1950" dirty="0"/>
                  <a:t> Note, every partial real attention </a:t>
                </a:r>
                <a:r>
                  <a:rPr lang="en-US" sz="1950" b="1" i="1" dirty="0" err="1"/>
                  <a:t>a</a:t>
                </a:r>
                <a:r>
                  <a:rPr lang="en-US" sz="1950" dirty="0" err="1"/>
                  <a:t>’</a:t>
                </a:r>
                <a:r>
                  <a:rPr lang="en-US" sz="1950" i="1" baseline="-25000" dirty="0" err="1"/>
                  <a:t>i</a:t>
                </a:r>
                <a:r>
                  <a:rPr lang="en-US" sz="1950" dirty="0"/>
                  <a:t> is the column vector representing the </a:t>
                </a:r>
                <a:r>
                  <a:rPr lang="en-US" sz="1950" i="1" dirty="0" err="1"/>
                  <a:t>i</a:t>
                </a:r>
                <a:r>
                  <a:rPr lang="en-US" sz="1950" baseline="30000" dirty="0" err="1"/>
                  <a:t>th</a:t>
                </a:r>
                <a:r>
                  <a:rPr lang="en-US" sz="1950" dirty="0"/>
                  <a:t> row of the real attention </a:t>
                </a:r>
                <a:r>
                  <a:rPr lang="en-US" sz="1950" i="1" dirty="0"/>
                  <a:t>A</a:t>
                </a:r>
                <a:r>
                  <a:rPr lang="en-US" sz="1950" dirty="0"/>
                  <a:t>’. This means gradient of </a:t>
                </a:r>
                <a:r>
                  <a:rPr lang="en-US" sz="1950" i="1" dirty="0"/>
                  <a:t>L</a:t>
                </a:r>
                <a:r>
                  <a:rPr lang="en-US" sz="1950" dirty="0"/>
                  <a:t>(</a:t>
                </a:r>
                <a:r>
                  <a:rPr lang="en-US" sz="1950" i="1" dirty="0"/>
                  <a:t>A</a:t>
                </a:r>
                <a:r>
                  <a:rPr lang="en-US" sz="1950" dirty="0"/>
                  <a:t>) with respect to </a:t>
                </a:r>
                <a:r>
                  <a:rPr lang="en-US" sz="1950" i="1" dirty="0"/>
                  <a:t>W</a:t>
                </a:r>
                <a:r>
                  <a:rPr lang="en-US" sz="1950" i="1" baseline="30000" dirty="0"/>
                  <a:t>Q</a:t>
                </a:r>
                <a:r>
                  <a:rPr lang="en-US" sz="1950" dirty="0"/>
                  <a:t> is</a:t>
                </a:r>
                <a:r>
                  <a:rPr lang="en-US" sz="1950" dirty="0" smtClean="0"/>
                  <a:t>:</a:t>
                </a:r>
              </a:p>
              <a:p>
                <a:pPr marL="0" indent="0">
                  <a:buNone/>
                </a:pPr>
                <a14:m>
                  <m:oMathPara xmlns:m="http://schemas.openxmlformats.org/officeDocument/2006/math">
                    <m:oMathParaPr>
                      <m:jc m:val="centerGroup"/>
                    </m:oMathParaPr>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m:t>
                          </m:r>
                          <m:r>
                            <a:rPr lang="en-US" sz="1950" i="1">
                              <a:latin typeface="Cambria Math" panose="02040503050406030204" pitchFamily="18" charset="0"/>
                            </a:rPr>
                            <m:t>𝐿</m:t>
                          </m:r>
                          <m:d>
                            <m:dPr>
                              <m:ctrlPr>
                                <a:rPr lang="en-US" sz="1950" i="1">
                                  <a:latin typeface="Cambria Math" panose="02040503050406030204" pitchFamily="18" charset="0"/>
                                </a:rPr>
                              </m:ctrlPr>
                            </m:dPr>
                            <m:e>
                              <m:r>
                                <a:rPr lang="en-US" sz="1950" i="1">
                                  <a:latin typeface="Cambria Math" panose="02040503050406030204" pitchFamily="18" charset="0"/>
                                </a:rPr>
                                <m:t>𝐴</m:t>
                              </m:r>
                            </m:e>
                          </m:d>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𝑄</m:t>
                              </m:r>
                            </m:sup>
                          </m:sSup>
                        </m:den>
                      </m:f>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1</m:t>
                          </m:r>
                        </m:num>
                        <m:den>
                          <m:rad>
                            <m:radPr>
                              <m:degHide m:val="on"/>
                              <m:ctrlPr>
                                <a:rPr lang="en-US" sz="1950" i="1">
                                  <a:latin typeface="Cambria Math" panose="02040503050406030204" pitchFamily="18" charset="0"/>
                                </a:rPr>
                              </m:ctrlPr>
                            </m:radPr>
                            <m:deg/>
                            <m:e>
                              <m:sSub>
                                <m:sSubPr>
                                  <m:ctrlPr>
                                    <a:rPr lang="en-US" sz="1950" i="1">
                                      <a:latin typeface="Cambria Math" panose="02040503050406030204" pitchFamily="18" charset="0"/>
                                    </a:rPr>
                                  </m:ctrlPr>
                                </m:sSubPr>
                                <m:e>
                                  <m:r>
                                    <a:rPr lang="en-US" sz="1950" i="1">
                                      <a:latin typeface="Cambria Math" panose="02040503050406030204" pitchFamily="18" charset="0"/>
                                    </a:rPr>
                                    <m:t>𝑑</m:t>
                                  </m:r>
                                </m:e>
                                <m:sub>
                                  <m:r>
                                    <a:rPr lang="en-US" sz="1950" i="1">
                                      <a:latin typeface="Cambria Math" panose="02040503050406030204" pitchFamily="18" charset="0"/>
                                    </a:rPr>
                                    <m:t>𝑘</m:t>
                                  </m:r>
                                </m:sub>
                              </m:sSub>
                            </m:e>
                          </m:rad>
                        </m:den>
                      </m:f>
                      <m:nary>
                        <m:naryPr>
                          <m:chr m:val="∑"/>
                          <m:limLoc m:val="undOvr"/>
                          <m:ctrlPr>
                            <a:rPr lang="en-US" sz="1950" i="1">
                              <a:latin typeface="Cambria Math" panose="02040503050406030204" pitchFamily="18" charset="0"/>
                            </a:rPr>
                          </m:ctrlPr>
                        </m:naryPr>
                        <m:sub>
                          <m:r>
                            <a:rPr lang="en-US" sz="1950" i="1">
                              <a:latin typeface="Cambria Math" panose="02040503050406030204" pitchFamily="18" charset="0"/>
                            </a:rPr>
                            <m:t>𝑖</m:t>
                          </m:r>
                          <m:r>
                            <a:rPr lang="en-US" sz="1950" i="1">
                              <a:latin typeface="Cambria Math" panose="02040503050406030204" pitchFamily="18" charset="0"/>
                            </a:rPr>
                            <m:t>=1</m:t>
                          </m:r>
                        </m:sub>
                        <m:sup>
                          <m:r>
                            <a:rPr lang="en-US" sz="1950" i="1">
                              <a:latin typeface="Cambria Math" panose="02040503050406030204" pitchFamily="18" charset="0"/>
                            </a:rPr>
                            <m:t>𝑚</m:t>
                          </m:r>
                        </m:sup>
                        <m:e>
                          <m:sSup>
                            <m:sSupPr>
                              <m:ctrlPr>
                                <a:rPr lang="en-US" sz="1950" i="1">
                                  <a:latin typeface="Cambria Math" panose="02040503050406030204" pitchFamily="18" charset="0"/>
                                </a:rPr>
                              </m:ctrlPr>
                            </m:sSupPr>
                            <m:e>
                              <m:sSub>
                                <m:sSubPr>
                                  <m:ctrlPr>
                                    <a:rPr lang="en-US" sz="1950" i="1">
                                      <a:latin typeface="Cambria Math" panose="02040503050406030204" pitchFamily="18" charset="0"/>
                                    </a:rPr>
                                  </m:ctrlPr>
                                </m:sSubPr>
                                <m:e>
                                  <m:r>
                                    <a:rPr lang="en-US" sz="1950" b="1" i="1">
                                      <a:latin typeface="Cambria Math" panose="02040503050406030204" pitchFamily="18" charset="0"/>
                                    </a:rPr>
                                    <m:t>𝒙</m:t>
                                  </m:r>
                                </m:e>
                                <m:sub>
                                  <m:r>
                                    <a:rPr lang="en-US" sz="1950" i="1">
                                      <a:latin typeface="Cambria Math" panose="02040503050406030204" pitchFamily="18" charset="0"/>
                                    </a:rPr>
                                    <m:t>𝑖</m:t>
                                  </m:r>
                                </m:sub>
                              </m:sSub>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𝒂</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𝒂</m:t>
                                      </m:r>
                                    </m:e>
                                    <m:sub>
                                      <m:r>
                                        <a:rPr lang="en-US" sz="1950" i="1">
                                          <a:latin typeface="Cambria Math" panose="02040503050406030204" pitchFamily="18" charset="0"/>
                                        </a:rPr>
                                        <m:t>𝑖</m:t>
                                      </m:r>
                                    </m:sub>
                                  </m:sSub>
                                </m:e>
                              </m:d>
                            </m:e>
                            <m:sup>
                              <m:r>
                                <a:rPr lang="en-US" sz="1950" i="1">
                                  <a:latin typeface="Cambria Math" panose="02040503050406030204" pitchFamily="18" charset="0"/>
                                </a:rPr>
                                <m:t>𝑇</m:t>
                              </m:r>
                            </m:sup>
                          </m:sSup>
                          <m:sSup>
                            <m:sSupPr>
                              <m:ctrlPr>
                                <a:rPr lang="en-US" sz="1950" i="1">
                                  <a:latin typeface="Cambria Math" panose="02040503050406030204" pitchFamily="18" charset="0"/>
                                </a:rPr>
                              </m:ctrlPr>
                            </m:sSupPr>
                            <m:e>
                              <m:r>
                                <a:rPr lang="en-US" sz="1950" i="1">
                                  <a:latin typeface="Cambria Math" panose="02040503050406030204" pitchFamily="18" charset="0"/>
                                </a:rPr>
                                <m:t>𝑉</m:t>
                              </m:r>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b="1" i="1">
                                  <a:latin typeface="Cambria Math" panose="02040503050406030204" pitchFamily="18" charset="0"/>
                                </a:rPr>
                                <m:t>𝒑</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𝐾</m:t>
                          </m:r>
                        </m:e>
                      </m:nary>
                    </m:oMath>
                  </m:oMathPara>
                </a14:m>
                <a:endParaRPr lang="en-US" sz="1950" dirty="0" smtClean="0"/>
              </a:p>
              <a:p>
                <a:pPr marL="0" indent="0">
                  <a:buNone/>
                </a:pPr>
                <a:r>
                  <a:rPr lang="en-US" sz="1950" dirty="0"/>
                  <a:t>Similarly, gradient of </a:t>
                </a:r>
                <a:r>
                  <a:rPr lang="en-US" sz="1950" i="1" dirty="0"/>
                  <a:t>L</a:t>
                </a:r>
                <a:r>
                  <a:rPr lang="en-US" sz="1950" dirty="0"/>
                  <a:t>(</a:t>
                </a:r>
                <a:r>
                  <a:rPr lang="en-US" sz="1950" i="1" dirty="0"/>
                  <a:t>A</a:t>
                </a:r>
                <a:r>
                  <a:rPr lang="en-US" sz="1950" dirty="0"/>
                  <a:t>) with respect to </a:t>
                </a:r>
                <a:r>
                  <a:rPr lang="en-US" sz="1950" i="1" dirty="0"/>
                  <a:t>W</a:t>
                </a:r>
                <a:r>
                  <a:rPr lang="en-US" sz="1950" i="1" baseline="30000" dirty="0"/>
                  <a:t>K</a:t>
                </a:r>
                <a:r>
                  <a:rPr lang="en-US" sz="1950" dirty="0"/>
                  <a:t> is</a:t>
                </a:r>
                <a:r>
                  <a:rPr lang="en-US" sz="1950" dirty="0" smtClean="0"/>
                  <a:t>:</a:t>
                </a:r>
              </a:p>
              <a:p>
                <a:pPr marL="0" indent="0">
                  <a:buNone/>
                </a:pPr>
                <a14:m>
                  <m:oMathPara xmlns:m="http://schemas.openxmlformats.org/officeDocument/2006/math">
                    <m:oMathParaPr>
                      <m:jc m:val="centerGroup"/>
                    </m:oMathParaPr>
                    <m:oMath xmlns:m="http://schemas.openxmlformats.org/officeDocument/2006/math">
                      <m:f>
                        <m:fPr>
                          <m:ctrlPr>
                            <a:rPr lang="en-US" sz="1950" i="1">
                              <a:latin typeface="Cambria Math" panose="02040503050406030204" pitchFamily="18" charset="0"/>
                            </a:rPr>
                          </m:ctrlPr>
                        </m:fPr>
                        <m:num>
                          <m:r>
                            <a:rPr lang="en-US" sz="1950" i="1">
                              <a:latin typeface="Cambria Math" panose="02040503050406030204" pitchFamily="18" charset="0"/>
                            </a:rPr>
                            <m:t>𝜕</m:t>
                          </m:r>
                          <m:r>
                            <a:rPr lang="en-US" sz="1950" i="1">
                              <a:latin typeface="Cambria Math" panose="02040503050406030204" pitchFamily="18" charset="0"/>
                            </a:rPr>
                            <m:t>𝐿</m:t>
                          </m:r>
                          <m:d>
                            <m:dPr>
                              <m:ctrlPr>
                                <a:rPr lang="en-US" sz="1950" i="1">
                                  <a:latin typeface="Cambria Math" panose="02040503050406030204" pitchFamily="18" charset="0"/>
                                </a:rPr>
                              </m:ctrlPr>
                            </m:dPr>
                            <m:e>
                              <m:r>
                                <a:rPr lang="en-US" sz="1950" i="1">
                                  <a:latin typeface="Cambria Math" panose="02040503050406030204" pitchFamily="18" charset="0"/>
                                </a:rPr>
                                <m:t>𝐴</m:t>
                              </m:r>
                            </m:e>
                          </m:d>
                        </m:num>
                        <m:den>
                          <m:r>
                            <a:rPr lang="en-US" sz="1950" i="1">
                              <a:latin typeface="Cambria Math" panose="02040503050406030204" pitchFamily="18" charset="0"/>
                            </a:rPr>
                            <m:t>𝜕</m:t>
                          </m:r>
                          <m:sSup>
                            <m:sSupPr>
                              <m:ctrlPr>
                                <a:rPr lang="en-US" sz="1950" i="1">
                                  <a:latin typeface="Cambria Math" panose="02040503050406030204" pitchFamily="18" charset="0"/>
                                </a:rPr>
                              </m:ctrlPr>
                            </m:sSupPr>
                            <m:e>
                              <m:r>
                                <a:rPr lang="en-US" sz="1950" i="1">
                                  <a:latin typeface="Cambria Math" panose="02040503050406030204" pitchFamily="18" charset="0"/>
                                </a:rPr>
                                <m:t>𝑊</m:t>
                              </m:r>
                            </m:e>
                            <m:sup>
                              <m:r>
                                <a:rPr lang="en-US" sz="1950" i="1">
                                  <a:latin typeface="Cambria Math" panose="02040503050406030204" pitchFamily="18" charset="0"/>
                                </a:rPr>
                                <m:t>𝐾</m:t>
                              </m:r>
                            </m:sup>
                          </m:sSup>
                        </m:den>
                      </m:f>
                      <m:r>
                        <a:rPr lang="en-US" sz="1950" i="1">
                          <a:latin typeface="Cambria Math" panose="02040503050406030204" pitchFamily="18" charset="0"/>
                        </a:rPr>
                        <m:t>=</m:t>
                      </m:r>
                      <m:f>
                        <m:fPr>
                          <m:ctrlPr>
                            <a:rPr lang="en-US" sz="1950" i="1">
                              <a:latin typeface="Cambria Math" panose="02040503050406030204" pitchFamily="18" charset="0"/>
                            </a:rPr>
                          </m:ctrlPr>
                        </m:fPr>
                        <m:num>
                          <m:r>
                            <a:rPr lang="en-US" sz="1950" i="1">
                              <a:latin typeface="Cambria Math" panose="02040503050406030204" pitchFamily="18" charset="0"/>
                            </a:rPr>
                            <m:t>1</m:t>
                          </m:r>
                        </m:num>
                        <m:den>
                          <m:rad>
                            <m:radPr>
                              <m:degHide m:val="on"/>
                              <m:ctrlPr>
                                <a:rPr lang="en-US" sz="1950" i="1">
                                  <a:latin typeface="Cambria Math" panose="02040503050406030204" pitchFamily="18" charset="0"/>
                                </a:rPr>
                              </m:ctrlPr>
                            </m:radPr>
                            <m:deg/>
                            <m:e>
                              <m:sSub>
                                <m:sSubPr>
                                  <m:ctrlPr>
                                    <a:rPr lang="en-US" sz="1950" i="1">
                                      <a:latin typeface="Cambria Math" panose="02040503050406030204" pitchFamily="18" charset="0"/>
                                    </a:rPr>
                                  </m:ctrlPr>
                                </m:sSubPr>
                                <m:e>
                                  <m:r>
                                    <a:rPr lang="en-US" sz="1950" i="1">
                                      <a:latin typeface="Cambria Math" panose="02040503050406030204" pitchFamily="18" charset="0"/>
                                    </a:rPr>
                                    <m:t>𝑑</m:t>
                                  </m:r>
                                </m:e>
                                <m:sub>
                                  <m:r>
                                    <a:rPr lang="en-US" sz="1950" i="1">
                                      <a:latin typeface="Cambria Math" panose="02040503050406030204" pitchFamily="18" charset="0"/>
                                    </a:rPr>
                                    <m:t>𝑘</m:t>
                                  </m:r>
                                </m:sub>
                              </m:sSub>
                            </m:e>
                          </m:rad>
                        </m:den>
                      </m:f>
                      <m:nary>
                        <m:naryPr>
                          <m:chr m:val="∑"/>
                          <m:limLoc m:val="undOvr"/>
                          <m:ctrlPr>
                            <a:rPr lang="en-US" sz="1950" i="1">
                              <a:latin typeface="Cambria Math" panose="02040503050406030204" pitchFamily="18" charset="0"/>
                            </a:rPr>
                          </m:ctrlPr>
                        </m:naryPr>
                        <m:sub>
                          <m:r>
                            <a:rPr lang="en-US" sz="1950" i="1">
                              <a:latin typeface="Cambria Math" panose="02040503050406030204" pitchFamily="18" charset="0"/>
                            </a:rPr>
                            <m:t>𝑖</m:t>
                          </m:r>
                          <m:r>
                            <a:rPr lang="en-US" sz="1950" i="1">
                              <a:latin typeface="Cambria Math" panose="02040503050406030204" pitchFamily="18" charset="0"/>
                            </a:rPr>
                            <m:t>=1</m:t>
                          </m:r>
                        </m:sub>
                        <m:sup>
                          <m:r>
                            <a:rPr lang="en-US" sz="1950" i="1">
                              <a:latin typeface="Cambria Math" panose="02040503050406030204" pitchFamily="18" charset="0"/>
                            </a:rPr>
                            <m:t>𝑚</m:t>
                          </m:r>
                        </m:sup>
                        <m:e>
                          <m:sSub>
                            <m:sSubPr>
                              <m:ctrlPr>
                                <a:rPr lang="en-US" sz="1950" i="1">
                                  <a:latin typeface="Cambria Math" panose="02040503050406030204" pitchFamily="18" charset="0"/>
                                </a:rPr>
                              </m:ctrlPr>
                            </m:sSubPr>
                            <m:e>
                              <m:r>
                                <a:rPr lang="en-US" sz="1950" b="1" i="1">
                                  <a:latin typeface="Cambria Math" panose="02040503050406030204" pitchFamily="18" charset="0"/>
                                </a:rPr>
                                <m:t>𝒙</m:t>
                              </m:r>
                            </m:e>
                            <m:sub>
                              <m:r>
                                <a:rPr lang="en-US" sz="1950" i="1">
                                  <a:latin typeface="Cambria Math" panose="02040503050406030204" pitchFamily="18" charset="0"/>
                                </a:rPr>
                                <m:t>𝑖</m:t>
                              </m:r>
                            </m:sub>
                          </m:sSub>
                          <m:sSup>
                            <m:sSupPr>
                              <m:ctrlPr>
                                <a:rPr lang="en-US" sz="1950" i="1">
                                  <a:latin typeface="Cambria Math" panose="02040503050406030204" pitchFamily="18" charset="0"/>
                                </a:rPr>
                              </m:ctrlPr>
                            </m:sSupPr>
                            <m:e>
                              <m:d>
                                <m:dPr>
                                  <m:ctrlPr>
                                    <a:rPr lang="en-US" sz="1950" i="1">
                                      <a:latin typeface="Cambria Math" panose="02040503050406030204" pitchFamily="18" charset="0"/>
                                    </a:rPr>
                                  </m:ctrlPr>
                                </m:dPr>
                                <m:e>
                                  <m:sSubSup>
                                    <m:sSubSupPr>
                                      <m:ctrlPr>
                                        <a:rPr lang="en-US" sz="1950" i="1">
                                          <a:latin typeface="Cambria Math" panose="02040503050406030204" pitchFamily="18" charset="0"/>
                                        </a:rPr>
                                      </m:ctrlPr>
                                    </m:sSubSupPr>
                                    <m:e>
                                      <m:r>
                                        <a:rPr lang="en-US" sz="1950" b="1" i="1">
                                          <a:latin typeface="Cambria Math" panose="02040503050406030204" pitchFamily="18" charset="0"/>
                                        </a:rPr>
                                        <m:t>𝒂</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m:t>
                                  </m:r>
                                  <m:sSub>
                                    <m:sSubPr>
                                      <m:ctrlPr>
                                        <a:rPr lang="en-US" sz="1950" i="1">
                                          <a:latin typeface="Cambria Math" panose="02040503050406030204" pitchFamily="18" charset="0"/>
                                        </a:rPr>
                                      </m:ctrlPr>
                                    </m:sSubPr>
                                    <m:e>
                                      <m:r>
                                        <a:rPr lang="en-US" sz="1950" b="1" i="1">
                                          <a:latin typeface="Cambria Math" panose="02040503050406030204" pitchFamily="18" charset="0"/>
                                        </a:rPr>
                                        <m:t>𝒂</m:t>
                                      </m:r>
                                    </m:e>
                                    <m:sub>
                                      <m:r>
                                        <a:rPr lang="en-US" sz="1950" i="1">
                                          <a:latin typeface="Cambria Math" panose="02040503050406030204" pitchFamily="18" charset="0"/>
                                        </a:rPr>
                                        <m:t>𝑖</m:t>
                                      </m:r>
                                    </m:sub>
                                  </m:sSub>
                                </m:e>
                              </m:d>
                            </m:e>
                            <m:sup>
                              <m:r>
                                <a:rPr lang="en-US" sz="1950" i="1">
                                  <a:latin typeface="Cambria Math" panose="02040503050406030204" pitchFamily="18" charset="0"/>
                                </a:rPr>
                                <m:t>𝑇</m:t>
                              </m:r>
                            </m:sup>
                          </m:sSup>
                          <m:sSup>
                            <m:sSupPr>
                              <m:ctrlPr>
                                <a:rPr lang="en-US" sz="1950" i="1">
                                  <a:latin typeface="Cambria Math" panose="02040503050406030204" pitchFamily="18" charset="0"/>
                                </a:rPr>
                              </m:ctrlPr>
                            </m:sSupPr>
                            <m:e>
                              <m:r>
                                <a:rPr lang="en-US" sz="1950" i="1">
                                  <a:latin typeface="Cambria Math" panose="02040503050406030204" pitchFamily="18" charset="0"/>
                                </a:rPr>
                                <m:t>𝑉</m:t>
                              </m:r>
                            </m:e>
                            <m:sup>
                              <m:r>
                                <a:rPr lang="en-US" sz="1950" i="1">
                                  <a:latin typeface="Cambria Math" panose="02040503050406030204" pitchFamily="18" charset="0"/>
                                </a:rPr>
                                <m:t>𝑇</m:t>
                              </m:r>
                            </m:sup>
                          </m:sSup>
                          <m:sSubSup>
                            <m:sSubSupPr>
                              <m:ctrlPr>
                                <a:rPr lang="en-US" sz="1950" i="1">
                                  <a:latin typeface="Cambria Math" panose="02040503050406030204" pitchFamily="18" charset="0"/>
                                </a:rPr>
                              </m:ctrlPr>
                            </m:sSubSupPr>
                            <m:e>
                              <m:r>
                                <a:rPr lang="en-US" sz="1950" b="1" i="1">
                                  <a:latin typeface="Cambria Math" panose="02040503050406030204" pitchFamily="18" charset="0"/>
                                </a:rPr>
                                <m:t>𝒑</m:t>
                              </m:r>
                            </m:e>
                            <m:sub>
                              <m:r>
                                <a:rPr lang="en-US" sz="1950" i="1">
                                  <a:latin typeface="Cambria Math" panose="02040503050406030204" pitchFamily="18" charset="0"/>
                                </a:rPr>
                                <m:t>𝑖</m:t>
                              </m:r>
                            </m:sub>
                            <m:sup>
                              <m:r>
                                <a:rPr lang="en-US" sz="1950" i="1">
                                  <a:latin typeface="Cambria Math" panose="02040503050406030204" pitchFamily="18" charset="0"/>
                                </a:rPr>
                                <m:t>′</m:t>
                              </m:r>
                            </m:sup>
                          </m:sSubSup>
                          <m:r>
                            <a:rPr lang="en-US" sz="1950" i="1">
                              <a:latin typeface="Cambria Math" panose="02040503050406030204" pitchFamily="18" charset="0"/>
                            </a:rPr>
                            <m:t>𝑄</m:t>
                          </m:r>
                        </m:e>
                      </m:nary>
                    </m:oMath>
                  </m:oMathPara>
                </a14:m>
                <a:endParaRPr lang="en-US" sz="1950" dirty="0" smtClean="0"/>
              </a:p>
              <a:p>
                <a:pPr marL="0" indent="0">
                  <a:buNone/>
                </a:pPr>
                <a:r>
                  <a:rPr lang="en-US" sz="1950" dirty="0"/>
                  <a:t>Where </a:t>
                </a:r>
                <a:r>
                  <a:rPr lang="en-US" sz="1950" b="1" i="1" dirty="0"/>
                  <a:t>p</a:t>
                </a:r>
                <a:r>
                  <a:rPr lang="en-US" sz="1950" i="1" baseline="-25000" dirty="0"/>
                  <a:t>i</a:t>
                </a:r>
                <a:r>
                  <a:rPr lang="en-US" sz="1950" dirty="0"/>
                  <a:t>’ is derivative of the soft-max function</a:t>
                </a:r>
                <a:r>
                  <a:rPr lang="en-US" sz="1950" b="1" i="1" dirty="0"/>
                  <a:t> p</a:t>
                </a:r>
                <a:r>
                  <a:rPr lang="en-US" sz="1950" i="1" baseline="-25000" dirty="0"/>
                  <a:t>i</a:t>
                </a:r>
                <a:r>
                  <a:rPr lang="en-US" sz="1950" dirty="0"/>
                  <a:t>, which is mentioned later.</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19280" cy="5176066"/>
              </a:xfrm>
              <a:blipFill>
                <a:blip r:embed="rId3"/>
                <a:stretch>
                  <a:fillRect l="-507" r="-507" b="-942"/>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28</a:t>
            </a:fld>
            <a:endParaRPr lang="en-US"/>
          </a:p>
        </p:txBody>
      </p:sp>
    </p:spTree>
    <p:extLst>
      <p:ext uri="{BB962C8B-B14F-4D97-AF65-F5344CB8AC3E}">
        <p14:creationId xmlns:p14="http://schemas.microsoft.com/office/powerpoint/2010/main" val="3127032989"/>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2000" dirty="0"/>
                  <a:t>Consequently, it is necessary to calculate gradient of </a:t>
                </a:r>
                <a:r>
                  <a:rPr lang="en-US" sz="2000" i="1" dirty="0"/>
                  <a:t>L</a:t>
                </a:r>
                <a:r>
                  <a:rPr lang="en-US" sz="2000" dirty="0"/>
                  <a:t>(</a:t>
                </a:r>
                <a:r>
                  <a:rPr lang="en-US" sz="2000" i="1" dirty="0"/>
                  <a:t>A</a:t>
                </a:r>
                <a:r>
                  <a:rPr lang="en-US" sz="2000" dirty="0"/>
                  <a:t>) with respect to </a:t>
                </a:r>
                <a:r>
                  <a:rPr lang="en-US" sz="2000" i="1" dirty="0"/>
                  <a:t>W</a:t>
                </a:r>
                <a:r>
                  <a:rPr lang="en-US" sz="2000" i="1" baseline="30000" dirty="0"/>
                  <a:t>V</a:t>
                </a:r>
                <a:r>
                  <a:rPr lang="en-US" sz="2000" dirty="0"/>
                  <a:t>. Indeed, differential of </a:t>
                </a:r>
                <a:r>
                  <a:rPr lang="en-US" sz="2000" i="1" dirty="0"/>
                  <a:t>L</a:t>
                </a:r>
                <a:r>
                  <a:rPr lang="en-US" sz="2000" dirty="0"/>
                  <a:t>(</a:t>
                </a:r>
                <a:r>
                  <a:rPr lang="en-US" sz="2000" i="1" dirty="0"/>
                  <a:t>A</a:t>
                </a:r>
                <a:r>
                  <a:rPr lang="en-US" sz="2000" dirty="0"/>
                  <a:t>) with respect to </a:t>
                </a:r>
                <a:r>
                  <a:rPr lang="en-US" sz="2000" i="1" dirty="0"/>
                  <a:t>W</a:t>
                </a:r>
                <a:r>
                  <a:rPr lang="en-US" sz="2000" i="1" baseline="30000" dirty="0"/>
                  <a:t>V</a:t>
                </a:r>
                <a:r>
                  <a:rPr lang="en-US" sz="2000" dirty="0"/>
                  <a:t> </a:t>
                </a:r>
                <a:r>
                  <a:rPr lang="en-US" sz="2000" dirty="0" smtClean="0"/>
                  <a:t>is</a:t>
                </a:r>
                <a:r>
                  <a:rPr lang="en-US" sz="2000" dirty="0"/>
                  <a:t> </a:t>
                </a:r>
                <a14:m>
                  <m:oMath xmlns:m="http://schemas.openxmlformats.org/officeDocument/2006/math">
                    <m:r>
                      <a:rPr lang="en-US" sz="2000" i="1">
                        <a:latin typeface="Cambria Math" panose="02040503050406030204" pitchFamily="18" charset="0"/>
                      </a:rPr>
                      <m:t>𝑑𝐿</m:t>
                    </m:r>
                    <m:r>
                      <a:rPr lang="en-US" sz="2000" i="1">
                        <a:latin typeface="Cambria Math" panose="02040503050406030204" pitchFamily="18" charset="0"/>
                      </a:rPr>
                      <m:t>=</m:t>
                    </m:r>
                    <m:r>
                      <m:rPr>
                        <m:sty m:val="p"/>
                      </m:rPr>
                      <a:rPr lang="en-US" sz="2000">
                        <a:latin typeface="Cambria Math" panose="02040503050406030204" pitchFamily="18" charset="0"/>
                      </a:rPr>
                      <m:t>tr</m:t>
                    </m:r>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𝐴</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𝐴</m:t>
                                </m:r>
                              </m:e>
                            </m:d>
                          </m:e>
                          <m:sup>
                            <m:r>
                              <a:rPr lang="en-US" sz="2000" i="1">
                                <a:latin typeface="Cambria Math" panose="02040503050406030204" pitchFamily="18" charset="0"/>
                              </a:rPr>
                              <m:t>𝑇</m:t>
                            </m:r>
                          </m:sup>
                        </m:sSup>
                        <m:r>
                          <m:rPr>
                            <m:sty m:val="p"/>
                          </m:rPr>
                          <a:rPr lang="en-US" sz="2000">
                            <a:latin typeface="Cambria Math" panose="02040503050406030204" pitchFamily="18" charset="0"/>
                          </a:rPr>
                          <m:t>softmax</m:t>
                        </m:r>
                        <m:d>
                          <m:dPr>
                            <m:ctrlPr>
                              <a:rPr lang="en-US" sz="2000" i="1">
                                <a:latin typeface="Cambria Math" panose="02040503050406030204" pitchFamily="18" charset="0"/>
                              </a:rPr>
                            </m:ctrlPr>
                          </m:dPr>
                          <m:e>
                            <m:f>
                              <m:fPr>
                                <m:ctrlPr>
                                  <a:rPr lang="en-US" sz="2000" i="1">
                                    <a:latin typeface="Cambria Math" panose="02040503050406030204" pitchFamily="18" charset="0"/>
                                  </a:rPr>
                                </m:ctrlPr>
                              </m:fPr>
                              <m:num>
                                <m:r>
                                  <a:rPr lang="en-US" sz="2000" i="1">
                                    <a:latin typeface="Cambria Math" panose="02040503050406030204" pitchFamily="18" charset="0"/>
                                  </a:rPr>
                                  <m:t>𝑄</m:t>
                                </m:r>
                                <m:sSup>
                                  <m:sSupPr>
                                    <m:ctrlPr>
                                      <a:rPr lang="en-US" sz="2000" i="1">
                                        <a:latin typeface="Cambria Math" panose="02040503050406030204" pitchFamily="18" charset="0"/>
                                      </a:rPr>
                                    </m:ctrlPr>
                                  </m:sSupPr>
                                  <m:e>
                                    <m:r>
                                      <a:rPr lang="en-US" sz="2000" i="1">
                                        <a:latin typeface="Cambria Math" panose="02040503050406030204" pitchFamily="18" charset="0"/>
                                      </a:rPr>
                                      <m:t>𝐾</m:t>
                                    </m:r>
                                  </m:e>
                                  <m:sup>
                                    <m:r>
                                      <a:rPr lang="en-US" sz="2000" i="1">
                                        <a:latin typeface="Cambria Math" panose="02040503050406030204" pitchFamily="18" charset="0"/>
                                      </a:rPr>
                                      <m:t>𝑇</m:t>
                                    </m:r>
                                  </m:sup>
                                </m:sSup>
                              </m:num>
                              <m:den>
                                <m:rad>
                                  <m:radPr>
                                    <m:degHide m:val="on"/>
                                    <m:ctrlPr>
                                      <a:rPr lang="en-US" sz="2000" i="1">
                                        <a:latin typeface="Cambria Math" panose="02040503050406030204" pitchFamily="18" charset="0"/>
                                      </a:rPr>
                                    </m:ctrlPr>
                                  </m:radPr>
                                  <m:deg/>
                                  <m:e>
                                    <m:sSub>
                                      <m:sSubPr>
                                        <m:ctrlPr>
                                          <a:rPr lang="en-US" sz="2000" i="1">
                                            <a:latin typeface="Cambria Math" panose="02040503050406030204" pitchFamily="18" charset="0"/>
                                          </a:rPr>
                                        </m:ctrlPr>
                                      </m:sSubPr>
                                      <m:e>
                                        <m:r>
                                          <a:rPr lang="en-US" sz="2000" i="1">
                                            <a:latin typeface="Cambria Math" panose="02040503050406030204" pitchFamily="18" charset="0"/>
                                          </a:rPr>
                                          <m:t>𝑑</m:t>
                                        </m:r>
                                      </m:e>
                                      <m:sub>
                                        <m:r>
                                          <a:rPr lang="en-US" sz="2000" i="1">
                                            <a:latin typeface="Cambria Math" panose="02040503050406030204" pitchFamily="18" charset="0"/>
                                          </a:rPr>
                                          <m:t>𝑘</m:t>
                                        </m:r>
                                      </m:sub>
                                    </m:sSub>
                                  </m:e>
                                </m:rad>
                              </m:den>
                            </m:f>
                          </m:e>
                        </m:d>
                        <m:r>
                          <a:rPr lang="en-US" sz="2000" b="1" i="1">
                            <a:latin typeface="Cambria Math" panose="02040503050406030204" pitchFamily="18" charset="0"/>
                          </a:rPr>
                          <m:t>𝑿</m:t>
                        </m:r>
                        <m:r>
                          <a:rPr lang="en-US" sz="2000" i="1">
                            <a:latin typeface="Cambria Math" panose="02040503050406030204" pitchFamily="18" charset="0"/>
                          </a:rPr>
                          <m:t>𝑑</m:t>
                        </m:r>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𝑉</m:t>
                                </m:r>
                              </m:sup>
                            </m:sSup>
                          </m:e>
                        </m:d>
                      </m:e>
                    </m:d>
                  </m:oMath>
                </a14:m>
                <a:r>
                  <a:rPr lang="en-US" sz="2000" dirty="0" smtClean="0"/>
                  <a:t>. Therefore, gradient of </a:t>
                </a:r>
                <a:r>
                  <a:rPr lang="en-US" sz="2000" i="1" dirty="0" smtClean="0"/>
                  <a:t>L</a:t>
                </a:r>
                <a:r>
                  <a:rPr lang="en-US" sz="2000" dirty="0" smtClean="0"/>
                  <a:t>(</a:t>
                </a:r>
                <a:r>
                  <a:rPr lang="en-US" sz="2000" i="1" dirty="0" smtClean="0"/>
                  <a:t>A</a:t>
                </a:r>
                <a:r>
                  <a:rPr lang="en-US" sz="2000" dirty="0" smtClean="0"/>
                  <a:t>) with respect to </a:t>
                </a:r>
                <a:r>
                  <a:rPr lang="en-US" sz="2000" i="1" dirty="0" smtClean="0"/>
                  <a:t>W</a:t>
                </a:r>
                <a:r>
                  <a:rPr lang="en-US" sz="2000" i="1" baseline="30000" dirty="0" smtClean="0"/>
                  <a:t>V</a:t>
                </a:r>
                <a:r>
                  <a:rPr lang="en-US" sz="2000" dirty="0" smtClean="0"/>
                  <a:t> is:</a:t>
                </a:r>
              </a:p>
              <a:p>
                <a:pPr marL="0" indent="0">
                  <a:buNone/>
                </a:pPr>
                <a14:m>
                  <m:oMathPara xmlns:m="http://schemas.openxmlformats.org/officeDocument/2006/math">
                    <m:oMathParaPr>
                      <m:jc m:val="centerGroup"/>
                    </m:oMathParaPr>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rPr>
                            <m:t>𝜕</m:t>
                          </m:r>
                          <m:r>
                            <a:rPr lang="en-US" sz="2000" i="1">
                              <a:latin typeface="Cambria Math" panose="02040503050406030204" pitchFamily="18" charset="0"/>
                            </a:rPr>
                            <m:t>𝐿</m:t>
                          </m:r>
                          <m:d>
                            <m:dPr>
                              <m:ctrlPr>
                                <a:rPr lang="en-US" sz="2000" i="1">
                                  <a:latin typeface="Cambria Math" panose="02040503050406030204" pitchFamily="18" charset="0"/>
                                </a:rPr>
                              </m:ctrlPr>
                            </m:dPr>
                            <m:e>
                              <m:r>
                                <a:rPr lang="en-US" sz="2000" i="1">
                                  <a:latin typeface="Cambria Math" panose="02040503050406030204" pitchFamily="18" charset="0"/>
                                </a:rPr>
                                <m:t>𝐴</m:t>
                              </m:r>
                            </m:e>
                          </m:d>
                        </m:num>
                        <m:den>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𝑉</m:t>
                              </m:r>
                            </m:sup>
                          </m:sSup>
                        </m:den>
                      </m:f>
                      <m: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b="1" i="1">
                              <a:latin typeface="Cambria Math" panose="02040503050406030204" pitchFamily="18" charset="0"/>
                            </a:rPr>
                            <m:t>𝑿</m:t>
                          </m:r>
                        </m:e>
                        <m:sup>
                          <m:r>
                            <a:rPr lang="en-US" sz="2000" i="1">
                              <a:latin typeface="Cambria Math" panose="02040503050406030204" pitchFamily="18" charset="0"/>
                            </a:rPr>
                            <m:t>𝑇</m:t>
                          </m:r>
                        </m:sup>
                      </m:sSup>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r>
                                <m:rPr>
                                  <m:sty m:val="p"/>
                                </m:rPr>
                                <a:rPr lang="en-US" sz="2000">
                                  <a:latin typeface="Cambria Math" panose="02040503050406030204" pitchFamily="18" charset="0"/>
                                </a:rPr>
                                <m:t>softmax</m:t>
                              </m:r>
                              <m:d>
                                <m:dPr>
                                  <m:ctrlPr>
                                    <a:rPr lang="en-US" sz="2000" i="1">
                                      <a:latin typeface="Cambria Math" panose="02040503050406030204" pitchFamily="18" charset="0"/>
                                    </a:rPr>
                                  </m:ctrlPr>
                                </m:dPr>
                                <m:e>
                                  <m:f>
                                    <m:fPr>
                                      <m:ctrlPr>
                                        <a:rPr lang="en-US" sz="2000" i="1">
                                          <a:latin typeface="Cambria Math" panose="02040503050406030204" pitchFamily="18" charset="0"/>
                                        </a:rPr>
                                      </m:ctrlPr>
                                    </m:fPr>
                                    <m:num>
                                      <m:r>
                                        <a:rPr lang="en-US" sz="2000" i="1">
                                          <a:latin typeface="Cambria Math" panose="02040503050406030204" pitchFamily="18" charset="0"/>
                                        </a:rPr>
                                        <m:t>𝑄</m:t>
                                      </m:r>
                                      <m:sSup>
                                        <m:sSupPr>
                                          <m:ctrlPr>
                                            <a:rPr lang="en-US" sz="2000" i="1">
                                              <a:latin typeface="Cambria Math" panose="02040503050406030204" pitchFamily="18" charset="0"/>
                                            </a:rPr>
                                          </m:ctrlPr>
                                        </m:sSupPr>
                                        <m:e>
                                          <m:r>
                                            <a:rPr lang="en-US" sz="2000" i="1">
                                              <a:latin typeface="Cambria Math" panose="02040503050406030204" pitchFamily="18" charset="0"/>
                                            </a:rPr>
                                            <m:t>𝐾</m:t>
                                          </m:r>
                                        </m:e>
                                        <m:sup>
                                          <m:r>
                                            <a:rPr lang="en-US" sz="2000" i="1">
                                              <a:latin typeface="Cambria Math" panose="02040503050406030204" pitchFamily="18" charset="0"/>
                                            </a:rPr>
                                            <m:t>𝑇</m:t>
                                          </m:r>
                                        </m:sup>
                                      </m:sSup>
                                    </m:num>
                                    <m:den>
                                      <m:rad>
                                        <m:radPr>
                                          <m:degHide m:val="on"/>
                                          <m:ctrlPr>
                                            <a:rPr lang="en-US" sz="2000" i="1">
                                              <a:latin typeface="Cambria Math" panose="02040503050406030204" pitchFamily="18" charset="0"/>
                                            </a:rPr>
                                          </m:ctrlPr>
                                        </m:radPr>
                                        <m:deg/>
                                        <m:e>
                                          <m:sSub>
                                            <m:sSubPr>
                                              <m:ctrlPr>
                                                <a:rPr lang="en-US" sz="2000" i="1">
                                                  <a:latin typeface="Cambria Math" panose="02040503050406030204" pitchFamily="18" charset="0"/>
                                                </a:rPr>
                                              </m:ctrlPr>
                                            </m:sSubPr>
                                            <m:e>
                                              <m:r>
                                                <a:rPr lang="en-US" sz="2000" i="1">
                                                  <a:latin typeface="Cambria Math" panose="02040503050406030204" pitchFamily="18" charset="0"/>
                                                </a:rPr>
                                                <m:t>𝑑</m:t>
                                              </m:r>
                                            </m:e>
                                            <m:sub>
                                              <m:r>
                                                <a:rPr lang="en-US" sz="2000" i="1">
                                                  <a:latin typeface="Cambria Math" panose="02040503050406030204" pitchFamily="18" charset="0"/>
                                                </a:rPr>
                                                <m:t>𝑘</m:t>
                                              </m:r>
                                            </m:sub>
                                          </m:sSub>
                                        </m:e>
                                      </m:rad>
                                    </m:den>
                                  </m:f>
                                </m:e>
                              </m:d>
                            </m:e>
                          </m:d>
                        </m:e>
                        <m:sup>
                          <m:r>
                            <a:rPr lang="en-US" sz="2000" i="1">
                              <a:latin typeface="Cambria Math" panose="02040503050406030204" pitchFamily="18" charset="0"/>
                            </a:rPr>
                            <m:t>𝑇</m:t>
                          </m:r>
                        </m:sup>
                      </m:sSup>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𝐴</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𝐴</m:t>
                          </m:r>
                        </m:e>
                      </m:d>
                    </m:oMath>
                  </m:oMathPara>
                </a14:m>
                <a:endParaRPr lang="en-US" sz="2000" dirty="0" smtClean="0"/>
              </a:p>
              <a:p>
                <a:pPr marL="0" indent="0">
                  <a:buNone/>
                </a:pPr>
                <a:r>
                  <a:rPr lang="en-US" sz="2000" dirty="0" smtClean="0">
                    <a:effectLst>
                      <a:outerShdw blurRad="38100" dist="38100" dir="2700000" algn="tl">
                        <a:srgbClr val="000000">
                          <a:alpha val="43137"/>
                        </a:srgbClr>
                      </a:outerShdw>
                    </a:effectLst>
                  </a:rPr>
                  <a:t>Parametric </a:t>
                </a:r>
                <a:r>
                  <a:rPr lang="en-US" sz="2000" dirty="0">
                    <a:effectLst>
                      <a:outerShdw blurRad="38100" dist="38100" dir="2700000" algn="tl">
                        <a:srgbClr val="000000">
                          <a:alpha val="43137"/>
                        </a:srgbClr>
                      </a:outerShdw>
                    </a:effectLst>
                  </a:rPr>
                  <a:t>weight matrices of transformer-based self-attention are totally estimated by SGD algorithm as follows:</a:t>
                </a:r>
              </a:p>
              <a:p>
                <a:pPr marL="0" indent="0">
                  <a:buNone/>
                </a:pPr>
                <a14:m>
                  <m:oMathPara xmlns:m="http://schemas.openxmlformats.org/officeDocument/2006/math">
                    <m:oMathParaPr>
                      <m:jc m:val="centerGroup"/>
                    </m:oMathParaPr>
                    <m:oMath xmlns:m="http://schemas.openxmlformats.org/officeDocument/2006/math">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𝑄</m:t>
                          </m:r>
                        </m:sup>
                      </m:sSup>
                      <m:r>
                        <m:rPr>
                          <m:aln/>
                        </m:rP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𝑄</m:t>
                          </m:r>
                        </m:sup>
                      </m:sSup>
                      <m:r>
                        <a:rPr lang="en-US" sz="2000" i="1">
                          <a:latin typeface="Cambria Math" panose="02040503050406030204" pitchFamily="18" charset="0"/>
                        </a:rPr>
                        <m:t>+</m:t>
                      </m:r>
                      <m:r>
                        <a:rPr lang="en-US" sz="2000" i="1">
                          <a:latin typeface="Cambria Math" panose="02040503050406030204" pitchFamily="18" charset="0"/>
                        </a:rPr>
                        <m:t>𝛾</m:t>
                      </m:r>
                      <m:f>
                        <m:fPr>
                          <m:ctrlPr>
                            <a:rPr lang="en-US" sz="2000" i="1">
                              <a:latin typeface="Cambria Math" panose="02040503050406030204" pitchFamily="18" charset="0"/>
                            </a:rPr>
                          </m:ctrlPr>
                        </m:fPr>
                        <m:num>
                          <m:r>
                            <a:rPr lang="en-US" sz="2000" i="1">
                              <a:latin typeface="Cambria Math" panose="02040503050406030204" pitchFamily="18" charset="0"/>
                            </a:rPr>
                            <m:t>1</m:t>
                          </m:r>
                        </m:num>
                        <m:den>
                          <m:rad>
                            <m:radPr>
                              <m:degHide m:val="on"/>
                              <m:ctrlPr>
                                <a:rPr lang="en-US" sz="2000" i="1">
                                  <a:latin typeface="Cambria Math" panose="02040503050406030204" pitchFamily="18" charset="0"/>
                                </a:rPr>
                              </m:ctrlPr>
                            </m:radPr>
                            <m:deg/>
                            <m:e>
                              <m:sSub>
                                <m:sSubPr>
                                  <m:ctrlPr>
                                    <a:rPr lang="en-US" sz="2000" i="1">
                                      <a:latin typeface="Cambria Math" panose="02040503050406030204" pitchFamily="18" charset="0"/>
                                    </a:rPr>
                                  </m:ctrlPr>
                                </m:sSubPr>
                                <m:e>
                                  <m:r>
                                    <a:rPr lang="en-US" sz="2000" i="1">
                                      <a:latin typeface="Cambria Math" panose="02040503050406030204" pitchFamily="18" charset="0"/>
                                    </a:rPr>
                                    <m:t>𝑑</m:t>
                                  </m:r>
                                </m:e>
                                <m:sub>
                                  <m:r>
                                    <a:rPr lang="en-US" sz="2000" i="1">
                                      <a:latin typeface="Cambria Math" panose="02040503050406030204" pitchFamily="18" charset="0"/>
                                    </a:rPr>
                                    <m:t>𝑘</m:t>
                                  </m:r>
                                </m:sub>
                              </m:sSub>
                            </m:e>
                          </m:rad>
                        </m:den>
                      </m:f>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𝑚</m:t>
                          </m:r>
                        </m:sup>
                        <m:e>
                          <m:sSup>
                            <m:sSupPr>
                              <m:ctrlPr>
                                <a:rPr lang="en-US" sz="2000" i="1">
                                  <a:latin typeface="Cambria Math" panose="02040503050406030204" pitchFamily="18" charset="0"/>
                                </a:rPr>
                              </m:ctrlPr>
                            </m:sSupPr>
                            <m:e>
                              <m:sSub>
                                <m:sSubPr>
                                  <m:ctrlPr>
                                    <a:rPr lang="en-US" sz="2000" i="1">
                                      <a:latin typeface="Cambria Math" panose="02040503050406030204" pitchFamily="18" charset="0"/>
                                    </a:rPr>
                                  </m:ctrlPr>
                                </m:sSubPr>
                                <m:e>
                                  <m:r>
                                    <a:rPr lang="en-US" sz="2000" b="1" i="1">
                                      <a:latin typeface="Cambria Math" panose="02040503050406030204" pitchFamily="18" charset="0"/>
                                    </a:rPr>
                                    <m:t>𝒙</m:t>
                                  </m:r>
                                </m:e>
                                <m:sub>
                                  <m:r>
                                    <a:rPr lang="en-US" sz="2000" i="1">
                                      <a:latin typeface="Cambria Math" panose="02040503050406030204" pitchFamily="18" charset="0"/>
                                    </a:rPr>
                                    <m:t>𝑖</m:t>
                                  </m:r>
                                </m:sub>
                              </m:sSub>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b="1" i="1">
                                          <a:latin typeface="Cambria Math" panose="02040503050406030204" pitchFamily="18" charset="0"/>
                                        </a:rPr>
                                        <m:t>𝒂</m:t>
                                      </m:r>
                                    </m:e>
                                    <m:sub>
                                      <m:r>
                                        <a:rPr lang="en-US" sz="2000" i="1">
                                          <a:latin typeface="Cambria Math" panose="02040503050406030204" pitchFamily="18" charset="0"/>
                                        </a:rPr>
                                        <m:t>𝑖</m:t>
                                      </m:r>
                                    </m:sub>
                                    <m:sup>
                                      <m:r>
                                        <a:rPr lang="en-US" sz="2000" i="1">
                                          <a:latin typeface="Cambria Math" panose="02040503050406030204" pitchFamily="18" charset="0"/>
                                        </a:rPr>
                                        <m:t>′</m:t>
                                      </m:r>
                                    </m:sup>
                                  </m:sSubSup>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1" i="1">
                                          <a:latin typeface="Cambria Math" panose="02040503050406030204" pitchFamily="18" charset="0"/>
                                        </a:rPr>
                                        <m:t>𝒂</m:t>
                                      </m:r>
                                    </m:e>
                                    <m:sub>
                                      <m:r>
                                        <a:rPr lang="en-US" sz="2000" i="1">
                                          <a:latin typeface="Cambria Math" panose="02040503050406030204" pitchFamily="18" charset="0"/>
                                        </a:rPr>
                                        <m:t>𝑖</m:t>
                                      </m:r>
                                    </m:sub>
                                  </m:sSub>
                                </m:e>
                              </m:d>
                            </m:e>
                            <m:sup>
                              <m:r>
                                <a:rPr lang="en-US" sz="2000" i="1">
                                  <a:latin typeface="Cambria Math" panose="02040503050406030204" pitchFamily="18" charset="0"/>
                                </a:rPr>
                                <m:t>𝑇</m:t>
                              </m:r>
                            </m:sup>
                          </m:sSup>
                          <m:sSup>
                            <m:sSupPr>
                              <m:ctrlPr>
                                <a:rPr lang="en-US" sz="2000" i="1">
                                  <a:latin typeface="Cambria Math" panose="02040503050406030204" pitchFamily="18" charset="0"/>
                                </a:rPr>
                              </m:ctrlPr>
                            </m:sSupPr>
                            <m:e>
                              <m:r>
                                <a:rPr lang="en-US" sz="2000" i="1">
                                  <a:latin typeface="Cambria Math" panose="02040503050406030204" pitchFamily="18" charset="0"/>
                                </a:rPr>
                                <m:t>𝑉</m:t>
                              </m:r>
                            </m:e>
                            <m:sup>
                              <m:r>
                                <a:rPr lang="en-US" sz="2000" i="1">
                                  <a:latin typeface="Cambria Math" panose="02040503050406030204" pitchFamily="18" charset="0"/>
                                </a:rPr>
                                <m:t>𝑇</m:t>
                              </m:r>
                            </m:sup>
                          </m:sSup>
                          <m:sSubSup>
                            <m:sSubSupPr>
                              <m:ctrlPr>
                                <a:rPr lang="en-US" sz="2000" i="1">
                                  <a:latin typeface="Cambria Math" panose="02040503050406030204" pitchFamily="18" charset="0"/>
                                </a:rPr>
                              </m:ctrlPr>
                            </m:sSubSupPr>
                            <m:e>
                              <m:r>
                                <a:rPr lang="en-US" sz="2000" b="1" i="1">
                                  <a:latin typeface="Cambria Math" panose="02040503050406030204" pitchFamily="18" charset="0"/>
                                </a:rPr>
                                <m:t>𝒑</m:t>
                              </m:r>
                            </m:e>
                            <m:sub>
                              <m:r>
                                <a:rPr lang="en-US" sz="2000" i="1">
                                  <a:latin typeface="Cambria Math" panose="02040503050406030204" pitchFamily="18" charset="0"/>
                                </a:rPr>
                                <m:t>𝑖</m:t>
                              </m:r>
                            </m:sub>
                            <m:sup>
                              <m:r>
                                <a:rPr lang="en-US" sz="2000" i="1">
                                  <a:latin typeface="Cambria Math" panose="02040503050406030204" pitchFamily="18" charset="0"/>
                                </a:rPr>
                                <m:t>′</m:t>
                              </m:r>
                            </m:sup>
                          </m:sSubSup>
                          <m:r>
                            <a:rPr lang="en-US" sz="2000" i="1">
                              <a:latin typeface="Cambria Math" panose="02040503050406030204" pitchFamily="18" charset="0"/>
                            </a:rPr>
                            <m:t>𝐾</m:t>
                          </m:r>
                        </m:e>
                      </m:nary>
                    </m:oMath>
                  </m:oMathPara>
                </a14:m>
                <a:endParaRPr lang="en-US" sz="2000" dirty="0" smtClean="0"/>
              </a:p>
              <a:p>
                <a:pPr marL="0" indent="0">
                  <a:buNone/>
                </a:pPr>
                <a14:m>
                  <m:oMathPara xmlns:m="http://schemas.openxmlformats.org/officeDocument/2006/math">
                    <m:oMathParaPr>
                      <m:jc m:val="centerGroup"/>
                    </m:oMathParaPr>
                    <m:oMath xmlns:m="http://schemas.openxmlformats.org/officeDocument/2006/math">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𝐾</m:t>
                          </m:r>
                        </m:sup>
                      </m:sSup>
                      <m:r>
                        <m:rPr>
                          <m:aln/>
                        </m:rP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𝐾</m:t>
                          </m:r>
                        </m:sup>
                      </m:sSup>
                      <m:r>
                        <a:rPr lang="en-US" sz="2000" i="1">
                          <a:latin typeface="Cambria Math" panose="02040503050406030204" pitchFamily="18" charset="0"/>
                        </a:rPr>
                        <m:t>+</m:t>
                      </m:r>
                      <m:r>
                        <a:rPr lang="en-US" sz="2000" i="1">
                          <a:latin typeface="Cambria Math" panose="02040503050406030204" pitchFamily="18" charset="0"/>
                        </a:rPr>
                        <m:t>𝛾</m:t>
                      </m:r>
                      <m:f>
                        <m:fPr>
                          <m:ctrlPr>
                            <a:rPr lang="en-US" sz="2000" i="1">
                              <a:latin typeface="Cambria Math" panose="02040503050406030204" pitchFamily="18" charset="0"/>
                            </a:rPr>
                          </m:ctrlPr>
                        </m:fPr>
                        <m:num>
                          <m:r>
                            <a:rPr lang="en-US" sz="2000" i="1" smtClean="0">
                              <a:latin typeface="Cambria Math" panose="02040503050406030204" pitchFamily="18" charset="0"/>
                            </a:rPr>
                            <m:t>1</m:t>
                          </m:r>
                        </m:num>
                        <m:den>
                          <m:rad>
                            <m:radPr>
                              <m:degHide m:val="on"/>
                              <m:ctrlPr>
                                <a:rPr lang="en-US" sz="2000" i="1">
                                  <a:latin typeface="Cambria Math" panose="02040503050406030204" pitchFamily="18" charset="0"/>
                                </a:rPr>
                              </m:ctrlPr>
                            </m:radPr>
                            <m:deg/>
                            <m:e>
                              <m:sSub>
                                <m:sSubPr>
                                  <m:ctrlPr>
                                    <a:rPr lang="en-US" sz="2000" i="1">
                                      <a:latin typeface="Cambria Math" panose="02040503050406030204" pitchFamily="18" charset="0"/>
                                    </a:rPr>
                                  </m:ctrlPr>
                                </m:sSubPr>
                                <m:e>
                                  <m:r>
                                    <a:rPr lang="en-US" sz="2000" i="1">
                                      <a:latin typeface="Cambria Math" panose="02040503050406030204" pitchFamily="18" charset="0"/>
                                    </a:rPr>
                                    <m:t>𝑑</m:t>
                                  </m:r>
                                </m:e>
                                <m:sub>
                                  <m:r>
                                    <a:rPr lang="en-US" sz="2000" i="1">
                                      <a:latin typeface="Cambria Math" panose="02040503050406030204" pitchFamily="18" charset="0"/>
                                    </a:rPr>
                                    <m:t>𝑘</m:t>
                                  </m:r>
                                </m:sub>
                              </m:sSub>
                            </m:e>
                          </m:rad>
                        </m:den>
                      </m:f>
                      <m:nary>
                        <m:naryPr>
                          <m:chr m:val="∑"/>
                          <m:limLoc m:val="undOvr"/>
                          <m:ctrlPr>
                            <a:rPr lang="en-US" sz="2000" i="1">
                              <a:latin typeface="Cambria Math" panose="02040503050406030204" pitchFamily="18" charset="0"/>
                            </a:rPr>
                          </m:ctrlPr>
                        </m:naryPr>
                        <m:sub>
                          <m:r>
                            <a:rPr lang="en-US" sz="2000" i="1">
                              <a:latin typeface="Cambria Math" panose="02040503050406030204" pitchFamily="18" charset="0"/>
                            </a:rPr>
                            <m:t>𝑖</m:t>
                          </m:r>
                          <m:r>
                            <a:rPr lang="en-US" sz="2000" i="1">
                              <a:latin typeface="Cambria Math" panose="02040503050406030204" pitchFamily="18" charset="0"/>
                            </a:rPr>
                            <m:t>=1</m:t>
                          </m:r>
                        </m:sub>
                        <m:sup>
                          <m:r>
                            <a:rPr lang="en-US" sz="2000" i="1">
                              <a:latin typeface="Cambria Math" panose="02040503050406030204" pitchFamily="18" charset="0"/>
                            </a:rPr>
                            <m:t>𝑚</m:t>
                          </m:r>
                        </m:sup>
                        <m:e>
                          <m:sSup>
                            <m:sSupPr>
                              <m:ctrlPr>
                                <a:rPr lang="en-US" sz="2000" i="1">
                                  <a:latin typeface="Cambria Math" panose="02040503050406030204" pitchFamily="18" charset="0"/>
                                </a:rPr>
                              </m:ctrlPr>
                            </m:sSupPr>
                            <m:e>
                              <m:sSub>
                                <m:sSubPr>
                                  <m:ctrlPr>
                                    <a:rPr lang="en-US" sz="2000" i="1">
                                      <a:latin typeface="Cambria Math" panose="02040503050406030204" pitchFamily="18" charset="0"/>
                                    </a:rPr>
                                  </m:ctrlPr>
                                </m:sSubPr>
                                <m:e>
                                  <m:r>
                                    <a:rPr lang="en-US" sz="2000" b="1" i="1">
                                      <a:latin typeface="Cambria Math" panose="02040503050406030204" pitchFamily="18" charset="0"/>
                                    </a:rPr>
                                    <m:t>𝒙</m:t>
                                  </m:r>
                                </m:e>
                                <m:sub>
                                  <m:r>
                                    <a:rPr lang="en-US" sz="2000" i="1">
                                      <a:latin typeface="Cambria Math" panose="02040503050406030204" pitchFamily="18" charset="0"/>
                                    </a:rPr>
                                    <m:t>𝑖</m:t>
                                  </m:r>
                                </m:sub>
                              </m:sSub>
                              <m:d>
                                <m:dPr>
                                  <m:ctrlPr>
                                    <a:rPr lang="en-US" sz="2000" i="1">
                                      <a:latin typeface="Cambria Math" panose="02040503050406030204" pitchFamily="18" charset="0"/>
                                    </a:rPr>
                                  </m:ctrlPr>
                                </m:dPr>
                                <m:e>
                                  <m:sSubSup>
                                    <m:sSubSupPr>
                                      <m:ctrlPr>
                                        <a:rPr lang="en-US" sz="2000" i="1">
                                          <a:latin typeface="Cambria Math" panose="02040503050406030204" pitchFamily="18" charset="0"/>
                                        </a:rPr>
                                      </m:ctrlPr>
                                    </m:sSubSupPr>
                                    <m:e>
                                      <m:r>
                                        <a:rPr lang="en-US" sz="2000" b="1" i="1">
                                          <a:latin typeface="Cambria Math" panose="02040503050406030204" pitchFamily="18" charset="0"/>
                                        </a:rPr>
                                        <m:t>𝒂</m:t>
                                      </m:r>
                                    </m:e>
                                    <m:sub>
                                      <m:r>
                                        <a:rPr lang="en-US" sz="2000" i="1">
                                          <a:latin typeface="Cambria Math" panose="02040503050406030204" pitchFamily="18" charset="0"/>
                                        </a:rPr>
                                        <m:t>𝑖</m:t>
                                      </m:r>
                                    </m:sub>
                                    <m:sup>
                                      <m:r>
                                        <a:rPr lang="en-US" sz="2000" i="1">
                                          <a:latin typeface="Cambria Math" panose="02040503050406030204" pitchFamily="18" charset="0"/>
                                        </a:rPr>
                                        <m:t>′</m:t>
                                      </m:r>
                                    </m:sup>
                                  </m:sSubSup>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1" i="1">
                                          <a:latin typeface="Cambria Math" panose="02040503050406030204" pitchFamily="18" charset="0"/>
                                        </a:rPr>
                                        <m:t>𝒂</m:t>
                                      </m:r>
                                    </m:e>
                                    <m:sub>
                                      <m:r>
                                        <a:rPr lang="en-US" sz="2000" i="1">
                                          <a:latin typeface="Cambria Math" panose="02040503050406030204" pitchFamily="18" charset="0"/>
                                        </a:rPr>
                                        <m:t>𝑖</m:t>
                                      </m:r>
                                    </m:sub>
                                  </m:sSub>
                                </m:e>
                              </m:d>
                            </m:e>
                            <m:sup>
                              <m:r>
                                <a:rPr lang="en-US" sz="2000" i="1">
                                  <a:latin typeface="Cambria Math" panose="02040503050406030204" pitchFamily="18" charset="0"/>
                                </a:rPr>
                                <m:t>𝑇</m:t>
                              </m:r>
                            </m:sup>
                          </m:sSup>
                          <m:sSup>
                            <m:sSupPr>
                              <m:ctrlPr>
                                <a:rPr lang="en-US" sz="2000" i="1">
                                  <a:latin typeface="Cambria Math" panose="02040503050406030204" pitchFamily="18" charset="0"/>
                                </a:rPr>
                              </m:ctrlPr>
                            </m:sSupPr>
                            <m:e>
                              <m:r>
                                <a:rPr lang="en-US" sz="2000" i="1">
                                  <a:latin typeface="Cambria Math" panose="02040503050406030204" pitchFamily="18" charset="0"/>
                                </a:rPr>
                                <m:t>𝑉</m:t>
                              </m:r>
                            </m:e>
                            <m:sup>
                              <m:r>
                                <a:rPr lang="en-US" sz="2000" i="1">
                                  <a:latin typeface="Cambria Math" panose="02040503050406030204" pitchFamily="18" charset="0"/>
                                </a:rPr>
                                <m:t>𝑇</m:t>
                              </m:r>
                            </m:sup>
                          </m:sSup>
                          <m:sSubSup>
                            <m:sSubSupPr>
                              <m:ctrlPr>
                                <a:rPr lang="en-US" sz="2000" i="1">
                                  <a:latin typeface="Cambria Math" panose="02040503050406030204" pitchFamily="18" charset="0"/>
                                </a:rPr>
                              </m:ctrlPr>
                            </m:sSubSupPr>
                            <m:e>
                              <m:r>
                                <a:rPr lang="en-US" sz="2000" b="1" i="1">
                                  <a:latin typeface="Cambria Math" panose="02040503050406030204" pitchFamily="18" charset="0"/>
                                </a:rPr>
                                <m:t>𝒑</m:t>
                              </m:r>
                            </m:e>
                            <m:sub>
                              <m:r>
                                <a:rPr lang="en-US" sz="2000" i="1">
                                  <a:latin typeface="Cambria Math" panose="02040503050406030204" pitchFamily="18" charset="0"/>
                                </a:rPr>
                                <m:t>𝑖</m:t>
                              </m:r>
                            </m:sub>
                            <m:sup>
                              <m:r>
                                <a:rPr lang="en-US" sz="2000" i="1">
                                  <a:latin typeface="Cambria Math" panose="02040503050406030204" pitchFamily="18" charset="0"/>
                                </a:rPr>
                                <m:t>′</m:t>
                              </m:r>
                            </m:sup>
                          </m:sSubSup>
                          <m:r>
                            <a:rPr lang="en-US" sz="2000" i="1">
                              <a:latin typeface="Cambria Math" panose="02040503050406030204" pitchFamily="18" charset="0"/>
                            </a:rPr>
                            <m:t>𝑄</m:t>
                          </m:r>
                        </m:e>
                      </m:nary>
                    </m:oMath>
                  </m:oMathPara>
                </a14:m>
                <a:endParaRPr lang="en-US" sz="2000" dirty="0" smtClean="0"/>
              </a:p>
              <a:p>
                <a:pPr marL="0" indent="0">
                  <a:buNone/>
                </a:pPr>
                <a14:m>
                  <m:oMathPara xmlns:m="http://schemas.openxmlformats.org/officeDocument/2006/math">
                    <m:oMathParaPr>
                      <m:jc m:val="centerGroup"/>
                    </m:oMathParaPr>
                    <m:oMath xmlns:m="http://schemas.openxmlformats.org/officeDocument/2006/math">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𝑉</m:t>
                          </m:r>
                        </m:sup>
                      </m:sSup>
                      <m:r>
                        <m:rPr>
                          <m:aln/>
                        </m:rPr>
                        <a:rPr lang="en-US" sz="2000" i="1">
                          <a:latin typeface="Cambria Math" panose="02040503050406030204" pitchFamily="18" charset="0"/>
                        </a:rPr>
                        <m:t>=</m:t>
                      </m:r>
                      <m:sSup>
                        <m:sSupPr>
                          <m:ctrlPr>
                            <a:rPr lang="en-US" sz="2000" i="1">
                              <a:latin typeface="Cambria Math" panose="02040503050406030204" pitchFamily="18" charset="0"/>
                            </a:rPr>
                          </m:ctrlPr>
                        </m:sSupPr>
                        <m:e>
                          <m:r>
                            <a:rPr lang="en-US" sz="2000" i="1">
                              <a:latin typeface="Cambria Math" panose="02040503050406030204" pitchFamily="18" charset="0"/>
                            </a:rPr>
                            <m:t>𝑊</m:t>
                          </m:r>
                        </m:e>
                        <m:sup>
                          <m:r>
                            <a:rPr lang="en-US" sz="2000" i="1">
                              <a:latin typeface="Cambria Math" panose="02040503050406030204" pitchFamily="18" charset="0"/>
                            </a:rPr>
                            <m:t>𝑉</m:t>
                          </m:r>
                        </m:sup>
                      </m:sSup>
                      <m:r>
                        <a:rPr lang="en-US" sz="2000" i="1">
                          <a:latin typeface="Cambria Math" panose="02040503050406030204" pitchFamily="18" charset="0"/>
                        </a:rPr>
                        <m:t>+</m:t>
                      </m:r>
                      <m:r>
                        <a:rPr lang="en-US" sz="2000" i="1">
                          <a:latin typeface="Cambria Math" panose="02040503050406030204" pitchFamily="18" charset="0"/>
                        </a:rPr>
                        <m:t>𝛾</m:t>
                      </m:r>
                      <m:sSup>
                        <m:sSupPr>
                          <m:ctrlPr>
                            <a:rPr lang="en-US" sz="2000" i="1">
                              <a:latin typeface="Cambria Math" panose="02040503050406030204" pitchFamily="18" charset="0"/>
                            </a:rPr>
                          </m:ctrlPr>
                        </m:sSupPr>
                        <m:e>
                          <m:r>
                            <a:rPr lang="en-US" sz="2000" b="1" i="1">
                              <a:latin typeface="Cambria Math" panose="02040503050406030204" pitchFamily="18" charset="0"/>
                            </a:rPr>
                            <m:t>𝑿</m:t>
                          </m:r>
                        </m:e>
                        <m:sup>
                          <m:r>
                            <a:rPr lang="en-US" sz="2000" i="1">
                              <a:latin typeface="Cambria Math" panose="02040503050406030204" pitchFamily="18" charset="0"/>
                            </a:rPr>
                            <m:t>𝑇</m:t>
                          </m:r>
                        </m:sup>
                      </m:sSup>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r>
                                <m:rPr>
                                  <m:sty m:val="p"/>
                                </m:rPr>
                                <a:rPr lang="en-US" sz="2000">
                                  <a:latin typeface="Cambria Math" panose="02040503050406030204" pitchFamily="18" charset="0"/>
                                </a:rPr>
                                <m:t>softmax</m:t>
                              </m:r>
                              <m:d>
                                <m:dPr>
                                  <m:ctrlPr>
                                    <a:rPr lang="en-US" sz="2000" i="1">
                                      <a:latin typeface="Cambria Math" panose="02040503050406030204" pitchFamily="18" charset="0"/>
                                    </a:rPr>
                                  </m:ctrlPr>
                                </m:dPr>
                                <m:e>
                                  <m:f>
                                    <m:fPr>
                                      <m:ctrlPr>
                                        <a:rPr lang="en-US" sz="2000" i="1">
                                          <a:latin typeface="Cambria Math" panose="02040503050406030204" pitchFamily="18" charset="0"/>
                                        </a:rPr>
                                      </m:ctrlPr>
                                    </m:fPr>
                                    <m:num>
                                      <m:r>
                                        <a:rPr lang="en-US" sz="2000" i="1">
                                          <a:latin typeface="Cambria Math" panose="02040503050406030204" pitchFamily="18" charset="0"/>
                                        </a:rPr>
                                        <m:t>𝑄</m:t>
                                      </m:r>
                                      <m:sSup>
                                        <m:sSupPr>
                                          <m:ctrlPr>
                                            <a:rPr lang="en-US" sz="2000" i="1">
                                              <a:latin typeface="Cambria Math" panose="02040503050406030204" pitchFamily="18" charset="0"/>
                                            </a:rPr>
                                          </m:ctrlPr>
                                        </m:sSupPr>
                                        <m:e>
                                          <m:r>
                                            <a:rPr lang="en-US" sz="2000" i="1">
                                              <a:latin typeface="Cambria Math" panose="02040503050406030204" pitchFamily="18" charset="0"/>
                                            </a:rPr>
                                            <m:t>𝐾</m:t>
                                          </m:r>
                                        </m:e>
                                        <m:sup>
                                          <m:r>
                                            <a:rPr lang="en-US" sz="2000" i="1">
                                              <a:latin typeface="Cambria Math" panose="02040503050406030204" pitchFamily="18" charset="0"/>
                                            </a:rPr>
                                            <m:t>𝑇</m:t>
                                          </m:r>
                                        </m:sup>
                                      </m:sSup>
                                    </m:num>
                                    <m:den>
                                      <m:rad>
                                        <m:radPr>
                                          <m:degHide m:val="on"/>
                                          <m:ctrlPr>
                                            <a:rPr lang="en-US" sz="2000" i="1">
                                              <a:latin typeface="Cambria Math" panose="02040503050406030204" pitchFamily="18" charset="0"/>
                                            </a:rPr>
                                          </m:ctrlPr>
                                        </m:radPr>
                                        <m:deg/>
                                        <m:e>
                                          <m:sSub>
                                            <m:sSubPr>
                                              <m:ctrlPr>
                                                <a:rPr lang="en-US" sz="2000" i="1">
                                                  <a:latin typeface="Cambria Math" panose="02040503050406030204" pitchFamily="18" charset="0"/>
                                                </a:rPr>
                                              </m:ctrlPr>
                                            </m:sSubPr>
                                            <m:e>
                                              <m:r>
                                                <a:rPr lang="en-US" sz="2000" i="1">
                                                  <a:latin typeface="Cambria Math" panose="02040503050406030204" pitchFamily="18" charset="0"/>
                                                </a:rPr>
                                                <m:t>𝑑</m:t>
                                              </m:r>
                                            </m:e>
                                            <m:sub>
                                              <m:r>
                                                <a:rPr lang="en-US" sz="2000" i="1">
                                                  <a:latin typeface="Cambria Math" panose="02040503050406030204" pitchFamily="18" charset="0"/>
                                                </a:rPr>
                                                <m:t>𝑘</m:t>
                                              </m:r>
                                            </m:sub>
                                          </m:sSub>
                                        </m:e>
                                      </m:rad>
                                    </m:den>
                                  </m:f>
                                </m:e>
                              </m:d>
                            </m:e>
                          </m:d>
                        </m:e>
                        <m:sup>
                          <m:r>
                            <a:rPr lang="en-US" sz="2000" i="1">
                              <a:latin typeface="Cambria Math" panose="02040503050406030204" pitchFamily="18" charset="0"/>
                            </a:rPr>
                            <m:t>𝑇</m:t>
                          </m:r>
                        </m:sup>
                      </m:sSup>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𝐴</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𝐴</m:t>
                          </m:r>
                        </m:e>
                      </m:d>
                    </m:oMath>
                  </m:oMathPara>
                </a14:m>
                <a:endParaRPr lang="en-US" sz="2000" dirty="0"/>
              </a:p>
              <a:p>
                <a:pPr marL="0" indent="0">
                  <a:buNone/>
                </a:pPr>
                <a:endParaRPr lang="en-US" sz="2000" dirty="0" smtClean="0"/>
              </a:p>
              <a:p>
                <a:pPr marL="0" indent="0">
                  <a:buNone/>
                </a:pPr>
                <a:endParaRPr lang="en-US" sz="2000" dirty="0" smtClean="0"/>
              </a:p>
              <a:p>
                <a:pPr marL="0" indent="0">
                  <a:buNone/>
                </a:pPr>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49760" cy="5176066"/>
              </a:xfrm>
              <a:blipFill>
                <a:blip r:embed="rId2"/>
                <a:stretch>
                  <a:fillRect l="-607" t="-589" r="-55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29</a:t>
            </a:fld>
            <a:endParaRPr lang="en-US"/>
          </a:p>
        </p:txBody>
      </p:sp>
    </p:spTree>
    <p:extLst>
      <p:ext uri="{BB962C8B-B14F-4D97-AF65-F5344CB8AC3E}">
        <p14:creationId xmlns:p14="http://schemas.microsoft.com/office/powerpoint/2010/main" val="3962384375"/>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Autofit/>
              </a:bodyPr>
              <a:lstStyle/>
              <a:p>
                <a:pPr marL="0" indent="0">
                  <a:buNone/>
                </a:pPr>
                <a:r>
                  <a:rPr lang="en-US" sz="1900" dirty="0" smtClean="0">
                    <a:effectLst>
                      <a:outerShdw blurRad="38100" dist="38100" dir="2700000" algn="tl">
                        <a:srgbClr val="000000">
                          <a:alpha val="43137"/>
                        </a:srgbClr>
                      </a:outerShdw>
                    </a:effectLst>
                  </a:rPr>
                  <a:t>The most important thing to estimate parametric matrices </a:t>
                </a:r>
                <a:r>
                  <a:rPr lang="en-US" sz="1900" i="1" dirty="0">
                    <a:effectLst>
                      <a:outerShdw blurRad="38100" dist="38100" dir="2700000" algn="tl">
                        <a:srgbClr val="000000">
                          <a:alpha val="43137"/>
                        </a:srgbClr>
                      </a:outerShdw>
                    </a:effectLst>
                  </a:rPr>
                  <a:t>W</a:t>
                </a:r>
                <a:r>
                  <a:rPr lang="en-US" sz="1900" i="1" baseline="30000" dirty="0">
                    <a:effectLst>
                      <a:outerShdw blurRad="38100" dist="38100" dir="2700000" algn="tl">
                        <a:srgbClr val="000000">
                          <a:alpha val="43137"/>
                        </a:srgbClr>
                      </a:outerShdw>
                    </a:effectLst>
                  </a:rPr>
                  <a:t>Q</a:t>
                </a:r>
                <a:r>
                  <a:rPr lang="en-US" sz="1900" dirty="0">
                    <a:effectLst>
                      <a:outerShdw blurRad="38100" dist="38100" dir="2700000" algn="tl">
                        <a:srgbClr val="000000">
                          <a:alpha val="43137"/>
                        </a:srgbClr>
                      </a:outerShdw>
                    </a:effectLst>
                  </a:rPr>
                  <a:t> and </a:t>
                </a:r>
                <a:r>
                  <a:rPr lang="en-US" sz="1900" i="1" dirty="0">
                    <a:effectLst>
                      <a:outerShdw blurRad="38100" dist="38100" dir="2700000" algn="tl">
                        <a:srgbClr val="000000">
                          <a:alpha val="43137"/>
                        </a:srgbClr>
                      </a:outerShdw>
                    </a:effectLst>
                  </a:rPr>
                  <a:t>W</a:t>
                </a:r>
                <a:r>
                  <a:rPr lang="en-US" sz="1900" i="1" baseline="30000" dirty="0">
                    <a:effectLst>
                      <a:outerShdw blurRad="38100" dist="38100" dir="2700000" algn="tl">
                        <a:srgbClr val="000000">
                          <a:alpha val="43137"/>
                        </a:srgbClr>
                      </a:outerShdw>
                    </a:effectLst>
                  </a:rPr>
                  <a:t>K</a:t>
                </a:r>
                <a:r>
                  <a:rPr lang="en-US" sz="1900" dirty="0">
                    <a:effectLst>
                      <a:outerShdw blurRad="38100" dist="38100" dir="2700000" algn="tl">
                        <a:srgbClr val="000000">
                          <a:alpha val="43137"/>
                        </a:srgbClr>
                      </a:outerShdw>
                    </a:effectLst>
                  </a:rPr>
                  <a:t> is to calculate the derivative </a:t>
                </a:r>
                <a:r>
                  <a:rPr lang="en-US" sz="1900" b="1" i="1" dirty="0">
                    <a:effectLst>
                      <a:outerShdw blurRad="38100" dist="38100" dir="2700000" algn="tl">
                        <a:srgbClr val="000000">
                          <a:alpha val="43137"/>
                        </a:srgbClr>
                      </a:outerShdw>
                    </a:effectLst>
                  </a:rPr>
                  <a:t>p</a:t>
                </a:r>
                <a:r>
                  <a:rPr lang="en-US" sz="1900" i="1" baseline="-25000" dirty="0">
                    <a:effectLst>
                      <a:outerShdw blurRad="38100" dist="38100" dir="2700000" algn="tl">
                        <a:srgbClr val="000000">
                          <a:alpha val="43137"/>
                        </a:srgbClr>
                      </a:outerShdw>
                    </a:effectLst>
                  </a:rPr>
                  <a:t>i</a:t>
                </a:r>
                <a:r>
                  <a:rPr lang="en-US" sz="1900" dirty="0">
                    <a:effectLst>
                      <a:outerShdw blurRad="38100" dist="38100" dir="2700000" algn="tl">
                        <a:srgbClr val="000000">
                          <a:alpha val="43137"/>
                        </a:srgbClr>
                      </a:outerShdw>
                    </a:effectLst>
                  </a:rPr>
                  <a:t>’ of the probability </a:t>
                </a:r>
                <a:r>
                  <a:rPr lang="en-US" sz="1900" b="1" i="1" dirty="0">
                    <a:effectLst>
                      <a:outerShdw blurRad="38100" dist="38100" dir="2700000" algn="tl">
                        <a:srgbClr val="000000">
                          <a:alpha val="43137"/>
                        </a:srgbClr>
                      </a:outerShdw>
                    </a:effectLst>
                  </a:rPr>
                  <a:t>p</a:t>
                </a:r>
                <a:r>
                  <a:rPr lang="en-US" sz="1900" i="1" baseline="-25000" dirty="0">
                    <a:effectLst>
                      <a:outerShdw blurRad="38100" dist="38100" dir="2700000" algn="tl">
                        <a:srgbClr val="000000">
                          <a:alpha val="43137"/>
                        </a:srgbClr>
                      </a:outerShdw>
                    </a:effectLst>
                  </a:rPr>
                  <a:t>i</a:t>
                </a:r>
                <a:r>
                  <a:rPr lang="en-US" sz="1900" dirty="0">
                    <a:effectLst>
                      <a:outerShdw blurRad="38100" dist="38100" dir="2700000" algn="tl">
                        <a:srgbClr val="000000">
                          <a:alpha val="43137"/>
                        </a:srgbClr>
                      </a:outerShdw>
                    </a:effectLst>
                  </a:rPr>
                  <a:t> of soft-max function.</a:t>
                </a:r>
              </a:p>
              <a:p>
                <a:pPr marL="0" indent="0">
                  <a:buNone/>
                </a:pPr>
                <a14:m>
                  <m:oMathPara xmlns:m="http://schemas.openxmlformats.org/officeDocument/2006/math">
                    <m:oMathParaPr>
                      <m:jc m:val="centerGroup"/>
                    </m:oMathParaPr>
                    <m:oMath xmlns:m="http://schemas.openxmlformats.org/officeDocument/2006/math">
                      <m:sSubSup>
                        <m:sSubSupPr>
                          <m:ctrlPr>
                            <a:rPr lang="en-US" sz="1900" i="1">
                              <a:latin typeface="Cambria Math" panose="02040503050406030204" pitchFamily="18" charset="0"/>
                            </a:rPr>
                          </m:ctrlPr>
                        </m:sSubSupPr>
                        <m:e>
                          <m:r>
                            <a:rPr lang="en-US" sz="1900" b="1" i="1">
                              <a:latin typeface="Cambria Math" panose="02040503050406030204" pitchFamily="18" charset="0"/>
                            </a:rPr>
                            <m:t>𝒑</m:t>
                          </m:r>
                        </m:e>
                        <m:sub>
                          <m:r>
                            <a:rPr lang="en-US" sz="1900" i="1">
                              <a:latin typeface="Cambria Math" panose="02040503050406030204" pitchFamily="18" charset="0"/>
                            </a:rPr>
                            <m:t>𝑖</m:t>
                          </m:r>
                        </m:sub>
                        <m:sup>
                          <m:r>
                            <a:rPr lang="en-US" sz="1900" i="1">
                              <a:latin typeface="Cambria Math" panose="02040503050406030204" pitchFamily="18" charset="0"/>
                            </a:rPr>
                            <m:t>′</m:t>
                          </m:r>
                        </m:sup>
                      </m:sSubSup>
                      <m:r>
                        <m:rPr>
                          <m:aln/>
                        </m:rPr>
                        <a:rPr lang="en-US" sz="1900" i="1">
                          <a:latin typeface="Cambria Math" panose="02040503050406030204" pitchFamily="18" charset="0"/>
                        </a:rPr>
                        <m:t>=</m:t>
                      </m:r>
                      <m:sSup>
                        <m:sSupPr>
                          <m:ctrlPr>
                            <a:rPr lang="en-US" sz="1900" i="1">
                              <a:latin typeface="Cambria Math" panose="02040503050406030204" pitchFamily="18" charset="0"/>
                            </a:rPr>
                          </m:ctrlPr>
                        </m:sSupPr>
                        <m:e>
                          <m:r>
                            <m:rPr>
                              <m:sty m:val="p"/>
                            </m:rPr>
                            <a:rPr lang="en-US" sz="1900">
                              <a:latin typeface="Cambria Math" panose="02040503050406030204" pitchFamily="18" charset="0"/>
                            </a:rPr>
                            <m:t>softmax</m:t>
                          </m:r>
                        </m:e>
                        <m:sup>
                          <m:r>
                            <a:rPr lang="en-US" sz="1900" i="1">
                              <a:latin typeface="Cambria Math" panose="02040503050406030204" pitchFamily="18" charset="0"/>
                            </a:rPr>
                            <m:t>′</m:t>
                          </m:r>
                        </m:sup>
                      </m:sSup>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e>
                      </m:d>
                      <m:r>
                        <a:rPr lang="en-US" sz="1900" i="1">
                          <a:latin typeface="Cambria Math" panose="02040503050406030204" pitchFamily="18" charset="0"/>
                        </a:rPr>
                        <m:t>=</m:t>
                      </m:r>
                      <m:f>
                        <m:fPr>
                          <m:ctrlPr>
                            <a:rPr lang="en-US" sz="1900" i="1">
                              <a:latin typeface="Cambria Math" panose="02040503050406030204" pitchFamily="18" charset="0"/>
                            </a:rPr>
                          </m:ctrlPr>
                        </m:fPr>
                        <m:num>
                          <m:r>
                            <a:rPr lang="en-US" sz="1900" i="1">
                              <a:latin typeface="Cambria Math" panose="02040503050406030204" pitchFamily="18" charset="0"/>
                            </a:rPr>
                            <m:t>𝑑</m:t>
                          </m:r>
                          <m:r>
                            <m:rPr>
                              <m:sty m:val="p"/>
                            </m:rPr>
                            <a:rPr lang="en-US" sz="1900">
                              <a:latin typeface="Cambria Math" panose="02040503050406030204" pitchFamily="18" charset="0"/>
                            </a:rPr>
                            <m:t>softmax</m:t>
                          </m:r>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e>
                          </m:d>
                        </m:num>
                        <m:den>
                          <m:r>
                            <a:rPr lang="en-US" sz="1900" i="1">
                              <a:latin typeface="Cambria Math" panose="02040503050406030204" pitchFamily="18" charset="0"/>
                            </a:rPr>
                            <m:t>𝑑</m:t>
                          </m:r>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den>
                      </m:f>
                      <m:r>
                        <a:rPr lang="en-US" sz="1900" b="0" i="1" smtClean="0">
                          <a:latin typeface="Cambria Math" panose="02040503050406030204" pitchFamily="18" charset="0"/>
                        </a:rPr>
                        <m:t> </m:t>
                      </m:r>
                      <m:r>
                        <m:rPr>
                          <m:sty m:val="p"/>
                        </m:rPr>
                        <a:rPr lang="en-US" sz="1900" b="0" i="0" smtClean="0">
                          <a:latin typeface="Cambria Math" panose="02040503050406030204" pitchFamily="18" charset="0"/>
                        </a:rPr>
                        <m:t>where</m:t>
                      </m:r>
                      <m:r>
                        <a:rPr lang="en-US" sz="1900" b="0" i="0" smtClean="0">
                          <a:latin typeface="Cambria Math" panose="02040503050406030204" pitchFamily="18" charset="0"/>
                        </a:rPr>
                        <m:t> </m:t>
                      </m:r>
                      <m:sSub>
                        <m:sSubPr>
                          <m:ctrlPr>
                            <a:rPr lang="en-US" sz="1900" i="1">
                              <a:latin typeface="Cambria Math" panose="02040503050406030204" pitchFamily="18" charset="0"/>
                            </a:rPr>
                          </m:ctrlPr>
                        </m:sSubPr>
                        <m:e>
                          <m:r>
                            <a:rPr lang="en-US" sz="1900" b="1" i="1">
                              <a:latin typeface="Cambria Math" panose="02040503050406030204" pitchFamily="18" charset="0"/>
                            </a:rPr>
                            <m:t>𝒑</m:t>
                          </m:r>
                        </m:e>
                        <m:sub>
                          <m:r>
                            <a:rPr lang="en-US" sz="1900" i="1">
                              <a:latin typeface="Cambria Math" panose="02040503050406030204" pitchFamily="18" charset="0"/>
                            </a:rPr>
                            <m:t>𝑖</m:t>
                          </m:r>
                        </m:sub>
                      </m:sSub>
                      <m:r>
                        <a:rPr lang="en-US" sz="1900" i="1">
                          <a:latin typeface="Cambria Math" panose="02040503050406030204" pitchFamily="18" charset="0"/>
                        </a:rPr>
                        <m:t>=</m:t>
                      </m:r>
                      <m:r>
                        <m:rPr>
                          <m:sty m:val="p"/>
                        </m:rPr>
                        <a:rPr lang="en-US" sz="1900">
                          <a:latin typeface="Cambria Math" panose="02040503050406030204" pitchFamily="18" charset="0"/>
                        </a:rPr>
                        <m:t>softmax</m:t>
                      </m:r>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e>
                      </m:d>
                      <m:r>
                        <a:rPr lang="en-US" sz="1900" i="1">
                          <a:latin typeface="Cambria Math" panose="02040503050406030204" pitchFamily="18" charset="0"/>
                        </a:rPr>
                        <m:t>=</m:t>
                      </m:r>
                      <m:sSup>
                        <m:sSupPr>
                          <m:ctrlPr>
                            <a:rPr lang="en-US" sz="1900" i="1">
                              <a:latin typeface="Cambria Math" panose="02040503050406030204" pitchFamily="18" charset="0"/>
                            </a:rPr>
                          </m:ctrlPr>
                        </m:sSupPr>
                        <m:e>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1</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2</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𝑖𝑚</m:t>
                                  </m:r>
                                </m:sub>
                              </m:sSub>
                            </m:e>
                          </m:d>
                        </m:e>
                        <m:sup>
                          <m:r>
                            <a:rPr lang="en-US" sz="1900" i="1">
                              <a:latin typeface="Cambria Math" panose="02040503050406030204" pitchFamily="18" charset="0"/>
                            </a:rPr>
                            <m:t>𝑇</m:t>
                          </m:r>
                        </m:sup>
                      </m:sSup>
                    </m:oMath>
                  </m:oMathPara>
                </a14:m>
                <a:endParaRPr lang="en-US" sz="1900" dirty="0" smtClean="0"/>
              </a:p>
              <a:p>
                <a:pPr marL="0" indent="0">
                  <a:buNone/>
                </a:pPr>
                <a14:m>
                  <m:oMathPara xmlns:m="http://schemas.openxmlformats.org/officeDocument/2006/math">
                    <m:oMathParaPr>
                      <m:jc m:val="centerGroup"/>
                    </m:oMathParaPr>
                    <m:oMath xmlns:m="http://schemas.openxmlformats.org/officeDocument/2006/math">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r>
                        <m:rPr>
                          <m:aln/>
                        </m:rPr>
                        <a:rPr lang="en-US" sz="1900" i="1">
                          <a:latin typeface="Cambria Math" panose="02040503050406030204" pitchFamily="18" charset="0"/>
                        </a:rPr>
                        <m:t>=</m:t>
                      </m:r>
                      <m:sSup>
                        <m:sSupPr>
                          <m:ctrlPr>
                            <a:rPr lang="en-US" sz="1900" i="1">
                              <a:latin typeface="Cambria Math" panose="02040503050406030204" pitchFamily="18" charset="0"/>
                            </a:rPr>
                          </m:ctrlPr>
                        </m:sSupPr>
                        <m:e>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1</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1</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𝑖𝑚</m:t>
                                  </m:r>
                                </m:sub>
                              </m:sSub>
                            </m:e>
                          </m:d>
                        </m:e>
                        <m:sup>
                          <m:r>
                            <a:rPr lang="en-US" sz="1900" i="1">
                              <a:latin typeface="Cambria Math" panose="02040503050406030204" pitchFamily="18" charset="0"/>
                            </a:rPr>
                            <m:t>𝑇</m:t>
                          </m:r>
                        </m:sup>
                      </m:sSup>
                      <m:r>
                        <a:rPr lang="en-US" sz="1900" i="1">
                          <a:latin typeface="Cambria Math" panose="02040503050406030204" pitchFamily="18" charset="0"/>
                        </a:rPr>
                        <m:t>=</m:t>
                      </m:r>
                      <m:sSup>
                        <m:sSupPr>
                          <m:ctrlPr>
                            <a:rPr lang="en-US" sz="1900" i="1">
                              <a:latin typeface="Cambria Math" panose="02040503050406030204" pitchFamily="18" charset="0"/>
                            </a:rPr>
                          </m:ctrlPr>
                        </m:sSupPr>
                        <m:e>
                          <m:d>
                            <m:dPr>
                              <m:ctrlPr>
                                <a:rPr lang="en-US" sz="1900" i="1">
                                  <a:latin typeface="Cambria Math" panose="02040503050406030204" pitchFamily="18" charset="0"/>
                                </a:rPr>
                              </m:ctrlPr>
                            </m:dPr>
                            <m:e>
                              <m:f>
                                <m:fPr>
                                  <m:ctrlPr>
                                    <a:rPr lang="en-US" sz="1900" i="1">
                                      <a:latin typeface="Cambria Math" panose="02040503050406030204" pitchFamily="18" charset="0"/>
                                    </a:rPr>
                                  </m:ctrlPr>
                                </m:fPr>
                                <m:num>
                                  <m:sSub>
                                    <m:sSubPr>
                                      <m:ctrlPr>
                                        <a:rPr lang="en-US" sz="1900" i="1">
                                          <a:latin typeface="Cambria Math" panose="02040503050406030204" pitchFamily="18" charset="0"/>
                                        </a:rPr>
                                      </m:ctrlPr>
                                    </m:sSubPr>
                                    <m:e>
                                      <m:r>
                                        <a:rPr lang="en-US" sz="1900" b="1" i="1">
                                          <a:latin typeface="Cambria Math" panose="02040503050406030204" pitchFamily="18" charset="0"/>
                                        </a:rPr>
                                        <m:t>𝒒</m:t>
                                      </m:r>
                                    </m:e>
                                    <m:sub>
                                      <m:r>
                                        <a:rPr lang="en-US" sz="1900" i="1">
                                          <a:latin typeface="Cambria Math" panose="02040503050406030204" pitchFamily="18" charset="0"/>
                                        </a:rPr>
                                        <m:t>𝑖</m:t>
                                      </m:r>
                                    </m:sub>
                                  </m:sSub>
                                  <m:sSubSup>
                                    <m:sSubSupPr>
                                      <m:ctrlPr>
                                        <a:rPr lang="en-US" sz="1900" i="1">
                                          <a:latin typeface="Cambria Math" panose="02040503050406030204" pitchFamily="18" charset="0"/>
                                        </a:rPr>
                                      </m:ctrlPr>
                                    </m:sSubSupPr>
                                    <m:e>
                                      <m:r>
                                        <a:rPr lang="en-US" sz="1900" b="1" i="1">
                                          <a:latin typeface="Cambria Math" panose="02040503050406030204" pitchFamily="18" charset="0"/>
                                        </a:rPr>
                                        <m:t>𝒌</m:t>
                                      </m:r>
                                    </m:e>
                                    <m:sub>
                                      <m:r>
                                        <a:rPr lang="en-US" sz="1900" i="1">
                                          <a:latin typeface="Cambria Math" panose="02040503050406030204" pitchFamily="18" charset="0"/>
                                        </a:rPr>
                                        <m:t>1</m:t>
                                      </m:r>
                                    </m:sub>
                                    <m:sup>
                                      <m:r>
                                        <a:rPr lang="en-US" sz="1900" i="1">
                                          <a:latin typeface="Cambria Math" panose="02040503050406030204" pitchFamily="18" charset="0"/>
                                        </a:rPr>
                                        <m:t>𝑇</m:t>
                                      </m:r>
                                    </m:sup>
                                  </m:sSubSup>
                                </m:num>
                                <m:den>
                                  <m:rad>
                                    <m:radPr>
                                      <m:degHide m:val="on"/>
                                      <m:ctrlPr>
                                        <a:rPr lang="en-US" sz="1900" i="1">
                                          <a:latin typeface="Cambria Math" panose="02040503050406030204" pitchFamily="18" charset="0"/>
                                        </a:rPr>
                                      </m:ctrlPr>
                                    </m:radPr>
                                    <m:deg/>
                                    <m:e>
                                      <m:sSub>
                                        <m:sSubPr>
                                          <m:ctrlPr>
                                            <a:rPr lang="en-US" sz="1900" i="1">
                                              <a:latin typeface="Cambria Math" panose="02040503050406030204" pitchFamily="18" charset="0"/>
                                            </a:rPr>
                                          </m:ctrlPr>
                                        </m:sSubPr>
                                        <m:e>
                                          <m:r>
                                            <a:rPr lang="en-US" sz="1900" i="1">
                                              <a:latin typeface="Cambria Math" panose="02040503050406030204" pitchFamily="18" charset="0"/>
                                            </a:rPr>
                                            <m:t>𝑑</m:t>
                                          </m:r>
                                        </m:e>
                                        <m:sub>
                                          <m:r>
                                            <a:rPr lang="en-US" sz="1900" i="1">
                                              <a:latin typeface="Cambria Math" panose="02040503050406030204" pitchFamily="18" charset="0"/>
                                            </a:rPr>
                                            <m:t>𝑘</m:t>
                                          </m:r>
                                        </m:sub>
                                      </m:sSub>
                                    </m:e>
                                  </m:rad>
                                </m:den>
                              </m:f>
                              <m:r>
                                <a:rPr lang="en-US" sz="1900" i="1">
                                  <a:latin typeface="Cambria Math" panose="02040503050406030204" pitchFamily="18" charset="0"/>
                                </a:rPr>
                                <m:t>,</m:t>
                              </m:r>
                              <m:f>
                                <m:fPr>
                                  <m:ctrlPr>
                                    <a:rPr lang="en-US" sz="1900" i="1">
                                      <a:latin typeface="Cambria Math" panose="02040503050406030204" pitchFamily="18" charset="0"/>
                                    </a:rPr>
                                  </m:ctrlPr>
                                </m:fPr>
                                <m:num>
                                  <m:sSub>
                                    <m:sSubPr>
                                      <m:ctrlPr>
                                        <a:rPr lang="en-US" sz="1900" i="1">
                                          <a:latin typeface="Cambria Math" panose="02040503050406030204" pitchFamily="18" charset="0"/>
                                        </a:rPr>
                                      </m:ctrlPr>
                                    </m:sSubPr>
                                    <m:e>
                                      <m:r>
                                        <a:rPr lang="en-US" sz="1900" b="1" i="1">
                                          <a:latin typeface="Cambria Math" panose="02040503050406030204" pitchFamily="18" charset="0"/>
                                        </a:rPr>
                                        <m:t>𝒒</m:t>
                                      </m:r>
                                    </m:e>
                                    <m:sub>
                                      <m:r>
                                        <a:rPr lang="en-US" sz="1900" i="1">
                                          <a:latin typeface="Cambria Math" panose="02040503050406030204" pitchFamily="18" charset="0"/>
                                        </a:rPr>
                                        <m:t>𝑖</m:t>
                                      </m:r>
                                    </m:sub>
                                  </m:sSub>
                                  <m:sSubSup>
                                    <m:sSubSupPr>
                                      <m:ctrlPr>
                                        <a:rPr lang="en-US" sz="1900" i="1">
                                          <a:latin typeface="Cambria Math" panose="02040503050406030204" pitchFamily="18" charset="0"/>
                                        </a:rPr>
                                      </m:ctrlPr>
                                    </m:sSubSupPr>
                                    <m:e>
                                      <m:r>
                                        <a:rPr lang="en-US" sz="1900" b="1" i="1">
                                          <a:latin typeface="Cambria Math" panose="02040503050406030204" pitchFamily="18" charset="0"/>
                                        </a:rPr>
                                        <m:t>𝒌</m:t>
                                      </m:r>
                                    </m:e>
                                    <m:sub>
                                      <m:r>
                                        <a:rPr lang="en-US" sz="1900" i="1">
                                          <a:latin typeface="Cambria Math" panose="02040503050406030204" pitchFamily="18" charset="0"/>
                                        </a:rPr>
                                        <m:t>2</m:t>
                                      </m:r>
                                    </m:sub>
                                    <m:sup>
                                      <m:r>
                                        <a:rPr lang="en-US" sz="1900" i="1">
                                          <a:latin typeface="Cambria Math" panose="02040503050406030204" pitchFamily="18" charset="0"/>
                                        </a:rPr>
                                        <m:t>𝑇</m:t>
                                      </m:r>
                                    </m:sup>
                                  </m:sSubSup>
                                </m:num>
                                <m:den>
                                  <m:rad>
                                    <m:radPr>
                                      <m:degHide m:val="on"/>
                                      <m:ctrlPr>
                                        <a:rPr lang="en-US" sz="1900" i="1">
                                          <a:latin typeface="Cambria Math" panose="02040503050406030204" pitchFamily="18" charset="0"/>
                                        </a:rPr>
                                      </m:ctrlPr>
                                    </m:radPr>
                                    <m:deg/>
                                    <m:e>
                                      <m:sSub>
                                        <m:sSubPr>
                                          <m:ctrlPr>
                                            <a:rPr lang="en-US" sz="1900" i="1">
                                              <a:latin typeface="Cambria Math" panose="02040503050406030204" pitchFamily="18" charset="0"/>
                                            </a:rPr>
                                          </m:ctrlPr>
                                        </m:sSubPr>
                                        <m:e>
                                          <m:r>
                                            <a:rPr lang="en-US" sz="1900" i="1">
                                              <a:latin typeface="Cambria Math" panose="02040503050406030204" pitchFamily="18" charset="0"/>
                                            </a:rPr>
                                            <m:t>𝑑</m:t>
                                          </m:r>
                                        </m:e>
                                        <m:sub>
                                          <m:r>
                                            <a:rPr lang="en-US" sz="1900" i="1">
                                              <a:latin typeface="Cambria Math" panose="02040503050406030204" pitchFamily="18" charset="0"/>
                                            </a:rPr>
                                            <m:t>𝑘</m:t>
                                          </m:r>
                                        </m:sub>
                                      </m:sSub>
                                    </m:e>
                                  </m:rad>
                                </m:den>
                              </m:f>
                              <m:r>
                                <a:rPr lang="en-US" sz="1900" i="1">
                                  <a:latin typeface="Cambria Math" panose="02040503050406030204" pitchFamily="18" charset="0"/>
                                </a:rPr>
                                <m:t>,…,</m:t>
                              </m:r>
                              <m:f>
                                <m:fPr>
                                  <m:ctrlPr>
                                    <a:rPr lang="en-US" sz="1900" i="1">
                                      <a:latin typeface="Cambria Math" panose="02040503050406030204" pitchFamily="18" charset="0"/>
                                    </a:rPr>
                                  </m:ctrlPr>
                                </m:fPr>
                                <m:num>
                                  <m:sSub>
                                    <m:sSubPr>
                                      <m:ctrlPr>
                                        <a:rPr lang="en-US" sz="1900" i="1">
                                          <a:latin typeface="Cambria Math" panose="02040503050406030204" pitchFamily="18" charset="0"/>
                                        </a:rPr>
                                      </m:ctrlPr>
                                    </m:sSubPr>
                                    <m:e>
                                      <m:r>
                                        <a:rPr lang="en-US" sz="1900" b="1" i="1">
                                          <a:latin typeface="Cambria Math" panose="02040503050406030204" pitchFamily="18" charset="0"/>
                                        </a:rPr>
                                        <m:t>𝒒</m:t>
                                      </m:r>
                                    </m:e>
                                    <m:sub>
                                      <m:r>
                                        <a:rPr lang="en-US" sz="1900" i="1">
                                          <a:latin typeface="Cambria Math" panose="02040503050406030204" pitchFamily="18" charset="0"/>
                                        </a:rPr>
                                        <m:t>𝑖</m:t>
                                      </m:r>
                                    </m:sub>
                                  </m:sSub>
                                  <m:sSubSup>
                                    <m:sSubSupPr>
                                      <m:ctrlPr>
                                        <a:rPr lang="en-US" sz="1900" i="1">
                                          <a:latin typeface="Cambria Math" panose="02040503050406030204" pitchFamily="18" charset="0"/>
                                        </a:rPr>
                                      </m:ctrlPr>
                                    </m:sSubSupPr>
                                    <m:e>
                                      <m:r>
                                        <a:rPr lang="en-US" sz="1900" b="1" i="1">
                                          <a:latin typeface="Cambria Math" panose="02040503050406030204" pitchFamily="18" charset="0"/>
                                        </a:rPr>
                                        <m:t>𝒌</m:t>
                                      </m:r>
                                    </m:e>
                                    <m:sub>
                                      <m:r>
                                        <a:rPr lang="en-US" sz="1900" i="1">
                                          <a:latin typeface="Cambria Math" panose="02040503050406030204" pitchFamily="18" charset="0"/>
                                        </a:rPr>
                                        <m:t>𝑚</m:t>
                                      </m:r>
                                    </m:sub>
                                    <m:sup>
                                      <m:r>
                                        <a:rPr lang="en-US" sz="1900" i="1">
                                          <a:latin typeface="Cambria Math" panose="02040503050406030204" pitchFamily="18" charset="0"/>
                                        </a:rPr>
                                        <m:t>𝑇</m:t>
                                      </m:r>
                                    </m:sup>
                                  </m:sSubSup>
                                </m:num>
                                <m:den>
                                  <m:rad>
                                    <m:radPr>
                                      <m:degHide m:val="on"/>
                                      <m:ctrlPr>
                                        <a:rPr lang="en-US" sz="1900" i="1">
                                          <a:latin typeface="Cambria Math" panose="02040503050406030204" pitchFamily="18" charset="0"/>
                                        </a:rPr>
                                      </m:ctrlPr>
                                    </m:radPr>
                                    <m:deg/>
                                    <m:e>
                                      <m:sSub>
                                        <m:sSubPr>
                                          <m:ctrlPr>
                                            <a:rPr lang="en-US" sz="1900" i="1">
                                              <a:latin typeface="Cambria Math" panose="02040503050406030204" pitchFamily="18" charset="0"/>
                                            </a:rPr>
                                          </m:ctrlPr>
                                        </m:sSubPr>
                                        <m:e>
                                          <m:r>
                                            <a:rPr lang="en-US" sz="1900" i="1">
                                              <a:latin typeface="Cambria Math" panose="02040503050406030204" pitchFamily="18" charset="0"/>
                                            </a:rPr>
                                            <m:t>𝑑</m:t>
                                          </m:r>
                                        </m:e>
                                        <m:sub>
                                          <m:r>
                                            <a:rPr lang="en-US" sz="1900" i="1">
                                              <a:latin typeface="Cambria Math" panose="02040503050406030204" pitchFamily="18" charset="0"/>
                                            </a:rPr>
                                            <m:t>𝑘</m:t>
                                          </m:r>
                                        </m:sub>
                                      </m:sSub>
                                    </m:e>
                                  </m:rad>
                                </m:den>
                              </m:f>
                            </m:e>
                          </m:d>
                        </m:e>
                        <m:sup>
                          <m:r>
                            <a:rPr lang="en-US" sz="1900" i="1">
                              <a:latin typeface="Cambria Math" panose="02040503050406030204" pitchFamily="18" charset="0"/>
                            </a:rPr>
                            <m:t>𝑇</m:t>
                          </m:r>
                        </m:sup>
                      </m:sSup>
                    </m:oMath>
                  </m:oMathPara>
                </a14:m>
                <a:endParaRPr lang="en-US" sz="1900" dirty="0"/>
              </a:p>
              <a:p>
                <a:pPr marL="0" indent="0">
                  <a:buNone/>
                </a:pPr>
                <a:r>
                  <a:rPr lang="en-US" sz="1900" dirty="0"/>
                  <a:t>Indeed, we have:</a:t>
                </a:r>
              </a:p>
              <a:p>
                <a:pPr marL="0" indent="0">
                  <a:buNone/>
                </a:pPr>
                <a14:m>
                  <m:oMathPara xmlns:m="http://schemas.openxmlformats.org/officeDocument/2006/math">
                    <m:oMathParaPr>
                      <m:jc m:val="centerGroup"/>
                    </m:oMathParaPr>
                    <m:oMath xmlns:m="http://schemas.openxmlformats.org/officeDocument/2006/math">
                      <m:sSubSup>
                        <m:sSubSupPr>
                          <m:ctrlPr>
                            <a:rPr lang="en-US" sz="1900" i="1">
                              <a:latin typeface="Cambria Math" panose="02040503050406030204" pitchFamily="18" charset="0"/>
                            </a:rPr>
                          </m:ctrlPr>
                        </m:sSubSupPr>
                        <m:e>
                          <m:r>
                            <a:rPr lang="en-US" sz="1900" b="1" i="1">
                              <a:latin typeface="Cambria Math" panose="02040503050406030204" pitchFamily="18" charset="0"/>
                            </a:rPr>
                            <m:t>𝒑</m:t>
                          </m:r>
                        </m:e>
                        <m:sub>
                          <m:r>
                            <a:rPr lang="en-US" sz="1900" i="1">
                              <a:latin typeface="Cambria Math" panose="02040503050406030204" pitchFamily="18" charset="0"/>
                            </a:rPr>
                            <m:t>𝑖</m:t>
                          </m:r>
                        </m:sub>
                        <m:sup>
                          <m:r>
                            <a:rPr lang="en-US" sz="1900" i="1">
                              <a:latin typeface="Cambria Math" panose="02040503050406030204" pitchFamily="18" charset="0"/>
                            </a:rPr>
                            <m:t>′</m:t>
                          </m:r>
                        </m:sup>
                      </m:sSubSup>
                      <m:r>
                        <a:rPr lang="en-US" sz="1900" i="1">
                          <a:latin typeface="Cambria Math" panose="02040503050406030204" pitchFamily="18" charset="0"/>
                        </a:rPr>
                        <m:t>=</m:t>
                      </m:r>
                      <m:sSup>
                        <m:sSupPr>
                          <m:ctrlPr>
                            <a:rPr lang="en-US" sz="1900" i="1">
                              <a:latin typeface="Cambria Math" panose="02040503050406030204" pitchFamily="18" charset="0"/>
                            </a:rPr>
                          </m:ctrlPr>
                        </m:sSupPr>
                        <m:e>
                          <m:r>
                            <m:rPr>
                              <m:sty m:val="p"/>
                            </m:rPr>
                            <a:rPr lang="en-US" sz="1900">
                              <a:latin typeface="Cambria Math" panose="02040503050406030204" pitchFamily="18" charset="0"/>
                            </a:rPr>
                            <m:t>softmax</m:t>
                          </m:r>
                        </m:e>
                        <m:sup>
                          <m:r>
                            <a:rPr lang="en-US" sz="1900" i="1">
                              <a:latin typeface="Cambria Math" panose="02040503050406030204" pitchFamily="18" charset="0"/>
                            </a:rPr>
                            <m:t>′</m:t>
                          </m:r>
                        </m:sup>
                      </m:sSup>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b="1" i="1">
                                  <a:latin typeface="Cambria Math" panose="02040503050406030204" pitchFamily="18" charset="0"/>
                                </a:rPr>
                                <m:t>𝒓</m:t>
                              </m:r>
                            </m:e>
                            <m:sub>
                              <m:r>
                                <a:rPr lang="en-US" sz="1900" i="1">
                                  <a:latin typeface="Cambria Math" panose="02040503050406030204" pitchFamily="18" charset="0"/>
                                </a:rPr>
                                <m:t>𝑖</m:t>
                              </m:r>
                            </m:sub>
                          </m:sSub>
                        </m:e>
                      </m:d>
                      <m:r>
                        <a:rPr lang="en-US" sz="1900" i="1">
                          <a:latin typeface="Cambria Math" panose="02040503050406030204" pitchFamily="18" charset="0"/>
                        </a:rPr>
                        <m:t>=</m:t>
                      </m:r>
                      <m:d>
                        <m:dPr>
                          <m:ctrlPr>
                            <a:rPr lang="en-US" sz="1900" i="1">
                              <a:latin typeface="Cambria Math" panose="02040503050406030204" pitchFamily="18" charset="0"/>
                            </a:rPr>
                          </m:ctrlPr>
                        </m:dPr>
                        <m:e>
                          <m:m>
                            <m:mPr>
                              <m:mcs>
                                <m:mc>
                                  <m:mcPr>
                                    <m:count m:val="4"/>
                                    <m:mcJc m:val="center"/>
                                  </m:mcPr>
                                </m:mc>
                              </m:mcs>
                              <m:ctrlPr>
                                <a:rPr lang="en-US" sz="1900" i="1">
                                  <a:latin typeface="Cambria Math" panose="02040503050406030204" pitchFamily="18" charset="0"/>
                                </a:rPr>
                              </m:ctrlPr>
                            </m:mPr>
                            <m:mr>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1</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1</m:t>
                                        </m:r>
                                      </m:sub>
                                    </m:sSub>
                                  </m:den>
                                </m:f>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1</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2</m:t>
                                        </m:r>
                                      </m:sub>
                                    </m:sSub>
                                  </m:den>
                                </m:f>
                              </m:e>
                              <m:e>
                                <m:r>
                                  <a:rPr lang="en-US" sz="1900" i="1">
                                    <a:latin typeface="Cambria Math" panose="02040503050406030204" pitchFamily="18" charset="0"/>
                                  </a:rPr>
                                  <m:t>⋯</m:t>
                                </m:r>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1</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𝑖𝑚</m:t>
                                        </m:r>
                                      </m:sub>
                                    </m:sSub>
                                  </m:den>
                                </m:f>
                              </m:e>
                            </m:mr>
                            <m:mr>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2</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1</m:t>
                                        </m:r>
                                      </m:sub>
                                    </m:sSub>
                                  </m:den>
                                </m:f>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2</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2</m:t>
                                        </m:r>
                                      </m:sub>
                                    </m:sSub>
                                  </m:den>
                                </m:f>
                              </m:e>
                              <m:e>
                                <m:r>
                                  <a:rPr lang="en-US" sz="1900" i="1">
                                    <a:latin typeface="Cambria Math" panose="02040503050406030204" pitchFamily="18" charset="0"/>
                                  </a:rPr>
                                  <m:t>⋯</m:t>
                                </m:r>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m:t>
                                        </m:r>
                                        <m:r>
                                          <a:rPr lang="en-US" sz="1900" i="1">
                                            <a:latin typeface="Cambria Math" panose="02040503050406030204" pitchFamily="18" charset="0"/>
                                          </a:rPr>
                                          <m:t>2</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𝑖𝑚</m:t>
                                        </m:r>
                                      </m:sub>
                                    </m:sSub>
                                  </m:den>
                                </m:f>
                              </m:e>
                            </m:mr>
                            <m:mr>
                              <m:e>
                                <m:r>
                                  <a:rPr lang="en-US" sz="1900" i="1">
                                    <a:latin typeface="Cambria Math" panose="02040503050406030204" pitchFamily="18" charset="0"/>
                                  </a:rPr>
                                  <m:t>⋮</m:t>
                                </m:r>
                              </m:e>
                              <m:e>
                                <m:r>
                                  <a:rPr lang="en-US" sz="1900" i="1">
                                    <a:latin typeface="Cambria Math" panose="02040503050406030204" pitchFamily="18" charset="0"/>
                                  </a:rPr>
                                  <m:t>⋮</m:t>
                                </m:r>
                              </m:e>
                              <m:e>
                                <m:r>
                                  <a:rPr lang="en-US" sz="1900" i="1">
                                    <a:latin typeface="Cambria Math" panose="02040503050406030204" pitchFamily="18" charset="0"/>
                                  </a:rPr>
                                  <m:t>⋱</m:t>
                                </m:r>
                              </m:e>
                              <m:e>
                                <m:r>
                                  <a:rPr lang="en-US" sz="1900" i="1">
                                    <a:latin typeface="Cambria Math" panose="02040503050406030204" pitchFamily="18" charset="0"/>
                                  </a:rPr>
                                  <m:t>⋮</m:t>
                                </m:r>
                              </m:e>
                            </m:mr>
                            <m:mr>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𝑖𝑚</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1</m:t>
                                        </m:r>
                                      </m:sub>
                                    </m:sSub>
                                  </m:den>
                                </m:f>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𝑖𝑚</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m:t>
                                        </m:r>
                                        <m:r>
                                          <a:rPr lang="en-US" sz="1900" i="1">
                                            <a:latin typeface="Cambria Math" panose="02040503050406030204" pitchFamily="18" charset="0"/>
                                          </a:rPr>
                                          <m:t>2</m:t>
                                        </m:r>
                                      </m:sub>
                                    </m:sSub>
                                  </m:den>
                                </m:f>
                              </m:e>
                              <m:e>
                                <m:r>
                                  <a:rPr lang="en-US" sz="1900" i="1">
                                    <a:latin typeface="Cambria Math" panose="02040503050406030204" pitchFamily="18" charset="0"/>
                                  </a:rPr>
                                  <m:t>⋯</m:t>
                                </m:r>
                              </m:e>
                              <m:e>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𝑖𝑚</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𝑖𝑚</m:t>
                                        </m:r>
                                      </m:sub>
                                    </m:sSub>
                                  </m:den>
                                </m:f>
                              </m:e>
                            </m:mr>
                          </m:m>
                        </m:e>
                      </m:d>
                    </m:oMath>
                  </m:oMathPara>
                </a14:m>
                <a:endParaRPr lang="en-US" sz="1900" dirty="0"/>
              </a:p>
              <a:p>
                <a:pPr marL="0" indent="0">
                  <a:buNone/>
                </a:pPr>
                <a:r>
                  <a:rPr lang="en-US" sz="1900" dirty="0"/>
                  <a:t>Where,</a:t>
                </a:r>
              </a:p>
              <a:p>
                <a:pPr marL="0" indent="0">
                  <a:buNone/>
                </a:pPr>
                <a14:m>
                  <m:oMathPara xmlns:m="http://schemas.openxmlformats.org/officeDocument/2006/math">
                    <m:oMathParaPr>
                      <m:jc m:val="centerGroup"/>
                    </m:oMathParaPr>
                    <m:oMath xmlns:m="http://schemas.openxmlformats.org/officeDocument/2006/math">
                      <m:f>
                        <m:fPr>
                          <m:ctrlPr>
                            <a:rPr lang="en-US" sz="1900" i="1">
                              <a:latin typeface="Cambria Math" panose="02040503050406030204" pitchFamily="18" charset="0"/>
                            </a:rPr>
                          </m:ctrlPr>
                        </m:fPr>
                        <m:num>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𝑖𝑗</m:t>
                              </m:r>
                            </m:sub>
                          </m:sSub>
                        </m:num>
                        <m:den>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𝑟</m:t>
                              </m:r>
                            </m:e>
                            <m:sub>
                              <m:r>
                                <a:rPr lang="en-US" sz="1900" i="1">
                                  <a:latin typeface="Cambria Math" panose="02040503050406030204" pitchFamily="18" charset="0"/>
                                </a:rPr>
                                <m:t>𝑖𝑘</m:t>
                              </m:r>
                            </m:sub>
                          </m:sSub>
                        </m:den>
                      </m:f>
                      <m:r>
                        <m:rPr>
                          <m:aln/>
                        </m:rP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𝑖𝑗</m:t>
                          </m:r>
                        </m:sub>
                      </m:sSub>
                      <m:d>
                        <m:dPr>
                          <m:ctrlPr>
                            <a:rPr lang="en-US" sz="1900" i="1">
                              <a:latin typeface="Cambria Math" panose="02040503050406030204" pitchFamily="18" charset="0"/>
                            </a:rPr>
                          </m:ctrlPr>
                        </m:dPr>
                        <m:e>
                          <m:sSub>
                            <m:sSubPr>
                              <m:ctrlPr>
                                <a:rPr lang="en-US" sz="1900" i="1">
                                  <a:latin typeface="Cambria Math" panose="02040503050406030204" pitchFamily="18" charset="0"/>
                                </a:rPr>
                              </m:ctrlPr>
                            </m:sSubPr>
                            <m:e>
                              <m:r>
                                <a:rPr lang="en-US" sz="1900" i="1">
                                  <a:latin typeface="Cambria Math" panose="02040503050406030204" pitchFamily="18" charset="0"/>
                                </a:rPr>
                                <m:t>𝛿</m:t>
                              </m:r>
                            </m:e>
                            <m:sub>
                              <m:r>
                                <a:rPr lang="en-US" sz="1900" i="1">
                                  <a:latin typeface="Cambria Math" panose="02040503050406030204" pitchFamily="18" charset="0"/>
                                </a:rPr>
                                <m:t>𝑗𝑘</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a:rPr lang="en-US" sz="1900" i="1">
                                  <a:latin typeface="Cambria Math" panose="02040503050406030204" pitchFamily="18" charset="0"/>
                                </a:rPr>
                                <m:t>𝑝</m:t>
                              </m:r>
                            </m:e>
                            <m:sub>
                              <m:r>
                                <a:rPr lang="en-US" sz="1900" i="1">
                                  <a:latin typeface="Cambria Math" panose="02040503050406030204" pitchFamily="18" charset="0"/>
                                </a:rPr>
                                <m:t>𝑖𝑘</m:t>
                              </m:r>
                            </m:sub>
                          </m:sSub>
                        </m:e>
                      </m:d>
                      <m:r>
                        <a:rPr lang="en-US" sz="1900" b="0" i="1" smtClean="0">
                          <a:latin typeface="Cambria Math" panose="02040503050406030204" pitchFamily="18" charset="0"/>
                        </a:rPr>
                        <m:t> </m:t>
                      </m:r>
                      <m:r>
                        <m:rPr>
                          <m:sty m:val="p"/>
                        </m:rPr>
                        <a:rPr lang="en-US" sz="1900" b="0" i="0" smtClean="0">
                          <a:latin typeface="Cambria Math" panose="02040503050406030204" pitchFamily="18" charset="0"/>
                        </a:rPr>
                        <m:t>and</m:t>
                      </m:r>
                      <m:r>
                        <a:rPr lang="en-US" sz="1900" b="0" i="1" smtClean="0">
                          <a:latin typeface="Cambria Math" panose="02040503050406030204" pitchFamily="18" charset="0"/>
                        </a:rPr>
                        <m:t> </m:t>
                      </m:r>
                      <m:sSub>
                        <m:sSubPr>
                          <m:ctrlPr>
                            <a:rPr lang="en-US" sz="1900" i="1">
                              <a:latin typeface="Cambria Math" panose="02040503050406030204" pitchFamily="18" charset="0"/>
                            </a:rPr>
                          </m:ctrlPr>
                        </m:sSubPr>
                        <m:e>
                          <m:r>
                            <a:rPr lang="en-US" sz="1900" i="1">
                              <a:latin typeface="Cambria Math" panose="02040503050406030204" pitchFamily="18" charset="0"/>
                            </a:rPr>
                            <m:t>𝛿</m:t>
                          </m:r>
                        </m:e>
                        <m:sub>
                          <m:r>
                            <a:rPr lang="en-US" sz="1900" i="1">
                              <a:latin typeface="Cambria Math" panose="02040503050406030204" pitchFamily="18" charset="0"/>
                            </a:rPr>
                            <m:t>𝑗𝑘</m:t>
                          </m:r>
                        </m:sub>
                      </m:sSub>
                      <m:r>
                        <m:rPr>
                          <m:aln/>
                        </m:rPr>
                        <a:rPr lang="en-US" sz="1900" i="1">
                          <a:latin typeface="Cambria Math" panose="02040503050406030204" pitchFamily="18" charset="0"/>
                        </a:rPr>
                        <m:t>=</m:t>
                      </m:r>
                      <m:d>
                        <m:dPr>
                          <m:begChr m:val="{"/>
                          <m:endChr m:val=""/>
                          <m:ctrlPr>
                            <a:rPr lang="en-US" sz="1900" i="1">
                              <a:latin typeface="Cambria Math" panose="02040503050406030204" pitchFamily="18" charset="0"/>
                            </a:rPr>
                          </m:ctrlPr>
                        </m:dPr>
                        <m:e>
                          <m:m>
                            <m:mPr>
                              <m:mcs>
                                <m:mc>
                                  <m:mcPr>
                                    <m:count m:val="1"/>
                                    <m:mcJc m:val="center"/>
                                  </m:mcPr>
                                </m:mc>
                              </m:mcs>
                              <m:ctrlPr>
                                <a:rPr lang="en-US" sz="1900" i="1">
                                  <a:latin typeface="Cambria Math" panose="02040503050406030204" pitchFamily="18" charset="0"/>
                                </a:rPr>
                              </m:ctrlPr>
                            </m:mPr>
                            <m:mr>
                              <m:e>
                                <m:r>
                                  <a:rPr lang="en-US" sz="1900" i="1">
                                    <a:latin typeface="Cambria Math" panose="02040503050406030204" pitchFamily="18" charset="0"/>
                                  </a:rPr>
                                  <m:t>1 </m:t>
                                </m:r>
                                <m:r>
                                  <m:rPr>
                                    <m:sty m:val="p"/>
                                  </m:rPr>
                                  <a:rPr lang="en-US" sz="1900">
                                    <a:latin typeface="Cambria Math" panose="02040503050406030204" pitchFamily="18" charset="0"/>
                                  </a:rPr>
                                  <m:t>if</m:t>
                                </m:r>
                                <m:r>
                                  <a:rPr lang="en-US" sz="1900" i="1">
                                    <a:latin typeface="Cambria Math" panose="02040503050406030204" pitchFamily="18" charset="0"/>
                                  </a:rPr>
                                  <m:t> </m:t>
                                </m:r>
                                <m:r>
                                  <a:rPr lang="en-US" sz="1900" i="1">
                                    <a:latin typeface="Cambria Math" panose="02040503050406030204" pitchFamily="18" charset="0"/>
                                  </a:rPr>
                                  <m:t>𝑗</m:t>
                                </m:r>
                                <m:r>
                                  <a:rPr lang="en-US" sz="1900" i="1">
                                    <a:latin typeface="Cambria Math" panose="02040503050406030204" pitchFamily="18" charset="0"/>
                                  </a:rPr>
                                  <m:t>=</m:t>
                                </m:r>
                                <m:r>
                                  <a:rPr lang="en-US" sz="1900" i="1">
                                    <a:latin typeface="Cambria Math" panose="02040503050406030204" pitchFamily="18" charset="0"/>
                                  </a:rPr>
                                  <m:t>𝑘</m:t>
                                </m:r>
                              </m:e>
                            </m:mr>
                            <m:mr>
                              <m:e>
                                <m:r>
                                  <a:rPr lang="en-US" sz="1900" i="1">
                                    <a:latin typeface="Cambria Math" panose="02040503050406030204" pitchFamily="18" charset="0"/>
                                  </a:rPr>
                                  <m:t>0 </m:t>
                                </m:r>
                                <m:r>
                                  <m:rPr>
                                    <m:sty m:val="p"/>
                                  </m:rPr>
                                  <a:rPr lang="en-US" sz="1900">
                                    <a:latin typeface="Cambria Math" panose="02040503050406030204" pitchFamily="18" charset="0"/>
                                  </a:rPr>
                                  <m:t>if</m:t>
                                </m:r>
                                <m:r>
                                  <a:rPr lang="en-US" sz="1900" i="1">
                                    <a:latin typeface="Cambria Math" panose="02040503050406030204" pitchFamily="18" charset="0"/>
                                  </a:rPr>
                                  <m:t> </m:t>
                                </m:r>
                                <m:r>
                                  <a:rPr lang="en-US" sz="1900" i="1">
                                    <a:latin typeface="Cambria Math" panose="02040503050406030204" pitchFamily="18" charset="0"/>
                                  </a:rPr>
                                  <m:t>𝑗</m:t>
                                </m:r>
                                <m:r>
                                  <a:rPr lang="en-US" sz="1900" i="1">
                                    <a:latin typeface="Cambria Math" panose="02040503050406030204" pitchFamily="18" charset="0"/>
                                  </a:rPr>
                                  <m:t>≠</m:t>
                                </m:r>
                                <m:r>
                                  <a:rPr lang="en-US" sz="1900" i="1">
                                    <a:latin typeface="Cambria Math" panose="02040503050406030204" pitchFamily="18" charset="0"/>
                                  </a:rPr>
                                  <m:t>𝑘</m:t>
                                </m:r>
                              </m:e>
                            </m:mr>
                          </m:m>
                        </m:e>
                      </m:d>
                    </m:oMath>
                  </m:oMathPara>
                </a14:m>
                <a:endParaRPr lang="en-US" sz="1900" dirty="0"/>
              </a:p>
              <a:p>
                <a:pPr marL="0" indent="0">
                  <a:buNone/>
                </a:pPr>
                <a:endParaRPr lang="en-US" sz="19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507" t="-707" r="-253" b="-4122"/>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30</a:t>
            </a:fld>
            <a:endParaRPr lang="en-US"/>
          </a:p>
        </p:txBody>
      </p:sp>
    </p:spTree>
    <p:extLst>
      <p:ext uri="{BB962C8B-B14F-4D97-AF65-F5344CB8AC3E}">
        <p14:creationId xmlns:p14="http://schemas.microsoft.com/office/powerpoint/2010/main" val="364622672"/>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19280" cy="5176066"/>
              </a:xfrm>
            </p:spPr>
            <p:txBody>
              <a:bodyPr>
                <a:noAutofit/>
              </a:bodyPr>
              <a:lstStyle/>
              <a:p>
                <a:pPr marL="0" indent="0">
                  <a:buNone/>
                </a:pPr>
                <a:r>
                  <a:rPr lang="en-US" sz="1850" dirty="0" smtClean="0"/>
                  <a:t>Because transformer is here estimated by association of SGD </a:t>
                </a:r>
                <a:r>
                  <a:rPr lang="en-US" sz="1850" dirty="0"/>
                  <a:t>algorithm and backpropagation algorithm, </a:t>
                </a:r>
                <a:r>
                  <a:rPr lang="en-US" sz="1850" dirty="0">
                    <a:effectLst>
                      <a:outerShdw blurRad="38100" dist="38100" dir="2700000" algn="tl">
                        <a:srgbClr val="000000">
                          <a:alpha val="43137"/>
                        </a:srgbClr>
                      </a:outerShdw>
                    </a:effectLst>
                  </a:rPr>
                  <a:t>it is necessary to calculate the backward bias </a:t>
                </a:r>
                <a:r>
                  <a:rPr lang="en-US" sz="1850" dirty="0" smtClean="0">
                    <a:effectLst>
                      <a:outerShdw blurRad="38100" dist="38100" dir="2700000" algn="tl">
                        <a:srgbClr val="000000">
                          <a:alpha val="43137"/>
                        </a:srgbClr>
                      </a:outerShdw>
                    </a:effectLst>
                  </a:rPr>
                  <a:t>(backward error) </a:t>
                </a:r>
                <a:r>
                  <a:rPr lang="en-US" sz="1850" dirty="0">
                    <a:effectLst>
                      <a:outerShdw blurRad="38100" dist="38100" dir="2700000" algn="tl">
                        <a:srgbClr val="000000">
                          <a:alpha val="43137"/>
                        </a:srgbClr>
                      </a:outerShdw>
                    </a:effectLst>
                  </a:rPr>
                  <a:t>which is the gradient of the likelihood </a:t>
                </a:r>
                <a:r>
                  <a:rPr lang="en-US" sz="1850" i="1" dirty="0">
                    <a:effectLst>
                      <a:outerShdw blurRad="38100" dist="38100" dir="2700000" algn="tl">
                        <a:srgbClr val="000000">
                          <a:alpha val="43137"/>
                        </a:srgbClr>
                      </a:outerShdw>
                    </a:effectLst>
                  </a:rPr>
                  <a:t>L</a:t>
                </a:r>
                <a:r>
                  <a:rPr lang="en-US" sz="1850" dirty="0">
                    <a:effectLst>
                      <a:outerShdw blurRad="38100" dist="38100" dir="2700000" algn="tl">
                        <a:srgbClr val="000000">
                          <a:alpha val="43137"/>
                        </a:srgbClr>
                      </a:outerShdw>
                    </a:effectLst>
                  </a:rPr>
                  <a:t>(</a:t>
                </a:r>
                <a:r>
                  <a:rPr lang="en-US" sz="1850" i="1" dirty="0">
                    <a:effectLst>
                      <a:outerShdw blurRad="38100" dist="38100" dir="2700000" algn="tl">
                        <a:srgbClr val="000000">
                          <a:alpha val="43137"/>
                        </a:srgbClr>
                      </a:outerShdw>
                    </a:effectLst>
                  </a:rPr>
                  <a:t>A</a:t>
                </a:r>
                <a:r>
                  <a:rPr lang="en-US" sz="1850" dirty="0">
                    <a:effectLst>
                      <a:outerShdw blurRad="38100" dist="38100" dir="2700000" algn="tl">
                        <a:srgbClr val="000000">
                          <a:alpha val="43137"/>
                        </a:srgbClr>
                      </a:outerShdw>
                    </a:effectLst>
                  </a:rPr>
                  <a:t>) with respect to input data </a:t>
                </a:r>
                <a:r>
                  <a:rPr lang="en-US" sz="1850" b="1" i="1" dirty="0">
                    <a:effectLst>
                      <a:outerShdw blurRad="38100" dist="38100" dir="2700000" algn="tl">
                        <a:srgbClr val="000000">
                          <a:alpha val="43137"/>
                        </a:srgbClr>
                      </a:outerShdw>
                    </a:effectLst>
                  </a:rPr>
                  <a:t>X</a:t>
                </a:r>
                <a:r>
                  <a:rPr lang="en-US" sz="1850" dirty="0" smtClean="0">
                    <a:effectLst>
                      <a:outerShdw blurRad="38100" dist="38100" dir="2700000" algn="tl">
                        <a:srgbClr val="000000">
                          <a:alpha val="43137"/>
                        </a:srgbClr>
                      </a:outerShdw>
                    </a:effectLst>
                  </a:rPr>
                  <a:t>:</a:t>
                </a:r>
              </a:p>
              <a:p>
                <a:pPr marL="0" indent="0">
                  <a:buNone/>
                </a:pPr>
                <a14:m>
                  <m:oMathPara xmlns:m="http://schemas.openxmlformats.org/officeDocument/2006/math">
                    <m:oMathParaPr>
                      <m:jc m:val="centerGroup"/>
                    </m:oMathParaPr>
                    <m:oMath xmlns:m="http://schemas.openxmlformats.org/officeDocument/2006/math">
                      <m:r>
                        <a:rPr lang="en-US" sz="1850" i="1">
                          <a:latin typeface="Cambria Math" panose="02040503050406030204" pitchFamily="18" charset="0"/>
                        </a:rPr>
                        <m:t>𝑏</m:t>
                      </m:r>
                      <m:d>
                        <m:dPr>
                          <m:ctrlPr>
                            <a:rPr lang="en-US" sz="1850" i="1">
                              <a:latin typeface="Cambria Math" panose="02040503050406030204" pitchFamily="18" charset="0"/>
                            </a:rPr>
                          </m:ctrlPr>
                        </m:dPr>
                        <m:e>
                          <m:r>
                            <a:rPr lang="en-US" sz="1850" b="1" i="1">
                              <a:latin typeface="Cambria Math" panose="02040503050406030204" pitchFamily="18" charset="0"/>
                            </a:rPr>
                            <m:t>𝑿</m:t>
                          </m:r>
                        </m:e>
                      </m:d>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𝑑𝐿</m:t>
                          </m:r>
                          <m:d>
                            <m:dPr>
                              <m:ctrlPr>
                                <a:rPr lang="en-US" sz="1850" i="1">
                                  <a:latin typeface="Cambria Math" panose="02040503050406030204" pitchFamily="18" charset="0"/>
                                </a:rPr>
                              </m:ctrlPr>
                            </m:dPr>
                            <m:e>
                              <m:r>
                                <a:rPr lang="en-US" sz="1850" b="1" i="1">
                                  <a:latin typeface="Cambria Math" panose="02040503050406030204" pitchFamily="18" charset="0"/>
                                </a:rPr>
                                <m:t>𝑿</m:t>
                              </m:r>
                            </m:e>
                          </m:d>
                        </m:num>
                        <m:den>
                          <m:r>
                            <a:rPr lang="en-US" sz="1850" i="1">
                              <a:latin typeface="Cambria Math" panose="02040503050406030204" pitchFamily="18" charset="0"/>
                            </a:rPr>
                            <m:t>𝑑</m:t>
                          </m:r>
                          <m:r>
                            <a:rPr lang="en-US" sz="1850" b="1" i="1">
                              <a:latin typeface="Cambria Math" panose="02040503050406030204" pitchFamily="18" charset="0"/>
                            </a:rPr>
                            <m:t>𝑿</m:t>
                          </m:r>
                        </m:den>
                      </m:f>
                    </m:oMath>
                  </m:oMathPara>
                </a14:m>
                <a:endParaRPr lang="en-US" sz="1850" dirty="0"/>
              </a:p>
              <a:p>
                <a:pPr marL="0" indent="0">
                  <a:buNone/>
                </a:pPr>
                <a:r>
                  <a:rPr lang="en-US" sz="1850" dirty="0" smtClean="0"/>
                  <a:t>Due to attention </a:t>
                </a:r>
                <a14:m>
                  <m:oMath xmlns:m="http://schemas.openxmlformats.org/officeDocument/2006/math">
                    <m:r>
                      <a:rPr lang="en-US" sz="1850" i="1">
                        <a:latin typeface="Cambria Math" panose="02040503050406030204" pitchFamily="18" charset="0"/>
                      </a:rPr>
                      <m:t>𝐴</m:t>
                    </m:r>
                    <m:r>
                      <a:rPr lang="en-US" sz="1850" i="1">
                        <a:latin typeface="Cambria Math" panose="02040503050406030204" pitchFamily="18" charset="0"/>
                      </a:rPr>
                      <m:t>=</m:t>
                    </m:r>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r>
                      <a:rPr lang="en-US" sz="1850" i="1">
                        <a:latin typeface="Cambria Math" panose="02040503050406030204" pitchFamily="18" charset="0"/>
                      </a:rPr>
                      <m:t>𝑉</m:t>
                    </m:r>
                    <m:r>
                      <a:rPr lang="en-US" sz="1850" b="0" i="0" smtClean="0">
                        <a:latin typeface="Cambria Math" panose="02040503050406030204" pitchFamily="18" charset="0"/>
                      </a:rPr>
                      <m:t>, </m:t>
                    </m:r>
                  </m:oMath>
                </a14:m>
                <a:r>
                  <a:rPr lang="en-US" sz="1850" dirty="0" smtClean="0"/>
                  <a:t>let </a:t>
                </a:r>
                <a:r>
                  <a:rPr lang="en-US" sz="1850" i="1" dirty="0" err="1"/>
                  <a:t>dL</a:t>
                </a:r>
                <a:r>
                  <a:rPr lang="en-US" sz="1850" dirty="0"/>
                  <a:t>(</a:t>
                </a:r>
                <a:r>
                  <a:rPr lang="en-US" sz="1850" b="1" i="1" dirty="0"/>
                  <a:t>X</a:t>
                </a:r>
                <a:r>
                  <a:rPr lang="en-US" sz="1850" dirty="0"/>
                  <a:t>) be the differential of likelihood </a:t>
                </a:r>
                <a:r>
                  <a:rPr lang="en-US" sz="1850" i="1" dirty="0"/>
                  <a:t>L</a:t>
                </a:r>
                <a:r>
                  <a:rPr lang="en-US" sz="1850" dirty="0"/>
                  <a:t>(</a:t>
                </a:r>
                <a:r>
                  <a:rPr lang="en-US" sz="1850" i="1" dirty="0"/>
                  <a:t>A</a:t>
                </a:r>
                <a:r>
                  <a:rPr lang="en-US" sz="1850" dirty="0"/>
                  <a:t>) with respect to input data </a:t>
                </a:r>
                <a:r>
                  <a:rPr lang="en-US" sz="1850" b="1" i="1" dirty="0" smtClean="0"/>
                  <a:t>X</a:t>
                </a:r>
                <a:r>
                  <a:rPr lang="en-US" sz="1850" dirty="0"/>
                  <a:t> </a:t>
                </a:r>
                <a:r>
                  <a:rPr lang="en-US" sz="1850" dirty="0" smtClean="0"/>
                  <a:t>as </a:t>
                </a:r>
                <a:r>
                  <a:rPr lang="en-US" sz="1850" i="1" dirty="0" err="1" smtClean="0"/>
                  <a:t>dL</a:t>
                </a:r>
                <a:r>
                  <a:rPr lang="en-US" sz="1850" dirty="0" smtClean="0"/>
                  <a:t>(</a:t>
                </a:r>
                <a:r>
                  <a:rPr lang="en-US" sz="1850" b="1" i="1" dirty="0" smtClean="0"/>
                  <a:t>X</a:t>
                </a:r>
                <a:r>
                  <a:rPr lang="en-US" sz="1850" dirty="0" smtClean="0"/>
                  <a:t>) = </a:t>
                </a:r>
                <a:r>
                  <a:rPr lang="en-US" sz="1850" i="1" dirty="0" err="1"/>
                  <a:t>dL</a:t>
                </a:r>
                <a:r>
                  <a:rPr lang="en-US" sz="1850" dirty="0"/>
                  <a:t>(</a:t>
                </a:r>
                <a:r>
                  <a:rPr lang="en-US" sz="1850" i="1" dirty="0"/>
                  <a:t>QK</a:t>
                </a:r>
                <a:r>
                  <a:rPr lang="en-US" sz="1850" i="1" baseline="30000" dirty="0"/>
                  <a:t>T</a:t>
                </a:r>
                <a:r>
                  <a:rPr lang="en-US" sz="1850" dirty="0"/>
                  <a:t>) </a:t>
                </a:r>
                <a:r>
                  <a:rPr lang="en-US" sz="1850" dirty="0" smtClean="0"/>
                  <a:t>+ </a:t>
                </a:r>
                <a:r>
                  <a:rPr lang="en-US" sz="1850" i="1" dirty="0" err="1" smtClean="0"/>
                  <a:t>dL</a:t>
                </a:r>
                <a:r>
                  <a:rPr lang="en-US" sz="1850" dirty="0" smtClean="0"/>
                  <a:t>(</a:t>
                </a:r>
                <a:r>
                  <a:rPr lang="en-US" sz="1850" i="1" dirty="0" smtClean="0"/>
                  <a:t>V</a:t>
                </a:r>
                <a:r>
                  <a:rPr lang="en-US" sz="1850" dirty="0" smtClean="0"/>
                  <a:t>). By </a:t>
                </a:r>
                <a:r>
                  <a:rPr lang="en-US" sz="1850" dirty="0"/>
                  <a:t>the technique of likelihood </a:t>
                </a:r>
                <a:r>
                  <a:rPr lang="en-US" sz="1850" dirty="0" smtClean="0"/>
                  <a:t>partition aforementioned, it is possible to calculate differentials </a:t>
                </a:r>
                <a:r>
                  <a:rPr lang="en-US" sz="1850" i="1" dirty="0" err="1"/>
                  <a:t>dL</a:t>
                </a:r>
                <a:r>
                  <a:rPr lang="en-US" sz="1850" dirty="0"/>
                  <a:t>(</a:t>
                </a:r>
                <a:r>
                  <a:rPr lang="en-US" sz="1850" i="1" dirty="0"/>
                  <a:t>QK</a:t>
                </a:r>
                <a:r>
                  <a:rPr lang="en-US" sz="1850" i="1" baseline="30000" dirty="0"/>
                  <a:t>T</a:t>
                </a:r>
                <a:r>
                  <a:rPr lang="en-US" sz="1850" dirty="0" smtClean="0"/>
                  <a:t>) and </a:t>
                </a:r>
                <a:r>
                  <a:rPr lang="en-US" sz="1850" i="1" dirty="0" err="1"/>
                  <a:t>dL</a:t>
                </a:r>
                <a:r>
                  <a:rPr lang="en-US" sz="1850" dirty="0"/>
                  <a:t>(</a:t>
                </a:r>
                <a:r>
                  <a:rPr lang="en-US" sz="1850" i="1" dirty="0"/>
                  <a:t>V</a:t>
                </a:r>
                <a:r>
                  <a:rPr lang="en-US" sz="1850" dirty="0" smtClean="0"/>
                  <a:t>). </a:t>
                </a:r>
                <a:r>
                  <a:rPr lang="en-US" sz="1850" dirty="0"/>
                  <a:t>The backward bias/error </a:t>
                </a:r>
                <a:r>
                  <a:rPr lang="en-US" sz="1850" i="1" dirty="0"/>
                  <a:t>b</a:t>
                </a:r>
                <a:r>
                  <a:rPr lang="en-US" sz="1850" dirty="0"/>
                  <a:t>(</a:t>
                </a:r>
                <a:r>
                  <a:rPr lang="en-US" sz="1850" b="1" i="1" dirty="0"/>
                  <a:t>X</a:t>
                </a:r>
                <a:r>
                  <a:rPr lang="en-US" sz="1850" dirty="0"/>
                  <a:t>) </a:t>
                </a:r>
                <a:r>
                  <a:rPr lang="en-US" sz="1850" dirty="0" smtClean="0"/>
                  <a:t>is </a:t>
                </a:r>
                <a:r>
                  <a:rPr lang="en-US" sz="1850" dirty="0"/>
                  <a:t>determined as following sum</a:t>
                </a:r>
                <a:r>
                  <a:rPr lang="en-US" sz="1850" dirty="0" smtClean="0"/>
                  <a:t>:</a:t>
                </a:r>
              </a:p>
              <a:p>
                <a:pPr marL="0" indent="0">
                  <a:buNone/>
                </a:pPr>
                <a14:m>
                  <m:oMathPara xmlns:m="http://schemas.openxmlformats.org/officeDocument/2006/math">
                    <m:oMathParaPr>
                      <m:jc m:val="centerGroup"/>
                    </m:oMathParaPr>
                    <m:oMath xmlns:m="http://schemas.openxmlformats.org/officeDocument/2006/math">
                      <m:r>
                        <a:rPr lang="en-US" sz="1850" i="1">
                          <a:latin typeface="Cambria Math" panose="02040503050406030204" pitchFamily="18" charset="0"/>
                        </a:rPr>
                        <m:t>𝑏</m:t>
                      </m:r>
                      <m:d>
                        <m:dPr>
                          <m:ctrlPr>
                            <a:rPr lang="en-US" sz="1850" i="1">
                              <a:latin typeface="Cambria Math" panose="02040503050406030204" pitchFamily="18" charset="0"/>
                            </a:rPr>
                          </m:ctrlPr>
                        </m:dPr>
                        <m:e>
                          <m:r>
                            <a:rPr lang="en-US" sz="1850" b="1" i="1">
                              <a:latin typeface="Cambria Math" panose="02040503050406030204" pitchFamily="18" charset="0"/>
                            </a:rPr>
                            <m:t>𝑿</m:t>
                          </m:r>
                        </m:e>
                      </m:d>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𝑑𝐿</m:t>
                          </m:r>
                          <m:d>
                            <m:dPr>
                              <m:ctrlPr>
                                <a:rPr lang="en-US" sz="1850" i="1">
                                  <a:latin typeface="Cambria Math" panose="02040503050406030204" pitchFamily="18" charset="0"/>
                                </a:rPr>
                              </m:ctrlPr>
                            </m:dPr>
                            <m:e>
                              <m:r>
                                <a:rPr lang="en-US" sz="1850" b="1" i="1">
                                  <a:latin typeface="Cambria Math" panose="02040503050406030204" pitchFamily="18" charset="0"/>
                                </a:rPr>
                                <m:t>𝑿</m:t>
                              </m:r>
                            </m:e>
                          </m:d>
                        </m:num>
                        <m:den>
                          <m:r>
                            <a:rPr lang="en-US" sz="1850" i="1">
                              <a:latin typeface="Cambria Math" panose="02040503050406030204" pitchFamily="18" charset="0"/>
                            </a:rPr>
                            <m:t>𝑑</m:t>
                          </m:r>
                          <m:r>
                            <a:rPr lang="en-US" sz="1850" b="1" i="1">
                              <a:latin typeface="Cambria Math" panose="02040503050406030204" pitchFamily="18" charset="0"/>
                            </a:rPr>
                            <m:t>𝑿</m:t>
                          </m:r>
                        </m:den>
                      </m:f>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𝑑𝐿</m:t>
                          </m:r>
                          <m:d>
                            <m:dPr>
                              <m:ctrlPr>
                                <a:rPr lang="en-US" sz="1850" i="1">
                                  <a:latin typeface="Cambria Math" panose="02040503050406030204" pitchFamily="18" charset="0"/>
                                </a:rPr>
                              </m:ctrlPr>
                            </m:dPr>
                            <m:e>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e>
                          </m:d>
                        </m:num>
                        <m:den>
                          <m:r>
                            <a:rPr lang="en-US" sz="1850" i="1">
                              <a:latin typeface="Cambria Math" panose="02040503050406030204" pitchFamily="18" charset="0"/>
                            </a:rPr>
                            <m:t>𝑑</m:t>
                          </m:r>
                          <m:r>
                            <a:rPr lang="en-US" sz="1850" b="1" i="1">
                              <a:latin typeface="Cambria Math" panose="02040503050406030204" pitchFamily="18" charset="0"/>
                            </a:rPr>
                            <m:t>𝑿</m:t>
                          </m:r>
                        </m:den>
                      </m:f>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𝑑𝐿</m:t>
                          </m:r>
                          <m:d>
                            <m:dPr>
                              <m:ctrlPr>
                                <a:rPr lang="en-US" sz="1850" i="1">
                                  <a:latin typeface="Cambria Math" panose="02040503050406030204" pitchFamily="18" charset="0"/>
                                </a:rPr>
                              </m:ctrlPr>
                            </m:dPr>
                            <m:e>
                              <m:r>
                                <a:rPr lang="en-US" sz="1850" i="1">
                                  <a:latin typeface="Cambria Math" panose="02040503050406030204" pitchFamily="18" charset="0"/>
                                </a:rPr>
                                <m:t>𝐴</m:t>
                              </m:r>
                            </m:e>
                          </m:d>
                        </m:num>
                        <m:den>
                          <m:r>
                            <a:rPr lang="en-US" sz="1850" i="1">
                              <a:latin typeface="Cambria Math" panose="02040503050406030204" pitchFamily="18" charset="0"/>
                            </a:rPr>
                            <m:t>𝑑</m:t>
                          </m:r>
                          <m:r>
                            <a:rPr lang="en-US" sz="1850" b="1" i="1">
                              <a:latin typeface="Cambria Math" panose="02040503050406030204" pitchFamily="18" charset="0"/>
                            </a:rPr>
                            <m:t>𝑿</m:t>
                          </m:r>
                        </m:den>
                      </m:f>
                      <m:r>
                        <a:rPr lang="en-US" sz="1850" i="1">
                          <a:latin typeface="Cambria Math" panose="02040503050406030204" pitchFamily="18" charset="0"/>
                        </a:rPr>
                        <m:t>=</m:t>
                      </m:r>
                      <m:d>
                        <m:dPr>
                          <m:ctrlPr>
                            <a:rPr lang="en-US" sz="1850" i="1">
                              <a:latin typeface="Cambria Math" panose="02040503050406030204" pitchFamily="18" charset="0"/>
                            </a:rPr>
                          </m:ctrlPr>
                        </m:dPr>
                        <m:e>
                          <m:m>
                            <m:mPr>
                              <m:mcs>
                                <m:mc>
                                  <m:mcPr>
                                    <m:count m:val="1"/>
                                    <m:mcJc m:val="center"/>
                                  </m:mcPr>
                                </m:mc>
                              </m:mcs>
                              <m:ctrlPr>
                                <a:rPr lang="en-US" sz="1850" i="1">
                                  <a:latin typeface="Cambria Math" panose="02040503050406030204" pitchFamily="18" charset="0"/>
                                </a:rPr>
                              </m:ctrlPr>
                            </m:mPr>
                            <m:m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1</m:t>
                                                </m:r>
                                              </m:sub>
                                            </m:sSub>
                                          </m:num>
                                          <m:den>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b="1" i="1">
                                                    <a:latin typeface="Cambria Math" panose="02040503050406030204" pitchFamily="18" charset="0"/>
                                                  </a:rPr>
                                                  <m:t>𝒙</m:t>
                                                </m:r>
                                              </m:e>
                                              <m:sub>
                                                <m:r>
                                                  <a:rPr lang="en-US" sz="1850" i="1">
                                                    <a:latin typeface="Cambria Math" panose="02040503050406030204" pitchFamily="18" charset="0"/>
                                                  </a:rPr>
                                                  <m:t>1</m:t>
                                                </m:r>
                                              </m:sub>
                                            </m:sSub>
                                          </m:den>
                                        </m:f>
                                      </m:e>
                                    </m:d>
                                  </m:e>
                                  <m:sup>
                                    <m:r>
                                      <a:rPr lang="en-US" sz="1850" i="1">
                                        <a:latin typeface="Cambria Math" panose="02040503050406030204" pitchFamily="18" charset="0"/>
                                      </a:rPr>
                                      <m:t>𝑇</m:t>
                                    </m:r>
                                  </m:sup>
                                </m:sSup>
                              </m:e>
                            </m:mr>
                            <m:m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2</m:t>
                                                </m:r>
                                              </m:sub>
                                            </m:sSub>
                                          </m:num>
                                          <m:den>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b="1" i="1">
                                                    <a:latin typeface="Cambria Math" panose="02040503050406030204" pitchFamily="18" charset="0"/>
                                                  </a:rPr>
                                                  <m:t>𝒙</m:t>
                                                </m:r>
                                              </m:e>
                                              <m:sub>
                                                <m:r>
                                                  <a:rPr lang="en-US" sz="1850" i="1">
                                                    <a:latin typeface="Cambria Math" panose="02040503050406030204" pitchFamily="18" charset="0"/>
                                                  </a:rPr>
                                                  <m:t>2</m:t>
                                                </m:r>
                                              </m:sub>
                                            </m:sSub>
                                          </m:den>
                                        </m:f>
                                      </m:e>
                                    </m:d>
                                  </m:e>
                                  <m:sup>
                                    <m:r>
                                      <a:rPr lang="en-US" sz="1850" i="1">
                                        <a:latin typeface="Cambria Math" panose="02040503050406030204" pitchFamily="18" charset="0"/>
                                      </a:rPr>
                                      <m:t>𝑇</m:t>
                                    </m:r>
                                  </m:sup>
                                </m:sSup>
                              </m:e>
                            </m:mr>
                            <m:mr>
                              <m:e>
                                <m:r>
                                  <a:rPr lang="en-US" sz="1850" i="1">
                                    <a:latin typeface="Cambria Math" panose="02040503050406030204" pitchFamily="18" charset="0"/>
                                  </a:rPr>
                                  <m:t>⋮</m:t>
                                </m:r>
                              </m:e>
                            </m:mr>
                            <m:m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𝑚</m:t>
                                                </m:r>
                                              </m:sub>
                                            </m:sSub>
                                          </m:num>
                                          <m:den>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b="1" i="1">
                                                    <a:latin typeface="Cambria Math" panose="02040503050406030204" pitchFamily="18" charset="0"/>
                                                  </a:rPr>
                                                  <m:t>𝒙</m:t>
                                                </m:r>
                                              </m:e>
                                              <m:sub>
                                                <m:r>
                                                  <a:rPr lang="en-US" sz="1850" i="1">
                                                    <a:latin typeface="Cambria Math" panose="02040503050406030204" pitchFamily="18" charset="0"/>
                                                  </a:rPr>
                                                  <m:t>𝑚</m:t>
                                                </m:r>
                                              </m:sub>
                                            </m:sSub>
                                          </m:den>
                                        </m:f>
                                      </m:e>
                                    </m:d>
                                  </m:e>
                                  <m:sup>
                                    <m:r>
                                      <a:rPr lang="en-US" sz="1850" i="1">
                                        <a:latin typeface="Cambria Math" panose="02040503050406030204" pitchFamily="18" charset="0"/>
                                      </a:rPr>
                                      <m:t>𝑇</m:t>
                                    </m:r>
                                  </m:sup>
                                </m:sSup>
                              </m:e>
                            </m:mr>
                          </m:m>
                        </m:e>
                      </m:d>
                      <m:r>
                        <a:rPr lang="en-US" sz="1850" i="1">
                          <a:latin typeface="Cambria Math" panose="02040503050406030204" pitchFamily="18" charset="0"/>
                        </a:rPr>
                        <m:t>+</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r>
                                <m:rPr>
                                  <m:sty m:val="p"/>
                                </m:rPr>
                                <a:rPr lang="en-US" sz="1850">
                                  <a:latin typeface="Cambria Math" panose="02040503050406030204" pitchFamily="18" charset="0"/>
                                </a:rPr>
                                <m:t>softmax</m:t>
                              </m:r>
                              <m:d>
                                <m:dPr>
                                  <m:ctrlPr>
                                    <a:rPr lang="en-US" sz="1850" i="1">
                                      <a:latin typeface="Cambria Math" panose="02040503050406030204" pitchFamily="18" charset="0"/>
                                    </a:rPr>
                                  </m:ctrlPr>
                                </m:dPr>
                                <m:e>
                                  <m:f>
                                    <m:fPr>
                                      <m:ctrlPr>
                                        <a:rPr lang="en-US" sz="1850" i="1">
                                          <a:latin typeface="Cambria Math" panose="02040503050406030204" pitchFamily="18" charset="0"/>
                                        </a:rPr>
                                      </m:ctrlPr>
                                    </m:fPr>
                                    <m:num>
                                      <m:r>
                                        <a:rPr lang="en-US" sz="1850" i="1">
                                          <a:latin typeface="Cambria Math" panose="02040503050406030204" pitchFamily="18" charset="0"/>
                                        </a:rPr>
                                        <m:t>𝑄</m:t>
                                      </m:r>
                                      <m:sSup>
                                        <m:sSupPr>
                                          <m:ctrlPr>
                                            <a:rPr lang="en-US" sz="1850" i="1">
                                              <a:latin typeface="Cambria Math" panose="02040503050406030204" pitchFamily="18" charset="0"/>
                                            </a:rPr>
                                          </m:ctrlPr>
                                        </m:sSupPr>
                                        <m:e>
                                          <m:r>
                                            <a:rPr lang="en-US" sz="1850" i="1">
                                              <a:latin typeface="Cambria Math" panose="02040503050406030204" pitchFamily="18" charset="0"/>
                                            </a:rPr>
                                            <m:t>𝐾</m:t>
                                          </m:r>
                                        </m:e>
                                        <m:sup>
                                          <m:r>
                                            <a:rPr lang="en-US" sz="1850" i="1">
                                              <a:latin typeface="Cambria Math" panose="02040503050406030204" pitchFamily="18" charset="0"/>
                                            </a:rPr>
                                            <m:t>𝑇</m:t>
                                          </m:r>
                                        </m:sup>
                                      </m:sSup>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e>
                              </m:d>
                            </m:e>
                          </m:d>
                        </m:e>
                        <m:sup>
                          <m:r>
                            <a:rPr lang="en-US" sz="1850" i="1">
                              <a:latin typeface="Cambria Math" panose="02040503050406030204" pitchFamily="18" charset="0"/>
                            </a:rPr>
                            <m:t>𝑇</m:t>
                          </m:r>
                        </m:sup>
                      </m:sSup>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a:rPr lang="en-US" sz="1850" i="1">
                                  <a:latin typeface="Cambria Math" panose="02040503050406030204" pitchFamily="18" charset="0"/>
                                </a:rPr>
                                <m:t>𝐴</m:t>
                              </m:r>
                            </m:e>
                            <m:sup>
                              <m:r>
                                <a:rPr lang="en-US" sz="1850" i="1">
                                  <a:latin typeface="Cambria Math" panose="02040503050406030204" pitchFamily="18" charset="0"/>
                                </a:rPr>
                                <m:t>′</m:t>
                              </m:r>
                            </m:sup>
                          </m:sSup>
                          <m:r>
                            <a:rPr lang="en-US" sz="1850" i="1">
                              <a:latin typeface="Cambria Math" panose="02040503050406030204" pitchFamily="18" charset="0"/>
                            </a:rPr>
                            <m:t>−</m:t>
                          </m:r>
                          <m:r>
                            <a:rPr lang="en-US" sz="1850" i="1">
                              <a:latin typeface="Cambria Math" panose="02040503050406030204" pitchFamily="18" charset="0"/>
                            </a:rPr>
                            <m:t>𝐴</m:t>
                          </m:r>
                        </m:e>
                      </m:d>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a:rPr lang="en-US" sz="1850" i="1">
                                      <a:latin typeface="Cambria Math" panose="02040503050406030204" pitchFamily="18" charset="0"/>
                                    </a:rPr>
                                    <m:t>𝑊</m:t>
                                  </m:r>
                                </m:e>
                                <m:sup>
                                  <m:r>
                                    <a:rPr lang="en-US" sz="1850" i="1">
                                      <a:latin typeface="Cambria Math" panose="02040503050406030204" pitchFamily="18" charset="0"/>
                                    </a:rPr>
                                    <m:t>𝑉</m:t>
                                  </m:r>
                                </m:sup>
                              </m:sSup>
                            </m:e>
                          </m:d>
                        </m:e>
                        <m:sup>
                          <m:r>
                            <a:rPr lang="en-US" sz="1850" i="1">
                              <a:latin typeface="Cambria Math" panose="02040503050406030204" pitchFamily="18" charset="0"/>
                            </a:rPr>
                            <m:t>𝑇</m:t>
                          </m:r>
                        </m:sup>
                      </m:sSup>
                    </m:oMath>
                  </m:oMathPara>
                </a14:m>
                <a:endParaRPr lang="en-US" sz="1850" dirty="0" smtClean="0"/>
              </a:p>
              <a:p>
                <a:pPr marL="0" indent="0">
                  <a:buNone/>
                </a:pPr>
                <a:r>
                  <a:rPr lang="en-US" sz="1850" dirty="0" smtClean="0"/>
                  <a:t>Where </a:t>
                </a:r>
                <a14:m>
                  <m:oMath xmlns:m="http://schemas.openxmlformats.org/officeDocument/2006/math">
                    <m:f>
                      <m:fPr>
                        <m:ctrlPr>
                          <a:rPr lang="en-US" sz="1850" i="1">
                            <a:latin typeface="Cambria Math" panose="02040503050406030204" pitchFamily="18" charset="0"/>
                          </a:rPr>
                        </m:ctrlPr>
                      </m:fPr>
                      <m:num>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i="1">
                                <a:latin typeface="Cambria Math" panose="02040503050406030204" pitchFamily="18" charset="0"/>
                              </a:rPr>
                              <m:t>𝑙</m:t>
                            </m:r>
                          </m:e>
                          <m:sub>
                            <m:r>
                              <a:rPr lang="en-US" sz="1850" i="1">
                                <a:latin typeface="Cambria Math" panose="02040503050406030204" pitchFamily="18" charset="0"/>
                              </a:rPr>
                              <m:t>𝑖</m:t>
                            </m:r>
                          </m:sub>
                        </m:sSub>
                      </m:num>
                      <m:den>
                        <m:r>
                          <a:rPr lang="en-US" sz="1850" i="1">
                            <a:latin typeface="Cambria Math" panose="02040503050406030204" pitchFamily="18" charset="0"/>
                          </a:rPr>
                          <m:t>𝑑</m:t>
                        </m:r>
                        <m:sSub>
                          <m:sSubPr>
                            <m:ctrlPr>
                              <a:rPr lang="en-US" sz="1850" i="1">
                                <a:latin typeface="Cambria Math" panose="02040503050406030204" pitchFamily="18" charset="0"/>
                              </a:rPr>
                            </m:ctrlPr>
                          </m:sSubPr>
                          <m:e>
                            <m:r>
                              <a:rPr lang="en-US" sz="1850" b="1" i="1">
                                <a:latin typeface="Cambria Math" panose="02040503050406030204" pitchFamily="18" charset="0"/>
                              </a:rPr>
                              <m:t>𝒙</m:t>
                            </m:r>
                          </m:e>
                          <m:sub>
                            <m:r>
                              <a:rPr lang="en-US" sz="1850" i="1">
                                <a:latin typeface="Cambria Math" panose="02040503050406030204" pitchFamily="18" charset="0"/>
                              </a:rPr>
                              <m:t>𝑖</m:t>
                            </m:r>
                          </m:sub>
                        </m:sSub>
                      </m:den>
                    </m:f>
                    <m:r>
                      <a:rPr lang="en-US" sz="1850" i="1">
                        <a:latin typeface="Cambria Math" panose="02040503050406030204" pitchFamily="18" charset="0"/>
                      </a:rPr>
                      <m:t>=</m:t>
                    </m:r>
                    <m:f>
                      <m:fPr>
                        <m:ctrlPr>
                          <a:rPr lang="en-US" sz="1850" i="1">
                            <a:latin typeface="Cambria Math" panose="02040503050406030204" pitchFamily="18" charset="0"/>
                          </a:rPr>
                        </m:ctrlPr>
                      </m:fPr>
                      <m:num>
                        <m:r>
                          <a:rPr lang="en-US" sz="1850" i="1">
                            <a:latin typeface="Cambria Math" panose="02040503050406030204" pitchFamily="18" charset="0"/>
                          </a:rPr>
                          <m:t>1</m:t>
                        </m:r>
                      </m:num>
                      <m:den>
                        <m:rad>
                          <m:radPr>
                            <m:degHide m:val="on"/>
                            <m:ctrlPr>
                              <a:rPr lang="en-US" sz="1850" i="1">
                                <a:latin typeface="Cambria Math" panose="02040503050406030204" pitchFamily="18" charset="0"/>
                              </a:rPr>
                            </m:ctrlPr>
                          </m:radPr>
                          <m:deg/>
                          <m:e>
                            <m:sSub>
                              <m:sSubPr>
                                <m:ctrlPr>
                                  <a:rPr lang="en-US" sz="1850" i="1">
                                    <a:latin typeface="Cambria Math" panose="02040503050406030204" pitchFamily="18" charset="0"/>
                                  </a:rPr>
                                </m:ctrlPr>
                              </m:sSubPr>
                              <m:e>
                                <m:r>
                                  <a:rPr lang="en-US" sz="1850" i="1">
                                    <a:latin typeface="Cambria Math" panose="02040503050406030204" pitchFamily="18" charset="0"/>
                                  </a:rPr>
                                  <m:t>𝑑</m:t>
                                </m:r>
                              </m:e>
                              <m:sub>
                                <m:r>
                                  <a:rPr lang="en-US" sz="1850" i="1">
                                    <a:latin typeface="Cambria Math" panose="02040503050406030204" pitchFamily="18" charset="0"/>
                                  </a:rPr>
                                  <m:t>𝑘</m:t>
                                </m:r>
                              </m:sub>
                            </m:sSub>
                          </m:e>
                        </m:rad>
                      </m:den>
                    </m:f>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bSup>
                                      <m:sSubSupPr>
                                        <m:ctrlPr>
                                          <a:rPr lang="en-US" sz="1850" i="1">
                                            <a:latin typeface="Cambria Math" panose="02040503050406030204" pitchFamily="18" charset="0"/>
                                          </a:rPr>
                                        </m:ctrlPr>
                                      </m:sSubSupPr>
                                      <m:e>
                                        <m:r>
                                          <a:rPr lang="en-US" sz="1850" b="1" i="1">
                                            <a:latin typeface="Cambria Math" panose="02040503050406030204" pitchFamily="18" charset="0"/>
                                          </a:rPr>
                                          <m:t>𝒂</m:t>
                                        </m:r>
                                      </m:e>
                                      <m:sub>
                                        <m:r>
                                          <a:rPr lang="en-US" sz="1850" i="1">
                                            <a:latin typeface="Cambria Math" panose="02040503050406030204" pitchFamily="18" charset="0"/>
                                          </a:rPr>
                                          <m:t>𝑖</m:t>
                                        </m:r>
                                      </m:sub>
                                      <m:sup>
                                        <m:r>
                                          <a:rPr lang="en-US" sz="1850" i="1">
                                            <a:latin typeface="Cambria Math" panose="02040503050406030204" pitchFamily="18" charset="0"/>
                                          </a:rPr>
                                          <m:t>′</m:t>
                                        </m:r>
                                      </m:sup>
                                    </m:sSubSup>
                                    <m:r>
                                      <a:rPr lang="en-US" sz="1850" i="1">
                                        <a:latin typeface="Cambria Math" panose="02040503050406030204" pitchFamily="18" charset="0"/>
                                      </a:rPr>
                                      <m:t>−</m:t>
                                    </m:r>
                                    <m:sSub>
                                      <m:sSubPr>
                                        <m:ctrlPr>
                                          <a:rPr lang="en-US" sz="1850" i="1">
                                            <a:latin typeface="Cambria Math" panose="02040503050406030204" pitchFamily="18" charset="0"/>
                                          </a:rPr>
                                        </m:ctrlPr>
                                      </m:sSubPr>
                                      <m:e>
                                        <m:r>
                                          <a:rPr lang="en-US" sz="1850" b="1" i="1">
                                            <a:latin typeface="Cambria Math" panose="02040503050406030204" pitchFamily="18" charset="0"/>
                                          </a:rPr>
                                          <m:t>𝒂</m:t>
                                        </m:r>
                                      </m:e>
                                      <m:sub>
                                        <m:r>
                                          <a:rPr lang="en-US" sz="1850" i="1">
                                            <a:latin typeface="Cambria Math" panose="02040503050406030204" pitchFamily="18" charset="0"/>
                                          </a:rPr>
                                          <m:t>𝑖</m:t>
                                        </m:r>
                                      </m:sub>
                                    </m:sSub>
                                  </m:e>
                                </m:d>
                              </m:e>
                              <m:sup>
                                <m:r>
                                  <a:rPr lang="en-US" sz="1850" i="1">
                                    <a:latin typeface="Cambria Math" panose="02040503050406030204" pitchFamily="18" charset="0"/>
                                  </a:rPr>
                                  <m:t>𝑇</m:t>
                                </m:r>
                              </m:sup>
                            </m:sSup>
                            <m:sSup>
                              <m:sSupPr>
                                <m:ctrlPr>
                                  <a:rPr lang="en-US" sz="1850" i="1">
                                    <a:latin typeface="Cambria Math" panose="02040503050406030204" pitchFamily="18" charset="0"/>
                                  </a:rPr>
                                </m:ctrlPr>
                              </m:sSupPr>
                              <m:e>
                                <m:r>
                                  <a:rPr lang="en-US" sz="1850" i="1">
                                    <a:latin typeface="Cambria Math" panose="02040503050406030204" pitchFamily="18" charset="0"/>
                                  </a:rPr>
                                  <m:t>𝑉</m:t>
                                </m:r>
                              </m:e>
                              <m:sup>
                                <m:r>
                                  <a:rPr lang="en-US" sz="1850" i="1">
                                    <a:latin typeface="Cambria Math" panose="02040503050406030204" pitchFamily="18" charset="0"/>
                                  </a:rPr>
                                  <m:t>𝑇</m:t>
                                </m:r>
                              </m:sup>
                            </m:sSup>
                            <m:sSubSup>
                              <m:sSubSupPr>
                                <m:ctrlPr>
                                  <a:rPr lang="en-US" sz="1850" i="1">
                                    <a:latin typeface="Cambria Math" panose="02040503050406030204" pitchFamily="18" charset="0"/>
                                  </a:rPr>
                                </m:ctrlPr>
                              </m:sSubSupPr>
                              <m:e>
                                <m:r>
                                  <a:rPr lang="en-US" sz="1850" b="1" i="1">
                                    <a:latin typeface="Cambria Math" panose="02040503050406030204" pitchFamily="18" charset="0"/>
                                  </a:rPr>
                                  <m:t>𝒑</m:t>
                                </m:r>
                              </m:e>
                              <m:sub>
                                <m:r>
                                  <a:rPr lang="en-US" sz="1850" i="1">
                                    <a:latin typeface="Cambria Math" panose="02040503050406030204" pitchFamily="18" charset="0"/>
                                  </a:rPr>
                                  <m:t>𝑖</m:t>
                                </m:r>
                              </m:sub>
                              <m:sup>
                                <m:r>
                                  <a:rPr lang="en-US" sz="1850" i="1">
                                    <a:latin typeface="Cambria Math" panose="02040503050406030204" pitchFamily="18" charset="0"/>
                                  </a:rPr>
                                  <m:t>′</m:t>
                                </m:r>
                              </m:sup>
                            </m:sSubSup>
                            <m:d>
                              <m:dPr>
                                <m:ctrlPr>
                                  <a:rPr lang="en-US" sz="1850" i="1">
                                    <a:latin typeface="Cambria Math" panose="02040503050406030204" pitchFamily="18" charset="0"/>
                                  </a:rPr>
                                </m:ctrlPr>
                              </m:dPr>
                              <m:e>
                                <m:r>
                                  <a:rPr lang="en-US" sz="1850" i="1">
                                    <a:latin typeface="Cambria Math" panose="02040503050406030204" pitchFamily="18" charset="0"/>
                                  </a:rPr>
                                  <m:t>𝐾</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a:rPr lang="en-US" sz="1850" i="1">
                                                <a:latin typeface="Cambria Math" panose="02040503050406030204" pitchFamily="18" charset="0"/>
                                              </a:rPr>
                                              <m:t>𝑊</m:t>
                                            </m:r>
                                          </m:e>
                                          <m:sup>
                                            <m:r>
                                              <a:rPr lang="en-US" sz="1850" i="1">
                                                <a:latin typeface="Cambria Math" panose="02040503050406030204" pitchFamily="18" charset="0"/>
                                              </a:rPr>
                                              <m:t>𝑄</m:t>
                                            </m:r>
                                          </m:sup>
                                        </m:sSup>
                                      </m:e>
                                    </m:d>
                                  </m:e>
                                  <m:sup>
                                    <m:r>
                                      <a:rPr lang="en-US" sz="1850" i="1">
                                        <a:latin typeface="Cambria Math" panose="02040503050406030204" pitchFamily="18" charset="0"/>
                                      </a:rPr>
                                      <m:t>𝑇</m:t>
                                    </m:r>
                                  </m:sup>
                                </m:sSup>
                                <m:r>
                                  <a:rPr lang="en-US" sz="1850" i="1">
                                    <a:latin typeface="Cambria Math" panose="02040503050406030204" pitchFamily="18" charset="0"/>
                                  </a:rPr>
                                  <m:t>+</m:t>
                                </m:r>
                                <m:r>
                                  <a:rPr lang="en-US" sz="1850" i="1">
                                    <a:latin typeface="Cambria Math" panose="02040503050406030204" pitchFamily="18" charset="0"/>
                                  </a:rPr>
                                  <m:t>𝑄</m:t>
                                </m:r>
                                <m:sSup>
                                  <m:sSupPr>
                                    <m:ctrlPr>
                                      <a:rPr lang="en-US" sz="1850" i="1">
                                        <a:latin typeface="Cambria Math" panose="02040503050406030204" pitchFamily="18" charset="0"/>
                                      </a:rPr>
                                    </m:ctrlPr>
                                  </m:sSupPr>
                                  <m:e>
                                    <m:d>
                                      <m:dPr>
                                        <m:ctrlPr>
                                          <a:rPr lang="en-US" sz="1850" i="1">
                                            <a:latin typeface="Cambria Math" panose="02040503050406030204" pitchFamily="18" charset="0"/>
                                          </a:rPr>
                                        </m:ctrlPr>
                                      </m:dPr>
                                      <m:e>
                                        <m:sSup>
                                          <m:sSupPr>
                                            <m:ctrlPr>
                                              <a:rPr lang="en-US" sz="1850" i="1">
                                                <a:latin typeface="Cambria Math" panose="02040503050406030204" pitchFamily="18" charset="0"/>
                                              </a:rPr>
                                            </m:ctrlPr>
                                          </m:sSupPr>
                                          <m:e>
                                            <m:r>
                                              <a:rPr lang="en-US" sz="1850" i="1">
                                                <a:latin typeface="Cambria Math" panose="02040503050406030204" pitchFamily="18" charset="0"/>
                                              </a:rPr>
                                              <m:t>𝑊</m:t>
                                            </m:r>
                                          </m:e>
                                          <m:sup>
                                            <m:r>
                                              <a:rPr lang="en-US" sz="1850" i="1">
                                                <a:latin typeface="Cambria Math" panose="02040503050406030204" pitchFamily="18" charset="0"/>
                                              </a:rPr>
                                              <m:t>𝐾</m:t>
                                            </m:r>
                                          </m:sup>
                                        </m:sSup>
                                      </m:e>
                                    </m:d>
                                  </m:e>
                                  <m:sup>
                                    <m:r>
                                      <a:rPr lang="en-US" sz="1850" i="1">
                                        <a:latin typeface="Cambria Math" panose="02040503050406030204" pitchFamily="18" charset="0"/>
                                      </a:rPr>
                                      <m:t>𝑇</m:t>
                                    </m:r>
                                  </m:sup>
                                </m:sSup>
                              </m:e>
                            </m:d>
                          </m:e>
                        </m:d>
                      </m:e>
                      <m:sup>
                        <m:r>
                          <a:rPr lang="en-US" sz="1850" i="1">
                            <a:latin typeface="Cambria Math" panose="02040503050406030204" pitchFamily="18" charset="0"/>
                          </a:rPr>
                          <m:t>𝑇</m:t>
                        </m:r>
                      </m:sup>
                    </m:sSup>
                  </m:oMath>
                </a14:m>
                <a:endParaRPr lang="en-US" sz="1850" dirty="0"/>
              </a:p>
              <a:p>
                <a:pPr marL="0" indent="0">
                  <a:buNone/>
                </a:pPr>
                <a:endParaRPr lang="en-US" sz="1850" dirty="0"/>
              </a:p>
              <a:p>
                <a:pPr marL="0" indent="0">
                  <a:buNone/>
                </a:pPr>
                <a:endParaRPr lang="en-US" sz="18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19280" cy="5176066"/>
              </a:xfrm>
              <a:blipFill>
                <a:blip r:embed="rId2"/>
                <a:stretch>
                  <a:fillRect l="-456" t="-824" r="-710"/>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31</a:t>
            </a:fld>
            <a:endParaRPr lang="en-US"/>
          </a:p>
        </p:txBody>
      </p:sp>
    </p:spTree>
    <p:extLst>
      <p:ext uri="{BB962C8B-B14F-4D97-AF65-F5344CB8AC3E}">
        <p14:creationId xmlns:p14="http://schemas.microsoft.com/office/powerpoint/2010/main" val="732314192"/>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p:sp>
        <p:nvSpPr>
          <p:cNvPr id="3" name="Content Placeholder 2"/>
          <p:cNvSpPr>
            <a:spLocks noGrp="1"/>
          </p:cNvSpPr>
          <p:nvPr>
            <p:ph idx="1"/>
          </p:nvPr>
        </p:nvSpPr>
        <p:spPr>
          <a:xfrm>
            <a:off x="91440" y="914399"/>
            <a:ext cx="12019280" cy="5176066"/>
          </a:xfrm>
        </p:spPr>
        <p:txBody>
          <a:bodyPr>
            <a:noAutofit/>
          </a:bodyPr>
          <a:lstStyle/>
          <a:p>
            <a:r>
              <a:rPr lang="en-US" sz="2050" dirty="0"/>
              <a:t>Recall that this research focuses on evaluating the hypothesis “whether matrix neural network is the alternative of convolutional neural network”, which means to test the preeminence of matrix neural network (MNN) in comparison with convolutional neural network (CNN). Moreover, the hypothesis in this research relates to transformer too because attention, which is the first part of transformer, is totally based on matrix although the second part of transformer, which is feed-forward network (FFN), can be matrix artificial neural network called MNN or vector artificial neural network called vector ANN. As a convention, the transformer whose FFN is MNN is called matrix transformer and the transformer whose FFN is vector ANN is called vector </a:t>
            </a:r>
            <a:r>
              <a:rPr lang="en-US" sz="2050" dirty="0" smtClean="0"/>
              <a:t>transformer. Among </a:t>
            </a:r>
            <a:r>
              <a:rPr lang="en-US" sz="2050" dirty="0"/>
              <a:t>many applications related to CNN and transformer, this research focuses on application of image classification and thus, image classification is tested with ANN, MNN, matrix transformer and vector transformer. Therefore, </a:t>
            </a:r>
            <a:r>
              <a:rPr lang="en-US" sz="2050" dirty="0">
                <a:effectLst>
                  <a:outerShdw blurRad="38100" dist="38100" dir="2700000" algn="tl">
                    <a:srgbClr val="000000">
                      <a:alpha val="43137"/>
                    </a:srgbClr>
                  </a:outerShdw>
                </a:effectLst>
              </a:rPr>
              <a:t>the main hypothesis “</a:t>
            </a:r>
            <a:r>
              <a:rPr lang="en-US" sz="2050" i="1" dirty="0">
                <a:effectLst>
                  <a:outerShdw blurRad="38100" dist="38100" dir="2700000" algn="tl">
                    <a:srgbClr val="000000">
                      <a:alpha val="43137"/>
                    </a:srgbClr>
                  </a:outerShdw>
                </a:effectLst>
              </a:rPr>
              <a:t>whether MNN is the alternative of CNN</a:t>
            </a:r>
            <a:r>
              <a:rPr lang="en-US" sz="2050" dirty="0">
                <a:effectLst>
                  <a:outerShdw blurRad="38100" dist="38100" dir="2700000" algn="tl">
                    <a:srgbClr val="000000">
                      <a:alpha val="43137"/>
                    </a:srgbClr>
                  </a:outerShdw>
                </a:effectLst>
              </a:rPr>
              <a:t>” will lead to the first auxiliary hypothesis “</a:t>
            </a:r>
            <a:r>
              <a:rPr lang="en-US" sz="2050" i="1" dirty="0">
                <a:effectLst>
                  <a:outerShdw blurRad="38100" dist="38100" dir="2700000" algn="tl">
                    <a:srgbClr val="000000">
                      <a:alpha val="43137"/>
                    </a:srgbClr>
                  </a:outerShdw>
                </a:effectLst>
              </a:rPr>
              <a:t>whether attention is the alternative of CNN too</a:t>
            </a:r>
            <a:r>
              <a:rPr lang="en-US" sz="2050" dirty="0">
                <a:effectLst>
                  <a:outerShdw blurRad="38100" dist="38100" dir="2700000" algn="tl">
                    <a:srgbClr val="000000">
                      <a:alpha val="43137"/>
                    </a:srgbClr>
                  </a:outerShdw>
                </a:effectLst>
              </a:rPr>
              <a:t>” when attention plays the role of feature like convolutional layer</a:t>
            </a:r>
            <a:r>
              <a:rPr lang="en-US" sz="2050" dirty="0"/>
              <a:t> although the attention-based feature is self-structure or internal structure, </a:t>
            </a:r>
            <a:r>
              <a:rPr lang="en-US" sz="2050" dirty="0" smtClean="0"/>
              <a:t>actually.</a:t>
            </a:r>
          </a:p>
          <a:p>
            <a:r>
              <a:rPr lang="en-US" sz="2050" dirty="0" smtClean="0"/>
              <a:t>Besides</a:t>
            </a:r>
            <a:r>
              <a:rPr lang="en-US" sz="2050" dirty="0"/>
              <a:t>, if both MNN and attention are good enough in comparison with CNN although both of them cannot totally replace CNN, then FFN of transformer should be MNN because of the harmonization of both computational cost and accuracy. In other words, </a:t>
            </a:r>
            <a:r>
              <a:rPr lang="en-US" sz="2050" dirty="0">
                <a:effectLst>
                  <a:outerShdw blurRad="38100" dist="38100" dir="2700000" algn="tl">
                    <a:srgbClr val="000000">
                      <a:alpha val="43137"/>
                    </a:srgbClr>
                  </a:outerShdw>
                </a:effectLst>
              </a:rPr>
              <a:t>the second auxiliary hypothesis “</a:t>
            </a:r>
            <a:r>
              <a:rPr lang="en-US" sz="2050" i="1" dirty="0">
                <a:effectLst>
                  <a:outerShdw blurRad="38100" dist="38100" dir="2700000" algn="tl">
                    <a:srgbClr val="000000">
                      <a:alpha val="43137"/>
                    </a:srgbClr>
                  </a:outerShdw>
                </a:effectLst>
              </a:rPr>
              <a:t>whether</a:t>
            </a:r>
            <a:r>
              <a:rPr lang="en-US" sz="2050" dirty="0">
                <a:effectLst>
                  <a:outerShdw blurRad="38100" dist="38100" dir="2700000" algn="tl">
                    <a:srgbClr val="000000">
                      <a:alpha val="43137"/>
                    </a:srgbClr>
                  </a:outerShdw>
                </a:effectLst>
              </a:rPr>
              <a:t> </a:t>
            </a:r>
            <a:r>
              <a:rPr lang="en-US" sz="2050" i="1" dirty="0">
                <a:effectLst>
                  <a:outerShdw blurRad="38100" dist="38100" dir="2700000" algn="tl">
                    <a:srgbClr val="000000">
                      <a:alpha val="43137"/>
                    </a:srgbClr>
                  </a:outerShdw>
                </a:effectLst>
              </a:rPr>
              <a:t>FFN of transformer should be MNN</a:t>
            </a:r>
            <a:r>
              <a:rPr lang="en-US" sz="2050" dirty="0">
                <a:effectLst>
                  <a:outerShdw blurRad="38100" dist="38100" dir="2700000" algn="tl">
                    <a:srgbClr val="000000">
                      <a:alpha val="43137"/>
                    </a:srgbClr>
                  </a:outerShdw>
                </a:effectLst>
              </a:rPr>
              <a:t>” (whether matrix transformer is preferred to vector transformer) is tested</a:t>
            </a:r>
            <a:r>
              <a:rPr lang="en-US" sz="2050" dirty="0"/>
              <a:t>.</a:t>
            </a:r>
          </a:p>
          <a:p>
            <a:endParaRPr lang="en-US" sz="205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32</a:t>
            </a:fld>
            <a:endParaRPr lang="en-US"/>
          </a:p>
        </p:txBody>
      </p:sp>
    </p:spTree>
    <p:extLst>
      <p:ext uri="{BB962C8B-B14F-4D97-AF65-F5344CB8AC3E}">
        <p14:creationId xmlns:p14="http://schemas.microsoft.com/office/powerpoint/2010/main" val="140893938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a:t>
            </a:r>
            <a:r>
              <a:rPr lang="en-US" dirty="0" smtClean="0"/>
              <a:t>network (main)</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 y="914399"/>
                <a:ext cx="11998960" cy="5176066"/>
              </a:xfrm>
            </p:spPr>
            <p:txBody>
              <a:bodyPr>
                <a:noAutofit/>
              </a:bodyPr>
              <a:lstStyle/>
              <a:p>
                <a:pPr marL="0" indent="0">
                  <a:buNone/>
                </a:pPr>
                <a:r>
                  <a:rPr lang="en-US" sz="2050" dirty="0"/>
                  <a:t>An auxiliary problem needs to be solved in this research, which relates to convergence of ANN is to keep the accuracy stable when such accuracy in image classification decreases due to the ANN convergence. Indeed, although high convergence is a significantly strong point of ANN, it becomes inversely drawback of ANN because image input of ANN classifier is too highly dimensional data whereas class output of ANN classifier is too lowly </a:t>
                </a:r>
                <a:r>
                  <a:rPr lang="en-US" sz="2050" dirty="0" smtClean="0"/>
                  <a:t>dimensional data, </a:t>
                </a:r>
                <a:r>
                  <a:rPr lang="en-US" sz="2050" dirty="0"/>
                  <a:t>which causes the side-effect that ANN classifier will </a:t>
                </a:r>
                <a:r>
                  <a:rPr lang="en-US" sz="2050" dirty="0" smtClean="0"/>
                  <a:t>focus/converge </a:t>
                </a:r>
                <a:r>
                  <a:rPr lang="en-US" sz="2050" dirty="0"/>
                  <a:t>to a very few of classes. To overcome this drawback, </a:t>
                </a:r>
                <a:r>
                  <a:rPr lang="en-US" sz="2050" dirty="0">
                    <a:effectLst>
                      <a:outerShdw blurRad="38100" dist="38100" dir="2700000" algn="tl">
                        <a:srgbClr val="000000">
                          <a:alpha val="43137"/>
                        </a:srgbClr>
                      </a:outerShdw>
                    </a:effectLst>
                  </a:rPr>
                  <a:t>this research proposes a so-called concept of </a:t>
                </a:r>
                <a:r>
                  <a:rPr lang="en-US" sz="2050" i="1" dirty="0">
                    <a:effectLst>
                      <a:outerShdw blurRad="38100" dist="38100" dir="2700000" algn="tl">
                        <a:srgbClr val="000000">
                          <a:alpha val="43137"/>
                        </a:srgbClr>
                      </a:outerShdw>
                    </a:effectLst>
                  </a:rPr>
                  <a:t>baseline</a:t>
                </a:r>
                <a:r>
                  <a:rPr lang="en-US" sz="2050" dirty="0">
                    <a:effectLst>
                      <a:outerShdw blurRad="38100" dist="38100" dir="2700000" algn="tl">
                        <a:srgbClr val="000000">
                          <a:alpha val="43137"/>
                        </a:srgbClr>
                      </a:outerShdw>
                    </a:effectLst>
                  </a:rPr>
                  <a:t> where baseline </a:t>
                </a:r>
                <a:r>
                  <a:rPr lang="en-US" sz="2050" b="1" i="1" dirty="0">
                    <a:effectLst>
                      <a:outerShdw blurRad="38100" dist="38100" dir="2700000" algn="tl">
                        <a:srgbClr val="000000">
                          <a:alpha val="43137"/>
                        </a:srgbClr>
                      </a:outerShdw>
                    </a:effectLst>
                  </a:rPr>
                  <a:t>b</a:t>
                </a:r>
                <a:r>
                  <a:rPr lang="en-US" sz="2050" dirty="0">
                    <a:effectLst>
                      <a:outerShdw blurRad="38100" dist="38100" dir="2700000" algn="tl">
                        <a:srgbClr val="000000">
                          <a:alpha val="43137"/>
                        </a:srgbClr>
                      </a:outerShdw>
                    </a:effectLst>
                  </a:rPr>
                  <a:t> consists of </a:t>
                </a:r>
                <a:r>
                  <a:rPr lang="en-US" sz="2050" i="1" dirty="0">
                    <a:effectLst>
                      <a:outerShdw blurRad="38100" dist="38100" dir="2700000" algn="tl">
                        <a:srgbClr val="000000">
                          <a:alpha val="43137"/>
                        </a:srgbClr>
                      </a:outerShdw>
                    </a:effectLst>
                  </a:rPr>
                  <a:t>n</a:t>
                </a:r>
                <a:r>
                  <a:rPr lang="en-US" sz="2050" dirty="0">
                    <a:effectLst>
                      <a:outerShdw blurRad="38100" dist="38100" dir="2700000" algn="tl">
                        <a:srgbClr val="000000">
                          <a:alpha val="43137"/>
                        </a:srgbClr>
                      </a:outerShdw>
                    </a:effectLst>
                  </a:rPr>
                  <a:t> basepoints corresponding to </a:t>
                </a:r>
                <a:r>
                  <a:rPr lang="en-US" sz="2050" i="1" dirty="0">
                    <a:effectLst>
                      <a:outerShdw blurRad="38100" dist="38100" dir="2700000" algn="tl">
                        <a:srgbClr val="000000">
                          <a:alpha val="43137"/>
                        </a:srgbClr>
                      </a:outerShdw>
                    </a:effectLst>
                  </a:rPr>
                  <a:t>n</a:t>
                </a:r>
                <a:r>
                  <a:rPr lang="en-US" sz="2050" dirty="0">
                    <a:effectLst>
                      <a:outerShdw blurRad="38100" dist="38100" dir="2700000" algn="tl">
                        <a:srgbClr val="000000">
                          <a:alpha val="43137"/>
                        </a:srgbClr>
                      </a:outerShdw>
                    </a:effectLst>
                  </a:rPr>
                  <a:t> classes</a:t>
                </a:r>
                <a:r>
                  <a:rPr lang="en-US" sz="2050" dirty="0"/>
                  <a:t>. Each basepoint </a:t>
                </a:r>
                <a:r>
                  <a:rPr lang="en-US" sz="2050" i="1" dirty="0"/>
                  <a:t>b</a:t>
                </a:r>
                <a:r>
                  <a:rPr lang="en-US" sz="2050" i="1" baseline="-25000" dirty="0"/>
                  <a:t>i</a:t>
                </a:r>
                <a:r>
                  <a:rPr lang="en-US" sz="2050" dirty="0"/>
                  <a:t> is the average probability that images belong to class </a:t>
                </a:r>
                <a:r>
                  <a:rPr lang="en-US" sz="2050" i="1" dirty="0" err="1"/>
                  <a:t>i</a:t>
                </a:r>
                <a:r>
                  <a:rPr lang="en-US" sz="2050" dirty="0" smtClean="0"/>
                  <a:t>.</a:t>
                </a:r>
              </a:p>
              <a:p>
                <a:pPr marL="0" indent="0" algn="ctr">
                  <a:buNone/>
                </a:pPr>
                <a14:m>
                  <m:oMath xmlns:m="http://schemas.openxmlformats.org/officeDocument/2006/math">
                    <m:sSub>
                      <m:sSubPr>
                        <m:ctrlPr>
                          <a:rPr lang="en-US" sz="2050" i="1">
                            <a:latin typeface="Cambria Math" panose="02040503050406030204" pitchFamily="18" charset="0"/>
                          </a:rPr>
                        </m:ctrlPr>
                      </m:sSubPr>
                      <m:e>
                        <m:r>
                          <a:rPr lang="en-US" sz="2050" i="1">
                            <a:latin typeface="Cambria Math" panose="02040503050406030204" pitchFamily="18" charset="0"/>
                          </a:rPr>
                          <m:t>𝑏</m:t>
                        </m:r>
                      </m:e>
                      <m:sub>
                        <m:r>
                          <a:rPr lang="en-US" sz="2050" i="1">
                            <a:latin typeface="Cambria Math" panose="02040503050406030204" pitchFamily="18" charset="0"/>
                          </a:rPr>
                          <m:t>𝑖</m:t>
                        </m:r>
                      </m:sub>
                    </m:sSub>
                    <m:r>
                      <a:rPr lang="en-US" sz="2050" i="1">
                        <a:latin typeface="Cambria Math" panose="02040503050406030204" pitchFamily="18" charset="0"/>
                      </a:rPr>
                      <m:t>=</m:t>
                    </m:r>
                    <m:f>
                      <m:fPr>
                        <m:ctrlPr>
                          <a:rPr lang="en-US" sz="2050" i="1">
                            <a:latin typeface="Cambria Math" panose="02040503050406030204" pitchFamily="18" charset="0"/>
                          </a:rPr>
                        </m:ctrlPr>
                      </m:fPr>
                      <m:num>
                        <m:r>
                          <a:rPr lang="en-US" sz="2050" i="1">
                            <a:latin typeface="Cambria Math" panose="02040503050406030204" pitchFamily="18" charset="0"/>
                          </a:rPr>
                          <m:t>1</m:t>
                        </m:r>
                      </m:num>
                      <m:den>
                        <m:sSub>
                          <m:sSubPr>
                            <m:ctrlPr>
                              <a:rPr lang="en-US" sz="2050" i="1">
                                <a:latin typeface="Cambria Math" panose="02040503050406030204" pitchFamily="18" charset="0"/>
                              </a:rPr>
                            </m:ctrlPr>
                          </m:sSubPr>
                          <m:e>
                            <m:r>
                              <a:rPr lang="en-US" sz="2050" i="1">
                                <a:latin typeface="Cambria Math" panose="02040503050406030204" pitchFamily="18" charset="0"/>
                              </a:rPr>
                              <m:t>𝑁</m:t>
                            </m:r>
                          </m:e>
                          <m:sub>
                            <m:r>
                              <a:rPr lang="en-US" sz="2050" i="1">
                                <a:latin typeface="Cambria Math" panose="02040503050406030204" pitchFamily="18" charset="0"/>
                              </a:rPr>
                              <m:t>𝑖</m:t>
                            </m:r>
                          </m:sub>
                        </m:sSub>
                      </m:den>
                    </m:f>
                    <m:nary>
                      <m:naryPr>
                        <m:chr m:val="∑"/>
                        <m:limLoc m:val="undOvr"/>
                        <m:ctrlPr>
                          <a:rPr lang="en-US" sz="2050" i="1">
                            <a:latin typeface="Cambria Math" panose="02040503050406030204" pitchFamily="18" charset="0"/>
                          </a:rPr>
                        </m:ctrlPr>
                      </m:naryPr>
                      <m:sub>
                        <m:r>
                          <a:rPr lang="en-US" sz="2050" i="1">
                            <a:latin typeface="Cambria Math" panose="02040503050406030204" pitchFamily="18" charset="0"/>
                          </a:rPr>
                          <m:t>𝑘</m:t>
                        </m:r>
                        <m:r>
                          <a:rPr lang="en-US" sz="2050" i="1">
                            <a:latin typeface="Cambria Math" panose="02040503050406030204" pitchFamily="18" charset="0"/>
                          </a:rPr>
                          <m:t>=1</m:t>
                        </m:r>
                      </m:sub>
                      <m:sup>
                        <m:sSub>
                          <m:sSubPr>
                            <m:ctrlPr>
                              <a:rPr lang="en-US" sz="2050" i="1">
                                <a:latin typeface="Cambria Math" panose="02040503050406030204" pitchFamily="18" charset="0"/>
                              </a:rPr>
                            </m:ctrlPr>
                          </m:sSubPr>
                          <m:e>
                            <m:r>
                              <a:rPr lang="en-US" sz="2050" i="1">
                                <a:latin typeface="Cambria Math" panose="02040503050406030204" pitchFamily="18" charset="0"/>
                              </a:rPr>
                              <m:t>𝑁</m:t>
                            </m:r>
                          </m:e>
                          <m:sub>
                            <m:r>
                              <a:rPr lang="en-US" sz="2050" i="1">
                                <a:latin typeface="Cambria Math" panose="02040503050406030204" pitchFamily="18" charset="0"/>
                              </a:rPr>
                              <m:t>𝑖</m:t>
                            </m:r>
                          </m:sub>
                        </m:sSub>
                      </m:sup>
                      <m:e>
                        <m:sSub>
                          <m:sSubPr>
                            <m:ctrlPr>
                              <a:rPr lang="en-US" sz="2050" i="1">
                                <a:latin typeface="Cambria Math" panose="02040503050406030204" pitchFamily="18" charset="0"/>
                              </a:rPr>
                            </m:ctrlPr>
                          </m:sSubPr>
                          <m:e>
                            <m:r>
                              <a:rPr lang="en-US" sz="2050" i="1">
                                <a:latin typeface="Cambria Math" panose="02040503050406030204" pitchFamily="18" charset="0"/>
                              </a:rPr>
                              <m:t>𝑝</m:t>
                            </m:r>
                          </m:e>
                          <m:sub>
                            <m:r>
                              <a:rPr lang="en-US" sz="2050" i="1">
                                <a:latin typeface="Cambria Math" panose="02040503050406030204" pitchFamily="18" charset="0"/>
                              </a:rPr>
                              <m:t>𝑖</m:t>
                            </m:r>
                          </m:sub>
                        </m:sSub>
                        <m:d>
                          <m:dPr>
                            <m:ctrlPr>
                              <a:rPr lang="en-US" sz="2050" i="1">
                                <a:latin typeface="Cambria Math" panose="02040503050406030204" pitchFamily="18" charset="0"/>
                              </a:rPr>
                            </m:ctrlPr>
                          </m:dPr>
                          <m:e>
                            <m:r>
                              <a:rPr lang="en-US" sz="2050" i="1">
                                <a:latin typeface="Cambria Math" panose="02040503050406030204" pitchFamily="18" charset="0"/>
                              </a:rPr>
                              <m:t>𝑘</m:t>
                            </m:r>
                          </m:e>
                        </m:d>
                      </m:e>
                    </m:nary>
                  </m:oMath>
                </a14:m>
                <a:r>
                  <a:rPr lang="en-US" sz="2050" dirty="0"/>
                  <a:t> where </a:t>
                </a:r>
                <a:r>
                  <a:rPr lang="en-US" sz="2050" i="1" dirty="0"/>
                  <a:t>p</a:t>
                </a:r>
                <a:r>
                  <a:rPr lang="en-US" sz="2050" i="1" baseline="-25000" dirty="0"/>
                  <a:t>i</a:t>
                </a:r>
                <a:r>
                  <a:rPr lang="en-US" sz="2050" dirty="0"/>
                  <a:t>(</a:t>
                </a:r>
                <a:r>
                  <a:rPr lang="en-US" sz="2050" i="1" dirty="0"/>
                  <a:t>k</a:t>
                </a:r>
                <a:r>
                  <a:rPr lang="en-US" sz="2050" dirty="0"/>
                  <a:t>) is the output probability of the classified image </a:t>
                </a:r>
                <a:r>
                  <a:rPr lang="en-US" sz="2050" i="1" dirty="0"/>
                  <a:t>k</a:t>
                </a:r>
                <a:r>
                  <a:rPr lang="en-US" sz="2050" dirty="0"/>
                  <a:t> on class </a:t>
                </a:r>
                <a:r>
                  <a:rPr lang="en-US" sz="2050" i="1" dirty="0" err="1"/>
                  <a:t>i</a:t>
                </a:r>
                <a:r>
                  <a:rPr lang="en-US" sz="2050" dirty="0"/>
                  <a:t> and such image </a:t>
                </a:r>
                <a:r>
                  <a:rPr lang="en-US" sz="2050" i="1" dirty="0"/>
                  <a:t>k</a:t>
                </a:r>
                <a:r>
                  <a:rPr lang="en-US" sz="2050" dirty="0"/>
                  <a:t> really belongs to class </a:t>
                </a:r>
                <a:r>
                  <a:rPr lang="en-US" sz="2050" i="1" dirty="0" err="1" smtClean="0"/>
                  <a:t>i</a:t>
                </a:r>
                <a:endParaRPr lang="en-US" sz="2050" i="1" dirty="0" smtClean="0"/>
              </a:p>
              <a:p>
                <a:pPr marL="0" indent="0">
                  <a:buNone/>
                </a:pPr>
                <a:r>
                  <a:rPr lang="en-US" sz="2050" dirty="0"/>
                  <a:t>Where </a:t>
                </a:r>
                <a:r>
                  <a:rPr lang="en-US" sz="2050" i="1" dirty="0"/>
                  <a:t>N</a:t>
                </a:r>
                <a:r>
                  <a:rPr lang="en-US" sz="2050" i="1" baseline="-25000" dirty="0"/>
                  <a:t>i</a:t>
                </a:r>
                <a:r>
                  <a:rPr lang="en-US" sz="2050" dirty="0"/>
                  <a:t> is the total number of images that really belong to class </a:t>
                </a:r>
                <a:r>
                  <a:rPr lang="en-US" sz="2050" i="1" dirty="0" err="1"/>
                  <a:t>i</a:t>
                </a:r>
                <a:r>
                  <a:rPr lang="en-US" sz="2050" dirty="0"/>
                  <a:t> in training dataset. Note</a:t>
                </a:r>
                <a:r>
                  <a:rPr lang="en-US" sz="2050" dirty="0" smtClean="0"/>
                  <a:t>, </a:t>
                </a:r>
                <a:r>
                  <a:rPr lang="en-US" sz="2050" b="1" i="1" dirty="0" smtClean="0"/>
                  <a:t>b</a:t>
                </a:r>
                <a:r>
                  <a:rPr lang="en-US" sz="2050" dirty="0" smtClean="0"/>
                  <a:t> = (</a:t>
                </a:r>
                <a:r>
                  <a:rPr lang="en-US" sz="2050" i="1" dirty="0" smtClean="0"/>
                  <a:t>b</a:t>
                </a:r>
                <a:r>
                  <a:rPr lang="en-US" sz="2050" baseline="-25000" dirty="0" smtClean="0"/>
                  <a:t>1</a:t>
                </a:r>
                <a:r>
                  <a:rPr lang="en-US" sz="2050" dirty="0" smtClean="0"/>
                  <a:t>, </a:t>
                </a:r>
                <a:r>
                  <a:rPr lang="en-US" sz="2050" i="1" dirty="0" smtClean="0"/>
                  <a:t>b</a:t>
                </a:r>
                <a:r>
                  <a:rPr lang="en-US" sz="2050" baseline="-25000" dirty="0" smtClean="0"/>
                  <a:t>2</a:t>
                </a:r>
                <a:r>
                  <a:rPr lang="en-US" sz="2050" dirty="0" smtClean="0"/>
                  <a:t>,…, </a:t>
                </a:r>
                <a:r>
                  <a:rPr lang="en-US" sz="2050" i="1" dirty="0" err="1" smtClean="0"/>
                  <a:t>b</a:t>
                </a:r>
                <a:r>
                  <a:rPr lang="en-US" sz="2050" i="1" baseline="-25000" dirty="0" err="1" smtClean="0"/>
                  <a:t>n</a:t>
                </a:r>
                <a:r>
                  <a:rPr lang="en-US" sz="2050" dirty="0" smtClean="0"/>
                  <a:t>)</a:t>
                </a:r>
                <a:r>
                  <a:rPr lang="en-US" sz="2050" i="1" baseline="30000" dirty="0" smtClean="0"/>
                  <a:t>T</a:t>
                </a:r>
                <a:r>
                  <a:rPr lang="en-US" sz="2050" dirty="0" smtClean="0"/>
                  <a:t>. Let </a:t>
                </a:r>
                <a:r>
                  <a:rPr lang="en-US" sz="2050" b="1" i="1" dirty="0"/>
                  <a:t>p</a:t>
                </a:r>
                <a:r>
                  <a:rPr lang="en-US" sz="2050" dirty="0"/>
                  <a:t> = (</a:t>
                </a:r>
                <a:r>
                  <a:rPr lang="en-US" sz="2050" i="1" dirty="0"/>
                  <a:t>p</a:t>
                </a:r>
                <a:r>
                  <a:rPr lang="en-US" sz="2050" baseline="-25000" dirty="0"/>
                  <a:t>1</a:t>
                </a:r>
                <a:r>
                  <a:rPr lang="en-US" sz="2050" dirty="0"/>
                  <a:t>, </a:t>
                </a:r>
                <a:r>
                  <a:rPr lang="en-US" sz="2050" i="1" dirty="0"/>
                  <a:t>p</a:t>
                </a:r>
                <a:r>
                  <a:rPr lang="en-US" sz="2050" baseline="-25000" dirty="0"/>
                  <a:t>2</a:t>
                </a:r>
                <a:r>
                  <a:rPr lang="en-US" sz="2050" dirty="0"/>
                  <a:t>,…, </a:t>
                </a:r>
                <a:r>
                  <a:rPr lang="en-US" sz="2050" i="1" dirty="0" err="1"/>
                  <a:t>p</a:t>
                </a:r>
                <a:r>
                  <a:rPr lang="en-US" sz="2050" i="1" baseline="-25000" dirty="0" err="1"/>
                  <a:t>n</a:t>
                </a:r>
                <a:r>
                  <a:rPr lang="en-US" sz="2050" dirty="0"/>
                  <a:t>)</a:t>
                </a:r>
                <a:r>
                  <a:rPr lang="en-US" sz="2050" i="1" baseline="30000" dirty="0"/>
                  <a:t>T</a:t>
                </a:r>
                <a:r>
                  <a:rPr lang="en-US" sz="2050" dirty="0"/>
                  <a:t> be the output probability vector of some image on </a:t>
                </a:r>
                <a:r>
                  <a:rPr lang="en-US" sz="2050" i="1" dirty="0"/>
                  <a:t>n</a:t>
                </a:r>
                <a:r>
                  <a:rPr lang="en-US" sz="2050" dirty="0"/>
                  <a:t> classes, which is the output of ANN classifier, indeed. Let </a:t>
                </a:r>
                <a:r>
                  <a:rPr lang="en-US" sz="2050" b="1" i="1" dirty="0"/>
                  <a:t>d</a:t>
                </a:r>
                <a:r>
                  <a:rPr lang="en-US" sz="2050" dirty="0"/>
                  <a:t> be the probability deviation between baseline </a:t>
                </a:r>
                <a:r>
                  <a:rPr lang="en-US" sz="2050" b="1" i="1" dirty="0"/>
                  <a:t>b</a:t>
                </a:r>
                <a:r>
                  <a:rPr lang="en-US" sz="2050" dirty="0"/>
                  <a:t> and output </a:t>
                </a:r>
                <a:r>
                  <a:rPr lang="en-US" sz="2050" b="1" i="1" dirty="0"/>
                  <a:t>p</a:t>
                </a:r>
                <a:r>
                  <a:rPr lang="en-US" sz="2050" dirty="0" smtClean="0"/>
                  <a:t>.</a:t>
                </a:r>
              </a:p>
              <a:p>
                <a:pPr marL="0" indent="0">
                  <a:buNone/>
                </a:pPr>
                <a14:m>
                  <m:oMathPara xmlns:m="http://schemas.openxmlformats.org/officeDocument/2006/math">
                    <m:oMathParaPr>
                      <m:jc m:val="centerGroup"/>
                    </m:oMathParaPr>
                    <m:oMath xmlns:m="http://schemas.openxmlformats.org/officeDocument/2006/math">
                      <m:r>
                        <a:rPr lang="en-US" sz="2050" b="1" i="1">
                          <a:latin typeface="Cambria Math" panose="02040503050406030204" pitchFamily="18" charset="0"/>
                        </a:rPr>
                        <m:t>𝒅</m:t>
                      </m:r>
                      <m:r>
                        <a:rPr lang="en-US" sz="2050" i="1">
                          <a:latin typeface="Cambria Math" panose="02040503050406030204" pitchFamily="18" charset="0"/>
                        </a:rPr>
                        <m:t>=</m:t>
                      </m:r>
                      <m:r>
                        <a:rPr lang="en-US" sz="2050" b="1" i="1">
                          <a:latin typeface="Cambria Math" panose="02040503050406030204" pitchFamily="18" charset="0"/>
                        </a:rPr>
                        <m:t>𝒑</m:t>
                      </m:r>
                      <m:r>
                        <a:rPr lang="en-US" sz="2050" i="1">
                          <a:latin typeface="Cambria Math" panose="02040503050406030204" pitchFamily="18" charset="0"/>
                        </a:rPr>
                        <m:t>−</m:t>
                      </m:r>
                      <m:r>
                        <a:rPr lang="en-US" sz="2050" b="1" i="1">
                          <a:latin typeface="Cambria Math" panose="02040503050406030204" pitchFamily="18" charset="0"/>
                        </a:rPr>
                        <m:t>𝒃</m:t>
                      </m:r>
                      <m:r>
                        <a:rPr lang="en-US" sz="2050" i="1">
                          <a:latin typeface="Cambria Math" panose="02040503050406030204" pitchFamily="18" charset="0"/>
                        </a:rPr>
                        <m:t>=</m:t>
                      </m:r>
                      <m:sSup>
                        <m:sSupPr>
                          <m:ctrlPr>
                            <a:rPr lang="en-US" sz="2050" i="1">
                              <a:latin typeface="Cambria Math" panose="02040503050406030204" pitchFamily="18" charset="0"/>
                            </a:rPr>
                          </m:ctrlPr>
                        </m:sSupPr>
                        <m:e>
                          <m:d>
                            <m:dPr>
                              <m:ctrlPr>
                                <a:rPr lang="en-US" sz="2050" i="1">
                                  <a:latin typeface="Cambria Math" panose="02040503050406030204" pitchFamily="18" charset="0"/>
                                </a:rPr>
                              </m:ctrlPr>
                            </m:dPr>
                            <m:e>
                              <m:sSub>
                                <m:sSubPr>
                                  <m:ctrlPr>
                                    <a:rPr lang="en-US" sz="2050" i="1">
                                      <a:latin typeface="Cambria Math" panose="02040503050406030204" pitchFamily="18" charset="0"/>
                                    </a:rPr>
                                  </m:ctrlPr>
                                </m:sSubPr>
                                <m:e>
                                  <m:r>
                                    <a:rPr lang="en-US" sz="2050" i="1">
                                      <a:latin typeface="Cambria Math" panose="02040503050406030204" pitchFamily="18" charset="0"/>
                                    </a:rPr>
                                    <m:t>𝑑</m:t>
                                  </m:r>
                                </m:e>
                                <m:sub>
                                  <m:r>
                                    <a:rPr lang="en-US" sz="2050" i="1">
                                      <a:latin typeface="Cambria Math" panose="02040503050406030204" pitchFamily="18" charset="0"/>
                                    </a:rPr>
                                    <m:t>1</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𝑝</m:t>
                                  </m:r>
                                </m:e>
                                <m:sub>
                                  <m:r>
                                    <a:rPr lang="en-US" sz="2050" i="1">
                                      <a:latin typeface="Cambria Math" panose="02040503050406030204" pitchFamily="18" charset="0"/>
                                    </a:rPr>
                                    <m:t>1</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𝑏</m:t>
                                  </m:r>
                                </m:e>
                                <m:sub>
                                  <m:r>
                                    <a:rPr lang="en-US" sz="2050" i="1">
                                      <a:latin typeface="Cambria Math" panose="02040503050406030204" pitchFamily="18" charset="0"/>
                                    </a:rPr>
                                    <m:t>1</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𝑑</m:t>
                                  </m:r>
                                </m:e>
                                <m:sub>
                                  <m:r>
                                    <a:rPr lang="en-US" sz="2050" i="1">
                                      <a:latin typeface="Cambria Math" panose="02040503050406030204" pitchFamily="18" charset="0"/>
                                    </a:rPr>
                                    <m:t>2</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𝑝</m:t>
                                  </m:r>
                                </m:e>
                                <m:sub>
                                  <m:r>
                                    <a:rPr lang="en-US" sz="2050" i="1">
                                      <a:latin typeface="Cambria Math" panose="02040503050406030204" pitchFamily="18" charset="0"/>
                                    </a:rPr>
                                    <m:t>2</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𝑏</m:t>
                                  </m:r>
                                </m:e>
                                <m:sub>
                                  <m:r>
                                    <a:rPr lang="en-US" sz="2050" i="1">
                                      <a:latin typeface="Cambria Math" panose="02040503050406030204" pitchFamily="18" charset="0"/>
                                    </a:rPr>
                                    <m:t>2</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𝑑</m:t>
                                  </m:r>
                                </m:e>
                                <m:sub>
                                  <m:r>
                                    <a:rPr lang="en-US" sz="2050" i="1">
                                      <a:latin typeface="Cambria Math" panose="02040503050406030204" pitchFamily="18" charset="0"/>
                                    </a:rPr>
                                    <m:t>𝑛</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𝑝</m:t>
                                  </m:r>
                                </m:e>
                                <m:sub>
                                  <m:r>
                                    <a:rPr lang="en-US" sz="2050" i="1">
                                      <a:latin typeface="Cambria Math" panose="02040503050406030204" pitchFamily="18" charset="0"/>
                                    </a:rPr>
                                    <m:t>𝑛</m:t>
                                  </m:r>
                                </m:sub>
                              </m:sSub>
                              <m:r>
                                <a:rPr lang="en-US" sz="2050" i="1">
                                  <a:latin typeface="Cambria Math" panose="02040503050406030204" pitchFamily="18" charset="0"/>
                                </a:rPr>
                                <m:t>−</m:t>
                              </m:r>
                              <m:sSub>
                                <m:sSubPr>
                                  <m:ctrlPr>
                                    <a:rPr lang="en-US" sz="2050" i="1">
                                      <a:latin typeface="Cambria Math" panose="02040503050406030204" pitchFamily="18" charset="0"/>
                                    </a:rPr>
                                  </m:ctrlPr>
                                </m:sSubPr>
                                <m:e>
                                  <m:r>
                                    <a:rPr lang="en-US" sz="2050" i="1">
                                      <a:latin typeface="Cambria Math" panose="02040503050406030204" pitchFamily="18" charset="0"/>
                                    </a:rPr>
                                    <m:t>𝑏</m:t>
                                  </m:r>
                                </m:e>
                                <m:sub>
                                  <m:r>
                                    <a:rPr lang="en-US" sz="2050" i="1">
                                      <a:latin typeface="Cambria Math" panose="02040503050406030204" pitchFamily="18" charset="0"/>
                                    </a:rPr>
                                    <m:t>𝑛</m:t>
                                  </m:r>
                                </m:sub>
                              </m:sSub>
                            </m:e>
                          </m:d>
                        </m:e>
                        <m:sup>
                          <m:r>
                            <a:rPr lang="en-US" sz="2050" i="1">
                              <a:latin typeface="Cambria Math" panose="02040503050406030204" pitchFamily="18" charset="0"/>
                            </a:rPr>
                            <m:t>𝑇</m:t>
                          </m:r>
                        </m:sup>
                      </m:sSup>
                    </m:oMath>
                  </m:oMathPara>
                </a14:m>
                <a:endParaRPr lang="en-US" sz="2050" dirty="0" smtClean="0"/>
              </a:p>
              <a:p>
                <a:pPr marL="0" indent="0">
                  <a:buNone/>
                </a:pPr>
                <a:r>
                  <a:rPr lang="en-US" sz="2050" dirty="0"/>
                  <a:t>Such image will be classified as class </a:t>
                </a:r>
                <a:r>
                  <a:rPr lang="en-US" sz="2050" i="1" dirty="0"/>
                  <a:t>k</a:t>
                </a:r>
                <a:r>
                  <a:rPr lang="en-US" sz="2050" dirty="0"/>
                  <a:t> if </a:t>
                </a:r>
                <a:r>
                  <a:rPr lang="en-US" sz="2050" i="1" dirty="0" err="1"/>
                  <a:t>d</a:t>
                </a:r>
                <a:r>
                  <a:rPr lang="en-US" sz="2050" i="1" baseline="-25000" dirty="0" err="1"/>
                  <a:t>k</a:t>
                </a:r>
                <a:r>
                  <a:rPr lang="en-US" sz="2050" dirty="0"/>
                  <a:t> is largest or </a:t>
                </a:r>
                <a:r>
                  <a:rPr lang="en-US" sz="2050" i="1" dirty="0" err="1"/>
                  <a:t>d</a:t>
                </a:r>
                <a:r>
                  <a:rPr lang="en-US" sz="2050" i="1" baseline="-25000" dirty="0" err="1"/>
                  <a:t>k</a:t>
                </a:r>
                <a:r>
                  <a:rPr lang="en-US" sz="2050" dirty="0"/>
                  <a:t> is larger than some threshold. In general, the ANN-based image classification in this research is based on upper level from baseline (not from zero).</a:t>
                </a:r>
              </a:p>
              <a:p>
                <a:pPr marL="0" indent="0">
                  <a:buNone/>
                </a:pPr>
                <a:endParaRPr lang="en-US" sz="205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 y="914399"/>
                <a:ext cx="11998960" cy="5176066"/>
              </a:xfrm>
              <a:blipFill>
                <a:blip r:embed="rId2"/>
                <a:stretch>
                  <a:fillRect l="-610" t="-824" r="-813" b="-388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33</a:t>
            </a:fld>
            <a:endParaRPr lang="en-US"/>
          </a:p>
        </p:txBody>
      </p:sp>
    </p:spTree>
    <p:extLst>
      <p:ext uri="{BB962C8B-B14F-4D97-AF65-F5344CB8AC3E}">
        <p14:creationId xmlns:p14="http://schemas.microsoft.com/office/powerpoint/2010/main" val="4219536492"/>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3. Matrix neural network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39600" cy="5176066"/>
              </a:xfrm>
            </p:spPr>
            <p:txBody>
              <a:bodyPr>
                <a:noAutofit/>
              </a:bodyPr>
              <a:lstStyle/>
              <a:p>
                <a:pPr marL="0" indent="0">
                  <a:buNone/>
                </a:pPr>
                <a:r>
                  <a:rPr lang="en-US" sz="2150" dirty="0">
                    <a:effectLst>
                      <a:outerShdw blurRad="38100" dist="38100" dir="2700000" algn="tl">
                        <a:srgbClr val="000000">
                          <a:alpha val="43137"/>
                        </a:srgbClr>
                      </a:outerShdw>
                    </a:effectLst>
                  </a:rPr>
                  <a:t>In advanced research, the probability deviation </a:t>
                </a:r>
                <a:r>
                  <a:rPr lang="en-US" sz="2150" b="1" i="1" dirty="0">
                    <a:effectLst>
                      <a:outerShdw blurRad="38100" dist="38100" dir="2700000" algn="tl">
                        <a:srgbClr val="000000">
                          <a:alpha val="43137"/>
                        </a:srgbClr>
                      </a:outerShdw>
                    </a:effectLst>
                  </a:rPr>
                  <a:t>d</a:t>
                </a:r>
                <a:r>
                  <a:rPr lang="en-US" sz="2150" dirty="0">
                    <a:effectLst>
                      <a:outerShdw blurRad="38100" dist="38100" dir="2700000" algn="tl">
                        <a:srgbClr val="000000">
                          <a:alpha val="43137"/>
                        </a:srgbClr>
                      </a:outerShdw>
                    </a:effectLst>
                  </a:rPr>
                  <a:t> is improved by a so-called </a:t>
                </a:r>
                <a:r>
                  <a:rPr lang="en-US" sz="2150" dirty="0" smtClean="0">
                    <a:effectLst>
                      <a:outerShdw blurRad="38100" dist="38100" dir="2700000" algn="tl">
                        <a:srgbClr val="000000">
                          <a:alpha val="43137"/>
                        </a:srgbClr>
                      </a:outerShdw>
                    </a:effectLst>
                  </a:rPr>
                  <a:t>adjusted-line (not tested yet)</a:t>
                </a:r>
                <a:r>
                  <a:rPr lang="en-US" sz="2150" dirty="0" smtClean="0"/>
                  <a:t>. </a:t>
                </a:r>
                <a:r>
                  <a:rPr lang="en-US" sz="2150" dirty="0"/>
                  <a:t>For instance, the adjusted-line </a:t>
                </a:r>
                <a:r>
                  <a:rPr lang="en-US" sz="2150" b="1" i="1" dirty="0"/>
                  <a:t>a</a:t>
                </a:r>
                <a:r>
                  <a:rPr lang="en-US" sz="2150" dirty="0"/>
                  <a:t> = (</a:t>
                </a:r>
                <a:r>
                  <a:rPr lang="en-US" sz="2150" i="1" dirty="0"/>
                  <a:t>a</a:t>
                </a:r>
                <a:r>
                  <a:rPr lang="en-US" sz="2150" baseline="-25000" dirty="0"/>
                  <a:t>1</a:t>
                </a:r>
                <a:r>
                  <a:rPr lang="en-US" sz="2150" dirty="0"/>
                  <a:t>, </a:t>
                </a:r>
                <a:r>
                  <a:rPr lang="en-US" sz="2150" i="1" dirty="0"/>
                  <a:t>a</a:t>
                </a:r>
                <a:r>
                  <a:rPr lang="en-US" sz="2150" baseline="-25000" dirty="0"/>
                  <a:t>2</a:t>
                </a:r>
                <a:r>
                  <a:rPr lang="en-US" sz="2150" dirty="0"/>
                  <a:t>,…, </a:t>
                </a:r>
                <a:r>
                  <a:rPr lang="en-US" sz="2150" i="1" dirty="0"/>
                  <a:t>a</a:t>
                </a:r>
                <a:r>
                  <a:rPr lang="en-US" sz="2150" i="1" baseline="-25000" dirty="0"/>
                  <a:t>n</a:t>
                </a:r>
                <a:r>
                  <a:rPr lang="en-US" sz="2150" dirty="0"/>
                  <a:t>)</a:t>
                </a:r>
                <a:r>
                  <a:rPr lang="en-US" sz="2150" i="1" baseline="30000" dirty="0"/>
                  <a:t>T</a:t>
                </a:r>
                <a:r>
                  <a:rPr lang="en-US" sz="2150" dirty="0"/>
                  <a:t> consists of </a:t>
                </a:r>
                <a:r>
                  <a:rPr lang="en-US" sz="2150" i="1" dirty="0"/>
                  <a:t>n</a:t>
                </a:r>
                <a:r>
                  <a:rPr lang="en-US" sz="2150" dirty="0"/>
                  <a:t> adjusted-points corresponding to </a:t>
                </a:r>
                <a:r>
                  <a:rPr lang="en-US" sz="2150" i="1" dirty="0"/>
                  <a:t>n</a:t>
                </a:r>
                <a:r>
                  <a:rPr lang="en-US" sz="2150" dirty="0"/>
                  <a:t> classes. Each basepoint </a:t>
                </a:r>
                <a:r>
                  <a:rPr lang="en-US" sz="2150" i="1" dirty="0" err="1"/>
                  <a:t>a</a:t>
                </a:r>
                <a:r>
                  <a:rPr lang="en-US" sz="2150" i="1" baseline="-25000" dirty="0" err="1"/>
                  <a:t>i</a:t>
                </a:r>
                <a:r>
                  <a:rPr lang="en-US" sz="2150" dirty="0"/>
                  <a:t> is the average output (average probability) corresponding to class </a:t>
                </a:r>
                <a:r>
                  <a:rPr lang="en-US" sz="2150" i="1" dirty="0" err="1"/>
                  <a:t>i</a:t>
                </a:r>
                <a:r>
                  <a:rPr lang="en-US" sz="2150" dirty="0" smtClean="0"/>
                  <a:t>.</a:t>
                </a:r>
              </a:p>
              <a:p>
                <a:pPr marL="0" indent="0" algn="ctr">
                  <a:buNone/>
                </a:pPr>
                <a14:m>
                  <m:oMath xmlns:m="http://schemas.openxmlformats.org/officeDocument/2006/math">
                    <m:sSub>
                      <m:sSubPr>
                        <m:ctrlPr>
                          <a:rPr lang="en-US" sz="2150" i="1">
                            <a:latin typeface="Cambria Math" panose="02040503050406030204" pitchFamily="18" charset="0"/>
                          </a:rPr>
                        </m:ctrlPr>
                      </m:sSubPr>
                      <m:e>
                        <m:r>
                          <a:rPr lang="en-US" sz="2150" i="1">
                            <a:latin typeface="Cambria Math" panose="02040503050406030204" pitchFamily="18" charset="0"/>
                          </a:rPr>
                          <m:t>𝑎</m:t>
                        </m:r>
                      </m:e>
                      <m:sub>
                        <m:r>
                          <a:rPr lang="en-US" sz="2150" i="1">
                            <a:latin typeface="Cambria Math" panose="02040503050406030204" pitchFamily="18" charset="0"/>
                          </a:rPr>
                          <m:t>𝑖</m:t>
                        </m:r>
                      </m:sub>
                    </m:sSub>
                    <m:r>
                      <a:rPr lang="en-US" sz="2150" i="1">
                        <a:latin typeface="Cambria Math" panose="02040503050406030204" pitchFamily="18" charset="0"/>
                      </a:rPr>
                      <m:t>=</m:t>
                    </m:r>
                    <m:f>
                      <m:fPr>
                        <m:ctrlPr>
                          <a:rPr lang="en-US" sz="2150" i="1">
                            <a:latin typeface="Cambria Math" panose="02040503050406030204" pitchFamily="18" charset="0"/>
                          </a:rPr>
                        </m:ctrlPr>
                      </m:fPr>
                      <m:num>
                        <m:r>
                          <a:rPr lang="en-US" sz="2150" i="1">
                            <a:latin typeface="Cambria Math" panose="02040503050406030204" pitchFamily="18" charset="0"/>
                          </a:rPr>
                          <m:t>1</m:t>
                        </m:r>
                      </m:num>
                      <m:den>
                        <m:r>
                          <a:rPr lang="en-US" sz="2150" i="1">
                            <a:latin typeface="Cambria Math" panose="02040503050406030204" pitchFamily="18" charset="0"/>
                          </a:rPr>
                          <m:t>𝑁</m:t>
                        </m:r>
                      </m:den>
                    </m:f>
                    <m:nary>
                      <m:naryPr>
                        <m:chr m:val="∑"/>
                        <m:limLoc m:val="undOvr"/>
                        <m:ctrlPr>
                          <a:rPr lang="en-US" sz="2150" i="1">
                            <a:latin typeface="Cambria Math" panose="02040503050406030204" pitchFamily="18" charset="0"/>
                          </a:rPr>
                        </m:ctrlPr>
                      </m:naryPr>
                      <m:sub>
                        <m:r>
                          <a:rPr lang="en-US" sz="2150" i="1">
                            <a:latin typeface="Cambria Math" panose="02040503050406030204" pitchFamily="18" charset="0"/>
                          </a:rPr>
                          <m:t>𝑘</m:t>
                        </m:r>
                        <m:r>
                          <a:rPr lang="en-US" sz="2150" i="1">
                            <a:latin typeface="Cambria Math" panose="02040503050406030204" pitchFamily="18" charset="0"/>
                          </a:rPr>
                          <m:t>=1</m:t>
                        </m:r>
                      </m:sub>
                      <m:sup>
                        <m:r>
                          <a:rPr lang="en-US" sz="2150" i="1">
                            <a:latin typeface="Cambria Math" panose="02040503050406030204" pitchFamily="18" charset="0"/>
                          </a:rPr>
                          <m:t>𝑁</m:t>
                        </m:r>
                      </m:sup>
                      <m:e>
                        <m:sSub>
                          <m:sSubPr>
                            <m:ctrlPr>
                              <a:rPr lang="en-US" sz="2150" i="1">
                                <a:latin typeface="Cambria Math" panose="02040503050406030204" pitchFamily="18" charset="0"/>
                              </a:rPr>
                            </m:ctrlPr>
                          </m:sSubPr>
                          <m:e>
                            <m:r>
                              <a:rPr lang="en-US" sz="2150" i="1">
                                <a:latin typeface="Cambria Math" panose="02040503050406030204" pitchFamily="18" charset="0"/>
                              </a:rPr>
                              <m:t>𝑜</m:t>
                            </m:r>
                          </m:e>
                          <m:sub>
                            <m:r>
                              <a:rPr lang="en-US" sz="2150" i="1">
                                <a:latin typeface="Cambria Math" panose="02040503050406030204" pitchFamily="18" charset="0"/>
                              </a:rPr>
                              <m:t>𝑖</m:t>
                            </m:r>
                          </m:sub>
                        </m:sSub>
                        <m:d>
                          <m:dPr>
                            <m:ctrlPr>
                              <a:rPr lang="en-US" sz="2150" i="1">
                                <a:latin typeface="Cambria Math" panose="02040503050406030204" pitchFamily="18" charset="0"/>
                              </a:rPr>
                            </m:ctrlPr>
                          </m:dPr>
                          <m:e>
                            <m:r>
                              <a:rPr lang="en-US" sz="2150" i="1">
                                <a:latin typeface="Cambria Math" panose="02040503050406030204" pitchFamily="18" charset="0"/>
                              </a:rPr>
                              <m:t>𝑘</m:t>
                            </m:r>
                          </m:e>
                        </m:d>
                      </m:e>
                    </m:nary>
                  </m:oMath>
                </a14:m>
                <a:r>
                  <a:rPr lang="en-US" sz="2150" dirty="0"/>
                  <a:t> where </a:t>
                </a:r>
                <a:r>
                  <a:rPr lang="en-US" sz="2150" i="1" dirty="0"/>
                  <a:t>o</a:t>
                </a:r>
                <a:r>
                  <a:rPr lang="en-US" sz="2150" i="1" baseline="-25000" dirty="0"/>
                  <a:t>i</a:t>
                </a:r>
                <a:r>
                  <a:rPr lang="en-US" sz="2150" dirty="0"/>
                  <a:t>(</a:t>
                </a:r>
                <a:r>
                  <a:rPr lang="en-US" sz="2150" i="1" dirty="0"/>
                  <a:t>k</a:t>
                </a:r>
                <a:r>
                  <a:rPr lang="en-US" sz="2150" dirty="0"/>
                  <a:t>) is the output of the image </a:t>
                </a:r>
                <a:r>
                  <a:rPr lang="en-US" sz="2150" i="1" dirty="0"/>
                  <a:t>k</a:t>
                </a:r>
                <a:r>
                  <a:rPr lang="en-US" sz="2150" dirty="0"/>
                  <a:t> corresponding to class </a:t>
                </a:r>
                <a:r>
                  <a:rPr lang="en-US" sz="2150" i="1" dirty="0" err="1"/>
                  <a:t>i</a:t>
                </a:r>
                <a:endParaRPr lang="en-US" sz="2150" dirty="0"/>
              </a:p>
              <a:p>
                <a:pPr marL="0" indent="0">
                  <a:buNone/>
                </a:pPr>
                <a:r>
                  <a:rPr lang="en-US" sz="2150" dirty="0"/>
                  <a:t>Where </a:t>
                </a:r>
                <a:r>
                  <a:rPr lang="en-US" sz="2150" i="1" dirty="0"/>
                  <a:t>N</a:t>
                </a:r>
                <a:r>
                  <a:rPr lang="en-US" sz="2150" dirty="0"/>
                  <a:t> is the total number of images in training dataset. Please pay attention that </a:t>
                </a:r>
                <a:r>
                  <a:rPr lang="en-US" sz="2150" i="1" dirty="0"/>
                  <a:t>o</a:t>
                </a:r>
                <a:r>
                  <a:rPr lang="en-US" sz="2150" i="1" baseline="-25000" dirty="0"/>
                  <a:t>i</a:t>
                </a:r>
                <a:r>
                  <a:rPr lang="en-US" sz="2150" dirty="0"/>
                  <a:t>(</a:t>
                </a:r>
                <a:r>
                  <a:rPr lang="en-US" sz="2150" i="1" dirty="0"/>
                  <a:t>k</a:t>
                </a:r>
                <a:r>
                  <a:rPr lang="en-US" sz="2150" dirty="0"/>
                  <a:t>) is just the </a:t>
                </a:r>
                <a:r>
                  <a:rPr lang="en-US" sz="2150" i="1" dirty="0" err="1"/>
                  <a:t>i</a:t>
                </a:r>
                <a:r>
                  <a:rPr lang="en-US" sz="2150" baseline="30000" dirty="0" err="1"/>
                  <a:t>th</a:t>
                </a:r>
                <a:r>
                  <a:rPr lang="en-US" sz="2150" dirty="0"/>
                  <a:t> output of ANN classifier whose input is image </a:t>
                </a:r>
                <a:r>
                  <a:rPr lang="en-US" sz="2150" i="1" dirty="0"/>
                  <a:t>k</a:t>
                </a:r>
                <a:r>
                  <a:rPr lang="en-US" sz="2150" dirty="0"/>
                  <a:t> but such image </a:t>
                </a:r>
                <a:r>
                  <a:rPr lang="en-US" sz="2150" i="1" dirty="0"/>
                  <a:t>k</a:t>
                </a:r>
                <a:r>
                  <a:rPr lang="en-US" sz="2150" dirty="0"/>
                  <a:t> may not belong to class </a:t>
                </a:r>
                <a:r>
                  <a:rPr lang="en-US" sz="2150" i="1" dirty="0" err="1"/>
                  <a:t>i</a:t>
                </a:r>
                <a:r>
                  <a:rPr lang="en-US" sz="2150" dirty="0"/>
                  <a:t>. The advanced probability deviation </a:t>
                </a:r>
                <a:r>
                  <a:rPr lang="en-US" sz="2150" b="1" i="1" dirty="0"/>
                  <a:t>d</a:t>
                </a:r>
                <a:r>
                  <a:rPr lang="en-US" sz="2150" baseline="30000" dirty="0"/>
                  <a:t>*</a:t>
                </a:r>
                <a:r>
                  <a:rPr lang="en-US" sz="2150" dirty="0"/>
                  <a:t> is wise-multiplication of probability deviation </a:t>
                </a:r>
                <a:r>
                  <a:rPr lang="en-US" sz="2150" b="1" i="1" dirty="0"/>
                  <a:t>d</a:t>
                </a:r>
                <a:r>
                  <a:rPr lang="en-US" sz="2150" dirty="0"/>
                  <a:t> and soft-max function of adjusted-line </a:t>
                </a:r>
                <a:r>
                  <a:rPr lang="en-US" sz="2150" b="1" i="1" dirty="0"/>
                  <a:t>a</a:t>
                </a:r>
                <a:r>
                  <a:rPr lang="en-US" sz="2150" dirty="0"/>
                  <a:t>.</a:t>
                </a:r>
              </a:p>
              <a:p>
                <a:pPr marL="0" indent="0">
                  <a:buNone/>
                </a:pPr>
                <a14:m>
                  <m:oMathPara xmlns:m="http://schemas.openxmlformats.org/officeDocument/2006/math">
                    <m:oMathParaPr>
                      <m:jc m:val="centerGroup"/>
                    </m:oMathParaPr>
                    <m:oMath xmlns:m="http://schemas.openxmlformats.org/officeDocument/2006/math">
                      <m:sSup>
                        <m:sSupPr>
                          <m:ctrlPr>
                            <a:rPr lang="en-US" sz="2150" i="1">
                              <a:latin typeface="Cambria Math" panose="02040503050406030204" pitchFamily="18" charset="0"/>
                            </a:rPr>
                          </m:ctrlPr>
                        </m:sSupPr>
                        <m:e>
                          <m:r>
                            <a:rPr lang="en-US" sz="2150" b="1" i="1">
                              <a:latin typeface="Cambria Math" panose="02040503050406030204" pitchFamily="18" charset="0"/>
                            </a:rPr>
                            <m:t>𝒅</m:t>
                          </m:r>
                        </m:e>
                        <m:sup>
                          <m:r>
                            <a:rPr lang="en-US" sz="2150" i="1">
                              <a:latin typeface="Cambria Math" panose="02040503050406030204" pitchFamily="18" charset="0"/>
                            </a:rPr>
                            <m:t>∗</m:t>
                          </m:r>
                        </m:sup>
                      </m:sSup>
                      <m:r>
                        <a:rPr lang="en-US" sz="2150" i="1">
                          <a:latin typeface="Cambria Math" panose="02040503050406030204" pitchFamily="18" charset="0"/>
                        </a:rPr>
                        <m:t>=</m:t>
                      </m:r>
                      <m:sSup>
                        <m:sSupPr>
                          <m:ctrlPr>
                            <a:rPr lang="en-US" sz="2150" i="1">
                              <a:latin typeface="Cambria Math" panose="02040503050406030204" pitchFamily="18" charset="0"/>
                            </a:rPr>
                          </m:ctrlPr>
                        </m:sSupPr>
                        <m:e>
                          <m:d>
                            <m:dPr>
                              <m:ctrlPr>
                                <a:rPr lang="en-US" sz="2150" i="1">
                                  <a:latin typeface="Cambria Math" panose="02040503050406030204" pitchFamily="18" charset="0"/>
                                </a:rPr>
                              </m:ctrlPr>
                            </m:dPr>
                            <m:e>
                              <m:sSubSup>
                                <m:sSubSupPr>
                                  <m:ctrlPr>
                                    <a:rPr lang="en-US" sz="2150" i="1">
                                      <a:latin typeface="Cambria Math" panose="02040503050406030204" pitchFamily="18" charset="0"/>
                                    </a:rPr>
                                  </m:ctrlPr>
                                </m:sSubSupPr>
                                <m:e>
                                  <m:r>
                                    <a:rPr lang="en-US" sz="2150" i="1">
                                      <a:latin typeface="Cambria Math" panose="02040503050406030204" pitchFamily="18" charset="0"/>
                                    </a:rPr>
                                    <m:t>𝑑</m:t>
                                  </m:r>
                                </m:e>
                                <m:sub>
                                  <m:r>
                                    <a:rPr lang="en-US" sz="2150" i="1">
                                      <a:latin typeface="Cambria Math" panose="02040503050406030204" pitchFamily="18" charset="0"/>
                                    </a:rPr>
                                    <m:t>1</m:t>
                                  </m:r>
                                </m:sub>
                                <m:sup>
                                  <m:r>
                                    <a:rPr lang="en-US" sz="2150" i="1">
                                      <a:latin typeface="Cambria Math" panose="02040503050406030204" pitchFamily="18" charset="0"/>
                                    </a:rPr>
                                    <m:t>∗</m:t>
                                  </m:r>
                                </m:sup>
                              </m:sSubSup>
                              <m:r>
                                <a:rPr lang="en-US" sz="2150" i="1">
                                  <a:latin typeface="Cambria Math" panose="02040503050406030204" pitchFamily="18" charset="0"/>
                                </a:rPr>
                                <m:t>,</m:t>
                              </m:r>
                              <m:sSubSup>
                                <m:sSubSupPr>
                                  <m:ctrlPr>
                                    <a:rPr lang="en-US" sz="2150" i="1">
                                      <a:latin typeface="Cambria Math" panose="02040503050406030204" pitchFamily="18" charset="0"/>
                                    </a:rPr>
                                  </m:ctrlPr>
                                </m:sSubSupPr>
                                <m:e>
                                  <m:r>
                                    <a:rPr lang="en-US" sz="2150" i="1">
                                      <a:latin typeface="Cambria Math" panose="02040503050406030204" pitchFamily="18" charset="0"/>
                                    </a:rPr>
                                    <m:t>𝑑</m:t>
                                  </m:r>
                                </m:e>
                                <m:sub>
                                  <m:r>
                                    <a:rPr lang="en-US" sz="2150" i="1">
                                      <a:latin typeface="Cambria Math" panose="02040503050406030204" pitchFamily="18" charset="0"/>
                                    </a:rPr>
                                    <m:t>2</m:t>
                                  </m:r>
                                </m:sub>
                                <m:sup>
                                  <m:r>
                                    <a:rPr lang="en-US" sz="2150" i="1">
                                      <a:latin typeface="Cambria Math" panose="02040503050406030204" pitchFamily="18" charset="0"/>
                                    </a:rPr>
                                    <m:t>∗</m:t>
                                  </m:r>
                                </m:sup>
                              </m:sSubSup>
                              <m:r>
                                <a:rPr lang="en-US" sz="2150" i="1">
                                  <a:latin typeface="Cambria Math" panose="02040503050406030204" pitchFamily="18" charset="0"/>
                                </a:rPr>
                                <m:t>,…,</m:t>
                              </m:r>
                              <m:sSubSup>
                                <m:sSubSupPr>
                                  <m:ctrlPr>
                                    <a:rPr lang="en-US" sz="2150" i="1">
                                      <a:latin typeface="Cambria Math" panose="02040503050406030204" pitchFamily="18" charset="0"/>
                                    </a:rPr>
                                  </m:ctrlPr>
                                </m:sSubSupPr>
                                <m:e>
                                  <m:r>
                                    <a:rPr lang="en-US" sz="2150" i="1">
                                      <a:latin typeface="Cambria Math" panose="02040503050406030204" pitchFamily="18" charset="0"/>
                                    </a:rPr>
                                    <m:t>𝑑</m:t>
                                  </m:r>
                                </m:e>
                                <m:sub>
                                  <m:r>
                                    <a:rPr lang="en-US" sz="2150" i="1">
                                      <a:latin typeface="Cambria Math" panose="02040503050406030204" pitchFamily="18" charset="0"/>
                                    </a:rPr>
                                    <m:t>𝑛</m:t>
                                  </m:r>
                                </m:sub>
                                <m:sup>
                                  <m:r>
                                    <a:rPr lang="en-US" sz="2150" i="1">
                                      <a:latin typeface="Cambria Math" panose="02040503050406030204" pitchFamily="18" charset="0"/>
                                    </a:rPr>
                                    <m:t>∗</m:t>
                                  </m:r>
                                </m:sup>
                              </m:sSubSup>
                            </m:e>
                          </m:d>
                        </m:e>
                        <m:sup>
                          <m:r>
                            <a:rPr lang="en-US" sz="2150" i="1">
                              <a:latin typeface="Cambria Math" panose="02040503050406030204" pitchFamily="18" charset="0"/>
                            </a:rPr>
                            <m:t>𝑇</m:t>
                          </m:r>
                        </m:sup>
                      </m:sSup>
                      <m:r>
                        <a:rPr lang="en-US" sz="2150" i="1">
                          <a:latin typeface="Cambria Math" panose="02040503050406030204" pitchFamily="18" charset="0"/>
                        </a:rPr>
                        <m:t>=</m:t>
                      </m:r>
                      <m:r>
                        <a:rPr lang="en-US" sz="2150" b="1" i="1">
                          <a:latin typeface="Cambria Math" panose="02040503050406030204" pitchFamily="18" charset="0"/>
                        </a:rPr>
                        <m:t>𝒅</m:t>
                      </m:r>
                      <m:r>
                        <a:rPr lang="en-US" sz="2150" i="1">
                          <a:latin typeface="Cambria Math" panose="02040503050406030204" pitchFamily="18" charset="0"/>
                        </a:rPr>
                        <m:t>⨀</m:t>
                      </m:r>
                      <m:r>
                        <m:rPr>
                          <m:sty m:val="p"/>
                        </m:rPr>
                        <a:rPr lang="en-US" sz="2150">
                          <a:latin typeface="Cambria Math" panose="02040503050406030204" pitchFamily="18" charset="0"/>
                        </a:rPr>
                        <m:t>softmax</m:t>
                      </m:r>
                      <m:d>
                        <m:dPr>
                          <m:ctrlPr>
                            <a:rPr lang="en-US" sz="2150" i="1">
                              <a:latin typeface="Cambria Math" panose="02040503050406030204" pitchFamily="18" charset="0"/>
                            </a:rPr>
                          </m:ctrlPr>
                        </m:dPr>
                        <m:e>
                          <m:r>
                            <a:rPr lang="en-US" sz="2150" b="1" i="1">
                              <a:latin typeface="Cambria Math" panose="02040503050406030204" pitchFamily="18" charset="0"/>
                            </a:rPr>
                            <m:t>𝒂</m:t>
                          </m:r>
                        </m:e>
                      </m:d>
                    </m:oMath>
                  </m:oMathPara>
                </a14:m>
                <a:endParaRPr lang="en-US" sz="2150" dirty="0"/>
              </a:p>
              <a:p>
                <a:pPr marL="0" indent="0">
                  <a:buNone/>
                </a:pPr>
                <a:r>
                  <a:rPr lang="en-US" sz="2150" dirty="0"/>
                  <a:t>Such image will be classified as class </a:t>
                </a:r>
                <a:r>
                  <a:rPr lang="en-US" sz="2150" i="1" dirty="0"/>
                  <a:t>k</a:t>
                </a:r>
                <a:r>
                  <a:rPr lang="en-US" sz="2150" dirty="0"/>
                  <a:t> if </a:t>
                </a:r>
                <a:r>
                  <a:rPr lang="en-US" sz="2150" i="1" dirty="0" err="1"/>
                  <a:t>d</a:t>
                </a:r>
                <a:r>
                  <a:rPr lang="en-US" sz="2150" i="1" baseline="-25000" dirty="0" err="1"/>
                  <a:t>k</a:t>
                </a:r>
                <a:r>
                  <a:rPr lang="en-US" sz="2150" baseline="30000" dirty="0"/>
                  <a:t>*</a:t>
                </a:r>
                <a:r>
                  <a:rPr lang="en-US" sz="2150" dirty="0"/>
                  <a:t> is largest or </a:t>
                </a:r>
                <a:r>
                  <a:rPr lang="en-US" sz="2150" i="1" dirty="0" err="1"/>
                  <a:t>d</a:t>
                </a:r>
                <a:r>
                  <a:rPr lang="en-US" sz="2150" i="1" baseline="-25000" dirty="0" err="1"/>
                  <a:t>k</a:t>
                </a:r>
                <a:r>
                  <a:rPr lang="en-US" sz="2150" baseline="30000" dirty="0"/>
                  <a:t>*</a:t>
                </a:r>
                <a:r>
                  <a:rPr lang="en-US" sz="2150" dirty="0"/>
                  <a:t> is larger than some threshold. It is easy to recognize that </a:t>
                </a:r>
                <a:r>
                  <a:rPr lang="en-US" sz="2150" dirty="0" smtClean="0"/>
                  <a:t>the probability </a:t>
                </a:r>
                <a:r>
                  <a:rPr lang="en-US" sz="2150" dirty="0"/>
                  <a:t>deviation </a:t>
                </a:r>
                <a:r>
                  <a:rPr lang="en-US" sz="2150" b="1" i="1" dirty="0"/>
                  <a:t>d</a:t>
                </a:r>
                <a:r>
                  <a:rPr lang="en-US" sz="2150" dirty="0"/>
                  <a:t> is weighted by the concentrations (weights) on </a:t>
                </a:r>
                <a:r>
                  <a:rPr lang="en-US" sz="2150" i="1" dirty="0"/>
                  <a:t>C</a:t>
                </a:r>
                <a:r>
                  <a:rPr lang="en-US" sz="2150" dirty="0"/>
                  <a:t> classes, which implies the convergence </a:t>
                </a:r>
                <a:r>
                  <a:rPr lang="en-US" sz="2150" dirty="0" smtClean="0"/>
                  <a:t>of leaning ANN. </a:t>
                </a:r>
                <a:r>
                  <a:rPr lang="en-US" sz="2150" dirty="0"/>
                  <a:t>Experimental design for hypothesis testing on image classification with ANN classifiers in both matrix form and vector form is described in next section. The implementation source code of matrix neural network, transformer, and convolutional network is available at</a:t>
                </a:r>
              </a:p>
              <a:p>
                <a:pPr marL="0" indent="0" algn="ctr">
                  <a:buNone/>
                </a:pPr>
                <a:r>
                  <a:rPr lang="en-US" sz="2150" dirty="0"/>
                  <a:t>https://github.com/ngphloc/ai/tree/main/3_implementation/src/net/ea/ann/mane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39600" cy="5176066"/>
              </a:xfrm>
              <a:blipFill>
                <a:blip r:embed="rId2"/>
                <a:stretch>
                  <a:fillRect l="-658" t="-824" r="-658" b="-176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34</a:t>
            </a:fld>
            <a:endParaRPr lang="en-US"/>
          </a:p>
        </p:txBody>
      </p:sp>
    </p:spTree>
    <p:extLst>
      <p:ext uri="{BB962C8B-B14F-4D97-AF65-F5344CB8AC3E}">
        <p14:creationId xmlns:p14="http://schemas.microsoft.com/office/powerpoint/2010/main" val="2515498037"/>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4</a:t>
            </a:r>
            <a:r>
              <a:rPr lang="en-US" dirty="0"/>
              <a:t>. Experimental </a:t>
            </a:r>
            <a:r>
              <a:rPr lang="en-US" dirty="0" smtClean="0"/>
              <a:t>design (main)</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r>
              <a:rPr lang="en-US" sz="1900" dirty="0">
                <a:effectLst>
                  <a:outerShdw blurRad="38100" dist="38100" dir="2700000" algn="tl">
                    <a:srgbClr val="000000">
                      <a:alpha val="43137"/>
                    </a:srgbClr>
                  </a:outerShdw>
                </a:effectLst>
              </a:rPr>
              <a:t>The experiments in this research focus on image classification by matrix neural network (MNN) called </a:t>
            </a:r>
            <a:r>
              <a:rPr lang="en-US" sz="1900" i="1" dirty="0">
                <a:effectLst>
                  <a:outerShdw blurRad="38100" dist="38100" dir="2700000" algn="tl">
                    <a:srgbClr val="000000">
                      <a:alpha val="43137"/>
                    </a:srgbClr>
                  </a:outerShdw>
                </a:effectLst>
              </a:rPr>
              <a:t>MNN classifier</a:t>
            </a:r>
            <a:r>
              <a:rPr lang="en-US" sz="1900" dirty="0">
                <a:effectLst>
                  <a:outerShdw blurRad="38100" dist="38100" dir="2700000" algn="tl">
                    <a:srgbClr val="000000">
                      <a:alpha val="43137"/>
                    </a:srgbClr>
                  </a:outerShdw>
                </a:effectLst>
              </a:rPr>
              <a:t>, convolutional neural network (CNN) called </a:t>
            </a:r>
            <a:r>
              <a:rPr lang="en-US" sz="1900" i="1" dirty="0">
                <a:effectLst>
                  <a:outerShdw blurRad="38100" dist="38100" dir="2700000" algn="tl">
                    <a:srgbClr val="000000">
                      <a:alpha val="43137"/>
                    </a:srgbClr>
                  </a:outerShdw>
                </a:effectLst>
              </a:rPr>
              <a:t>CNN classifier</a:t>
            </a:r>
            <a:r>
              <a:rPr lang="en-US" sz="1900" dirty="0">
                <a:effectLst>
                  <a:outerShdw blurRad="38100" dist="38100" dir="2700000" algn="tl">
                    <a:srgbClr val="000000">
                      <a:alpha val="43137"/>
                    </a:srgbClr>
                  </a:outerShdw>
                </a:effectLst>
              </a:rPr>
              <a:t>, and transformer called transformer-based classifier (</a:t>
            </a:r>
            <a:r>
              <a:rPr lang="en-US" sz="1900" i="1" dirty="0">
                <a:effectLst>
                  <a:outerShdw blurRad="38100" dist="38100" dir="2700000" algn="tl">
                    <a:srgbClr val="000000">
                      <a:alpha val="43137"/>
                    </a:srgbClr>
                  </a:outerShdw>
                </a:effectLst>
              </a:rPr>
              <a:t>TB classifier</a:t>
            </a:r>
            <a:r>
              <a:rPr lang="en-US" sz="1900" dirty="0">
                <a:effectLst>
                  <a:outerShdw blurRad="38100" dist="38100" dir="2700000" algn="tl">
                    <a:srgbClr val="000000">
                      <a:alpha val="43137"/>
                    </a:srgbClr>
                  </a:outerShdw>
                </a:effectLst>
              </a:rPr>
              <a:t>)</a:t>
            </a:r>
            <a:r>
              <a:rPr lang="en-US" sz="1900" dirty="0"/>
              <a:t>. The main purpose of this experimental design is to evaluate the preeminence of matrix neural network in comparisons among MNN classifier, CNN classifier, and TB classifier, which is also related to diversity metric and convergence speed although accuracy metric in classification is also concerned because there are many excellent research resulting out very high accuracy in image </a:t>
            </a:r>
            <a:r>
              <a:rPr lang="en-US" sz="1900" dirty="0" smtClean="0"/>
              <a:t>classification. </a:t>
            </a:r>
            <a:r>
              <a:rPr lang="en-US" sz="1900" dirty="0"/>
              <a:t>In testing dataset, </a:t>
            </a:r>
            <a:r>
              <a:rPr lang="en-US" sz="1900" dirty="0">
                <a:effectLst>
                  <a:outerShdw blurRad="38100" dist="38100" dir="2700000" algn="tl">
                    <a:srgbClr val="000000">
                      <a:alpha val="43137"/>
                    </a:srgbClr>
                  </a:outerShdw>
                </a:effectLst>
              </a:rPr>
              <a:t>MNN classifier, TB classifier, and CNN classifier are represented by the “</a:t>
            </a:r>
            <a:r>
              <a:rPr lang="en-US" sz="1900" i="1" dirty="0">
                <a:effectLst>
                  <a:outerShdw blurRad="38100" dist="38100" dir="2700000" algn="tl">
                    <a:srgbClr val="000000">
                      <a:alpha val="43137"/>
                    </a:srgbClr>
                  </a:outerShdw>
                </a:effectLst>
              </a:rPr>
              <a:t>feature</a:t>
            </a:r>
            <a:r>
              <a:rPr lang="en-US" sz="1900" dirty="0">
                <a:effectLst>
                  <a:outerShdw blurRad="38100" dist="38100" dir="2700000" algn="tl">
                    <a:srgbClr val="000000">
                      <a:alpha val="43137"/>
                    </a:srgbClr>
                  </a:outerShdw>
                </a:effectLst>
              </a:rPr>
              <a:t>” field whose values are “</a:t>
            </a:r>
            <a:r>
              <a:rPr lang="en-US" sz="1900" i="1" dirty="0">
                <a:effectLst>
                  <a:outerShdw blurRad="38100" dist="38100" dir="2700000" algn="tl">
                    <a:srgbClr val="000000">
                      <a:alpha val="43137"/>
                    </a:srgbClr>
                  </a:outerShdw>
                </a:effectLst>
              </a:rPr>
              <a:t>weight</a:t>
            </a:r>
            <a:r>
              <a:rPr lang="en-US" sz="1900" dirty="0">
                <a:effectLst>
                  <a:outerShdw blurRad="38100" dist="38100" dir="2700000" algn="tl">
                    <a:srgbClr val="000000">
                      <a:alpha val="43137"/>
                    </a:srgbClr>
                  </a:outerShdw>
                </a:effectLst>
              </a:rPr>
              <a:t>”, “</a:t>
            </a:r>
            <a:r>
              <a:rPr lang="en-US" sz="1900" i="1" dirty="0">
                <a:effectLst>
                  <a:outerShdw blurRad="38100" dist="38100" dir="2700000" algn="tl">
                    <a:srgbClr val="000000">
                      <a:alpha val="43137"/>
                    </a:srgbClr>
                  </a:outerShdw>
                </a:effectLst>
              </a:rPr>
              <a:t>trans</a:t>
            </a:r>
            <a:r>
              <a:rPr lang="en-US" sz="1900" dirty="0">
                <a:effectLst>
                  <a:outerShdw blurRad="38100" dist="38100" dir="2700000" algn="tl">
                    <a:srgbClr val="000000">
                      <a:alpha val="43137"/>
                    </a:srgbClr>
                  </a:outerShdw>
                </a:effectLst>
              </a:rPr>
              <a:t>”, and “</a:t>
            </a:r>
            <a:r>
              <a:rPr lang="en-US" sz="1900" i="1" dirty="0" err="1">
                <a:effectLst>
                  <a:outerShdw blurRad="38100" dist="38100" dir="2700000" algn="tl">
                    <a:srgbClr val="000000">
                      <a:alpha val="43137"/>
                    </a:srgbClr>
                  </a:outerShdw>
                </a:effectLst>
              </a:rPr>
              <a:t>conv</a:t>
            </a:r>
            <a:r>
              <a:rPr lang="en-US" sz="1900" dirty="0">
                <a:effectLst>
                  <a:outerShdw blurRad="38100" dist="38100" dir="2700000" algn="tl">
                    <a:srgbClr val="000000">
                      <a:alpha val="43137"/>
                    </a:srgbClr>
                  </a:outerShdw>
                </a:effectLst>
              </a:rPr>
              <a:t>”, respectively</a:t>
            </a:r>
            <a:r>
              <a:rPr lang="en-US" sz="1900" dirty="0"/>
              <a:t>. </a:t>
            </a:r>
            <a:r>
              <a:rPr lang="en-US" sz="1900" dirty="0" smtClean="0"/>
              <a:t>The </a:t>
            </a:r>
            <a:r>
              <a:rPr lang="en-US" sz="1900" dirty="0"/>
              <a:t>aspect of traditional artificial neural network is that its layers are vectors, in other word, its aspect is vectorization. Therefore, </a:t>
            </a:r>
            <a:r>
              <a:rPr lang="en-US" sz="1900" dirty="0">
                <a:effectLst>
                  <a:outerShdw blurRad="38100" dist="38100" dir="2700000" algn="tl">
                    <a:srgbClr val="000000">
                      <a:alpha val="43137"/>
                    </a:srgbClr>
                  </a:outerShdw>
                </a:effectLst>
              </a:rPr>
              <a:t>testing dataset has the second field called “</a:t>
            </a:r>
            <a:r>
              <a:rPr lang="en-US" sz="1900" i="1" dirty="0" err="1">
                <a:effectLst>
                  <a:outerShdw blurRad="38100" dist="38100" dir="2700000" algn="tl">
                    <a:srgbClr val="000000">
                      <a:alpha val="43137"/>
                    </a:srgbClr>
                  </a:outerShdw>
                </a:effectLst>
              </a:rPr>
              <a:t>vec</a:t>
            </a:r>
            <a:r>
              <a:rPr lang="en-US" sz="1900" dirty="0">
                <a:effectLst>
                  <a:outerShdw blurRad="38100" dist="38100" dir="2700000" algn="tl">
                    <a:srgbClr val="000000">
                      <a:alpha val="43137"/>
                    </a:srgbClr>
                  </a:outerShdw>
                </a:effectLst>
              </a:rPr>
              <a:t>” field whose values are true and false representing whether or not MNN classifier, TB classifier, and CNN classifier are </a:t>
            </a:r>
            <a:r>
              <a:rPr lang="en-US" sz="1900" dirty="0" err="1">
                <a:effectLst>
                  <a:outerShdw blurRad="38100" dist="38100" dir="2700000" algn="tl">
                    <a:srgbClr val="000000">
                      <a:alpha val="43137"/>
                    </a:srgbClr>
                  </a:outerShdw>
                </a:effectLst>
              </a:rPr>
              <a:t>vectorized</a:t>
            </a:r>
            <a:r>
              <a:rPr lang="en-US" sz="1900" dirty="0"/>
              <a:t>. When each classifier is </a:t>
            </a:r>
            <a:r>
              <a:rPr lang="en-US" sz="1900" dirty="0" err="1"/>
              <a:t>vectorized</a:t>
            </a:r>
            <a:r>
              <a:rPr lang="en-US" sz="1900" dirty="0"/>
              <a:t>, only its feedforward network (FFN) is </a:t>
            </a:r>
            <a:r>
              <a:rPr lang="en-US" sz="1900" dirty="0" err="1"/>
              <a:t>vectorized</a:t>
            </a:r>
            <a:r>
              <a:rPr lang="en-US" sz="1900" dirty="0"/>
              <a:t> because each classifier always has two parts: 1) the first part for feature extraction is always MNN, attention, or convolutional layers and 2) the second part for classification is always </a:t>
            </a:r>
            <a:r>
              <a:rPr lang="en-US" sz="1900" dirty="0" smtClean="0"/>
              <a:t>FFN.</a:t>
            </a:r>
          </a:p>
          <a:p>
            <a:r>
              <a:rPr lang="en-US" sz="1900" dirty="0" smtClean="0">
                <a:effectLst>
                  <a:outerShdw blurRad="38100" dist="38100" dir="2700000" algn="tl">
                    <a:srgbClr val="000000">
                      <a:alpha val="43137"/>
                    </a:srgbClr>
                  </a:outerShdw>
                </a:effectLst>
              </a:rPr>
              <a:t>Experimental </a:t>
            </a:r>
            <a:r>
              <a:rPr lang="en-US" sz="1900" dirty="0">
                <a:effectLst>
                  <a:outerShdw blurRad="38100" dist="38100" dir="2700000" algn="tl">
                    <a:srgbClr val="000000">
                      <a:alpha val="43137"/>
                    </a:srgbClr>
                  </a:outerShdw>
                </a:effectLst>
              </a:rPr>
              <a:t>design also aims to two-way analysis of variance (two-way ANOVA) whose groups are </a:t>
            </a:r>
            <a:r>
              <a:rPr lang="en-US" sz="1900" i="1" dirty="0">
                <a:effectLst>
                  <a:outerShdw blurRad="38100" dist="38100" dir="2700000" algn="tl">
                    <a:srgbClr val="000000">
                      <a:alpha val="43137"/>
                    </a:srgbClr>
                  </a:outerShdw>
                </a:effectLst>
              </a:rPr>
              <a:t>feature</a:t>
            </a:r>
            <a:r>
              <a:rPr lang="en-US" sz="1900" dirty="0">
                <a:effectLst>
                  <a:outerShdw blurRad="38100" dist="38100" dir="2700000" algn="tl">
                    <a:srgbClr val="000000">
                      <a:alpha val="43137"/>
                    </a:srgbClr>
                  </a:outerShdw>
                </a:effectLst>
              </a:rPr>
              <a:t> field and </a:t>
            </a:r>
            <a:r>
              <a:rPr lang="en-US" sz="1900" i="1" dirty="0" err="1">
                <a:effectLst>
                  <a:outerShdw blurRad="38100" dist="38100" dir="2700000" algn="tl">
                    <a:srgbClr val="000000">
                      <a:alpha val="43137"/>
                    </a:srgbClr>
                  </a:outerShdw>
                </a:effectLst>
              </a:rPr>
              <a:t>vec</a:t>
            </a:r>
            <a:r>
              <a:rPr lang="en-US" sz="1900" dirty="0">
                <a:effectLst>
                  <a:outerShdw blurRad="38100" dist="38100" dir="2700000" algn="tl">
                    <a:srgbClr val="000000">
                      <a:alpha val="43137"/>
                    </a:srgbClr>
                  </a:outerShdw>
                </a:effectLst>
              </a:rPr>
              <a:t> field. Ultimately, the two-way ANOVA aims to test the three </a:t>
            </a:r>
            <a:r>
              <a:rPr lang="en-US" sz="1900" dirty="0" smtClean="0">
                <a:effectLst>
                  <a:outerShdw blurRad="38100" dist="38100" dir="2700000" algn="tl">
                    <a:srgbClr val="000000">
                      <a:alpha val="43137"/>
                    </a:srgbClr>
                  </a:outerShdw>
                </a:effectLst>
              </a:rPr>
              <a:t>hypotheses</a:t>
            </a:r>
            <a:r>
              <a:rPr lang="en-US" sz="1900" dirty="0">
                <a:effectLst>
                  <a:outerShdw blurRad="38100" dist="38100" dir="2700000" algn="tl">
                    <a:srgbClr val="000000">
                      <a:alpha val="43137"/>
                    </a:srgbClr>
                  </a:outerShdw>
                </a:effectLst>
              </a:rPr>
              <a:t>:</a:t>
            </a:r>
            <a:r>
              <a:rPr lang="en-US" sz="1900" dirty="0"/>
              <a:t> </a:t>
            </a:r>
            <a:r>
              <a:rPr lang="en-US" sz="1900" dirty="0">
                <a:effectLst>
                  <a:outerShdw blurRad="38100" dist="38100" dir="2700000" algn="tl">
                    <a:srgbClr val="000000">
                      <a:alpha val="43137"/>
                    </a:srgbClr>
                  </a:outerShdw>
                </a:effectLst>
              </a:rPr>
              <a:t>1) whether MNN is the alternative of CNN</a:t>
            </a:r>
            <a:r>
              <a:rPr lang="en-US" sz="1900" dirty="0"/>
              <a:t>, which focuses on testing the preeminence of MNN classifier in comparison with TB classifier and CNN classifier via testing the </a:t>
            </a:r>
            <a:r>
              <a:rPr lang="en-US" sz="1900" i="1" dirty="0"/>
              <a:t>feature</a:t>
            </a:r>
            <a:r>
              <a:rPr lang="en-US" sz="1900" dirty="0"/>
              <a:t> group, </a:t>
            </a:r>
            <a:r>
              <a:rPr lang="en-US" sz="1900" dirty="0">
                <a:effectLst>
                  <a:outerShdw blurRad="38100" dist="38100" dir="2700000" algn="tl">
                    <a:srgbClr val="000000">
                      <a:alpha val="43137"/>
                    </a:srgbClr>
                  </a:outerShdw>
                </a:effectLst>
              </a:rPr>
              <a:t>2) whether attention is the alternative of CNN</a:t>
            </a:r>
            <a:r>
              <a:rPr lang="en-US" sz="1900" dirty="0"/>
              <a:t>, which focuses on testing the preeminence of TB classifier in comparison with MNN classifier and CNN classifier via testing the </a:t>
            </a:r>
            <a:r>
              <a:rPr lang="en-US" sz="1900" i="1" dirty="0"/>
              <a:t>feature</a:t>
            </a:r>
            <a:r>
              <a:rPr lang="en-US" sz="1900" dirty="0"/>
              <a:t> group, and </a:t>
            </a:r>
            <a:r>
              <a:rPr lang="en-US" sz="1900" dirty="0">
                <a:effectLst>
                  <a:outerShdw blurRad="38100" dist="38100" dir="2700000" algn="tl">
                    <a:srgbClr val="000000">
                      <a:alpha val="43137"/>
                    </a:srgbClr>
                  </a:outerShdw>
                </a:effectLst>
              </a:rPr>
              <a:t>3) whether FFN of transformer should be MNN</a:t>
            </a:r>
            <a:r>
              <a:rPr lang="en-US" sz="1900" dirty="0"/>
              <a:t> via testing the </a:t>
            </a:r>
            <a:r>
              <a:rPr lang="en-US" sz="1900" i="1" dirty="0" err="1"/>
              <a:t>vec</a:t>
            </a:r>
            <a:r>
              <a:rPr lang="en-US" sz="1900" dirty="0"/>
              <a:t> group.</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35</a:t>
            </a:fld>
            <a:endParaRPr lang="en-US"/>
          </a:p>
        </p:txBody>
      </p:sp>
    </p:spTree>
    <p:extLst>
      <p:ext uri="{BB962C8B-B14F-4D97-AF65-F5344CB8AC3E}">
        <p14:creationId xmlns:p14="http://schemas.microsoft.com/office/powerpoint/2010/main" val="3424595948"/>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design</a:t>
            </a:r>
          </a:p>
        </p:txBody>
      </p:sp>
      <p:sp>
        <p:nvSpPr>
          <p:cNvPr id="3" name="Content Placeholder 2"/>
          <p:cNvSpPr>
            <a:spLocks noGrp="1"/>
          </p:cNvSpPr>
          <p:nvPr>
            <p:ph idx="1"/>
          </p:nvPr>
        </p:nvSpPr>
        <p:spPr>
          <a:xfrm>
            <a:off x="71120" y="914399"/>
            <a:ext cx="12049760" cy="5176066"/>
          </a:xfrm>
        </p:spPr>
        <p:txBody>
          <a:bodyPr>
            <a:noAutofit/>
          </a:bodyPr>
          <a:lstStyle/>
          <a:p>
            <a:r>
              <a:rPr lang="en-US" sz="2200" dirty="0"/>
              <a:t>Recall that the three </a:t>
            </a:r>
            <a:r>
              <a:rPr lang="en-US" sz="2200" dirty="0" smtClean="0"/>
              <a:t>classifiers </a:t>
            </a:r>
            <a:r>
              <a:rPr lang="en-US" sz="2200" dirty="0"/>
              <a:t>such MNN classifier, TB classifier, and CNN classifier have always two parts such as first part for image feature extraction and second part for feature classification. Therefore, MNN classifier has one MNN and one FFN and TB classifier has one </a:t>
            </a:r>
            <a:r>
              <a:rPr lang="en-US" sz="2200" i="1" dirty="0"/>
              <a:t>attentional </a:t>
            </a:r>
            <a:r>
              <a:rPr lang="en-US" sz="2200" i="1" dirty="0" smtClean="0"/>
              <a:t>network</a:t>
            </a:r>
            <a:r>
              <a:rPr lang="en-US" sz="2200" dirty="0" smtClean="0"/>
              <a:t> </a:t>
            </a:r>
            <a:r>
              <a:rPr lang="en-US" sz="2200" dirty="0"/>
              <a:t>and one FNN whereas CNN classifier has one </a:t>
            </a:r>
            <a:r>
              <a:rPr lang="en-US" sz="2200" i="1" dirty="0"/>
              <a:t>convolutional </a:t>
            </a:r>
            <a:r>
              <a:rPr lang="en-US" sz="2200" i="1" dirty="0" smtClean="0"/>
              <a:t>network</a:t>
            </a:r>
            <a:r>
              <a:rPr lang="en-US" sz="2200" dirty="0" smtClean="0"/>
              <a:t> </a:t>
            </a:r>
            <a:r>
              <a:rPr lang="en-US" sz="2200" dirty="0"/>
              <a:t>and one FFN</a:t>
            </a:r>
            <a:r>
              <a:rPr lang="en-US" sz="2200" dirty="0" smtClean="0"/>
              <a:t>.</a:t>
            </a:r>
            <a:r>
              <a:rPr lang="en-US" sz="2200" dirty="0"/>
              <a:t> </a:t>
            </a:r>
            <a:r>
              <a:rPr lang="en-US" sz="2200" dirty="0" smtClean="0"/>
              <a:t>Please pay attention that MNN</a:t>
            </a:r>
            <a:r>
              <a:rPr lang="en-US" sz="2200" dirty="0"/>
              <a:t>, attentional </a:t>
            </a:r>
            <a:r>
              <a:rPr lang="en-US" sz="2200" dirty="0" smtClean="0"/>
              <a:t>network, </a:t>
            </a:r>
            <a:r>
              <a:rPr lang="en-US" sz="2200" dirty="0"/>
              <a:t>and convolutional </a:t>
            </a:r>
            <a:r>
              <a:rPr lang="en-US" sz="2200" dirty="0" smtClean="0"/>
              <a:t>network follow </a:t>
            </a:r>
            <a:r>
              <a:rPr lang="en-US" sz="2200" dirty="0"/>
              <a:t>VGG architecture</a:t>
            </a:r>
            <a:r>
              <a:rPr lang="en-US" sz="2200" dirty="0" smtClean="0"/>
              <a:t>.</a:t>
            </a:r>
          </a:p>
          <a:p>
            <a:r>
              <a:rPr lang="en-US" sz="2200" dirty="0">
                <a:effectLst>
                  <a:outerShdw blurRad="38100" dist="38100" dir="2700000" algn="tl">
                    <a:srgbClr val="000000">
                      <a:alpha val="43137"/>
                    </a:srgbClr>
                  </a:outerShdw>
                </a:effectLst>
              </a:rPr>
              <a:t>MNN, attentional network, and convolutional network are indicated by the common term which is </a:t>
            </a:r>
            <a:r>
              <a:rPr lang="en-US" sz="2200" i="1" dirty="0">
                <a:effectLst>
                  <a:outerShdw blurRad="38100" dist="38100" dir="2700000" algn="tl">
                    <a:srgbClr val="000000">
                      <a:alpha val="43137"/>
                    </a:srgbClr>
                  </a:outerShdw>
                </a:effectLst>
              </a:rPr>
              <a:t>feature extraction network</a:t>
            </a:r>
            <a:r>
              <a:rPr lang="en-US" sz="2200" dirty="0">
                <a:effectLst>
                  <a:outerShdw blurRad="38100" dist="38100" dir="2700000" algn="tl">
                    <a:srgbClr val="000000">
                      <a:alpha val="43137"/>
                    </a:srgbClr>
                  </a:outerShdw>
                </a:effectLst>
              </a:rPr>
              <a:t> (</a:t>
            </a:r>
            <a:r>
              <a:rPr lang="en-US" sz="2200" i="1" dirty="0">
                <a:effectLst>
                  <a:outerShdw blurRad="38100" dist="38100" dir="2700000" algn="tl">
                    <a:srgbClr val="000000">
                      <a:alpha val="43137"/>
                    </a:srgbClr>
                  </a:outerShdw>
                </a:effectLst>
              </a:rPr>
              <a:t>FEN</a:t>
            </a:r>
            <a:r>
              <a:rPr lang="en-US" sz="2200" dirty="0">
                <a:effectLst>
                  <a:outerShdw blurRad="38100" dist="38100" dir="2700000" algn="tl">
                    <a:srgbClr val="000000">
                      <a:alpha val="43137"/>
                    </a:srgbClr>
                  </a:outerShdw>
                </a:effectLst>
              </a:rPr>
              <a:t>) so that FFN is called </a:t>
            </a:r>
            <a:r>
              <a:rPr lang="en-US" sz="2200" i="1" dirty="0">
                <a:effectLst>
                  <a:outerShdw blurRad="38100" dist="38100" dir="2700000" algn="tl">
                    <a:srgbClr val="000000">
                      <a:alpha val="43137"/>
                    </a:srgbClr>
                  </a:outerShdw>
                </a:effectLst>
              </a:rPr>
              <a:t>feature classification network</a:t>
            </a:r>
            <a:r>
              <a:rPr lang="en-US" sz="2200" dirty="0">
                <a:effectLst>
                  <a:outerShdw blurRad="38100" dist="38100" dir="2700000" algn="tl">
                    <a:srgbClr val="000000">
                      <a:alpha val="43137"/>
                    </a:srgbClr>
                  </a:outerShdw>
                </a:effectLst>
              </a:rPr>
              <a:t> (</a:t>
            </a:r>
            <a:r>
              <a:rPr lang="en-US" sz="2200" i="1" dirty="0">
                <a:effectLst>
                  <a:outerShdw blurRad="38100" dist="38100" dir="2700000" algn="tl">
                    <a:srgbClr val="000000">
                      <a:alpha val="43137"/>
                    </a:srgbClr>
                  </a:outerShdw>
                </a:effectLst>
              </a:rPr>
              <a:t>FCN</a:t>
            </a:r>
            <a:r>
              <a:rPr lang="en-US" sz="2200" dirty="0" smtClean="0">
                <a:effectLst>
                  <a:outerShdw blurRad="38100" dist="38100" dir="2700000" algn="tl">
                    <a:srgbClr val="000000">
                      <a:alpha val="43137"/>
                    </a:srgbClr>
                  </a:outerShdw>
                </a:effectLst>
              </a:rPr>
              <a:t>). </a:t>
            </a:r>
            <a:r>
              <a:rPr lang="en-US" sz="2200" dirty="0">
                <a:effectLst>
                  <a:outerShdw blurRad="38100" dist="38100" dir="2700000" algn="tl">
                    <a:srgbClr val="000000">
                      <a:alpha val="43137"/>
                    </a:srgbClr>
                  </a:outerShdw>
                </a:effectLst>
              </a:rPr>
              <a:t>A FEN has some blocks and each block is a set of sequential layers</a:t>
            </a:r>
            <a:r>
              <a:rPr lang="en-US" sz="2200" dirty="0" smtClean="0">
                <a:effectLst>
                  <a:outerShdw blurRad="38100" dist="38100" dir="2700000" algn="tl">
                    <a:srgbClr val="000000">
                      <a:alpha val="43137"/>
                    </a:srgbClr>
                  </a:outerShdw>
                </a:effectLst>
              </a:rPr>
              <a:t>. </a:t>
            </a:r>
            <a:r>
              <a:rPr lang="en-US" sz="2200" i="1" dirty="0" smtClean="0">
                <a:effectLst>
                  <a:outerShdw blurRad="38100" dist="38100" dir="2700000" algn="tl">
                    <a:srgbClr val="000000">
                      <a:alpha val="43137"/>
                    </a:srgbClr>
                  </a:outerShdw>
                </a:effectLst>
              </a:rPr>
              <a:t>A FCN has two layers </a:t>
            </a:r>
            <a:r>
              <a:rPr lang="en-US" sz="2200" i="1" dirty="0">
                <a:effectLst>
                  <a:outerShdw blurRad="38100" dist="38100" dir="2700000" algn="tl">
                    <a:srgbClr val="000000">
                      <a:alpha val="43137"/>
                    </a:srgbClr>
                  </a:outerShdw>
                </a:effectLst>
              </a:rPr>
              <a:t>which </a:t>
            </a:r>
            <a:r>
              <a:rPr lang="en-US" sz="2200" i="1" dirty="0" smtClean="0">
                <a:effectLst>
                  <a:outerShdw blurRad="38100" dist="38100" dir="2700000" algn="tl">
                    <a:srgbClr val="000000">
                      <a:alpha val="43137"/>
                    </a:srgbClr>
                  </a:outerShdw>
                </a:effectLst>
              </a:rPr>
              <a:t>are </a:t>
            </a:r>
            <a:r>
              <a:rPr lang="en-US" sz="2200" i="1" dirty="0">
                <a:effectLst>
                  <a:outerShdw blurRad="38100" dist="38100" dir="2700000" algn="tl">
                    <a:srgbClr val="000000">
                      <a:alpha val="43137"/>
                    </a:srgbClr>
                  </a:outerShdw>
                </a:effectLst>
              </a:rPr>
              <a:t>always traditional neural network </a:t>
            </a:r>
            <a:r>
              <a:rPr lang="en-US" sz="2200" i="1" dirty="0" smtClean="0">
                <a:effectLst>
                  <a:outerShdw blurRad="38100" dist="38100" dir="2700000" algn="tl">
                    <a:srgbClr val="000000">
                      <a:alpha val="43137"/>
                    </a:srgbClr>
                  </a:outerShdw>
                </a:effectLst>
              </a:rPr>
              <a:t>layer</a:t>
            </a:r>
            <a:r>
              <a:rPr lang="en-US" sz="2200" dirty="0" smtClean="0">
                <a:effectLst>
                  <a:outerShdw blurRad="38100" dist="38100" dir="2700000" algn="tl">
                    <a:srgbClr val="000000">
                      <a:alpha val="43137"/>
                    </a:srgbClr>
                  </a:outerShdw>
                </a:effectLst>
              </a:rPr>
              <a:t>.</a:t>
            </a:r>
            <a:endParaRPr lang="en-US" sz="2200" dirty="0">
              <a:effectLst>
                <a:outerShdw blurRad="38100" dist="38100" dir="2700000" algn="tl">
                  <a:srgbClr val="000000">
                    <a:alpha val="43137"/>
                  </a:srgbClr>
                </a:outerShdw>
              </a:effectLst>
            </a:endParaRPr>
          </a:p>
          <a:p>
            <a:r>
              <a:rPr lang="en-US" sz="2200" dirty="0" smtClean="0"/>
              <a:t>Every </a:t>
            </a:r>
            <a:r>
              <a:rPr lang="en-US" sz="2200" dirty="0"/>
              <a:t>FEN layer is always associated with a so-called </a:t>
            </a:r>
            <a:r>
              <a:rPr lang="en-US" sz="2200" i="1" dirty="0"/>
              <a:t>FEN</a:t>
            </a:r>
            <a:r>
              <a:rPr lang="en-US" sz="2200" dirty="0"/>
              <a:t> </a:t>
            </a:r>
            <a:r>
              <a:rPr lang="en-US" sz="2200" i="1" dirty="0"/>
              <a:t>filter</a:t>
            </a:r>
            <a:r>
              <a:rPr lang="en-US" sz="2200" dirty="0"/>
              <a:t> but please distinguish FEN filter from filtering kernel aforementioned. FEN filter of matrix layer is parametric weight matrix as usual, which is called </a:t>
            </a:r>
            <a:r>
              <a:rPr lang="en-US" sz="2200" i="1" dirty="0"/>
              <a:t>matrix filter</a:t>
            </a:r>
            <a:r>
              <a:rPr lang="en-US" sz="2200" dirty="0"/>
              <a:t>. FEN filter of attentional layer is attention itself, which is called </a:t>
            </a:r>
            <a:r>
              <a:rPr lang="en-US" sz="2200" i="1" dirty="0"/>
              <a:t>attentional filter</a:t>
            </a:r>
            <a:r>
              <a:rPr lang="en-US" sz="2200" dirty="0"/>
              <a:t>. FEN filter of convolutional layer is filtering kernel as usual, which is called </a:t>
            </a:r>
            <a:r>
              <a:rPr lang="en-US" sz="2200" i="1" dirty="0"/>
              <a:t>convolutional filter</a:t>
            </a:r>
            <a:r>
              <a:rPr lang="en-US" sz="2200" dirty="0"/>
              <a:t>. However, please pay attention that the last layer of any FEN block is the specific layer called </a:t>
            </a:r>
            <a:r>
              <a:rPr lang="en-US" sz="2200" i="1" dirty="0"/>
              <a:t>max-pooling layer</a:t>
            </a:r>
            <a:r>
              <a:rPr lang="en-US" sz="2200" dirty="0"/>
              <a:t> whose filter is aforementioned max-pooling kernel which is called </a:t>
            </a:r>
            <a:r>
              <a:rPr lang="en-US" sz="2200" i="1" dirty="0"/>
              <a:t>max-pooling filter</a:t>
            </a:r>
            <a:r>
              <a:rPr lang="en-US" sz="2200" dirty="0"/>
              <a:t>.</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36</a:t>
            </a:fld>
            <a:endParaRPr lang="en-US"/>
          </a:p>
        </p:txBody>
      </p:sp>
    </p:spTree>
    <p:extLst>
      <p:ext uri="{BB962C8B-B14F-4D97-AF65-F5344CB8AC3E}">
        <p14:creationId xmlns:p14="http://schemas.microsoft.com/office/powerpoint/2010/main" val="3707781207"/>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a:t>
            </a:r>
            <a:r>
              <a:rPr lang="en-US" dirty="0" smtClean="0"/>
              <a:t>design (main)</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r>
              <a:rPr lang="en-US" sz="2000" dirty="0">
                <a:effectLst>
                  <a:outerShdw blurRad="38100" dist="38100" dir="2700000" algn="tl">
                    <a:srgbClr val="000000">
                      <a:alpha val="43137"/>
                    </a:srgbClr>
                  </a:outerShdw>
                </a:effectLst>
              </a:rPr>
              <a:t>The experimental design has two important configuration variable such as </a:t>
            </a:r>
            <a:r>
              <a:rPr lang="en-US" sz="2000" dirty="0" smtClean="0">
                <a:effectLst>
                  <a:outerShdw blurRad="38100" dist="38100" dir="2700000" algn="tl">
                    <a:srgbClr val="000000">
                      <a:alpha val="43137"/>
                    </a:srgbClr>
                  </a:outerShdw>
                </a:effectLst>
              </a:rPr>
              <a:t>experimental </a:t>
            </a:r>
            <a:r>
              <a:rPr lang="en-US" sz="2000" dirty="0">
                <a:effectLst>
                  <a:outerShdw blurRad="38100" dist="38100" dir="2700000" algn="tl">
                    <a:srgbClr val="000000">
                      <a:alpha val="43137"/>
                    </a:srgbClr>
                  </a:outerShdw>
                </a:effectLst>
              </a:rPr>
              <a:t>variable “</a:t>
            </a:r>
            <a:r>
              <a:rPr lang="en-US" sz="2000" i="1" dirty="0">
                <a:effectLst>
                  <a:outerShdw blurRad="38100" dist="38100" dir="2700000" algn="tl">
                    <a:srgbClr val="000000">
                      <a:alpha val="43137"/>
                    </a:srgbClr>
                  </a:outerShdw>
                </a:effectLst>
              </a:rPr>
              <a:t>base</a:t>
            </a:r>
            <a:r>
              <a:rPr lang="en-US" sz="2000" dirty="0">
                <a:effectLst>
                  <a:outerShdw blurRad="38100" dist="38100" dir="2700000" algn="tl">
                    <a:srgbClr val="000000">
                      <a:alpha val="43137"/>
                    </a:srgbClr>
                  </a:outerShdw>
                </a:effectLst>
              </a:rPr>
              <a:t>” and experimental variable “</a:t>
            </a:r>
            <a:r>
              <a:rPr lang="en-US" sz="2000" i="1" dirty="0">
                <a:effectLst>
                  <a:outerShdw blurRad="38100" dist="38100" dir="2700000" algn="tl">
                    <a:srgbClr val="000000">
                      <a:alpha val="43137"/>
                    </a:srgbClr>
                  </a:outerShdw>
                </a:effectLst>
              </a:rPr>
              <a:t>layer</a:t>
            </a:r>
            <a:r>
              <a:rPr lang="en-US" sz="2000" dirty="0">
                <a:effectLst>
                  <a:outerShdw blurRad="38100" dist="38100" dir="2700000" algn="tl">
                    <a:srgbClr val="000000">
                      <a:alpha val="43137"/>
                    </a:srgbClr>
                  </a:outerShdw>
                </a:effectLst>
              </a:rPr>
              <a:t>” with respect to FEN</a:t>
            </a:r>
            <a:r>
              <a:rPr lang="en-US" sz="2000" dirty="0"/>
              <a:t>. The current setting of base variable is 2 and there are two values of layer variable such as 2 and 3. The </a:t>
            </a:r>
            <a:r>
              <a:rPr lang="en-US" sz="2000" i="1" dirty="0"/>
              <a:t>base</a:t>
            </a:r>
            <a:r>
              <a:rPr lang="en-US" sz="2000" dirty="0"/>
              <a:t> variable (</a:t>
            </a:r>
            <a:r>
              <a:rPr lang="en-US" sz="2000" i="1" dirty="0"/>
              <a:t>base</a:t>
            </a:r>
            <a:r>
              <a:rPr lang="en-US" sz="2000" dirty="0"/>
              <a:t>=2) is the divisor of block size, which leads that all classifiers (MNN, TB, CNN) in the experimental design have two FEN blocks. </a:t>
            </a:r>
            <a:r>
              <a:rPr lang="en-US" sz="2000" i="1" dirty="0"/>
              <a:t>Layer</a:t>
            </a:r>
            <a:r>
              <a:rPr lang="en-US" sz="2000" dirty="0"/>
              <a:t> variable (2, 3) is the number of layers in each block. </a:t>
            </a:r>
            <a:r>
              <a:rPr lang="en-US" sz="2000" dirty="0" smtClean="0"/>
              <a:t>Exactly</a:t>
            </a:r>
            <a:r>
              <a:rPr lang="en-US" sz="2000" dirty="0"/>
              <a:t>, given </a:t>
            </a:r>
            <a:r>
              <a:rPr lang="en-US" sz="2000" i="1" dirty="0"/>
              <a:t>layer</a:t>
            </a:r>
            <a:r>
              <a:rPr lang="en-US" sz="2000" dirty="0"/>
              <a:t>=2, the first FEN block has two FEN layers and the second FEN block has three FEN layers and one max-pooling layer so that FEN has five layers. Similarly, given </a:t>
            </a:r>
            <a:r>
              <a:rPr lang="en-US" sz="2000" i="1" dirty="0"/>
              <a:t>layer</a:t>
            </a:r>
            <a:r>
              <a:rPr lang="en-US" sz="2000" dirty="0"/>
              <a:t>=3, the first FEN block has two FEN layers and the second FEN block has three FEN layers and one max-pooling layer so that FEN has seven </a:t>
            </a:r>
            <a:r>
              <a:rPr lang="en-US" sz="2000" dirty="0" smtClean="0"/>
              <a:t>layers.</a:t>
            </a:r>
          </a:p>
          <a:p>
            <a:r>
              <a:rPr lang="en-US" sz="2000" dirty="0" smtClean="0"/>
              <a:t>Suppose </a:t>
            </a:r>
            <a:r>
              <a:rPr lang="en-US" sz="2000" dirty="0"/>
              <a:t>layer size follows three-dimension size like width x height x depth, all layers in the same block have the same width x height size and such width x height size is decreased according to block ordering by divisor </a:t>
            </a:r>
            <a:r>
              <a:rPr lang="en-US" sz="2000" i="1" dirty="0"/>
              <a:t>base</a:t>
            </a:r>
            <a:r>
              <a:rPr lang="en-US" sz="2000" dirty="0"/>
              <a:t>. Therefore, the width x height size of all layers in the same block is considered as width x height block size or </a:t>
            </a:r>
            <a:r>
              <a:rPr lang="en-US" sz="2000" i="1" dirty="0"/>
              <a:t>block size</a:t>
            </a:r>
            <a:r>
              <a:rPr lang="en-US" sz="2000" dirty="0"/>
              <a:t>. Recall that the </a:t>
            </a:r>
            <a:r>
              <a:rPr lang="en-US" sz="2000" i="1" dirty="0"/>
              <a:t>base</a:t>
            </a:r>
            <a:r>
              <a:rPr lang="en-US" sz="2000" dirty="0"/>
              <a:t> variable (</a:t>
            </a:r>
            <a:r>
              <a:rPr lang="en-US" sz="2000" i="1" dirty="0"/>
              <a:t>base</a:t>
            </a:r>
            <a:r>
              <a:rPr lang="en-US" sz="2000" dirty="0"/>
              <a:t>=2) is the divisor of block size so that block size is decreased according to block ordering by divisor </a:t>
            </a:r>
            <a:r>
              <a:rPr lang="en-US" sz="2000" i="1" dirty="0"/>
              <a:t>base</a:t>
            </a:r>
            <a:r>
              <a:rPr lang="en-US" sz="2000" dirty="0"/>
              <a:t>. Suppose the first block has size of 32 x 32, then the second block has size of 16 x 16. The depth of all layers in the same block is considered as </a:t>
            </a:r>
            <a:r>
              <a:rPr lang="en-US" sz="2000" i="1" dirty="0"/>
              <a:t>block depth</a:t>
            </a:r>
            <a:r>
              <a:rPr lang="en-US" sz="2000" dirty="0"/>
              <a:t>. </a:t>
            </a:r>
            <a:r>
              <a:rPr lang="en-US" sz="2000" dirty="0">
                <a:effectLst>
                  <a:outerShdw blurRad="38100" dist="38100" dir="2700000" algn="tl">
                    <a:srgbClr val="000000">
                      <a:alpha val="43137"/>
                    </a:srgbClr>
                  </a:outerShdw>
                </a:effectLst>
              </a:rPr>
              <a:t>Block depth is also the count of filters (</a:t>
            </a:r>
            <a:r>
              <a:rPr lang="en-US" sz="2000" i="1" dirty="0">
                <a:effectLst>
                  <a:outerShdw blurRad="38100" dist="38100" dir="2700000" algn="tl">
                    <a:srgbClr val="000000">
                      <a:alpha val="43137"/>
                    </a:srgbClr>
                  </a:outerShdw>
                </a:effectLst>
              </a:rPr>
              <a:t>filter count</a:t>
            </a:r>
            <a:r>
              <a:rPr lang="en-US" sz="2000" dirty="0">
                <a:effectLst>
                  <a:outerShdw blurRad="38100" dist="38100" dir="2700000" algn="tl">
                    <a:srgbClr val="000000">
                      <a:alpha val="43137"/>
                    </a:srgbClr>
                  </a:outerShdw>
                </a:effectLst>
              </a:rPr>
              <a:t>) in every layer in the same block.</a:t>
            </a:r>
            <a:r>
              <a:rPr lang="en-US" sz="2000" dirty="0"/>
              <a:t> Block depth is increased according to block ordering by exponential function of variable </a:t>
            </a:r>
            <a:r>
              <a:rPr lang="en-US" sz="2000" i="1" dirty="0"/>
              <a:t>layer</a:t>
            </a:r>
            <a:r>
              <a:rPr lang="en-US" sz="2000" dirty="0"/>
              <a:t>.</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37</a:t>
            </a:fld>
            <a:endParaRPr lang="en-US"/>
          </a:p>
        </p:txBody>
      </p:sp>
    </p:spTree>
    <p:extLst>
      <p:ext uri="{BB962C8B-B14F-4D97-AF65-F5344CB8AC3E}">
        <p14:creationId xmlns:p14="http://schemas.microsoft.com/office/powerpoint/2010/main" val="3165109111"/>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a:t>
            </a:r>
            <a:r>
              <a:rPr lang="en-US" dirty="0" smtClean="0"/>
              <a:t>design (skip)</a:t>
            </a:r>
            <a:endParaRPr lang="en-US" dirty="0"/>
          </a:p>
        </p:txBody>
      </p:sp>
      <p:sp>
        <p:nvSpPr>
          <p:cNvPr id="3" name="Content Placeholder 2"/>
          <p:cNvSpPr>
            <a:spLocks noGrp="1"/>
          </p:cNvSpPr>
          <p:nvPr>
            <p:ph idx="1"/>
          </p:nvPr>
        </p:nvSpPr>
        <p:spPr>
          <a:xfrm>
            <a:off x="81280" y="914399"/>
            <a:ext cx="12039600" cy="5176066"/>
          </a:xfrm>
        </p:spPr>
        <p:txBody>
          <a:bodyPr>
            <a:noAutofit/>
          </a:bodyPr>
          <a:lstStyle/>
          <a:p>
            <a:pPr marL="0" indent="0">
              <a:buNone/>
            </a:pPr>
            <a:r>
              <a:rPr lang="en-US" sz="1900" dirty="0">
                <a:effectLst>
                  <a:outerShdw blurRad="38100" dist="38100" dir="2700000" algn="tl">
                    <a:srgbClr val="000000">
                      <a:alpha val="43137"/>
                    </a:srgbClr>
                  </a:outerShdw>
                </a:effectLst>
              </a:rPr>
              <a:t>Following table summarizes the configuration of FEN </a:t>
            </a:r>
            <a:r>
              <a:rPr lang="en-US" sz="1900" dirty="0" smtClean="0">
                <a:effectLst>
                  <a:outerShdw blurRad="38100" dist="38100" dir="2700000" algn="tl">
                    <a:srgbClr val="000000">
                      <a:alpha val="43137"/>
                    </a:srgbClr>
                  </a:outerShdw>
                </a:effectLst>
              </a:rPr>
              <a:t>for </a:t>
            </a:r>
            <a:r>
              <a:rPr lang="en-US" sz="1900" dirty="0">
                <a:effectLst>
                  <a:outerShdw blurRad="38100" dist="38100" dir="2700000" algn="tl">
                    <a:srgbClr val="000000">
                      <a:alpha val="43137"/>
                    </a:srgbClr>
                  </a:outerShdw>
                </a:effectLst>
              </a:rPr>
              <a:t>every classifier (MNN, TB, CNN) given </a:t>
            </a:r>
            <a:r>
              <a:rPr lang="en-US" sz="1900" i="1" dirty="0">
                <a:effectLst>
                  <a:outerShdw blurRad="38100" dist="38100" dir="2700000" algn="tl">
                    <a:srgbClr val="000000">
                      <a:alpha val="43137"/>
                    </a:srgbClr>
                  </a:outerShdw>
                </a:effectLst>
              </a:rPr>
              <a:t>layer</a:t>
            </a:r>
            <a:r>
              <a:rPr lang="en-US" sz="1900" dirty="0">
                <a:effectLst>
                  <a:outerShdw blurRad="38100" dist="38100" dir="2700000" algn="tl">
                    <a:srgbClr val="000000">
                      <a:alpha val="43137"/>
                    </a:srgbClr>
                  </a:outerShdw>
                </a:effectLst>
              </a:rPr>
              <a:t>=2</a:t>
            </a:r>
            <a:r>
              <a:rPr lang="en-US" sz="1900" dirty="0" smtClean="0">
                <a:effectLst>
                  <a:outerShdw blurRad="38100" dist="38100" dir="2700000" algn="tl">
                    <a:srgbClr val="000000">
                      <a:alpha val="43137"/>
                    </a:srgbClr>
                  </a:outerShdw>
                </a:effectLst>
              </a:rPr>
              <a:t>.</a:t>
            </a:r>
            <a:endParaRPr lang="en-US" sz="1900" dirty="0">
              <a:effectLst>
                <a:outerShdw blurRad="38100" dist="38100" dir="2700000" algn="tl">
                  <a:srgbClr val="000000">
                    <a:alpha val="43137"/>
                  </a:srgbClr>
                </a:outerShdw>
              </a:effectLst>
            </a:endParaRPr>
          </a:p>
          <a:p>
            <a:pPr marL="0" indent="0">
              <a:buNone/>
            </a:pPr>
            <a:endParaRPr lang="en-US" sz="1700" dirty="0" smtClean="0"/>
          </a:p>
          <a:p>
            <a:pPr marL="0" indent="0">
              <a:buNone/>
            </a:pPr>
            <a:endParaRPr lang="en-US" sz="1700" dirty="0"/>
          </a:p>
          <a:p>
            <a:pPr marL="0" indent="0">
              <a:buNone/>
            </a:pPr>
            <a:endParaRPr lang="en-US" sz="1700" dirty="0" smtClean="0"/>
          </a:p>
          <a:p>
            <a:pPr marL="0" indent="0">
              <a:buNone/>
            </a:pPr>
            <a:endParaRPr lang="en-US" sz="1700" dirty="0" smtClean="0"/>
          </a:p>
          <a:p>
            <a:pPr marL="0" indent="0">
              <a:buNone/>
            </a:pPr>
            <a:endParaRPr lang="en-US" sz="1700" dirty="0" smtClean="0"/>
          </a:p>
          <a:p>
            <a:pPr marL="0" indent="0">
              <a:buNone/>
            </a:pPr>
            <a:endParaRPr lang="en-US" sz="1700" dirty="0" smtClean="0"/>
          </a:p>
          <a:p>
            <a:pPr marL="0" indent="0">
              <a:buNone/>
            </a:pPr>
            <a:r>
              <a:rPr lang="en-US" sz="1900" dirty="0" smtClean="0">
                <a:effectLst>
                  <a:outerShdw blurRad="38100" dist="38100" dir="2700000" algn="tl">
                    <a:srgbClr val="000000">
                      <a:alpha val="43137"/>
                    </a:srgbClr>
                  </a:outerShdw>
                </a:effectLst>
              </a:rPr>
              <a:t>Following </a:t>
            </a:r>
            <a:r>
              <a:rPr lang="en-US" sz="1900" dirty="0">
                <a:effectLst>
                  <a:outerShdw blurRad="38100" dist="38100" dir="2700000" algn="tl">
                    <a:srgbClr val="000000">
                      <a:alpha val="43137"/>
                    </a:srgbClr>
                  </a:outerShdw>
                </a:effectLst>
              </a:rPr>
              <a:t>table summarizes the configuration </a:t>
            </a:r>
            <a:r>
              <a:rPr lang="en-US" sz="1900" dirty="0" smtClean="0">
                <a:effectLst>
                  <a:outerShdw blurRad="38100" dist="38100" dir="2700000" algn="tl">
                    <a:srgbClr val="000000">
                      <a:alpha val="43137"/>
                    </a:srgbClr>
                  </a:outerShdw>
                </a:effectLst>
              </a:rPr>
              <a:t>of </a:t>
            </a:r>
            <a:r>
              <a:rPr lang="en-US" sz="1900" dirty="0">
                <a:effectLst>
                  <a:outerShdw blurRad="38100" dist="38100" dir="2700000" algn="tl">
                    <a:srgbClr val="000000">
                      <a:alpha val="43137"/>
                    </a:srgbClr>
                  </a:outerShdw>
                </a:effectLst>
              </a:rPr>
              <a:t>FEN for every classifier (MNN, TB, CNN) given </a:t>
            </a:r>
            <a:r>
              <a:rPr lang="en-US" sz="1900" i="1" dirty="0">
                <a:effectLst>
                  <a:outerShdw blurRad="38100" dist="38100" dir="2700000" algn="tl">
                    <a:srgbClr val="000000">
                      <a:alpha val="43137"/>
                    </a:srgbClr>
                  </a:outerShdw>
                </a:effectLst>
              </a:rPr>
              <a:t>layer</a:t>
            </a:r>
            <a:r>
              <a:rPr lang="en-US" sz="1900" dirty="0">
                <a:effectLst>
                  <a:outerShdw blurRad="38100" dist="38100" dir="2700000" algn="tl">
                    <a:srgbClr val="000000">
                      <a:alpha val="43137"/>
                    </a:srgbClr>
                  </a:outerShdw>
                </a:effectLst>
              </a:rPr>
              <a:t>=3</a:t>
            </a:r>
            <a:r>
              <a:rPr lang="en-US" sz="1900" dirty="0" smtClean="0">
                <a:effectLst>
                  <a:outerShdw blurRad="38100" dist="38100" dir="2700000" algn="tl">
                    <a:srgbClr val="000000">
                      <a:alpha val="43137"/>
                    </a:srgbClr>
                  </a:outerShdw>
                </a:effectLst>
              </a:rPr>
              <a:t>.</a:t>
            </a:r>
          </a:p>
          <a:p>
            <a:pPr marL="0" indent="0">
              <a:buNone/>
            </a:pPr>
            <a:endParaRPr lang="en-US" sz="1700" dirty="0"/>
          </a:p>
          <a:p>
            <a:pPr marL="0" indent="0">
              <a:buNone/>
            </a:pPr>
            <a:endParaRPr lang="en-US" sz="1700" dirty="0" smtClean="0"/>
          </a:p>
          <a:p>
            <a:pPr marL="0" indent="0">
              <a:buNone/>
            </a:pPr>
            <a:endParaRPr lang="en-US" sz="1700" dirty="0"/>
          </a:p>
          <a:p>
            <a:pPr marL="0" indent="0">
              <a:buNone/>
            </a:pPr>
            <a:endParaRPr lang="en-US" sz="1700" dirty="0" smtClean="0"/>
          </a:p>
          <a:p>
            <a:pPr marL="0" indent="0">
              <a:buNone/>
            </a:pPr>
            <a:endParaRPr lang="en-US" sz="1700" dirty="0" smtClean="0"/>
          </a:p>
          <a:p>
            <a:pPr marL="0" indent="0">
              <a:buNone/>
            </a:pPr>
            <a:endParaRPr lang="en-US" sz="1700" dirty="0" smtClean="0"/>
          </a:p>
          <a:p>
            <a:pPr marL="0" indent="0">
              <a:buNone/>
            </a:pPr>
            <a:endParaRPr lang="en-US" sz="1700" dirty="0"/>
          </a:p>
          <a:p>
            <a:pPr marL="0" indent="0">
              <a:buNone/>
            </a:pPr>
            <a:endParaRPr lang="en-US" sz="1700" dirty="0"/>
          </a:p>
          <a:p>
            <a:pPr marL="0" indent="0">
              <a:buNone/>
            </a:pPr>
            <a:r>
              <a:rPr lang="en-US" sz="1900" dirty="0"/>
              <a:t>The experimental design establishes FCN to have always two layers where the last layer (output layer) is the set of image classes. Recall that whether or not FCN is </a:t>
            </a:r>
            <a:r>
              <a:rPr lang="en-US" sz="1900" dirty="0" err="1"/>
              <a:t>vectorized</a:t>
            </a:r>
            <a:r>
              <a:rPr lang="en-US" sz="1900" dirty="0"/>
              <a:t> depends on “</a:t>
            </a:r>
            <a:r>
              <a:rPr lang="en-US" sz="1900" i="1" dirty="0" err="1"/>
              <a:t>vec</a:t>
            </a:r>
            <a:r>
              <a:rPr lang="en-US" sz="1900" dirty="0"/>
              <a:t>” field in dataset (</a:t>
            </a:r>
            <a:r>
              <a:rPr lang="en-US" sz="1900" i="1" dirty="0" err="1"/>
              <a:t>vec</a:t>
            </a:r>
            <a:r>
              <a:rPr lang="en-US" sz="1900" dirty="0"/>
              <a:t> group in ANOVA). Finally, each classifier (MNN, TB, CNN) including FEN and FCN has 7 layers given </a:t>
            </a:r>
            <a:r>
              <a:rPr lang="en-US" sz="1900" i="1" dirty="0"/>
              <a:t>layer</a:t>
            </a:r>
            <a:r>
              <a:rPr lang="en-US" sz="1900" dirty="0"/>
              <a:t>=2 and has 9 layers given </a:t>
            </a:r>
            <a:r>
              <a:rPr lang="en-US" sz="1900" i="1" dirty="0"/>
              <a:t>layer</a:t>
            </a:r>
            <a:r>
              <a:rPr lang="en-US" sz="1900" dirty="0"/>
              <a:t>=3.</a:t>
            </a:r>
            <a:endParaRPr lang="en-US" sz="1900" dirty="0" smtClean="0"/>
          </a:p>
          <a:p>
            <a:pPr marL="0" indent="0">
              <a:buNone/>
            </a:pPr>
            <a:endParaRPr lang="en-US" sz="19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38</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620118238"/>
              </p:ext>
            </p:extLst>
          </p:nvPr>
        </p:nvGraphicFramePr>
        <p:xfrm>
          <a:off x="955040" y="1237184"/>
          <a:ext cx="10281920" cy="1554480"/>
        </p:xfrm>
        <a:graphic>
          <a:graphicData uri="http://schemas.openxmlformats.org/drawingml/2006/table">
            <a:tbl>
              <a:tblPr firstRow="1" firstCol="1" bandRow="1">
                <a:tableStyleId>{5C22544A-7EE6-4342-B048-85BDC9FD1C3A}</a:tableStyleId>
              </a:tblPr>
              <a:tblGrid>
                <a:gridCol w="885025">
                  <a:extLst>
                    <a:ext uri="{9D8B030D-6E8A-4147-A177-3AD203B41FA5}">
                      <a16:colId xmlns:a16="http://schemas.microsoft.com/office/drawing/2014/main" val="3071729433"/>
                    </a:ext>
                  </a:extLst>
                </a:gridCol>
                <a:gridCol w="1388277">
                  <a:extLst>
                    <a:ext uri="{9D8B030D-6E8A-4147-A177-3AD203B41FA5}">
                      <a16:colId xmlns:a16="http://schemas.microsoft.com/office/drawing/2014/main" val="2938955459"/>
                    </a:ext>
                  </a:extLst>
                </a:gridCol>
                <a:gridCol w="1993898">
                  <a:extLst>
                    <a:ext uri="{9D8B030D-6E8A-4147-A177-3AD203B41FA5}">
                      <a16:colId xmlns:a16="http://schemas.microsoft.com/office/drawing/2014/main" val="2903930933"/>
                    </a:ext>
                  </a:extLst>
                </a:gridCol>
                <a:gridCol w="2006193">
                  <a:extLst>
                    <a:ext uri="{9D8B030D-6E8A-4147-A177-3AD203B41FA5}">
                      <a16:colId xmlns:a16="http://schemas.microsoft.com/office/drawing/2014/main" val="759793409"/>
                    </a:ext>
                  </a:extLst>
                </a:gridCol>
                <a:gridCol w="1641247">
                  <a:extLst>
                    <a:ext uri="{9D8B030D-6E8A-4147-A177-3AD203B41FA5}">
                      <a16:colId xmlns:a16="http://schemas.microsoft.com/office/drawing/2014/main" val="2617521622"/>
                    </a:ext>
                  </a:extLst>
                </a:gridCol>
                <a:gridCol w="2367280">
                  <a:extLst>
                    <a:ext uri="{9D8B030D-6E8A-4147-A177-3AD203B41FA5}">
                      <a16:colId xmlns:a16="http://schemas.microsoft.com/office/drawing/2014/main" val="1347313898"/>
                    </a:ext>
                  </a:extLst>
                </a:gridCol>
              </a:tblGrid>
              <a:tr h="0">
                <a:tc>
                  <a:txBody>
                    <a:bodyPr/>
                    <a:lstStyle/>
                    <a:p>
                      <a:pPr marL="0" marR="0" algn="ctr">
                        <a:spcBef>
                          <a:spcPts val="0"/>
                        </a:spcBef>
                        <a:spcAft>
                          <a:spcPts val="0"/>
                        </a:spcAft>
                      </a:pPr>
                      <a:r>
                        <a:rPr lang="en-US" sz="1700" dirty="0">
                          <a:effectLst/>
                          <a:latin typeface="Times New Roman" panose="02020603050405020304" pitchFamily="18" charset="0"/>
                          <a:cs typeface="Times New Roman" panose="02020603050405020304" pitchFamily="18" charset="0"/>
                        </a:rPr>
                        <a:t>Block</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a:effectLst/>
                          <a:latin typeface="Times New Roman" panose="02020603050405020304" pitchFamily="18" charset="0"/>
                          <a:cs typeface="Times New Roman" panose="02020603050405020304" pitchFamily="18" charset="0"/>
                        </a:rPr>
                        <a:t>Layer</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Input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Filter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Filter count</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Output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661955812"/>
                  </a:ext>
                </a:extLst>
              </a:tr>
              <a:tr h="0">
                <a:tc rowSpan="3">
                  <a:txBody>
                    <a:bodyPr/>
                    <a:lstStyle/>
                    <a:p>
                      <a:pPr marL="0" marR="0" algn="l">
                        <a:spcBef>
                          <a:spcPts val="0"/>
                        </a:spcBef>
                        <a:spcAft>
                          <a:spcPts val="0"/>
                        </a:spcAft>
                      </a:pPr>
                      <a:r>
                        <a:rPr lang="en-US" sz="1700">
                          <a:effectLst/>
                          <a:latin typeface="Times New Roman" panose="02020603050405020304" pitchFamily="18" charset="0"/>
                          <a:cs typeface="Times New Roman" panose="02020603050405020304" pitchFamily="18" charset="0"/>
                        </a:rPr>
                        <a:t>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layer1_1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983676416"/>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layer1_2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dirty="0">
                          <a:effectLst/>
                          <a:latin typeface="Times New Roman" panose="02020603050405020304" pitchFamily="18" charset="0"/>
                          <a:cs typeface="Times New Roman" panose="02020603050405020304" pitchFamily="18" charset="0"/>
                        </a:rPr>
                        <a:t>3 x 3 x 2</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583429242"/>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maxpool1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 </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222623976"/>
                  </a:ext>
                </a:extLst>
              </a:tr>
              <a:tr h="0">
                <a:tc rowSpan="2">
                  <a:txBody>
                    <a:bodyPr/>
                    <a:lstStyle/>
                    <a:p>
                      <a:pPr marL="0" marR="0" algn="l">
                        <a:spcBef>
                          <a:spcPts val="0"/>
                        </a:spcBef>
                        <a:spcAft>
                          <a:spcPts val="0"/>
                        </a:spcAft>
                      </a:pPr>
                      <a:r>
                        <a:rPr lang="en-US" sz="1700">
                          <a:effectLst/>
                          <a:latin typeface="Times New Roman" panose="02020603050405020304" pitchFamily="18" charset="0"/>
                          <a:cs typeface="Times New Roman" panose="02020603050405020304" pitchFamily="18" charset="0"/>
                        </a:rPr>
                        <a:t>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layer2_1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4</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4</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279731591"/>
                  </a:ext>
                </a:extLst>
              </a:tr>
              <a:tr h="0">
                <a:tc vMerge="1">
                  <a:txBody>
                    <a:bodyPr/>
                    <a:lstStyle/>
                    <a:p>
                      <a:endParaRPr lang="en-US"/>
                    </a:p>
                  </a:txBody>
                  <a:tcPr/>
                </a:tc>
                <a:tc>
                  <a:txBody>
                    <a:bodyPr/>
                    <a:lstStyle/>
                    <a:p>
                      <a:pPr marL="0" marR="0" algn="just">
                        <a:spcBef>
                          <a:spcPts val="0"/>
                        </a:spcBef>
                        <a:spcAft>
                          <a:spcPts val="0"/>
                        </a:spcAft>
                      </a:pPr>
                      <a:r>
                        <a:rPr lang="en-US" sz="1700" dirty="0">
                          <a:effectLst/>
                          <a:latin typeface="Times New Roman" panose="02020603050405020304" pitchFamily="18" charset="0"/>
                          <a:cs typeface="Times New Roman" panose="02020603050405020304" pitchFamily="18" charset="0"/>
                        </a:rPr>
                        <a:t>layer2_2</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4</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4</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4</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dirty="0">
                          <a:effectLst/>
                          <a:latin typeface="Times New Roman" panose="02020603050405020304" pitchFamily="18" charset="0"/>
                          <a:cs typeface="Times New Roman" panose="02020603050405020304" pitchFamily="18" charset="0"/>
                        </a:rPr>
                        <a:t>16 x 16 x 4</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032580666"/>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65416161"/>
              </p:ext>
            </p:extLst>
          </p:nvPr>
        </p:nvGraphicFramePr>
        <p:xfrm>
          <a:off x="955040" y="3114448"/>
          <a:ext cx="10281919" cy="2072640"/>
        </p:xfrm>
        <a:graphic>
          <a:graphicData uri="http://schemas.openxmlformats.org/drawingml/2006/table">
            <a:tbl>
              <a:tblPr firstRow="1" firstCol="1" bandRow="1">
                <a:tableStyleId>{5C22544A-7EE6-4342-B048-85BDC9FD1C3A}</a:tableStyleId>
              </a:tblPr>
              <a:tblGrid>
                <a:gridCol w="814606">
                  <a:extLst>
                    <a:ext uri="{9D8B030D-6E8A-4147-A177-3AD203B41FA5}">
                      <a16:colId xmlns:a16="http://schemas.microsoft.com/office/drawing/2014/main" val="3816542815"/>
                    </a:ext>
                  </a:extLst>
                </a:gridCol>
                <a:gridCol w="1420594">
                  <a:extLst>
                    <a:ext uri="{9D8B030D-6E8A-4147-A177-3AD203B41FA5}">
                      <a16:colId xmlns:a16="http://schemas.microsoft.com/office/drawing/2014/main" val="1766304139"/>
                    </a:ext>
                  </a:extLst>
                </a:gridCol>
                <a:gridCol w="2021840">
                  <a:extLst>
                    <a:ext uri="{9D8B030D-6E8A-4147-A177-3AD203B41FA5}">
                      <a16:colId xmlns:a16="http://schemas.microsoft.com/office/drawing/2014/main" val="1508238068"/>
                    </a:ext>
                  </a:extLst>
                </a:gridCol>
                <a:gridCol w="2042160">
                  <a:extLst>
                    <a:ext uri="{9D8B030D-6E8A-4147-A177-3AD203B41FA5}">
                      <a16:colId xmlns:a16="http://schemas.microsoft.com/office/drawing/2014/main" val="1037864837"/>
                    </a:ext>
                  </a:extLst>
                </a:gridCol>
                <a:gridCol w="1574800">
                  <a:extLst>
                    <a:ext uri="{9D8B030D-6E8A-4147-A177-3AD203B41FA5}">
                      <a16:colId xmlns:a16="http://schemas.microsoft.com/office/drawing/2014/main" val="1707508683"/>
                    </a:ext>
                  </a:extLst>
                </a:gridCol>
                <a:gridCol w="2407919">
                  <a:extLst>
                    <a:ext uri="{9D8B030D-6E8A-4147-A177-3AD203B41FA5}">
                      <a16:colId xmlns:a16="http://schemas.microsoft.com/office/drawing/2014/main" val="590501599"/>
                    </a:ext>
                  </a:extLst>
                </a:gridCol>
              </a:tblGrid>
              <a:tr h="0">
                <a:tc>
                  <a:txBody>
                    <a:bodyPr/>
                    <a:lstStyle/>
                    <a:p>
                      <a:pPr marL="0" marR="0" algn="ctr">
                        <a:spcBef>
                          <a:spcPts val="0"/>
                        </a:spcBef>
                        <a:spcAft>
                          <a:spcPts val="0"/>
                        </a:spcAft>
                      </a:pPr>
                      <a:r>
                        <a:rPr lang="en-US" sz="1700">
                          <a:effectLst/>
                          <a:latin typeface="Times New Roman" panose="02020603050405020304" pitchFamily="18" charset="0"/>
                          <a:cs typeface="Times New Roman" panose="02020603050405020304" pitchFamily="18" charset="0"/>
                        </a:rPr>
                        <a:t>Block</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a:effectLst/>
                          <a:latin typeface="Times New Roman" panose="02020603050405020304" pitchFamily="18" charset="0"/>
                          <a:cs typeface="Times New Roman" panose="02020603050405020304" pitchFamily="18" charset="0"/>
                        </a:rPr>
                        <a:t>Layer</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Input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Filter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Filter count</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700" dirty="0" smtClean="0">
                          <a:effectLst/>
                          <a:latin typeface="Times New Roman" panose="02020603050405020304" pitchFamily="18" charset="0"/>
                          <a:cs typeface="Times New Roman" panose="02020603050405020304" pitchFamily="18" charset="0"/>
                        </a:rPr>
                        <a:t>Output dimension</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54489644"/>
                  </a:ext>
                </a:extLst>
              </a:tr>
              <a:tr h="0">
                <a:tc rowSpan="4">
                  <a:txBody>
                    <a:bodyPr/>
                    <a:lstStyle/>
                    <a:p>
                      <a:pPr marL="0" marR="0" algn="l">
                        <a:spcBef>
                          <a:spcPts val="0"/>
                        </a:spcBef>
                        <a:spcAft>
                          <a:spcPts val="0"/>
                        </a:spcAft>
                      </a:pPr>
                      <a:r>
                        <a:rPr lang="en-US" sz="1700">
                          <a:effectLst/>
                          <a:latin typeface="Times New Roman" panose="02020603050405020304" pitchFamily="18" charset="0"/>
                          <a:cs typeface="Times New Roman" panose="02020603050405020304" pitchFamily="18" charset="0"/>
                        </a:rPr>
                        <a:t>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layer1_1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08562334"/>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layer1_2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34402491"/>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layer1_3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131567158"/>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maxpool1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32 x 32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2 x 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 </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126205480"/>
                  </a:ext>
                </a:extLst>
              </a:tr>
              <a:tr h="0">
                <a:tc rowSpan="3">
                  <a:txBody>
                    <a:bodyPr/>
                    <a:lstStyle/>
                    <a:p>
                      <a:pPr marL="0" marR="0" algn="l">
                        <a:spcBef>
                          <a:spcPts val="0"/>
                        </a:spcBef>
                        <a:spcAft>
                          <a:spcPts val="0"/>
                        </a:spcAft>
                      </a:pPr>
                      <a:r>
                        <a:rPr lang="en-US" sz="1700">
                          <a:effectLst/>
                          <a:latin typeface="Times New Roman" panose="02020603050405020304" pitchFamily="18" charset="0"/>
                          <a:cs typeface="Times New Roman" panose="02020603050405020304" pitchFamily="18" charset="0"/>
                        </a:rPr>
                        <a:t>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layer2_1</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880430741"/>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layer2_2</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016175358"/>
                  </a:ext>
                </a:extLst>
              </a:tr>
              <a:tr h="0">
                <a:tc vMerge="1">
                  <a:txBody>
                    <a:bodyPr/>
                    <a:lstStyle/>
                    <a:p>
                      <a:endParaRPr lang="en-US"/>
                    </a:p>
                  </a:txBody>
                  <a:tcPr/>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layer2_3</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16 x 16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3 x 3 x 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a:effectLst/>
                          <a:latin typeface="Times New Roman" panose="02020603050405020304" pitchFamily="18" charset="0"/>
                          <a:cs typeface="Times New Roman" panose="02020603050405020304" pitchFamily="18" charset="0"/>
                        </a:rPr>
                        <a:t>9</a:t>
                      </a:r>
                      <a:endParaRPr lang="en-US" sz="17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700" dirty="0">
                          <a:effectLst/>
                          <a:latin typeface="Times New Roman" panose="02020603050405020304" pitchFamily="18" charset="0"/>
                          <a:cs typeface="Times New Roman" panose="02020603050405020304" pitchFamily="18" charset="0"/>
                        </a:rPr>
                        <a:t>16 x 16 x 9</a:t>
                      </a:r>
                      <a:endParaRPr lang="en-US" sz="17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49479293"/>
                  </a:ext>
                </a:extLst>
              </a:tr>
            </a:tbl>
          </a:graphicData>
        </a:graphic>
      </p:graphicFrame>
    </p:spTree>
    <p:extLst>
      <p:ext uri="{BB962C8B-B14F-4D97-AF65-F5344CB8AC3E}">
        <p14:creationId xmlns:p14="http://schemas.microsoft.com/office/powerpoint/2010/main" val="339974485"/>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design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900" dirty="0"/>
                  <a:t>Recall that the experimental design focuses on evaluating the preeminence of matrix neural network in comparing image classifiers and so, </a:t>
                </a:r>
                <a:r>
                  <a:rPr lang="en-US" sz="1900" dirty="0">
                    <a:effectLst>
                      <a:outerShdw blurRad="38100" dist="38100" dir="2700000" algn="tl">
                        <a:srgbClr val="000000">
                          <a:alpha val="43137"/>
                        </a:srgbClr>
                      </a:outerShdw>
                    </a:effectLst>
                  </a:rPr>
                  <a:t>accuracy metric which measures the ratio of correct number of images to total number of all images </a:t>
                </a:r>
                <a:r>
                  <a:rPr lang="en-US" sz="1900" dirty="0"/>
                  <a:t>is not so </a:t>
                </a:r>
                <a:r>
                  <a:rPr lang="en-US" sz="1900" dirty="0" smtClean="0"/>
                  <a:t>essential in this research </a:t>
                </a:r>
                <a:r>
                  <a:rPr lang="en-US" sz="1900" dirty="0"/>
                  <a:t>when other deep image classification researches achieve very high accuracy by specific set of convolutional layers</a:t>
                </a:r>
                <a:r>
                  <a:rPr lang="en-US" sz="1900" dirty="0" smtClean="0"/>
                  <a:t>.</a:t>
                </a:r>
              </a:p>
              <a:p>
                <a:pPr marL="0" indent="0">
                  <a:buNone/>
                </a:pPr>
                <a14:m>
                  <m:oMathPara xmlns:m="http://schemas.openxmlformats.org/officeDocument/2006/math">
                    <m:oMathParaPr>
                      <m:jc m:val="centerGroup"/>
                    </m:oMathParaPr>
                    <m:oMath xmlns:m="http://schemas.openxmlformats.org/officeDocument/2006/math">
                      <m:r>
                        <m:rPr>
                          <m:sty m:val="p"/>
                        </m:rPr>
                        <a:rPr lang="en-US" sz="1900">
                          <a:latin typeface="Cambria Math" panose="02040503050406030204" pitchFamily="18" charset="0"/>
                        </a:rPr>
                        <m:t>accuracy</m:t>
                      </m:r>
                      <m:r>
                        <a:rPr lang="en-US" sz="1900" i="1">
                          <a:latin typeface="Cambria Math" panose="02040503050406030204" pitchFamily="18" charset="0"/>
                        </a:rPr>
                        <m:t>=</m:t>
                      </m:r>
                      <m:f>
                        <m:fPr>
                          <m:ctrlPr>
                            <a:rPr lang="en-US" sz="1900" i="1">
                              <a:latin typeface="Cambria Math" panose="02040503050406030204" pitchFamily="18" charset="0"/>
                            </a:rPr>
                          </m:ctrlPr>
                        </m:fPr>
                        <m:num>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correctly</m:t>
                          </m:r>
                          <m:r>
                            <a:rPr lang="en-US" sz="1900">
                              <a:latin typeface="Cambria Math" panose="02040503050406030204" pitchFamily="18" charset="0"/>
                            </a:rPr>
                            <m:t> </m:t>
                          </m:r>
                          <m:r>
                            <m:rPr>
                              <m:sty m:val="p"/>
                            </m:rPr>
                            <a:rPr lang="en-US" sz="1900">
                              <a:latin typeface="Cambria Math" panose="02040503050406030204" pitchFamily="18" charset="0"/>
                            </a:rPr>
                            <m:t>classified</m:t>
                          </m:r>
                          <m:r>
                            <a:rPr lang="en-US" sz="1900">
                              <a:latin typeface="Cambria Math" panose="02040503050406030204" pitchFamily="18" charset="0"/>
                            </a:rPr>
                            <m:t> </m:t>
                          </m:r>
                          <m:r>
                            <m:rPr>
                              <m:sty m:val="p"/>
                            </m:rPr>
                            <a:rPr lang="en-US" sz="1900">
                              <a:latin typeface="Cambria Math" panose="02040503050406030204" pitchFamily="18" charset="0"/>
                            </a:rPr>
                            <m:t>images</m:t>
                          </m:r>
                        </m:num>
                        <m:den>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total</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images</m:t>
                          </m:r>
                        </m:den>
                      </m:f>
                    </m:oMath>
                  </m:oMathPara>
                </a14:m>
                <a:endParaRPr lang="en-US" sz="1900" dirty="0" smtClean="0"/>
              </a:p>
              <a:p>
                <a:pPr marL="0" indent="0">
                  <a:buNone/>
                </a:pPr>
                <a:r>
                  <a:rPr lang="en-US" sz="1900" dirty="0"/>
                  <a:t>Because accuracy metric in this research </a:t>
                </a:r>
                <a:r>
                  <a:rPr lang="en-US" sz="1900" dirty="0" smtClean="0"/>
                  <a:t>is not </a:t>
                </a:r>
                <a:r>
                  <a:rPr lang="en-US" sz="1900" dirty="0"/>
                  <a:t>larger than good enough level 0.6 (60%), it is necessary to survey the diversity in classification of the aforementioned </a:t>
                </a:r>
                <a:r>
                  <a:rPr lang="en-US" sz="1900" dirty="0" smtClean="0"/>
                  <a:t>classifiers.</a:t>
                </a:r>
                <a:r>
                  <a:rPr lang="en-US" sz="1900" dirty="0"/>
                  <a:t> Therefore, given </a:t>
                </a:r>
                <a:r>
                  <a:rPr lang="en-US" sz="1900" i="1" dirty="0"/>
                  <a:t>n</a:t>
                </a:r>
                <a:r>
                  <a:rPr lang="en-US" sz="1900" dirty="0"/>
                  <a:t>=10 classes, the experimental design proposes </a:t>
                </a:r>
                <a:r>
                  <a:rPr lang="en-US" sz="1900" i="1" dirty="0"/>
                  <a:t>n</a:t>
                </a:r>
                <a:r>
                  <a:rPr lang="en-US" sz="1900" dirty="0"/>
                  <a:t>=10 pairs of precision metrics and recall metrics. For instance, given the </a:t>
                </a:r>
                <a:r>
                  <a:rPr lang="en-US" sz="1900" i="1" dirty="0" err="1"/>
                  <a:t>i</a:t>
                </a:r>
                <a:r>
                  <a:rPr lang="en-US" sz="1900" baseline="30000" dirty="0" err="1"/>
                  <a:t>th</a:t>
                </a:r>
                <a:r>
                  <a:rPr lang="en-US" sz="1900" dirty="0"/>
                  <a:t> class, </a:t>
                </a:r>
                <a:r>
                  <a:rPr lang="en-US" sz="1900" dirty="0">
                    <a:effectLst>
                      <a:outerShdw blurRad="38100" dist="38100" dir="2700000" algn="tl">
                        <a:srgbClr val="000000">
                          <a:alpha val="43137"/>
                        </a:srgbClr>
                      </a:outerShdw>
                    </a:effectLst>
                  </a:rPr>
                  <a:t>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precision is the ratio of the number of correctly classified images in 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class to the number of classified images in 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class whereas 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recall is the ratio of the number of classified images in 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class to the number of images actually belong to the </a:t>
                </a:r>
                <a:r>
                  <a:rPr lang="en-US" sz="1900" i="1" dirty="0" err="1">
                    <a:effectLst>
                      <a:outerShdw blurRad="38100" dist="38100" dir="2700000" algn="tl">
                        <a:srgbClr val="000000">
                          <a:alpha val="43137"/>
                        </a:srgbClr>
                      </a:outerShdw>
                    </a:effectLst>
                  </a:rPr>
                  <a:t>i</a:t>
                </a:r>
                <a:r>
                  <a:rPr lang="en-US" sz="1900" baseline="30000" dirty="0" err="1">
                    <a:effectLst>
                      <a:outerShdw blurRad="38100" dist="38100" dir="2700000" algn="tl">
                        <a:srgbClr val="000000">
                          <a:alpha val="43137"/>
                        </a:srgbClr>
                      </a:outerShdw>
                    </a:effectLst>
                  </a:rPr>
                  <a:t>th</a:t>
                </a:r>
                <a:r>
                  <a:rPr lang="en-US" sz="1900" dirty="0">
                    <a:effectLst>
                      <a:outerShdw blurRad="38100" dist="38100" dir="2700000" algn="tl">
                        <a:srgbClr val="000000">
                          <a:alpha val="43137"/>
                        </a:srgbClr>
                      </a:outerShdw>
                    </a:effectLst>
                  </a:rPr>
                  <a:t> class</a:t>
                </a:r>
                <a:r>
                  <a:rPr lang="en-US" sz="1900" dirty="0" smtClean="0"/>
                  <a:t>.</a:t>
                </a:r>
                <a:endParaRPr lang="en-US" sz="1900" dirty="0"/>
              </a:p>
              <a:p>
                <a:pPr marL="0" indent="0">
                  <a:buNone/>
                </a:pPr>
                <a14:m>
                  <m:oMathPara xmlns:m="http://schemas.openxmlformats.org/officeDocument/2006/math">
                    <m:oMathParaPr>
                      <m:jc m:val="centerGroup"/>
                    </m:oMathParaPr>
                    <m:oMath xmlns:m="http://schemas.openxmlformats.org/officeDocument/2006/math">
                      <m:sSub>
                        <m:sSubPr>
                          <m:ctrlPr>
                            <a:rPr lang="en-US" sz="1900" i="1">
                              <a:latin typeface="Cambria Math" panose="02040503050406030204" pitchFamily="18" charset="0"/>
                            </a:rPr>
                          </m:ctrlPr>
                        </m:sSubPr>
                        <m:e>
                          <m:r>
                            <m:rPr>
                              <m:sty m:val="p"/>
                            </m:rPr>
                            <a:rPr lang="en-US" sz="1900">
                              <a:latin typeface="Cambria Math" panose="02040503050406030204" pitchFamily="18" charset="0"/>
                            </a:rPr>
                            <m:t>precision</m:t>
                          </m:r>
                        </m:e>
                        <m:sub>
                          <m:r>
                            <a:rPr lang="en-US" sz="1900" i="1">
                              <a:latin typeface="Cambria Math" panose="02040503050406030204" pitchFamily="18" charset="0"/>
                            </a:rPr>
                            <m:t>𝑖</m:t>
                          </m:r>
                        </m:sub>
                      </m:sSub>
                      <m:r>
                        <a:rPr lang="en-US" sz="1900" i="1">
                          <a:latin typeface="Cambria Math" panose="02040503050406030204" pitchFamily="18" charset="0"/>
                        </a:rPr>
                        <m:t>=</m:t>
                      </m:r>
                      <m:f>
                        <m:fPr>
                          <m:ctrlPr>
                            <a:rPr lang="en-US" sz="1900" i="1">
                              <a:latin typeface="Cambria Math" panose="02040503050406030204" pitchFamily="18" charset="0"/>
                            </a:rPr>
                          </m:ctrlPr>
                        </m:fPr>
                        <m:num>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correctly</m:t>
                          </m:r>
                          <m:r>
                            <a:rPr lang="en-US" sz="1900">
                              <a:latin typeface="Cambria Math" panose="02040503050406030204" pitchFamily="18" charset="0"/>
                            </a:rPr>
                            <m:t> </m:t>
                          </m:r>
                          <m:r>
                            <m:rPr>
                              <m:sty m:val="p"/>
                            </m:rPr>
                            <a:rPr lang="en-US" sz="1900">
                              <a:latin typeface="Cambria Math" panose="02040503050406030204" pitchFamily="18" charset="0"/>
                            </a:rPr>
                            <m:t>classified</m:t>
                          </m:r>
                          <m:r>
                            <a:rPr lang="en-US" sz="1900">
                              <a:latin typeface="Cambria Math" panose="02040503050406030204" pitchFamily="18" charset="0"/>
                            </a:rPr>
                            <m:t> </m:t>
                          </m:r>
                          <m:r>
                            <m:rPr>
                              <m:sty m:val="p"/>
                            </m:rPr>
                            <a:rPr lang="en-US" sz="1900">
                              <a:latin typeface="Cambria Math" panose="02040503050406030204" pitchFamily="18" charset="0"/>
                            </a:rPr>
                            <m:t>images</m:t>
                          </m:r>
                          <m:r>
                            <a:rPr lang="en-US" sz="1900">
                              <a:latin typeface="Cambria Math" panose="02040503050406030204" pitchFamily="18" charset="0"/>
                            </a:rPr>
                            <m:t> </m:t>
                          </m:r>
                          <m:r>
                            <m:rPr>
                              <m:sty m:val="p"/>
                            </m:rPr>
                            <a:rPr lang="en-US" sz="1900">
                              <a:latin typeface="Cambria Math" panose="02040503050406030204" pitchFamily="18" charset="0"/>
                            </a:rPr>
                            <m:t>in</m:t>
                          </m:r>
                          <m:r>
                            <a:rPr lang="en-US" sz="1900">
                              <a:latin typeface="Cambria Math" panose="02040503050406030204" pitchFamily="18" charset="0"/>
                            </a:rPr>
                            <m:t> </m:t>
                          </m:r>
                          <m:sSup>
                            <m:sSupPr>
                              <m:ctrlPr>
                                <a:rPr lang="en-US" sz="1900" i="1">
                                  <a:latin typeface="Cambria Math" panose="02040503050406030204" pitchFamily="18" charset="0"/>
                                </a:rPr>
                              </m:ctrlPr>
                            </m:sSupPr>
                            <m:e>
                              <m:r>
                                <a:rPr lang="en-US" sz="1900" i="1">
                                  <a:latin typeface="Cambria Math" panose="02040503050406030204" pitchFamily="18" charset="0"/>
                                </a:rPr>
                                <m:t>𝑖</m:t>
                              </m:r>
                            </m:e>
                            <m:sup>
                              <m:r>
                                <a:rPr lang="en-US" sz="1900" i="1">
                                  <a:latin typeface="Cambria Math" panose="02040503050406030204" pitchFamily="18" charset="0"/>
                                </a:rPr>
                                <m:t>𝑡h</m:t>
                              </m:r>
                            </m:sup>
                          </m:sSup>
                          <m:r>
                            <a:rPr lang="en-US" sz="1900">
                              <a:latin typeface="Cambria Math" panose="02040503050406030204" pitchFamily="18" charset="0"/>
                            </a:rPr>
                            <m:t> </m:t>
                          </m:r>
                          <m:r>
                            <m:rPr>
                              <m:sty m:val="p"/>
                            </m:rPr>
                            <a:rPr lang="en-US" sz="1900">
                              <a:latin typeface="Cambria Math" panose="02040503050406030204" pitchFamily="18" charset="0"/>
                            </a:rPr>
                            <m:t>class</m:t>
                          </m:r>
                        </m:num>
                        <m:den>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classified</m:t>
                          </m:r>
                          <m:r>
                            <a:rPr lang="en-US" sz="1900">
                              <a:latin typeface="Cambria Math" panose="02040503050406030204" pitchFamily="18" charset="0"/>
                            </a:rPr>
                            <m:t> </m:t>
                          </m:r>
                          <m:r>
                            <m:rPr>
                              <m:sty m:val="p"/>
                            </m:rPr>
                            <a:rPr lang="en-US" sz="1900">
                              <a:latin typeface="Cambria Math" panose="02040503050406030204" pitchFamily="18" charset="0"/>
                            </a:rPr>
                            <m:t>images</m:t>
                          </m:r>
                          <m:r>
                            <a:rPr lang="en-US" sz="1900">
                              <a:latin typeface="Cambria Math" panose="02040503050406030204" pitchFamily="18" charset="0"/>
                            </a:rPr>
                            <m:t> </m:t>
                          </m:r>
                          <m:r>
                            <m:rPr>
                              <m:sty m:val="p"/>
                            </m:rPr>
                            <a:rPr lang="en-US" sz="1900">
                              <a:latin typeface="Cambria Math" panose="02040503050406030204" pitchFamily="18" charset="0"/>
                            </a:rPr>
                            <m:t>in</m:t>
                          </m:r>
                          <m:r>
                            <a:rPr lang="en-US" sz="1900">
                              <a:latin typeface="Cambria Math" panose="02040503050406030204" pitchFamily="18" charset="0"/>
                            </a:rPr>
                            <m:t> </m:t>
                          </m:r>
                          <m:sSup>
                            <m:sSupPr>
                              <m:ctrlPr>
                                <a:rPr lang="en-US" sz="1900" i="1">
                                  <a:latin typeface="Cambria Math" panose="02040503050406030204" pitchFamily="18" charset="0"/>
                                </a:rPr>
                              </m:ctrlPr>
                            </m:sSupPr>
                            <m:e>
                              <m:r>
                                <a:rPr lang="en-US" sz="1900" i="1">
                                  <a:latin typeface="Cambria Math" panose="02040503050406030204" pitchFamily="18" charset="0"/>
                                </a:rPr>
                                <m:t>𝑖</m:t>
                              </m:r>
                            </m:e>
                            <m:sup>
                              <m:r>
                                <a:rPr lang="en-US" sz="1900" i="1">
                                  <a:latin typeface="Cambria Math" panose="02040503050406030204" pitchFamily="18" charset="0"/>
                                </a:rPr>
                                <m:t>𝑡h</m:t>
                              </m:r>
                            </m:sup>
                          </m:sSup>
                          <m:r>
                            <a:rPr lang="en-US" sz="1900">
                              <a:latin typeface="Cambria Math" panose="02040503050406030204" pitchFamily="18" charset="0"/>
                            </a:rPr>
                            <m:t> </m:t>
                          </m:r>
                          <m:r>
                            <m:rPr>
                              <m:sty m:val="p"/>
                            </m:rPr>
                            <a:rPr lang="en-US" sz="1900">
                              <a:latin typeface="Cambria Math" panose="02040503050406030204" pitchFamily="18" charset="0"/>
                            </a:rPr>
                            <m:t>class</m:t>
                          </m:r>
                        </m:den>
                      </m:f>
                    </m:oMath>
                  </m:oMathPara>
                </a14:m>
                <a:endParaRPr lang="en-US" sz="1900" dirty="0"/>
              </a:p>
              <a:p>
                <a:pPr marL="0" indent="0">
                  <a:buNone/>
                </a:pPr>
                <a14:m>
                  <m:oMathPara xmlns:m="http://schemas.openxmlformats.org/officeDocument/2006/math">
                    <m:oMathParaPr>
                      <m:jc m:val="centerGroup"/>
                    </m:oMathParaPr>
                    <m:oMath xmlns:m="http://schemas.openxmlformats.org/officeDocument/2006/math">
                      <m:sSub>
                        <m:sSubPr>
                          <m:ctrlPr>
                            <a:rPr lang="en-US" sz="1900" i="1">
                              <a:latin typeface="Cambria Math" panose="02040503050406030204" pitchFamily="18" charset="0"/>
                            </a:rPr>
                          </m:ctrlPr>
                        </m:sSubPr>
                        <m:e>
                          <m:r>
                            <m:rPr>
                              <m:sty m:val="p"/>
                            </m:rPr>
                            <a:rPr lang="en-US" sz="1900">
                              <a:latin typeface="Cambria Math" panose="02040503050406030204" pitchFamily="18" charset="0"/>
                            </a:rPr>
                            <m:t>recall</m:t>
                          </m:r>
                        </m:e>
                        <m:sub>
                          <m:r>
                            <a:rPr lang="en-US" sz="1900" i="1">
                              <a:latin typeface="Cambria Math" panose="02040503050406030204" pitchFamily="18" charset="0"/>
                            </a:rPr>
                            <m:t>𝑖</m:t>
                          </m:r>
                        </m:sub>
                      </m:sSub>
                      <m:r>
                        <a:rPr lang="en-US" sz="1900" i="1">
                          <a:latin typeface="Cambria Math" panose="02040503050406030204" pitchFamily="18" charset="0"/>
                        </a:rPr>
                        <m:t>=</m:t>
                      </m:r>
                      <m:f>
                        <m:fPr>
                          <m:ctrlPr>
                            <a:rPr lang="en-US" sz="1900" i="1">
                              <a:latin typeface="Cambria Math" panose="02040503050406030204" pitchFamily="18" charset="0"/>
                            </a:rPr>
                          </m:ctrlPr>
                        </m:fPr>
                        <m:num>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classified</m:t>
                          </m:r>
                          <m:r>
                            <a:rPr lang="en-US" sz="1900">
                              <a:latin typeface="Cambria Math" panose="02040503050406030204" pitchFamily="18" charset="0"/>
                            </a:rPr>
                            <m:t> </m:t>
                          </m:r>
                          <m:r>
                            <m:rPr>
                              <m:sty m:val="p"/>
                            </m:rPr>
                            <a:rPr lang="en-US" sz="1900">
                              <a:latin typeface="Cambria Math" panose="02040503050406030204" pitchFamily="18" charset="0"/>
                            </a:rPr>
                            <m:t>images</m:t>
                          </m:r>
                          <m:r>
                            <a:rPr lang="en-US" sz="1900">
                              <a:latin typeface="Cambria Math" panose="02040503050406030204" pitchFamily="18" charset="0"/>
                            </a:rPr>
                            <m:t> </m:t>
                          </m:r>
                          <m:r>
                            <m:rPr>
                              <m:sty m:val="p"/>
                            </m:rPr>
                            <a:rPr lang="en-US" sz="1900">
                              <a:latin typeface="Cambria Math" panose="02040503050406030204" pitchFamily="18" charset="0"/>
                            </a:rPr>
                            <m:t>in</m:t>
                          </m:r>
                          <m:r>
                            <a:rPr lang="en-US" sz="1900">
                              <a:latin typeface="Cambria Math" panose="02040503050406030204" pitchFamily="18" charset="0"/>
                            </a:rPr>
                            <m:t> </m:t>
                          </m:r>
                          <m:sSup>
                            <m:sSupPr>
                              <m:ctrlPr>
                                <a:rPr lang="en-US" sz="1900" i="1">
                                  <a:latin typeface="Cambria Math" panose="02040503050406030204" pitchFamily="18" charset="0"/>
                                </a:rPr>
                              </m:ctrlPr>
                            </m:sSupPr>
                            <m:e>
                              <m:r>
                                <a:rPr lang="en-US" sz="1900" i="1">
                                  <a:latin typeface="Cambria Math" panose="02040503050406030204" pitchFamily="18" charset="0"/>
                                </a:rPr>
                                <m:t>𝑖</m:t>
                              </m:r>
                            </m:e>
                            <m:sup>
                              <m:r>
                                <a:rPr lang="en-US" sz="1900" i="1">
                                  <a:latin typeface="Cambria Math" panose="02040503050406030204" pitchFamily="18" charset="0"/>
                                </a:rPr>
                                <m:t>𝑡h</m:t>
                              </m:r>
                            </m:sup>
                          </m:sSup>
                          <m:r>
                            <a:rPr lang="en-US" sz="1900">
                              <a:latin typeface="Cambria Math" panose="02040503050406030204" pitchFamily="18" charset="0"/>
                            </a:rPr>
                            <m:t> </m:t>
                          </m:r>
                          <m:r>
                            <m:rPr>
                              <m:sty m:val="p"/>
                            </m:rPr>
                            <a:rPr lang="en-US" sz="1900">
                              <a:latin typeface="Cambria Math" panose="02040503050406030204" pitchFamily="18" charset="0"/>
                            </a:rPr>
                            <m:t>class</m:t>
                          </m:r>
                        </m:num>
                        <m:den>
                          <m:r>
                            <m:rPr>
                              <m:sty m:val="p"/>
                            </m:rPr>
                            <a:rPr lang="en-US" sz="1900">
                              <a:latin typeface="Cambria Math" panose="02040503050406030204" pitchFamily="18" charset="0"/>
                            </a:rPr>
                            <m:t>the</m:t>
                          </m:r>
                          <m:r>
                            <a:rPr lang="en-US" sz="1900">
                              <a:latin typeface="Cambria Math" panose="02040503050406030204" pitchFamily="18" charset="0"/>
                            </a:rPr>
                            <m:t> </m:t>
                          </m:r>
                          <m:r>
                            <m:rPr>
                              <m:sty m:val="p"/>
                            </m:rPr>
                            <a:rPr lang="en-US" sz="1900">
                              <a:latin typeface="Cambria Math" panose="02040503050406030204" pitchFamily="18" charset="0"/>
                            </a:rPr>
                            <m:t>number</m:t>
                          </m:r>
                          <m:r>
                            <a:rPr lang="en-US" sz="1900">
                              <a:latin typeface="Cambria Math" panose="02040503050406030204" pitchFamily="18" charset="0"/>
                            </a:rPr>
                            <m:t> </m:t>
                          </m:r>
                          <m:r>
                            <m:rPr>
                              <m:sty m:val="p"/>
                            </m:rPr>
                            <a:rPr lang="en-US" sz="1900">
                              <a:latin typeface="Cambria Math" panose="02040503050406030204" pitchFamily="18" charset="0"/>
                            </a:rPr>
                            <m:t>of</m:t>
                          </m:r>
                          <m:r>
                            <a:rPr lang="en-US" sz="1900">
                              <a:latin typeface="Cambria Math" panose="02040503050406030204" pitchFamily="18" charset="0"/>
                            </a:rPr>
                            <m:t> </m:t>
                          </m:r>
                          <m:r>
                            <m:rPr>
                              <m:sty m:val="p"/>
                            </m:rPr>
                            <a:rPr lang="en-US" sz="1900">
                              <a:latin typeface="Cambria Math" panose="02040503050406030204" pitchFamily="18" charset="0"/>
                            </a:rPr>
                            <m:t>images</m:t>
                          </m:r>
                          <m:r>
                            <a:rPr lang="en-US" sz="1900">
                              <a:latin typeface="Cambria Math" panose="02040503050406030204" pitchFamily="18" charset="0"/>
                            </a:rPr>
                            <m:t> </m:t>
                          </m:r>
                          <m:r>
                            <m:rPr>
                              <m:sty m:val="p"/>
                            </m:rPr>
                            <a:rPr lang="en-US" sz="1900">
                              <a:latin typeface="Cambria Math" panose="02040503050406030204" pitchFamily="18" charset="0"/>
                            </a:rPr>
                            <m:t>belong</m:t>
                          </m:r>
                          <m:r>
                            <a:rPr lang="en-US" sz="1900">
                              <a:latin typeface="Cambria Math" panose="02040503050406030204" pitchFamily="18" charset="0"/>
                            </a:rPr>
                            <m:t> </m:t>
                          </m:r>
                          <m:r>
                            <m:rPr>
                              <m:sty m:val="p"/>
                            </m:rPr>
                            <a:rPr lang="en-US" sz="1900">
                              <a:latin typeface="Cambria Math" panose="02040503050406030204" pitchFamily="18" charset="0"/>
                            </a:rPr>
                            <m:t>to</m:t>
                          </m:r>
                          <m:r>
                            <a:rPr lang="en-US" sz="1900">
                              <a:latin typeface="Cambria Math" panose="02040503050406030204" pitchFamily="18" charset="0"/>
                            </a:rPr>
                            <m:t> </m:t>
                          </m:r>
                          <m:sSup>
                            <m:sSupPr>
                              <m:ctrlPr>
                                <a:rPr lang="en-US" sz="1900" i="1">
                                  <a:latin typeface="Cambria Math" panose="02040503050406030204" pitchFamily="18" charset="0"/>
                                </a:rPr>
                              </m:ctrlPr>
                            </m:sSupPr>
                            <m:e>
                              <m:r>
                                <a:rPr lang="en-US" sz="1900" i="1">
                                  <a:latin typeface="Cambria Math" panose="02040503050406030204" pitchFamily="18" charset="0"/>
                                </a:rPr>
                                <m:t>𝑖</m:t>
                              </m:r>
                            </m:e>
                            <m:sup>
                              <m:r>
                                <a:rPr lang="en-US" sz="1900" i="1">
                                  <a:latin typeface="Cambria Math" panose="02040503050406030204" pitchFamily="18" charset="0"/>
                                </a:rPr>
                                <m:t>𝑡h</m:t>
                              </m:r>
                            </m:sup>
                          </m:sSup>
                          <m:r>
                            <a:rPr lang="en-US" sz="1900">
                              <a:latin typeface="Cambria Math" panose="02040503050406030204" pitchFamily="18" charset="0"/>
                            </a:rPr>
                            <m:t> </m:t>
                          </m:r>
                          <m:r>
                            <m:rPr>
                              <m:sty m:val="p"/>
                            </m:rPr>
                            <a:rPr lang="en-US" sz="1900">
                              <a:latin typeface="Cambria Math" panose="02040503050406030204" pitchFamily="18" charset="0"/>
                            </a:rPr>
                            <m:t>class</m:t>
                          </m:r>
                        </m:den>
                      </m:f>
                    </m:oMath>
                  </m:oMathPara>
                </a14:m>
                <a:endParaRPr lang="en-US" sz="1900" dirty="0"/>
              </a:p>
              <a:p>
                <a:pPr marL="0" indent="0">
                  <a:buNone/>
                </a:pPr>
                <a:r>
                  <a:rPr lang="en-US" sz="1900" dirty="0"/>
                  <a:t>The </a:t>
                </a:r>
                <a:r>
                  <a:rPr lang="en-US" sz="1900" i="1" dirty="0" err="1"/>
                  <a:t>i</a:t>
                </a:r>
                <a:r>
                  <a:rPr lang="en-US" sz="1900" baseline="30000" dirty="0" err="1"/>
                  <a:t>th</a:t>
                </a:r>
                <a:r>
                  <a:rPr lang="en-US" sz="1900" dirty="0"/>
                  <a:t> F1 metric which harmonizes </a:t>
                </a:r>
                <a:r>
                  <a:rPr lang="en-US" sz="1900" i="1" dirty="0" err="1"/>
                  <a:t>i</a:t>
                </a:r>
                <a:r>
                  <a:rPr lang="en-US" sz="1900" baseline="30000" dirty="0" err="1"/>
                  <a:t>th</a:t>
                </a:r>
                <a:r>
                  <a:rPr lang="en-US" sz="1900" dirty="0"/>
                  <a:t> precision and </a:t>
                </a:r>
                <a:r>
                  <a:rPr lang="en-US" sz="1900" i="1" dirty="0" err="1"/>
                  <a:t>i</a:t>
                </a:r>
                <a:r>
                  <a:rPr lang="en-US" sz="1900" baseline="30000" dirty="0" err="1"/>
                  <a:t>th</a:t>
                </a:r>
                <a:r>
                  <a:rPr lang="en-US" sz="1900" dirty="0"/>
                  <a:t> recall is specified as follows:</a:t>
                </a:r>
              </a:p>
              <a:p>
                <a:pPr marL="0" indent="0">
                  <a:buNone/>
                </a:pPr>
                <a14:m>
                  <m:oMathPara xmlns:m="http://schemas.openxmlformats.org/officeDocument/2006/math">
                    <m:oMathParaPr>
                      <m:jc m:val="centerGroup"/>
                    </m:oMathParaPr>
                    <m:oMath xmlns:m="http://schemas.openxmlformats.org/officeDocument/2006/math">
                      <m:sSub>
                        <m:sSubPr>
                          <m:ctrlPr>
                            <a:rPr lang="en-US" sz="1900" i="1">
                              <a:latin typeface="Cambria Math" panose="02040503050406030204" pitchFamily="18" charset="0"/>
                            </a:rPr>
                          </m:ctrlPr>
                        </m:sSubPr>
                        <m:e>
                          <m:r>
                            <m:rPr>
                              <m:sty m:val="p"/>
                            </m:rPr>
                            <a:rPr lang="en-US" sz="1900">
                              <a:latin typeface="Cambria Math" panose="02040503050406030204" pitchFamily="18" charset="0"/>
                            </a:rPr>
                            <m:t>F</m:t>
                          </m:r>
                          <m:r>
                            <a:rPr lang="en-US" sz="1900" i="1">
                              <a:latin typeface="Cambria Math" panose="02040503050406030204" pitchFamily="18" charset="0"/>
                            </a:rPr>
                            <m:t>1</m:t>
                          </m:r>
                        </m:e>
                        <m:sub>
                          <m:r>
                            <a:rPr lang="en-US" sz="1900" i="1">
                              <a:latin typeface="Cambria Math" panose="02040503050406030204" pitchFamily="18" charset="0"/>
                            </a:rPr>
                            <m:t>𝑖</m:t>
                          </m:r>
                        </m:sub>
                      </m:sSub>
                      <m:r>
                        <a:rPr lang="en-US" sz="1900" i="1">
                          <a:latin typeface="Cambria Math" panose="02040503050406030204" pitchFamily="18" charset="0"/>
                        </a:rPr>
                        <m:t>=2</m:t>
                      </m:r>
                      <m:f>
                        <m:fPr>
                          <m:ctrlPr>
                            <a:rPr lang="en-US" sz="1900" i="1">
                              <a:latin typeface="Cambria Math" panose="02040503050406030204" pitchFamily="18" charset="0"/>
                            </a:rPr>
                          </m:ctrlPr>
                        </m:fPr>
                        <m:num>
                          <m:sSub>
                            <m:sSubPr>
                              <m:ctrlPr>
                                <a:rPr lang="en-US" sz="1900" i="1">
                                  <a:latin typeface="Cambria Math" panose="02040503050406030204" pitchFamily="18" charset="0"/>
                                </a:rPr>
                              </m:ctrlPr>
                            </m:sSubPr>
                            <m:e>
                              <m:r>
                                <m:rPr>
                                  <m:sty m:val="p"/>
                                </m:rPr>
                                <a:rPr lang="en-US" sz="1900">
                                  <a:latin typeface="Cambria Math" panose="02040503050406030204" pitchFamily="18" charset="0"/>
                                </a:rPr>
                                <m:t>precision</m:t>
                              </m:r>
                            </m:e>
                            <m:sub>
                              <m:r>
                                <a:rPr lang="en-US" sz="1900" i="1">
                                  <a:latin typeface="Cambria Math" panose="02040503050406030204" pitchFamily="18" charset="0"/>
                                </a:rPr>
                                <m:t>𝑖</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m:rPr>
                                  <m:sty m:val="p"/>
                                </m:rPr>
                                <a:rPr lang="en-US" sz="1900">
                                  <a:latin typeface="Cambria Math" panose="02040503050406030204" pitchFamily="18" charset="0"/>
                                </a:rPr>
                                <m:t>recall</m:t>
                              </m:r>
                            </m:e>
                            <m:sub>
                              <m:r>
                                <a:rPr lang="en-US" sz="1900" i="1">
                                  <a:latin typeface="Cambria Math" panose="02040503050406030204" pitchFamily="18" charset="0"/>
                                </a:rPr>
                                <m:t>𝑖</m:t>
                              </m:r>
                            </m:sub>
                          </m:sSub>
                        </m:num>
                        <m:den>
                          <m:sSub>
                            <m:sSubPr>
                              <m:ctrlPr>
                                <a:rPr lang="en-US" sz="1900" i="1">
                                  <a:latin typeface="Cambria Math" panose="02040503050406030204" pitchFamily="18" charset="0"/>
                                </a:rPr>
                              </m:ctrlPr>
                            </m:sSubPr>
                            <m:e>
                              <m:r>
                                <m:rPr>
                                  <m:sty m:val="p"/>
                                </m:rPr>
                                <a:rPr lang="en-US" sz="1900">
                                  <a:latin typeface="Cambria Math" panose="02040503050406030204" pitchFamily="18" charset="0"/>
                                </a:rPr>
                                <m:t>precision</m:t>
                              </m:r>
                            </m:e>
                            <m:sub>
                              <m:r>
                                <a:rPr lang="en-US" sz="1900" i="1">
                                  <a:latin typeface="Cambria Math" panose="02040503050406030204" pitchFamily="18" charset="0"/>
                                </a:rPr>
                                <m:t>𝑖</m:t>
                              </m:r>
                            </m:sub>
                          </m:sSub>
                          <m:r>
                            <a:rPr lang="en-US" sz="1900" i="1">
                              <a:latin typeface="Cambria Math" panose="02040503050406030204" pitchFamily="18" charset="0"/>
                            </a:rPr>
                            <m:t>+</m:t>
                          </m:r>
                          <m:sSub>
                            <m:sSubPr>
                              <m:ctrlPr>
                                <a:rPr lang="en-US" sz="1900" i="1">
                                  <a:latin typeface="Cambria Math" panose="02040503050406030204" pitchFamily="18" charset="0"/>
                                </a:rPr>
                              </m:ctrlPr>
                            </m:sSubPr>
                            <m:e>
                              <m:r>
                                <m:rPr>
                                  <m:sty m:val="p"/>
                                </m:rPr>
                                <a:rPr lang="en-US" sz="1900">
                                  <a:latin typeface="Cambria Math" panose="02040503050406030204" pitchFamily="18" charset="0"/>
                                </a:rPr>
                                <m:t>recall</m:t>
                              </m:r>
                            </m:e>
                            <m:sub>
                              <m:r>
                                <a:rPr lang="en-US" sz="1900" i="1">
                                  <a:latin typeface="Cambria Math" panose="02040503050406030204" pitchFamily="18" charset="0"/>
                                </a:rPr>
                                <m:t>𝑖</m:t>
                              </m:r>
                            </m:sub>
                          </m:sSub>
                        </m:den>
                      </m:f>
                    </m:oMath>
                  </m:oMathPara>
                </a14:m>
                <a:endParaRPr lang="en-US" sz="1900" dirty="0"/>
              </a:p>
              <a:p>
                <a:pPr marL="0" indent="0">
                  <a:buNone/>
                </a:pPr>
                <a:endParaRPr lang="en-US" sz="19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1120" y="914399"/>
                <a:ext cx="12049760" cy="5176066"/>
              </a:xfrm>
              <a:blipFill>
                <a:blip r:embed="rId2"/>
                <a:stretch>
                  <a:fillRect l="-557" t="-589" r="-759" b="-471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39</a:t>
            </a:fld>
            <a:endParaRPr lang="en-US"/>
          </a:p>
        </p:txBody>
      </p:sp>
    </p:spTree>
    <p:extLst>
      <p:ext uri="{BB962C8B-B14F-4D97-AF65-F5344CB8AC3E}">
        <p14:creationId xmlns:p14="http://schemas.microsoft.com/office/powerpoint/2010/main" val="3054478697"/>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a:t>
            </a:r>
            <a:r>
              <a:rPr lang="en-US" dirty="0" smtClean="0"/>
              <a:t>design (skip)</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Autofit/>
              </a:bodyPr>
              <a:lstStyle/>
              <a:p>
                <a:pPr marL="0" indent="0">
                  <a:buNone/>
                </a:pPr>
                <a:r>
                  <a:rPr lang="en-US" sz="2100" dirty="0"/>
                  <a:t>The overall precision, recall, and F1 over </a:t>
                </a:r>
                <a:r>
                  <a:rPr lang="en-US" sz="2100" i="1" dirty="0"/>
                  <a:t>n</a:t>
                </a:r>
                <a:r>
                  <a:rPr lang="en-US" sz="2100" dirty="0"/>
                  <a:t>=10 classes </a:t>
                </a:r>
                <a:r>
                  <a:rPr lang="en-US" sz="2100" dirty="0" smtClean="0"/>
                  <a:t>are </a:t>
                </a:r>
                <a:r>
                  <a:rPr lang="en-US" sz="2100" dirty="0"/>
                  <a:t>means of partial </a:t>
                </a:r>
                <a:r>
                  <a:rPr lang="en-US" sz="2100" i="1" dirty="0" err="1"/>
                  <a:t>i</a:t>
                </a:r>
                <a:r>
                  <a:rPr lang="en-US" sz="2100" baseline="30000" dirty="0" err="1"/>
                  <a:t>th</a:t>
                </a:r>
                <a:r>
                  <a:rPr lang="en-US" sz="2100" dirty="0"/>
                  <a:t> precisions, partial </a:t>
                </a:r>
                <a:r>
                  <a:rPr lang="en-US" sz="2100" i="1" dirty="0" err="1"/>
                  <a:t>i</a:t>
                </a:r>
                <a:r>
                  <a:rPr lang="en-US" sz="2100" baseline="30000" dirty="0" err="1"/>
                  <a:t>th</a:t>
                </a:r>
                <a:r>
                  <a:rPr lang="en-US" sz="2100" dirty="0"/>
                  <a:t> recalls, and </a:t>
                </a:r>
                <a:r>
                  <a:rPr lang="en-US" sz="2100" i="1" dirty="0" err="1"/>
                  <a:t>i</a:t>
                </a:r>
                <a:r>
                  <a:rPr lang="en-US" sz="2100" baseline="30000" dirty="0" err="1"/>
                  <a:t>th</a:t>
                </a:r>
                <a:r>
                  <a:rPr lang="en-US" sz="2100" dirty="0"/>
                  <a:t> F1 (s), respectively. </a:t>
                </a:r>
                <a:r>
                  <a:rPr lang="en-US" sz="2100" dirty="0">
                    <a:effectLst>
                      <a:outerShdw blurRad="38100" dist="38100" dir="2700000" algn="tl">
                        <a:srgbClr val="000000">
                          <a:alpha val="43137"/>
                        </a:srgbClr>
                      </a:outerShdw>
                    </a:effectLst>
                  </a:rPr>
                  <a:t>These metrics concern classes and diversity in classes</a:t>
                </a:r>
                <a:r>
                  <a:rPr lang="en-US" sz="2100" dirty="0" smtClean="0">
                    <a:effectLst>
                      <a:outerShdw blurRad="38100" dist="38100" dir="2700000" algn="tl">
                        <a:srgbClr val="000000">
                          <a:alpha val="43137"/>
                        </a:srgbClr>
                      </a:outerShdw>
                    </a:effectLst>
                  </a:rPr>
                  <a:t>.</a:t>
                </a:r>
              </a:p>
              <a:p>
                <a:pPr marL="0" indent="0">
                  <a:buNone/>
                </a:pPr>
                <a14:m>
                  <m:oMathPara xmlns:m="http://schemas.openxmlformats.org/officeDocument/2006/math">
                    <m:oMathParaPr>
                      <m:jc m:val="centerGroup"/>
                    </m:oMathParaPr>
                    <m:oMath xmlns:m="http://schemas.openxmlformats.org/officeDocument/2006/math">
                      <m:m>
                        <m:mPr>
                          <m:mcs>
                            <m:mc>
                              <m:mcPr>
                                <m:count m:val="1"/>
                                <m:mcJc m:val="center"/>
                              </m:mcPr>
                            </m:mc>
                          </m:mcs>
                          <m:ctrlPr>
                            <a:rPr lang="en-US" sz="2100" i="1">
                              <a:latin typeface="Cambria Math" panose="02040503050406030204" pitchFamily="18" charset="0"/>
                            </a:rPr>
                          </m:ctrlPr>
                        </m:mPr>
                        <m:mr>
                          <m:e>
                            <m:r>
                              <m:rPr>
                                <m:sty m:val="p"/>
                              </m:rPr>
                              <a:rPr lang="en-US" sz="2100">
                                <a:latin typeface="Cambria Math" panose="02040503050406030204" pitchFamily="18" charset="0"/>
                              </a:rPr>
                              <m:t>precision</m:t>
                            </m:r>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𝑛</m:t>
                                </m:r>
                              </m:den>
                            </m:f>
                            <m:nary>
                              <m:naryPr>
                                <m:chr m:val="∑"/>
                                <m:limLoc m:val="undOvr"/>
                                <m:ctrlPr>
                                  <a:rPr lang="en-US" sz="2100" i="1">
                                    <a:latin typeface="Cambria Math" panose="02040503050406030204" pitchFamily="18" charset="0"/>
                                  </a:rPr>
                                </m:ctrlPr>
                              </m:naryPr>
                              <m:sub>
                                <m:r>
                                  <a:rPr lang="en-US" sz="2100" i="1">
                                    <a:latin typeface="Cambria Math" panose="02040503050406030204" pitchFamily="18" charset="0"/>
                                  </a:rPr>
                                  <m:t>𝑖</m:t>
                                </m:r>
                                <m:r>
                                  <a:rPr lang="en-US" sz="2100" i="1">
                                    <a:latin typeface="Cambria Math" panose="02040503050406030204" pitchFamily="18" charset="0"/>
                                  </a:rPr>
                                  <m:t>=1</m:t>
                                </m:r>
                              </m:sub>
                              <m:sup>
                                <m:r>
                                  <a:rPr lang="en-US" sz="2100" i="1">
                                    <a:latin typeface="Cambria Math" panose="02040503050406030204" pitchFamily="18" charset="0"/>
                                  </a:rPr>
                                  <m:t>𝑛</m:t>
                                </m:r>
                              </m:sup>
                              <m:e>
                                <m:sSub>
                                  <m:sSubPr>
                                    <m:ctrlPr>
                                      <a:rPr lang="en-US" sz="2100" i="1">
                                        <a:latin typeface="Cambria Math" panose="02040503050406030204" pitchFamily="18" charset="0"/>
                                      </a:rPr>
                                    </m:ctrlPr>
                                  </m:sSubPr>
                                  <m:e>
                                    <m:r>
                                      <m:rPr>
                                        <m:sty m:val="p"/>
                                      </m:rPr>
                                      <a:rPr lang="en-US" sz="2100">
                                        <a:latin typeface="Cambria Math" panose="02040503050406030204" pitchFamily="18" charset="0"/>
                                      </a:rPr>
                                      <m:t>precision</m:t>
                                    </m:r>
                                  </m:e>
                                  <m:sub>
                                    <m:r>
                                      <a:rPr lang="en-US" sz="2100" i="1">
                                        <a:latin typeface="Cambria Math" panose="02040503050406030204" pitchFamily="18" charset="0"/>
                                      </a:rPr>
                                      <m:t>𝑖</m:t>
                                    </m:r>
                                  </m:sub>
                                </m:sSub>
                              </m:e>
                            </m:nary>
                          </m:e>
                        </m:mr>
                        <m:mr>
                          <m:e>
                            <m:r>
                              <m:rPr>
                                <m:sty m:val="p"/>
                              </m:rPr>
                              <a:rPr lang="en-US" sz="2100">
                                <a:latin typeface="Cambria Math" panose="02040503050406030204" pitchFamily="18" charset="0"/>
                              </a:rPr>
                              <m:t>recall</m:t>
                            </m:r>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𝑛</m:t>
                                </m:r>
                              </m:den>
                            </m:f>
                            <m:nary>
                              <m:naryPr>
                                <m:chr m:val="∑"/>
                                <m:limLoc m:val="undOvr"/>
                                <m:ctrlPr>
                                  <a:rPr lang="en-US" sz="2100" i="1">
                                    <a:latin typeface="Cambria Math" panose="02040503050406030204" pitchFamily="18" charset="0"/>
                                  </a:rPr>
                                </m:ctrlPr>
                              </m:naryPr>
                              <m:sub>
                                <m:r>
                                  <a:rPr lang="en-US" sz="2100" i="1">
                                    <a:latin typeface="Cambria Math" panose="02040503050406030204" pitchFamily="18" charset="0"/>
                                  </a:rPr>
                                  <m:t>𝑖</m:t>
                                </m:r>
                                <m:r>
                                  <a:rPr lang="en-US" sz="2100" i="1">
                                    <a:latin typeface="Cambria Math" panose="02040503050406030204" pitchFamily="18" charset="0"/>
                                  </a:rPr>
                                  <m:t>=1</m:t>
                                </m:r>
                              </m:sub>
                              <m:sup>
                                <m:r>
                                  <a:rPr lang="en-US" sz="2100" i="1">
                                    <a:latin typeface="Cambria Math" panose="02040503050406030204" pitchFamily="18" charset="0"/>
                                  </a:rPr>
                                  <m:t>𝑛</m:t>
                                </m:r>
                              </m:sup>
                              <m:e>
                                <m:sSub>
                                  <m:sSubPr>
                                    <m:ctrlPr>
                                      <a:rPr lang="en-US" sz="2100" i="1">
                                        <a:latin typeface="Cambria Math" panose="02040503050406030204" pitchFamily="18" charset="0"/>
                                      </a:rPr>
                                    </m:ctrlPr>
                                  </m:sSubPr>
                                  <m:e>
                                    <m:r>
                                      <m:rPr>
                                        <m:sty m:val="p"/>
                                      </m:rPr>
                                      <a:rPr lang="en-US" sz="2100">
                                        <a:latin typeface="Cambria Math" panose="02040503050406030204" pitchFamily="18" charset="0"/>
                                      </a:rPr>
                                      <m:t>recall</m:t>
                                    </m:r>
                                  </m:e>
                                  <m:sub>
                                    <m:r>
                                      <a:rPr lang="en-US" sz="2100" i="1">
                                        <a:latin typeface="Cambria Math" panose="02040503050406030204" pitchFamily="18" charset="0"/>
                                      </a:rPr>
                                      <m:t>𝑖</m:t>
                                    </m:r>
                                  </m:sub>
                                </m:sSub>
                              </m:e>
                            </m:nary>
                          </m:e>
                        </m:mr>
                        <m:mr>
                          <m:e>
                            <m:r>
                              <m:rPr>
                                <m:sty m:val="p"/>
                              </m:rPr>
                              <a:rPr lang="en-US" sz="2100">
                                <a:latin typeface="Cambria Math" panose="02040503050406030204" pitchFamily="18" charset="0"/>
                              </a:rPr>
                              <m:t>F</m:t>
                            </m:r>
                            <m:r>
                              <a:rPr lang="en-US" sz="2100">
                                <a:latin typeface="Cambria Math" panose="02040503050406030204" pitchFamily="18" charset="0"/>
                              </a:rPr>
                              <m:t>1</m:t>
                            </m:r>
                            <m:r>
                              <a:rPr lang="en-US" sz="2100" i="1">
                                <a:latin typeface="Cambria Math" panose="02040503050406030204" pitchFamily="18" charset="0"/>
                              </a:rPr>
                              <m:t>=</m:t>
                            </m:r>
                            <m:f>
                              <m:fPr>
                                <m:ctrlPr>
                                  <a:rPr lang="en-US" sz="2100" i="1">
                                    <a:latin typeface="Cambria Math" panose="02040503050406030204" pitchFamily="18" charset="0"/>
                                  </a:rPr>
                                </m:ctrlPr>
                              </m:fPr>
                              <m:num>
                                <m:r>
                                  <a:rPr lang="en-US" sz="2100" i="1">
                                    <a:latin typeface="Cambria Math" panose="02040503050406030204" pitchFamily="18" charset="0"/>
                                  </a:rPr>
                                  <m:t>1</m:t>
                                </m:r>
                              </m:num>
                              <m:den>
                                <m:r>
                                  <a:rPr lang="en-US" sz="2100" i="1">
                                    <a:latin typeface="Cambria Math" panose="02040503050406030204" pitchFamily="18" charset="0"/>
                                  </a:rPr>
                                  <m:t>𝑛</m:t>
                                </m:r>
                              </m:den>
                            </m:f>
                            <m:nary>
                              <m:naryPr>
                                <m:chr m:val="∑"/>
                                <m:limLoc m:val="undOvr"/>
                                <m:ctrlPr>
                                  <a:rPr lang="en-US" sz="2100" i="1">
                                    <a:latin typeface="Cambria Math" panose="02040503050406030204" pitchFamily="18" charset="0"/>
                                  </a:rPr>
                                </m:ctrlPr>
                              </m:naryPr>
                              <m:sub>
                                <m:r>
                                  <a:rPr lang="en-US" sz="2100" i="1">
                                    <a:latin typeface="Cambria Math" panose="02040503050406030204" pitchFamily="18" charset="0"/>
                                  </a:rPr>
                                  <m:t>𝑖</m:t>
                                </m:r>
                                <m:r>
                                  <a:rPr lang="en-US" sz="2100" i="1">
                                    <a:latin typeface="Cambria Math" panose="02040503050406030204" pitchFamily="18" charset="0"/>
                                  </a:rPr>
                                  <m:t>=1</m:t>
                                </m:r>
                              </m:sub>
                              <m:sup>
                                <m:r>
                                  <a:rPr lang="en-US" sz="2100" i="1">
                                    <a:latin typeface="Cambria Math" panose="02040503050406030204" pitchFamily="18" charset="0"/>
                                  </a:rPr>
                                  <m:t>𝑛</m:t>
                                </m:r>
                              </m:sup>
                              <m:e>
                                <m:sSub>
                                  <m:sSubPr>
                                    <m:ctrlPr>
                                      <a:rPr lang="en-US" sz="2100" i="1">
                                        <a:latin typeface="Cambria Math" panose="02040503050406030204" pitchFamily="18" charset="0"/>
                                      </a:rPr>
                                    </m:ctrlPr>
                                  </m:sSubPr>
                                  <m:e>
                                    <m:r>
                                      <m:rPr>
                                        <m:sty m:val="p"/>
                                      </m:rPr>
                                      <a:rPr lang="en-US" sz="2100">
                                        <a:latin typeface="Cambria Math" panose="02040503050406030204" pitchFamily="18" charset="0"/>
                                      </a:rPr>
                                      <m:t>F</m:t>
                                    </m:r>
                                    <m:r>
                                      <a:rPr lang="en-US" sz="2100">
                                        <a:latin typeface="Cambria Math" panose="02040503050406030204" pitchFamily="18" charset="0"/>
                                      </a:rPr>
                                      <m:t>1</m:t>
                                    </m:r>
                                  </m:e>
                                  <m:sub>
                                    <m:r>
                                      <a:rPr lang="en-US" sz="2100" i="1">
                                        <a:latin typeface="Cambria Math" panose="02040503050406030204" pitchFamily="18" charset="0"/>
                                      </a:rPr>
                                      <m:t>𝑖</m:t>
                                    </m:r>
                                  </m:sub>
                                </m:sSub>
                              </m:e>
                            </m:nary>
                          </m:e>
                        </m:mr>
                      </m:m>
                      <m:r>
                        <m:rPr>
                          <m:sty m:val="p"/>
                        </m:rPr>
                        <a:rPr lang="en-US" sz="2100">
                          <a:latin typeface="Cambria Math" panose="02040503050406030204" pitchFamily="18" charset="0"/>
                        </a:rPr>
                        <m:t>where</m:t>
                      </m:r>
                      <m:r>
                        <a:rPr lang="en-US" sz="2100" i="1">
                          <a:latin typeface="Cambria Math" panose="02040503050406030204" pitchFamily="18" charset="0"/>
                        </a:rPr>
                        <m:t> </m:t>
                      </m:r>
                      <m:r>
                        <a:rPr lang="en-US" sz="2100" i="1">
                          <a:latin typeface="Cambria Math" panose="02040503050406030204" pitchFamily="18" charset="0"/>
                        </a:rPr>
                        <m:t>𝑛</m:t>
                      </m:r>
                      <m:r>
                        <a:rPr lang="en-US" sz="2100" i="1">
                          <a:latin typeface="Cambria Math" panose="02040503050406030204" pitchFamily="18" charset="0"/>
                        </a:rPr>
                        <m:t>=10</m:t>
                      </m:r>
                    </m:oMath>
                  </m:oMathPara>
                </a14:m>
                <a:endParaRPr lang="en-US" sz="2100" dirty="0" smtClean="0"/>
              </a:p>
              <a:p>
                <a:pPr marL="0" indent="0">
                  <a:buNone/>
                </a:pPr>
                <a:r>
                  <a:rPr lang="en-US" sz="2100" dirty="0"/>
                  <a:t>The internal meanings of precision metric and accuracy metric are very similar but they are still finely different. Within the same degree of accuracy, precision metric will be higher than accuracy metric if classifier obtain good enough diversity. For instance, the do-nothing classifier does nothing except fixing one resulted class randomized among </a:t>
                </a:r>
                <a:r>
                  <a:rPr lang="en-US" sz="2100" i="1" dirty="0"/>
                  <a:t>n</a:t>
                </a:r>
                <a:r>
                  <a:rPr lang="en-US" sz="2100" dirty="0"/>
                  <a:t>=10 classes always obtain accuracy metric 0.1 </a:t>
                </a:r>
                <a:r>
                  <a:rPr lang="en-US" sz="2100" dirty="0" smtClean="0"/>
                  <a:t>(10%) but </a:t>
                </a:r>
                <a:r>
                  <a:rPr lang="en-US" sz="2100" dirty="0"/>
                  <a:t>its precision metric is always smaller than precision metric of the classifier that reaches the same accuracy metric 0.1 but covers more than one class.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608" t="-707" r="-557" b="-6007"/>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40</a:t>
            </a:fld>
            <a:endParaRPr lang="en-US"/>
          </a:p>
        </p:txBody>
      </p:sp>
    </p:spTree>
    <p:extLst>
      <p:ext uri="{BB962C8B-B14F-4D97-AF65-F5344CB8AC3E}">
        <p14:creationId xmlns:p14="http://schemas.microsoft.com/office/powerpoint/2010/main" val="1532905153"/>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4. Experimental design (skip)</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1280" y="914399"/>
                <a:ext cx="12029440" cy="5176066"/>
              </a:xfrm>
            </p:spPr>
            <p:txBody>
              <a:bodyPr>
                <a:noAutofit/>
              </a:bodyPr>
              <a:lstStyle/>
              <a:p>
                <a:pPr marL="0" indent="0">
                  <a:buNone/>
                </a:pPr>
                <a:r>
                  <a:rPr lang="en-US" sz="2150" dirty="0"/>
                  <a:t>Although classification diversity is hidden under precision metric, recall metric, and F1 metric, the so-called class coverage is proposed to illustrate visually the classification diversity. For instance, </a:t>
                </a:r>
                <a:r>
                  <a:rPr lang="en-US" sz="2150" dirty="0">
                    <a:effectLst>
                      <a:outerShdw blurRad="38100" dist="38100" dir="2700000" algn="tl">
                        <a:srgbClr val="000000">
                          <a:alpha val="43137"/>
                        </a:srgbClr>
                      </a:outerShdw>
                    </a:effectLst>
                  </a:rPr>
                  <a:t>class coverage denoted cc is the ratio of the number of classified classes to the number of total classes</a:t>
                </a:r>
                <a:r>
                  <a:rPr lang="en-US" sz="2150" dirty="0"/>
                  <a:t> with note that a classified class is the class whose corresponding recall is positive</a:t>
                </a:r>
                <a:r>
                  <a:rPr lang="en-US" sz="2150" dirty="0" smtClean="0"/>
                  <a:t>.</a:t>
                </a:r>
              </a:p>
              <a:p>
                <a:pPr marL="0" indent="0">
                  <a:buNone/>
                </a:pPr>
                <a14:m>
                  <m:oMathPara xmlns:m="http://schemas.openxmlformats.org/officeDocument/2006/math">
                    <m:oMathParaPr>
                      <m:jc m:val="centerGroup"/>
                    </m:oMathParaPr>
                    <m:oMath xmlns:m="http://schemas.openxmlformats.org/officeDocument/2006/math">
                      <m:r>
                        <m:rPr>
                          <m:sty m:val="p"/>
                        </m:rPr>
                        <a:rPr lang="en-US" sz="2150">
                          <a:latin typeface="Cambria Math" panose="02040503050406030204" pitchFamily="18" charset="0"/>
                        </a:rPr>
                        <m:t>cc</m:t>
                      </m:r>
                      <m:r>
                        <a:rPr lang="en-US" sz="2150" i="1">
                          <a:latin typeface="Cambria Math" panose="02040503050406030204" pitchFamily="18" charset="0"/>
                        </a:rPr>
                        <m:t>=</m:t>
                      </m:r>
                      <m:f>
                        <m:fPr>
                          <m:ctrlPr>
                            <a:rPr lang="en-US" sz="2150" i="1">
                              <a:latin typeface="Cambria Math" panose="02040503050406030204" pitchFamily="18" charset="0"/>
                            </a:rPr>
                          </m:ctrlPr>
                        </m:fPr>
                        <m:num>
                          <m:r>
                            <m:rPr>
                              <m:sty m:val="p"/>
                            </m:rPr>
                            <a:rPr lang="en-US" sz="2150">
                              <a:latin typeface="Cambria Math" panose="02040503050406030204" pitchFamily="18" charset="0"/>
                            </a:rPr>
                            <m:t>the</m:t>
                          </m:r>
                          <m:r>
                            <a:rPr lang="en-US" sz="2150">
                              <a:latin typeface="Cambria Math" panose="02040503050406030204" pitchFamily="18" charset="0"/>
                            </a:rPr>
                            <m:t> </m:t>
                          </m:r>
                          <m:r>
                            <m:rPr>
                              <m:sty m:val="p"/>
                            </m:rPr>
                            <a:rPr lang="en-US" sz="2150">
                              <a:latin typeface="Cambria Math" panose="02040503050406030204" pitchFamily="18" charset="0"/>
                            </a:rPr>
                            <m:t>number</m:t>
                          </m:r>
                          <m:r>
                            <a:rPr lang="en-US" sz="2150">
                              <a:latin typeface="Cambria Math" panose="02040503050406030204" pitchFamily="18" charset="0"/>
                            </a:rPr>
                            <m:t> </m:t>
                          </m:r>
                          <m:r>
                            <m:rPr>
                              <m:sty m:val="p"/>
                            </m:rPr>
                            <a:rPr lang="en-US" sz="2150">
                              <a:latin typeface="Cambria Math" panose="02040503050406030204" pitchFamily="18" charset="0"/>
                            </a:rPr>
                            <m:t>of</m:t>
                          </m:r>
                          <m:r>
                            <a:rPr lang="en-US" sz="2150">
                              <a:latin typeface="Cambria Math" panose="02040503050406030204" pitchFamily="18" charset="0"/>
                            </a:rPr>
                            <m:t> </m:t>
                          </m:r>
                          <m:r>
                            <m:rPr>
                              <m:sty m:val="p"/>
                            </m:rPr>
                            <a:rPr lang="en-US" sz="2150">
                              <a:latin typeface="Cambria Math" panose="02040503050406030204" pitchFamily="18" charset="0"/>
                            </a:rPr>
                            <m:t>classified</m:t>
                          </m:r>
                          <m:r>
                            <a:rPr lang="en-US" sz="2150">
                              <a:latin typeface="Cambria Math" panose="02040503050406030204" pitchFamily="18" charset="0"/>
                            </a:rPr>
                            <m:t> </m:t>
                          </m:r>
                          <m:r>
                            <m:rPr>
                              <m:sty m:val="p"/>
                            </m:rPr>
                            <a:rPr lang="en-US" sz="2150">
                              <a:latin typeface="Cambria Math" panose="02040503050406030204" pitchFamily="18" charset="0"/>
                            </a:rPr>
                            <m:t>classes</m:t>
                          </m:r>
                        </m:num>
                        <m:den>
                          <m:r>
                            <m:rPr>
                              <m:sty m:val="p"/>
                            </m:rPr>
                            <a:rPr lang="en-US" sz="2150">
                              <a:latin typeface="Cambria Math" panose="02040503050406030204" pitchFamily="18" charset="0"/>
                            </a:rPr>
                            <m:t>the</m:t>
                          </m:r>
                          <m:r>
                            <a:rPr lang="en-US" sz="2150">
                              <a:latin typeface="Cambria Math" panose="02040503050406030204" pitchFamily="18" charset="0"/>
                            </a:rPr>
                            <m:t> </m:t>
                          </m:r>
                          <m:r>
                            <m:rPr>
                              <m:sty m:val="p"/>
                            </m:rPr>
                            <a:rPr lang="en-US" sz="2150">
                              <a:latin typeface="Cambria Math" panose="02040503050406030204" pitchFamily="18" charset="0"/>
                            </a:rPr>
                            <m:t>number</m:t>
                          </m:r>
                          <m:r>
                            <a:rPr lang="en-US" sz="2150">
                              <a:latin typeface="Cambria Math" panose="02040503050406030204" pitchFamily="18" charset="0"/>
                            </a:rPr>
                            <m:t> </m:t>
                          </m:r>
                          <m:r>
                            <m:rPr>
                              <m:sty m:val="p"/>
                            </m:rPr>
                            <a:rPr lang="en-US" sz="2150">
                              <a:latin typeface="Cambria Math" panose="02040503050406030204" pitchFamily="18" charset="0"/>
                            </a:rPr>
                            <m:t>of</m:t>
                          </m:r>
                          <m:r>
                            <a:rPr lang="en-US" sz="2150">
                              <a:latin typeface="Cambria Math" panose="02040503050406030204" pitchFamily="18" charset="0"/>
                            </a:rPr>
                            <m:t> </m:t>
                          </m:r>
                          <m:r>
                            <m:rPr>
                              <m:sty m:val="p"/>
                            </m:rPr>
                            <a:rPr lang="en-US" sz="2150">
                              <a:latin typeface="Cambria Math" panose="02040503050406030204" pitchFamily="18" charset="0"/>
                            </a:rPr>
                            <m:t>total</m:t>
                          </m:r>
                          <m:r>
                            <a:rPr lang="en-US" sz="2150">
                              <a:latin typeface="Cambria Math" panose="02040503050406030204" pitchFamily="18" charset="0"/>
                            </a:rPr>
                            <m:t> </m:t>
                          </m:r>
                          <m:r>
                            <m:rPr>
                              <m:sty m:val="p"/>
                            </m:rPr>
                            <a:rPr lang="en-US" sz="2150">
                              <a:latin typeface="Cambria Math" panose="02040503050406030204" pitchFamily="18" charset="0"/>
                            </a:rPr>
                            <m:t>classes</m:t>
                          </m:r>
                        </m:den>
                      </m:f>
                    </m:oMath>
                  </m:oMathPara>
                </a14:m>
                <a:endParaRPr lang="en-US" sz="2150" dirty="0" smtClean="0"/>
              </a:p>
              <a:p>
                <a:pPr marL="0" indent="0">
                  <a:buNone/>
                </a:pPr>
                <a:r>
                  <a:rPr lang="en-US" sz="2150" dirty="0"/>
                  <a:t>In general, there are 4 main testing metrics such as accuracy, precision, recall, and F1 and 1 additional metric such as class coverage, in which F1 is the final metric that evaluates preeminence of every classifier. The second important metric is accuracy metric because deep neural network turns forwards some convergence so that it often focuses on some certain class among </a:t>
                </a:r>
                <a:r>
                  <a:rPr lang="en-US" sz="2150" i="1" dirty="0"/>
                  <a:t>n</a:t>
                </a:r>
                <a:r>
                  <a:rPr lang="en-US" sz="2150" dirty="0"/>
                  <a:t>=10 classes, which decreases diversity but increases accuracy degree. Computational convergence is strong point of artificial neural network (ANN) but unfortunately, it becomes inversely drawback in image classification because image input is high-dimension data whereas class output is low-dimension data. </a:t>
                </a:r>
                <a:r>
                  <a:rPr lang="en-US" sz="2150" dirty="0" smtClean="0"/>
                  <a:t>Other </a:t>
                </a:r>
                <a:r>
                  <a:rPr lang="en-US" sz="2150" dirty="0"/>
                  <a:t>researches focusing on obtaining highly accurate image classification always try to increase the accuracy metric and keep diversity stable in parallel by setting specific configuration of many enough filters and convolutional layers.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1280" y="914399"/>
                <a:ext cx="12029440" cy="5176066"/>
              </a:xfrm>
              <a:blipFill>
                <a:blip r:embed="rId2"/>
                <a:stretch>
                  <a:fillRect l="-659" t="-707" r="-86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41</a:t>
            </a:fld>
            <a:endParaRPr lang="en-US"/>
          </a:p>
        </p:txBody>
      </p:sp>
    </p:spTree>
    <p:extLst>
      <p:ext uri="{BB962C8B-B14F-4D97-AF65-F5344CB8AC3E}">
        <p14:creationId xmlns:p14="http://schemas.microsoft.com/office/powerpoint/2010/main" val="3813806868"/>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5</a:t>
            </a:r>
            <a:r>
              <a:rPr lang="en-US" dirty="0"/>
              <a:t>. Results and </a:t>
            </a:r>
            <a:r>
              <a:rPr lang="en-US" dirty="0" smtClean="0"/>
              <a:t>discussions (main)</a:t>
            </a:r>
            <a:endParaRPr lang="en-US" dirty="0"/>
          </a:p>
        </p:txBody>
      </p:sp>
      <p:sp>
        <p:nvSpPr>
          <p:cNvPr id="3" name="Content Placeholder 2"/>
          <p:cNvSpPr>
            <a:spLocks noGrp="1"/>
          </p:cNvSpPr>
          <p:nvPr>
            <p:ph idx="1"/>
          </p:nvPr>
        </p:nvSpPr>
        <p:spPr>
          <a:xfrm>
            <a:off x="81280" y="914399"/>
            <a:ext cx="12009120" cy="5176066"/>
          </a:xfrm>
        </p:spPr>
        <p:txBody>
          <a:bodyPr>
            <a:noAutofit/>
          </a:bodyPr>
          <a:lstStyle/>
          <a:p>
            <a:r>
              <a:rPr lang="en-US" sz="2000" dirty="0">
                <a:effectLst>
                  <a:outerShdw blurRad="38100" dist="38100" dir="2700000" algn="tl">
                    <a:srgbClr val="000000">
                      <a:alpha val="43137"/>
                    </a:srgbClr>
                  </a:outerShdw>
                </a:effectLst>
              </a:rPr>
              <a:t>The experimental dataset is CIFAR-10 dataset including 5 training folders and 1 testing folder where each folder has 10000 images grouped in 10 classes and every class has equal number of 1000 images</a:t>
            </a:r>
            <a:r>
              <a:rPr lang="en-US" sz="2000" dirty="0"/>
              <a:t>. Given experimental variable “layer” is 2, CIFAR-10 dataset is tested 10 times for 3 values (“weight”, “trans”, “</a:t>
            </a:r>
            <a:r>
              <a:rPr lang="en-US" sz="2000" dirty="0" err="1"/>
              <a:t>conv</a:t>
            </a:r>
            <a:r>
              <a:rPr lang="en-US" sz="2000" dirty="0"/>
              <a:t>”) of </a:t>
            </a:r>
            <a:r>
              <a:rPr lang="en-US" sz="2000" i="1" dirty="0"/>
              <a:t>feature</a:t>
            </a:r>
            <a:r>
              <a:rPr lang="en-US" sz="2000" dirty="0"/>
              <a:t> group and 2 values (“true”, “false”) of </a:t>
            </a:r>
            <a:r>
              <a:rPr lang="en-US" sz="2000" i="1" dirty="0" err="1"/>
              <a:t>vec</a:t>
            </a:r>
            <a:r>
              <a:rPr lang="en-US" sz="2000" dirty="0"/>
              <a:t> group in order to derive 60 records of ANOVA dataset whose groups are “</a:t>
            </a:r>
            <a:r>
              <a:rPr lang="en-US" sz="2000" dirty="0" err="1"/>
              <a:t>vec</a:t>
            </a:r>
            <a:r>
              <a:rPr lang="en-US" sz="2000" dirty="0"/>
              <a:t>” and “feature” and whose treatments are “accuracy”, “precision”, “recall”, and “F1” corresponding to accuracy metric, precision metric, recall metric, and F1 metric aforementioned. Given experimental variable “layer” is 3, CIFAR-10 dataset is tested again 10 times for 3 values (“weight”, “trans”, “</a:t>
            </a:r>
            <a:r>
              <a:rPr lang="en-US" sz="2000" dirty="0" err="1"/>
              <a:t>conv</a:t>
            </a:r>
            <a:r>
              <a:rPr lang="en-US" sz="2000" dirty="0"/>
              <a:t>”) of </a:t>
            </a:r>
            <a:r>
              <a:rPr lang="en-US" sz="2000" i="1" dirty="0"/>
              <a:t>feature</a:t>
            </a:r>
            <a:r>
              <a:rPr lang="en-US" sz="2000" dirty="0"/>
              <a:t> group and 2 values (“true”, “false”) of </a:t>
            </a:r>
            <a:r>
              <a:rPr lang="en-US" sz="2000" i="1" dirty="0" err="1"/>
              <a:t>vec</a:t>
            </a:r>
            <a:r>
              <a:rPr lang="en-US" sz="2000" dirty="0"/>
              <a:t> group in order to derive other 60 records of ANOVA dataset. </a:t>
            </a:r>
            <a:r>
              <a:rPr lang="en-US" sz="2000" dirty="0" smtClean="0">
                <a:effectLst>
                  <a:outerShdw blurRad="38100" dist="38100" dir="2700000" algn="tl">
                    <a:srgbClr val="000000">
                      <a:alpha val="43137"/>
                    </a:srgbClr>
                  </a:outerShdw>
                </a:effectLst>
              </a:rPr>
              <a:t>The next slide illustrates </a:t>
            </a:r>
            <a:r>
              <a:rPr lang="en-US" sz="2000" dirty="0">
                <a:effectLst>
                  <a:outerShdw blurRad="38100" dist="38100" dir="2700000" algn="tl">
                    <a:srgbClr val="000000">
                      <a:alpha val="43137"/>
                    </a:srgbClr>
                  </a:outerShdw>
                </a:effectLst>
              </a:rPr>
              <a:t>120 records of full ANOVA dataset</a:t>
            </a:r>
            <a:r>
              <a:rPr lang="en-US" sz="2000" dirty="0" smtClean="0">
                <a:effectLst>
                  <a:outerShdw blurRad="38100" dist="38100" dir="2700000" algn="tl">
                    <a:srgbClr val="000000">
                      <a:alpha val="43137"/>
                    </a:srgbClr>
                  </a:outerShdw>
                </a:effectLst>
              </a:rPr>
              <a:t>.</a:t>
            </a:r>
            <a:r>
              <a:rPr lang="en-US" sz="2000" dirty="0" smtClean="0"/>
              <a:t> The </a:t>
            </a:r>
            <a:r>
              <a:rPr lang="en-US" sz="2000" dirty="0"/>
              <a:t>ANOVA dataset is available </a:t>
            </a:r>
            <a:r>
              <a:rPr lang="en-US" sz="2000" dirty="0" smtClean="0"/>
              <a:t>at https</a:t>
            </a:r>
            <a:r>
              <a:rPr lang="en-US" sz="2000" dirty="0"/>
              <a:t>://</a:t>
            </a:r>
            <a:r>
              <a:rPr lang="en-US" sz="2000" dirty="0" smtClean="0"/>
              <a:t>github.com/ngphloc/ai/blob/main/4_testing/mac/2026.01.22/cifar10-lr0.1-max-anova.csv</a:t>
            </a:r>
            <a:endParaRPr lang="en-US" sz="2000" dirty="0"/>
          </a:p>
          <a:p>
            <a:r>
              <a:rPr lang="en-US" sz="2000" dirty="0"/>
              <a:t>Recall that the two-way ANOVA aims to test the three </a:t>
            </a:r>
            <a:r>
              <a:rPr lang="en-US" sz="2000" dirty="0" smtClean="0"/>
              <a:t>hypotheses on </a:t>
            </a:r>
            <a:r>
              <a:rPr lang="en-US" sz="2000" dirty="0"/>
              <a:t>the ANOVA dataset of size 120: 1) whether MNN is the alternative of CNN, which focuses on testing the preeminence of MNN classifier in comparison with TB classifier and CNN classifier via testing the </a:t>
            </a:r>
            <a:r>
              <a:rPr lang="en-US" sz="2000" i="1" dirty="0"/>
              <a:t>feature</a:t>
            </a:r>
            <a:r>
              <a:rPr lang="en-US" sz="2000" dirty="0"/>
              <a:t> group, 2) whether attention is the alternative of CNN, which focuses on testing the preeminence of TB classifier in comparison with MNN classifier and CNN classifier via testing the </a:t>
            </a:r>
            <a:r>
              <a:rPr lang="en-US" sz="2000" i="1" dirty="0"/>
              <a:t>feature</a:t>
            </a:r>
            <a:r>
              <a:rPr lang="en-US" sz="2000" dirty="0"/>
              <a:t> group, and 3) whether FFN of transformer should be MNN via testing the </a:t>
            </a:r>
            <a:r>
              <a:rPr lang="en-US" sz="2000" i="1" dirty="0" err="1"/>
              <a:t>vec</a:t>
            </a:r>
            <a:r>
              <a:rPr lang="en-US" sz="2000" dirty="0"/>
              <a:t> group. The research applies Gemini 2025 into making ANOVA test. Moreover, only baseline is applied into improving classification task and adjusted-line is not applied.</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42</a:t>
            </a:fld>
            <a:endParaRPr lang="en-US"/>
          </a:p>
        </p:txBody>
      </p:sp>
    </p:spTree>
    <p:extLst>
      <p:ext uri="{BB962C8B-B14F-4D97-AF65-F5344CB8AC3E}">
        <p14:creationId xmlns:p14="http://schemas.microsoft.com/office/powerpoint/2010/main" val="3414256873"/>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(skip)</a:t>
            </a:r>
            <a:endParaRPr lang="en-US" dirty="0"/>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4293649013"/>
              </p:ext>
            </p:extLst>
          </p:nvPr>
        </p:nvGraphicFramePr>
        <p:xfrm>
          <a:off x="838200" y="778472"/>
          <a:ext cx="10515600" cy="5547360"/>
        </p:xfrm>
        <a:graphic>
          <a:graphicData uri="http://schemas.openxmlformats.org/drawingml/2006/table">
            <a:tbl>
              <a:tblPr firstRow="1" firstCol="1" bandRow="1">
                <a:tableStyleId>{5C22544A-7EE6-4342-B048-85BDC9FD1C3A}</a:tableStyleId>
              </a:tblPr>
              <a:tblGrid>
                <a:gridCol w="1168400">
                  <a:extLst>
                    <a:ext uri="{9D8B030D-6E8A-4147-A177-3AD203B41FA5}">
                      <a16:colId xmlns:a16="http://schemas.microsoft.com/office/drawing/2014/main" val="3091644013"/>
                    </a:ext>
                  </a:extLst>
                </a:gridCol>
                <a:gridCol w="1168400">
                  <a:extLst>
                    <a:ext uri="{9D8B030D-6E8A-4147-A177-3AD203B41FA5}">
                      <a16:colId xmlns:a16="http://schemas.microsoft.com/office/drawing/2014/main" val="3643806448"/>
                    </a:ext>
                  </a:extLst>
                </a:gridCol>
                <a:gridCol w="1168400">
                  <a:extLst>
                    <a:ext uri="{9D8B030D-6E8A-4147-A177-3AD203B41FA5}">
                      <a16:colId xmlns:a16="http://schemas.microsoft.com/office/drawing/2014/main" val="1427913866"/>
                    </a:ext>
                  </a:extLst>
                </a:gridCol>
                <a:gridCol w="1168400">
                  <a:extLst>
                    <a:ext uri="{9D8B030D-6E8A-4147-A177-3AD203B41FA5}">
                      <a16:colId xmlns:a16="http://schemas.microsoft.com/office/drawing/2014/main" val="3062370860"/>
                    </a:ext>
                  </a:extLst>
                </a:gridCol>
                <a:gridCol w="1168400">
                  <a:extLst>
                    <a:ext uri="{9D8B030D-6E8A-4147-A177-3AD203B41FA5}">
                      <a16:colId xmlns:a16="http://schemas.microsoft.com/office/drawing/2014/main" val="75118386"/>
                    </a:ext>
                  </a:extLst>
                </a:gridCol>
                <a:gridCol w="1168400">
                  <a:extLst>
                    <a:ext uri="{9D8B030D-6E8A-4147-A177-3AD203B41FA5}">
                      <a16:colId xmlns:a16="http://schemas.microsoft.com/office/drawing/2014/main" val="871385285"/>
                    </a:ext>
                  </a:extLst>
                </a:gridCol>
                <a:gridCol w="1168400">
                  <a:extLst>
                    <a:ext uri="{9D8B030D-6E8A-4147-A177-3AD203B41FA5}">
                      <a16:colId xmlns:a16="http://schemas.microsoft.com/office/drawing/2014/main" val="528298794"/>
                    </a:ext>
                  </a:extLst>
                </a:gridCol>
                <a:gridCol w="1168400">
                  <a:extLst>
                    <a:ext uri="{9D8B030D-6E8A-4147-A177-3AD203B41FA5}">
                      <a16:colId xmlns:a16="http://schemas.microsoft.com/office/drawing/2014/main" val="542423377"/>
                    </a:ext>
                  </a:extLst>
                </a:gridCol>
                <a:gridCol w="1168400">
                  <a:extLst>
                    <a:ext uri="{9D8B030D-6E8A-4147-A177-3AD203B41FA5}">
                      <a16:colId xmlns:a16="http://schemas.microsoft.com/office/drawing/2014/main" val="1341824673"/>
                    </a:ext>
                  </a:extLst>
                </a:gridCol>
              </a:tblGrid>
              <a:tr h="0">
                <a:tc>
                  <a:txBody>
                    <a:bodyPr/>
                    <a:lstStyle/>
                    <a:p>
                      <a:pPr marL="0" marR="0" algn="just">
                        <a:spcBef>
                          <a:spcPts val="0"/>
                        </a:spcBef>
                        <a:spcAft>
                          <a:spcPts val="0"/>
                        </a:spcAft>
                      </a:pPr>
                      <a:r>
                        <a:rPr lang="en-US" sz="1600" dirty="0">
                          <a:effectLst/>
                          <a:latin typeface="Times New Roman" panose="02020603050405020304" pitchFamily="18" charset="0"/>
                          <a:cs typeface="Times New Roman" panose="02020603050405020304" pitchFamily="18" charset="0"/>
                        </a:rPr>
                        <a:t> </a:t>
                      </a:r>
                      <a:endParaRPr lang="en-US" sz="16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layer</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vec</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feature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accuracy</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precision</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recall</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F1</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600">
                          <a:effectLst/>
                          <a:latin typeface="Times New Roman" panose="02020603050405020304" pitchFamily="18" charset="0"/>
                          <a:cs typeface="Times New Roman" panose="02020603050405020304" pitchFamily="18" charset="0"/>
                        </a:rPr>
                        <a:t>cc</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75193392"/>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1</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rowSpan="13">
                  <a:txBody>
                    <a:bodyPr/>
                    <a:lstStyle/>
                    <a:p>
                      <a:pPr marL="0" marR="0" algn="ctr">
                        <a:spcBef>
                          <a:spcPts val="0"/>
                        </a:spcBef>
                        <a:spcAft>
                          <a:spcPts val="0"/>
                        </a:spcAft>
                      </a:pPr>
                      <a:r>
                        <a:rPr lang="en-US" sz="1200" dirty="0">
                          <a:effectLst/>
                          <a:latin typeface="Times New Roman" panose="02020603050405020304" pitchFamily="18" charset="0"/>
                          <a:cs typeface="Times New Roman" panose="02020603050405020304" pitchFamily="18" charset="0"/>
                        </a:rPr>
                        <a:t>2</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false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weight</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0.0826</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0.0980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0.7623</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0.1678</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1.0000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849730609"/>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2</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false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trans</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0.0727</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0.0841</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0.7903</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0.1350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1.0000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810195561"/>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3</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false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conv</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0.0400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0.4000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0.0727</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0.4000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626126378"/>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4</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true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weight</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0.0831</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dirty="0">
                          <a:effectLst/>
                          <a:latin typeface="Times New Roman" panose="02020603050405020304" pitchFamily="18" charset="0"/>
                          <a:cs typeface="Times New Roman" panose="02020603050405020304" pitchFamily="18" charset="0"/>
                        </a:rPr>
                        <a:t>0.0872</a:t>
                      </a:r>
                      <a:endParaRPr lang="en-US" sz="16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0.7244</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0.1524</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1.0000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502562586"/>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5</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true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trans</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0.0995</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0.1028</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0.7543</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0.1745</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dirty="0">
                          <a:effectLst/>
                          <a:latin typeface="Times New Roman" panose="02020603050405020304" pitchFamily="18" charset="0"/>
                          <a:cs typeface="Times New Roman" panose="02020603050405020304" pitchFamily="18" charset="0"/>
                        </a:rPr>
                        <a:t>1.0000</a:t>
                      </a:r>
                      <a:endParaRPr lang="en-US" sz="16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551669396"/>
                  </a:ext>
                </a:extLst>
              </a:tr>
              <a:tr h="0">
                <a:tc>
                  <a:txBody>
                    <a:bodyPr/>
                    <a:lstStyle/>
                    <a:p>
                      <a:pPr marL="0" marR="0" algn="r">
                        <a:spcBef>
                          <a:spcPts val="0"/>
                        </a:spcBef>
                        <a:spcAft>
                          <a:spcPts val="0"/>
                        </a:spcAft>
                      </a:pPr>
                      <a:r>
                        <a:rPr lang="en-US" sz="1600">
                          <a:effectLst/>
                          <a:latin typeface="Times New Roman" panose="02020603050405020304" pitchFamily="18" charset="0"/>
                          <a:cs typeface="Times New Roman" panose="02020603050405020304" pitchFamily="18" charset="0"/>
                        </a:rPr>
                        <a:t>6</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true</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conv</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0.0995</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0.0896</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0.4219</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0.1090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600">
                          <a:effectLst/>
                          <a:latin typeface="Times New Roman" panose="02020603050405020304" pitchFamily="18" charset="0"/>
                          <a:cs typeface="Times New Roman" panose="02020603050405020304" pitchFamily="18" charset="0"/>
                        </a:rPr>
                        <a:t>0.9000</a:t>
                      </a:r>
                      <a:endParaRPr lang="en-US" sz="16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297928742"/>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 </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27421078"/>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55</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false</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weight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0.0782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0.0844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0.7532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0.1480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748727719"/>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56</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false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trans</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0.0869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0.0861</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0.8044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0.1502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938305844"/>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57</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false</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err="1">
                          <a:effectLst/>
                          <a:latin typeface="Times New Roman" panose="02020603050405020304" pitchFamily="18" charset="0"/>
                          <a:cs typeface="Times New Roman" panose="02020603050405020304" pitchFamily="18" charset="0"/>
                        </a:rPr>
                        <a:t>conv</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0.1018</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0.1484</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0.3899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0.1212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372264765"/>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58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weight</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0.1012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0.1078</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0.8043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0.1843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58472072"/>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59</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trans</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0.0866</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0.0995</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0.7281</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0.1537</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430210878"/>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60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conv</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0.0828</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0.0838</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0.7532</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0.1476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623680325"/>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 </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 </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 </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13482442"/>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61</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rowSpan="13">
                  <a:txBody>
                    <a:bodyPr/>
                    <a:lstStyle/>
                    <a:p>
                      <a:pPr marL="0" marR="0" algn="ctr">
                        <a:spcBef>
                          <a:spcPts val="0"/>
                        </a:spcBef>
                        <a:spcAft>
                          <a:spcPts val="0"/>
                        </a:spcAft>
                      </a:pPr>
                      <a:r>
                        <a:rPr lang="en-US" sz="1200">
                          <a:effectLst/>
                          <a:latin typeface="Times New Roman" panose="02020603050405020304" pitchFamily="18" charset="0"/>
                          <a:cs typeface="Times New Roman" panose="02020603050405020304" pitchFamily="18" charset="0"/>
                        </a:rPr>
                        <a:t>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nchor="ct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false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weight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0.1010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0.1110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0.8207</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0.1866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681606767"/>
                  </a:ext>
                </a:extLst>
              </a:tr>
              <a:tr h="0">
                <a:tc>
                  <a:txBody>
                    <a:bodyPr/>
                    <a:lstStyle/>
                    <a:p>
                      <a:pPr marL="0" marR="0" algn="r">
                        <a:spcBef>
                          <a:spcPts val="0"/>
                        </a:spcBef>
                        <a:spcAft>
                          <a:spcPts val="0"/>
                        </a:spcAft>
                      </a:pPr>
                      <a:r>
                        <a:rPr lang="en-US" sz="1200" dirty="0">
                          <a:effectLst/>
                          <a:latin typeface="Times New Roman" panose="02020603050405020304" pitchFamily="18" charset="0"/>
                          <a:cs typeface="Times New Roman" panose="02020603050405020304" pitchFamily="18" charset="0"/>
                        </a:rPr>
                        <a:t>62</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false</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trans</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0.0783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0.0815</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0.8688</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0.1450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1.0000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27783863"/>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63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false</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err="1">
                          <a:effectLst/>
                          <a:latin typeface="Times New Roman" panose="02020603050405020304" pitchFamily="18" charset="0"/>
                          <a:cs typeface="Times New Roman" panose="02020603050405020304" pitchFamily="18" charset="0"/>
                        </a:rPr>
                        <a:t>conv</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0.0200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0.2000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0.0364</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0.2000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765052723"/>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64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weight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0.0794</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0.0833</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0.7425</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0.1466</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589065029"/>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65</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trans</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0.0850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0.7450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0.1443</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802435540"/>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66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conv</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0.0300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0.3000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0.0545</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0.3000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19374124"/>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 </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568036831"/>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115</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false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weight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0.0712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0.0701</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0.7380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0.1177</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081117645"/>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116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false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trans</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0.0756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0.0872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0.7852</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0.1446</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917991308"/>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117</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false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conv</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0.0300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0.3000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0.0545</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0.3000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834838770"/>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118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weight</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0.0814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0.0889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0.8168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0.1480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32023227"/>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119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trans</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0.0858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0.0838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0.8438</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0.1479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606752882"/>
                  </a:ext>
                </a:extLst>
              </a:tr>
              <a:tr h="0">
                <a:tc>
                  <a:txBody>
                    <a:bodyPr/>
                    <a:lstStyle/>
                    <a:p>
                      <a:pPr marL="0" marR="0" algn="r">
                        <a:spcBef>
                          <a:spcPts val="0"/>
                        </a:spcBef>
                        <a:spcAft>
                          <a:spcPts val="0"/>
                        </a:spcAft>
                      </a:pPr>
                      <a:r>
                        <a:rPr lang="en-US" sz="1200">
                          <a:effectLst/>
                          <a:latin typeface="Times New Roman" panose="02020603050405020304" pitchFamily="18" charset="0"/>
                          <a:cs typeface="Times New Roman" panose="02020603050405020304" pitchFamily="18" charset="0"/>
                        </a:rPr>
                        <a:t>120</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vMerge="1">
                  <a:txBody>
                    <a:bodyPr/>
                    <a:lstStyle/>
                    <a:p>
                      <a:endParaRPr lang="en-US"/>
                    </a:p>
                  </a:txBody>
                  <a:tcPr/>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true</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conv</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0.0969</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0.0924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0.5054</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a:effectLst/>
                          <a:latin typeface="Times New Roman" panose="02020603050405020304" pitchFamily="18" charset="0"/>
                          <a:cs typeface="Times New Roman" panose="02020603050405020304" pitchFamily="18" charset="0"/>
                        </a:rPr>
                        <a:t>0.1203</a:t>
                      </a:r>
                      <a:endParaRPr lang="en-US" sz="12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200" dirty="0">
                          <a:effectLst/>
                          <a:latin typeface="Times New Roman" panose="02020603050405020304" pitchFamily="18" charset="0"/>
                          <a:cs typeface="Times New Roman" panose="02020603050405020304" pitchFamily="18" charset="0"/>
                        </a:rPr>
                        <a:t>1.0000</a:t>
                      </a:r>
                      <a:endParaRPr lang="en-US" sz="12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37863517"/>
                  </a:ext>
                </a:extLst>
              </a:tr>
            </a:tbl>
          </a:graphicData>
        </a:graphic>
      </p:graphicFrame>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43</a:t>
            </a:fld>
            <a:endParaRPr lang="en-US"/>
          </a:p>
        </p:txBody>
      </p:sp>
      <p:sp>
        <p:nvSpPr>
          <p:cNvPr id="3" name="Rectangle 2"/>
          <p:cNvSpPr/>
          <p:nvPr/>
        </p:nvSpPr>
        <p:spPr>
          <a:xfrm>
            <a:off x="262086" y="2106948"/>
            <a:ext cx="461665" cy="2890407"/>
          </a:xfrm>
          <a:prstGeom prst="rect">
            <a:avLst/>
          </a:prstGeom>
        </p:spPr>
        <p:txBody>
          <a:bodyPr vert="vert" wrap="none">
            <a:spAutoFit/>
          </a:bodyPr>
          <a:lstStyle/>
          <a:p>
            <a:r>
              <a:rPr lang="en-US" dirty="0" smtClean="0">
                <a:latin typeface="Times New Roman" panose="02020603050405020304" pitchFamily="18" charset="0"/>
                <a:ea typeface="DengXian"/>
              </a:rPr>
              <a:t>Illustration </a:t>
            </a:r>
            <a:r>
              <a:rPr lang="en-US" dirty="0">
                <a:latin typeface="Times New Roman" panose="02020603050405020304" pitchFamily="18" charset="0"/>
                <a:ea typeface="DengXian"/>
              </a:rPr>
              <a:t>of ANOVA dataset</a:t>
            </a:r>
            <a:endParaRPr lang="en-US" dirty="0"/>
          </a:p>
        </p:txBody>
      </p:sp>
    </p:spTree>
    <p:extLst>
      <p:ext uri="{BB962C8B-B14F-4D97-AF65-F5344CB8AC3E}">
        <p14:creationId xmlns:p14="http://schemas.microsoft.com/office/powerpoint/2010/main" val="2514549704"/>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(skip)</a:t>
            </a:r>
            <a:endParaRPr lang="en-US" dirty="0"/>
          </a:p>
        </p:txBody>
      </p:sp>
      <p:sp>
        <p:nvSpPr>
          <p:cNvPr id="3" name="Content Placeholder 2"/>
          <p:cNvSpPr>
            <a:spLocks noGrp="1"/>
          </p:cNvSpPr>
          <p:nvPr>
            <p:ph idx="1"/>
          </p:nvPr>
        </p:nvSpPr>
        <p:spPr>
          <a:xfrm>
            <a:off x="101600" y="914399"/>
            <a:ext cx="11978640" cy="5176066"/>
          </a:xfrm>
        </p:spPr>
        <p:txBody>
          <a:bodyPr>
            <a:normAutofit/>
          </a:bodyPr>
          <a:lstStyle/>
          <a:p>
            <a:r>
              <a:rPr lang="en-US" sz="2600" dirty="0"/>
              <a:t>The ANOVA dataset is available </a:t>
            </a:r>
            <a:r>
              <a:rPr lang="en-US" sz="2600" dirty="0" smtClean="0"/>
              <a:t>at</a:t>
            </a:r>
          </a:p>
          <a:p>
            <a:pPr marL="0" indent="0" algn="ctr">
              <a:buNone/>
            </a:pPr>
            <a:r>
              <a:rPr lang="en-US" sz="2600" dirty="0" smtClean="0"/>
              <a:t>https</a:t>
            </a:r>
            <a:r>
              <a:rPr lang="en-US" sz="2600" dirty="0"/>
              <a:t>://github.com/ngphloc/ai/blob/main/4_testing/mac/2026.01.22/cifar10-lr0.1-max-anova.csv</a:t>
            </a:r>
          </a:p>
          <a:p>
            <a:r>
              <a:rPr lang="en-US" sz="2600" dirty="0">
                <a:effectLst>
                  <a:outerShdw blurRad="38100" dist="38100" dir="2700000" algn="tl">
                    <a:srgbClr val="000000">
                      <a:alpha val="43137"/>
                    </a:srgbClr>
                  </a:outerShdw>
                </a:effectLst>
              </a:rPr>
              <a:t>Recall that the two-way ANOVA aims to test the three </a:t>
            </a:r>
            <a:r>
              <a:rPr lang="en-US" sz="2600" dirty="0" smtClean="0">
                <a:effectLst>
                  <a:outerShdw blurRad="38100" dist="38100" dir="2700000" algn="tl">
                    <a:srgbClr val="000000">
                      <a:alpha val="43137"/>
                    </a:srgbClr>
                  </a:outerShdw>
                </a:effectLst>
              </a:rPr>
              <a:t>hypotheses </a:t>
            </a:r>
            <a:r>
              <a:rPr lang="en-US" sz="2600" dirty="0">
                <a:effectLst>
                  <a:outerShdw blurRad="38100" dist="38100" dir="2700000" algn="tl">
                    <a:srgbClr val="000000">
                      <a:alpha val="43137"/>
                    </a:srgbClr>
                  </a:outerShdw>
                </a:effectLst>
              </a:rPr>
              <a:t>on the ANOVA dataset of size 120:</a:t>
            </a:r>
            <a:r>
              <a:rPr lang="en-US" sz="2600" dirty="0"/>
              <a:t> 1) whether MNN is the alternative of CNN, which focuses on testing the preeminence of MNN classifier in comparison with TB classifier and CNN classifier via testing the </a:t>
            </a:r>
            <a:r>
              <a:rPr lang="en-US" sz="2600" i="1" dirty="0"/>
              <a:t>feature</a:t>
            </a:r>
            <a:r>
              <a:rPr lang="en-US" sz="2600" dirty="0"/>
              <a:t> group, 2) whether attention is the alternative of CNN, which focuses on testing the preeminence of TB classifier in comparison with MNN classifier and CNN classifier via testing the </a:t>
            </a:r>
            <a:r>
              <a:rPr lang="en-US" sz="2600" i="1" dirty="0"/>
              <a:t>feature</a:t>
            </a:r>
            <a:r>
              <a:rPr lang="en-US" sz="2600" dirty="0"/>
              <a:t> group, and 3) whether FFN of transformer should be MNN via testing the </a:t>
            </a:r>
            <a:r>
              <a:rPr lang="en-US" sz="2600" i="1" dirty="0" err="1"/>
              <a:t>vec</a:t>
            </a:r>
            <a:r>
              <a:rPr lang="en-US" sz="2600" dirty="0"/>
              <a:t> group. The research applies Gemini 2025 into making ANOVA test. Moreover, only baseline is applied into improving classification task and adjusted-line is not applied.</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44</a:t>
            </a:fld>
            <a:endParaRPr lang="en-US"/>
          </a:p>
        </p:txBody>
      </p:sp>
    </p:spTree>
    <p:extLst>
      <p:ext uri="{BB962C8B-B14F-4D97-AF65-F5344CB8AC3E}">
        <p14:creationId xmlns:p14="http://schemas.microsoft.com/office/powerpoint/2010/main" val="3301342773"/>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(main)</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100" dirty="0"/>
              <a:t>Firstly, the two-way ANOVA test focuses on groups “</a:t>
            </a:r>
            <a:r>
              <a:rPr lang="en-US" sz="2100" dirty="0" err="1"/>
              <a:t>vec</a:t>
            </a:r>
            <a:r>
              <a:rPr lang="en-US" sz="2100" dirty="0"/>
              <a:t>” and “feature” against treatments “accuracy” and “F1” in which accuracy metric </a:t>
            </a:r>
            <a:r>
              <a:rPr lang="en-US" sz="2100" dirty="0" smtClean="0"/>
              <a:t>measures </a:t>
            </a:r>
            <a:r>
              <a:rPr lang="en-US" sz="2100" dirty="0"/>
              <a:t>the entire accuracy of classifiers over dataset whereas F1 metric makes the compromise between diversity and accuracy. </a:t>
            </a:r>
            <a:r>
              <a:rPr lang="en-US" sz="2100" dirty="0">
                <a:effectLst>
                  <a:outerShdw blurRad="38100" dist="38100" dir="2700000" algn="tl">
                    <a:srgbClr val="000000">
                      <a:alpha val="43137"/>
                    </a:srgbClr>
                  </a:outerShdw>
                </a:effectLst>
              </a:rPr>
              <a:t>The following table shows the ANOVA results for accuracy metric, which indicates how groups “</a:t>
            </a:r>
            <a:r>
              <a:rPr lang="en-US" sz="2100" dirty="0" err="1">
                <a:effectLst>
                  <a:outerShdw blurRad="38100" dist="38100" dir="2700000" algn="tl">
                    <a:srgbClr val="000000">
                      <a:alpha val="43137"/>
                    </a:srgbClr>
                  </a:outerShdw>
                </a:effectLst>
              </a:rPr>
              <a:t>vec</a:t>
            </a:r>
            <a:r>
              <a:rPr lang="en-US" sz="2100" dirty="0">
                <a:effectLst>
                  <a:outerShdw blurRad="38100" dist="38100" dir="2700000" algn="tl">
                    <a:srgbClr val="000000">
                      <a:alpha val="43137"/>
                    </a:srgbClr>
                  </a:outerShdw>
                </a:effectLst>
              </a:rPr>
              <a:t>” and “feature” affect on treatment “accuracy”</a:t>
            </a:r>
            <a:r>
              <a:rPr lang="en-US" sz="2100" dirty="0"/>
              <a:t> (Gemini 2025</a:t>
            </a:r>
            <a:r>
              <a:rPr lang="en-US" sz="2100" dirty="0" smtClean="0"/>
              <a:t>).</a:t>
            </a:r>
          </a:p>
          <a:p>
            <a:pPr marL="0" indent="0">
              <a:buNone/>
            </a:pPr>
            <a:endParaRPr lang="en-US" sz="2100" dirty="0" smtClean="0"/>
          </a:p>
          <a:p>
            <a:pPr marL="0" indent="0">
              <a:buNone/>
            </a:pPr>
            <a:endParaRPr lang="en-US" sz="2100" dirty="0"/>
          </a:p>
          <a:p>
            <a:pPr marL="0" indent="0">
              <a:buNone/>
            </a:pPr>
            <a:endParaRPr lang="en-US" sz="2100" dirty="0" smtClean="0"/>
          </a:p>
          <a:p>
            <a:pPr marL="0" indent="0">
              <a:buNone/>
            </a:pPr>
            <a:endParaRPr lang="en-US" sz="2100" dirty="0"/>
          </a:p>
          <a:p>
            <a:pPr marL="0" indent="0">
              <a:buNone/>
            </a:pPr>
            <a:endParaRPr lang="en-US" sz="2100" dirty="0" smtClean="0"/>
          </a:p>
          <a:p>
            <a:pPr marL="0" indent="0">
              <a:buNone/>
            </a:pPr>
            <a:r>
              <a:rPr lang="en-US" sz="2100" dirty="0" smtClean="0"/>
              <a:t>Note</a:t>
            </a:r>
            <a:r>
              <a:rPr lang="en-US" sz="2100" dirty="0"/>
              <a:t>, </a:t>
            </a:r>
            <a:r>
              <a:rPr lang="en-US" sz="2100" dirty="0" smtClean="0"/>
              <a:t>the </a:t>
            </a:r>
            <a:r>
              <a:rPr lang="en-US" sz="2100" dirty="0"/>
              <a:t>source “</a:t>
            </a:r>
            <a:r>
              <a:rPr lang="en-US" sz="2100" dirty="0" err="1"/>
              <a:t>vec:feature</a:t>
            </a:r>
            <a:r>
              <a:rPr lang="en-US" sz="2100" dirty="0"/>
              <a:t>” represents the </a:t>
            </a:r>
            <a:r>
              <a:rPr lang="en-US" sz="2100" i="1" dirty="0"/>
              <a:t>interaction effect</a:t>
            </a:r>
            <a:r>
              <a:rPr lang="en-US" sz="2100" dirty="0"/>
              <a:t> between group “</a:t>
            </a:r>
            <a:r>
              <a:rPr lang="en-US" sz="2100" dirty="0" err="1"/>
              <a:t>vec</a:t>
            </a:r>
            <a:r>
              <a:rPr lang="en-US" sz="2100" dirty="0"/>
              <a:t>” and group “feature”. From the result table above, group “feature” affects highly significantly on treatment “accuracy” in comparison with group “</a:t>
            </a:r>
            <a:r>
              <a:rPr lang="en-US" sz="2100" dirty="0" err="1"/>
              <a:t>vec</a:t>
            </a:r>
            <a:r>
              <a:rPr lang="en-US" sz="2100" dirty="0"/>
              <a:t>” because the F-statistic of group “feature” (65.0845) is highly larger than the F-statistic of group “</a:t>
            </a:r>
            <a:r>
              <a:rPr lang="en-US" sz="2100" dirty="0" err="1"/>
              <a:t>vec</a:t>
            </a:r>
            <a:r>
              <a:rPr lang="en-US" sz="2100" dirty="0"/>
              <a:t>” (0.0121) with very small P-value (&lt; 0.0001). Moreover, there is no significant interaction between group “</a:t>
            </a:r>
            <a:r>
              <a:rPr lang="en-US" sz="2100" dirty="0" err="1"/>
              <a:t>vec</a:t>
            </a:r>
            <a:r>
              <a:rPr lang="en-US" sz="2100" dirty="0"/>
              <a:t>” and group “feature” because the F-statistic of the interaction effect “</a:t>
            </a:r>
            <a:r>
              <a:rPr lang="en-US" sz="2100" dirty="0" err="1"/>
              <a:t>vec:feature</a:t>
            </a:r>
            <a:r>
              <a:rPr lang="en-US" sz="2100" dirty="0"/>
              <a:t>” (0.6604) is small and its P-value (0.5186) is too larger than 0.05.</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45</a:t>
            </a:fld>
            <a:endParaRPr lang="en-US"/>
          </a:p>
        </p:txBody>
      </p:sp>
      <p:graphicFrame>
        <p:nvGraphicFramePr>
          <p:cNvPr id="9" name="Table 8"/>
          <p:cNvGraphicFramePr>
            <a:graphicFrameLocks noGrp="1"/>
          </p:cNvGraphicFramePr>
          <p:nvPr>
            <p:extLst>
              <p:ext uri="{D42A27DB-BD31-4B8C-83A1-F6EECF244321}">
                <p14:modId xmlns:p14="http://schemas.microsoft.com/office/powerpoint/2010/main" val="4106596567"/>
              </p:ext>
            </p:extLst>
          </p:nvPr>
        </p:nvGraphicFramePr>
        <p:xfrm>
          <a:off x="838200" y="2532063"/>
          <a:ext cx="10515600" cy="1600200"/>
        </p:xfrm>
        <a:graphic>
          <a:graphicData uri="http://schemas.openxmlformats.org/drawingml/2006/table">
            <a:tbl>
              <a:tblPr firstRow="1" firstCol="1" bandRow="1">
                <a:tableStyleId>{5C22544A-7EE6-4342-B048-85BDC9FD1C3A}</a:tableStyleId>
              </a:tblPr>
              <a:tblGrid>
                <a:gridCol w="1752600">
                  <a:extLst>
                    <a:ext uri="{9D8B030D-6E8A-4147-A177-3AD203B41FA5}">
                      <a16:colId xmlns:a16="http://schemas.microsoft.com/office/drawing/2014/main" val="2546884530"/>
                    </a:ext>
                  </a:extLst>
                </a:gridCol>
                <a:gridCol w="1752600">
                  <a:extLst>
                    <a:ext uri="{9D8B030D-6E8A-4147-A177-3AD203B41FA5}">
                      <a16:colId xmlns:a16="http://schemas.microsoft.com/office/drawing/2014/main" val="2324370756"/>
                    </a:ext>
                  </a:extLst>
                </a:gridCol>
                <a:gridCol w="1752600">
                  <a:extLst>
                    <a:ext uri="{9D8B030D-6E8A-4147-A177-3AD203B41FA5}">
                      <a16:colId xmlns:a16="http://schemas.microsoft.com/office/drawing/2014/main" val="1134014583"/>
                    </a:ext>
                  </a:extLst>
                </a:gridCol>
                <a:gridCol w="1752600">
                  <a:extLst>
                    <a:ext uri="{9D8B030D-6E8A-4147-A177-3AD203B41FA5}">
                      <a16:colId xmlns:a16="http://schemas.microsoft.com/office/drawing/2014/main" val="2453429032"/>
                    </a:ext>
                  </a:extLst>
                </a:gridCol>
                <a:gridCol w="1752600">
                  <a:extLst>
                    <a:ext uri="{9D8B030D-6E8A-4147-A177-3AD203B41FA5}">
                      <a16:colId xmlns:a16="http://schemas.microsoft.com/office/drawing/2014/main" val="4184981628"/>
                    </a:ext>
                  </a:extLst>
                </a:gridCol>
                <a:gridCol w="1752600">
                  <a:extLst>
                    <a:ext uri="{9D8B030D-6E8A-4147-A177-3AD203B41FA5}">
                      <a16:colId xmlns:a16="http://schemas.microsoft.com/office/drawing/2014/main" val="1244021210"/>
                    </a:ext>
                  </a:extLst>
                </a:gridCol>
              </a:tblGrid>
              <a:tr h="0">
                <a:tc>
                  <a:txBody>
                    <a:bodyPr/>
                    <a:lstStyle/>
                    <a:p>
                      <a:pPr marL="0" marR="0" algn="ctr">
                        <a:spcBef>
                          <a:spcPts val="0"/>
                        </a:spcBef>
                        <a:spcAft>
                          <a:spcPts val="0"/>
                        </a:spcAft>
                      </a:pPr>
                      <a:r>
                        <a:rPr lang="en-US" sz="2100" dirty="0">
                          <a:effectLst/>
                          <a:latin typeface="Times New Roman" panose="02020603050405020304" pitchFamily="18" charset="0"/>
                          <a:cs typeface="Times New Roman" panose="02020603050405020304" pitchFamily="18" charset="0"/>
                        </a:rPr>
                        <a:t>Source</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dirty="0">
                          <a:effectLst/>
                          <a:latin typeface="Times New Roman" panose="02020603050405020304" pitchFamily="18" charset="0"/>
                          <a:cs typeface="Times New Roman" panose="02020603050405020304" pitchFamily="18" charset="0"/>
                        </a:rPr>
                        <a:t>SS</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a:effectLst/>
                          <a:latin typeface="Times New Roman" panose="02020603050405020304" pitchFamily="18" charset="0"/>
                          <a:cs typeface="Times New Roman" panose="02020603050405020304" pitchFamily="18" charset="0"/>
                        </a:rPr>
                        <a:t>DF</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dirty="0">
                          <a:effectLst/>
                          <a:latin typeface="Times New Roman" panose="02020603050405020304" pitchFamily="18" charset="0"/>
                          <a:cs typeface="Times New Roman" panose="02020603050405020304" pitchFamily="18" charset="0"/>
                        </a:rPr>
                        <a:t>F-statistic</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a:effectLst/>
                          <a:latin typeface="Times New Roman" panose="02020603050405020304" pitchFamily="18" charset="0"/>
                          <a:cs typeface="Times New Roman" panose="02020603050405020304" pitchFamily="18" charset="0"/>
                        </a:rPr>
                        <a:t>P-value</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a:effectLst/>
                          <a:latin typeface="Times New Roman" panose="02020603050405020304" pitchFamily="18" charset="0"/>
                          <a:cs typeface="Times New Roman" panose="02020603050405020304" pitchFamily="18" charset="0"/>
                        </a:rPr>
                        <a:t>Significant</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368379623"/>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vec</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dirty="0">
                          <a:effectLst/>
                          <a:latin typeface="Times New Roman" panose="02020603050405020304" pitchFamily="18" charset="0"/>
                          <a:cs typeface="Times New Roman" panose="02020603050405020304" pitchFamily="18" charset="0"/>
                        </a:rPr>
                        <a:t>6.31e-07</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1</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dirty="0">
                          <a:effectLst/>
                          <a:latin typeface="Times New Roman" panose="02020603050405020304" pitchFamily="18" charset="0"/>
                          <a:cs typeface="Times New Roman" panose="02020603050405020304" pitchFamily="18" charset="0"/>
                        </a:rPr>
                        <a:t>0.0121</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0.9125</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No</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450863534"/>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feature</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0.00677</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2</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65.0845</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&lt; 0.0001</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Yes</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366000764"/>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vec:feature</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6.87e-05</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2</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0.6604</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0.5186</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No</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234606873"/>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Residual</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0.00593</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114</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 </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 </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dirty="0">
                          <a:effectLst/>
                          <a:latin typeface="Times New Roman" panose="02020603050405020304" pitchFamily="18" charset="0"/>
                          <a:cs typeface="Times New Roman" panose="02020603050405020304" pitchFamily="18" charset="0"/>
                        </a:rPr>
                        <a:t> </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28219875"/>
                  </a:ext>
                </a:extLst>
              </a:tr>
            </a:tbl>
          </a:graphicData>
        </a:graphic>
      </p:graphicFrame>
    </p:spTree>
    <p:extLst>
      <p:ext uri="{BB962C8B-B14F-4D97-AF65-F5344CB8AC3E}">
        <p14:creationId xmlns:p14="http://schemas.microsoft.com/office/powerpoint/2010/main" val="2345257051"/>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(skip)</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500" dirty="0">
                <a:effectLst>
                  <a:outerShdw blurRad="38100" dist="38100" dir="2700000" algn="tl">
                    <a:srgbClr val="000000">
                      <a:alpha val="43137"/>
                    </a:srgbClr>
                  </a:outerShdw>
                </a:effectLst>
              </a:rPr>
              <a:t>The following table shows the ANOVA results for F1 metric, which indicates how groups “</a:t>
            </a:r>
            <a:r>
              <a:rPr lang="en-US" sz="2500" dirty="0" err="1">
                <a:effectLst>
                  <a:outerShdw blurRad="38100" dist="38100" dir="2700000" algn="tl">
                    <a:srgbClr val="000000">
                      <a:alpha val="43137"/>
                    </a:srgbClr>
                  </a:outerShdw>
                </a:effectLst>
              </a:rPr>
              <a:t>vec</a:t>
            </a:r>
            <a:r>
              <a:rPr lang="en-US" sz="2500" dirty="0">
                <a:effectLst>
                  <a:outerShdw blurRad="38100" dist="38100" dir="2700000" algn="tl">
                    <a:srgbClr val="000000">
                      <a:alpha val="43137"/>
                    </a:srgbClr>
                  </a:outerShdw>
                </a:effectLst>
              </a:rPr>
              <a:t>” and “feature” affect on treatment “F1”</a:t>
            </a:r>
            <a:r>
              <a:rPr lang="en-US" sz="2500" dirty="0"/>
              <a:t> (Gemini 2025</a:t>
            </a:r>
            <a:r>
              <a:rPr lang="en-US" sz="2500" dirty="0" smtClean="0"/>
              <a:t>).</a:t>
            </a:r>
          </a:p>
          <a:p>
            <a:pPr marL="0" indent="0">
              <a:buNone/>
            </a:pPr>
            <a:endParaRPr lang="en-US" sz="2500" dirty="0" smtClean="0"/>
          </a:p>
          <a:p>
            <a:pPr marL="0" indent="0">
              <a:buNone/>
            </a:pPr>
            <a:endParaRPr lang="en-US" sz="2500" dirty="0"/>
          </a:p>
          <a:p>
            <a:pPr marL="0" indent="0">
              <a:buNone/>
            </a:pPr>
            <a:endParaRPr lang="en-US" sz="2500" dirty="0" smtClean="0"/>
          </a:p>
          <a:p>
            <a:pPr marL="0" indent="0">
              <a:buNone/>
            </a:pPr>
            <a:endParaRPr lang="en-US" sz="2500" dirty="0"/>
          </a:p>
          <a:p>
            <a:pPr marL="0" indent="0">
              <a:buNone/>
            </a:pPr>
            <a:endParaRPr lang="en-US" sz="2500" dirty="0" smtClean="0"/>
          </a:p>
          <a:p>
            <a:pPr marL="0" indent="0">
              <a:buNone/>
            </a:pPr>
            <a:r>
              <a:rPr lang="en-US" sz="2500" dirty="0"/>
              <a:t>From the result table above, group “feature” affects highly significantly on treatment “F1” in comparison with group “</a:t>
            </a:r>
            <a:r>
              <a:rPr lang="en-US" sz="2500" dirty="0" err="1"/>
              <a:t>vec</a:t>
            </a:r>
            <a:r>
              <a:rPr lang="en-US" sz="2500" dirty="0"/>
              <a:t>” because the F-statistic of group “feature” (118.3605) is highly larger than the F-statistic of group “</a:t>
            </a:r>
            <a:r>
              <a:rPr lang="en-US" sz="2500" dirty="0" err="1"/>
              <a:t>vec</a:t>
            </a:r>
            <a:r>
              <a:rPr lang="en-US" sz="2500" dirty="0"/>
              <a:t>” (1.7781) with very small P-value (&lt; 0.0001). Moreover, there is no significant interaction between group “</a:t>
            </a:r>
            <a:r>
              <a:rPr lang="en-US" sz="2500" dirty="0" err="1"/>
              <a:t>vec</a:t>
            </a:r>
            <a:r>
              <a:rPr lang="en-US" sz="2500" dirty="0"/>
              <a:t>” and group “feature” because the F-statistic of the interaction effect “</a:t>
            </a:r>
            <a:r>
              <a:rPr lang="en-US" sz="2500" dirty="0" err="1"/>
              <a:t>vec:feature</a:t>
            </a:r>
            <a:r>
              <a:rPr lang="en-US" sz="2500" dirty="0"/>
              <a:t>” (1.6758) is small and its P-value (0.1917) is too larger than 0.05.</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46</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397563717"/>
              </p:ext>
            </p:extLst>
          </p:nvPr>
        </p:nvGraphicFramePr>
        <p:xfrm>
          <a:off x="838200" y="1754912"/>
          <a:ext cx="10515600" cy="1905000"/>
        </p:xfrm>
        <a:graphic>
          <a:graphicData uri="http://schemas.openxmlformats.org/drawingml/2006/table">
            <a:tbl>
              <a:tblPr firstRow="1" firstCol="1" bandRow="1">
                <a:tableStyleId>{5C22544A-7EE6-4342-B048-85BDC9FD1C3A}</a:tableStyleId>
              </a:tblPr>
              <a:tblGrid>
                <a:gridCol w="1752600">
                  <a:extLst>
                    <a:ext uri="{9D8B030D-6E8A-4147-A177-3AD203B41FA5}">
                      <a16:colId xmlns:a16="http://schemas.microsoft.com/office/drawing/2014/main" val="307588367"/>
                    </a:ext>
                  </a:extLst>
                </a:gridCol>
                <a:gridCol w="1752600">
                  <a:extLst>
                    <a:ext uri="{9D8B030D-6E8A-4147-A177-3AD203B41FA5}">
                      <a16:colId xmlns:a16="http://schemas.microsoft.com/office/drawing/2014/main" val="1019201165"/>
                    </a:ext>
                  </a:extLst>
                </a:gridCol>
                <a:gridCol w="1752600">
                  <a:extLst>
                    <a:ext uri="{9D8B030D-6E8A-4147-A177-3AD203B41FA5}">
                      <a16:colId xmlns:a16="http://schemas.microsoft.com/office/drawing/2014/main" val="2108312052"/>
                    </a:ext>
                  </a:extLst>
                </a:gridCol>
                <a:gridCol w="1752600">
                  <a:extLst>
                    <a:ext uri="{9D8B030D-6E8A-4147-A177-3AD203B41FA5}">
                      <a16:colId xmlns:a16="http://schemas.microsoft.com/office/drawing/2014/main" val="2297452176"/>
                    </a:ext>
                  </a:extLst>
                </a:gridCol>
                <a:gridCol w="1752600">
                  <a:extLst>
                    <a:ext uri="{9D8B030D-6E8A-4147-A177-3AD203B41FA5}">
                      <a16:colId xmlns:a16="http://schemas.microsoft.com/office/drawing/2014/main" val="1238641036"/>
                    </a:ext>
                  </a:extLst>
                </a:gridCol>
                <a:gridCol w="1752600">
                  <a:extLst>
                    <a:ext uri="{9D8B030D-6E8A-4147-A177-3AD203B41FA5}">
                      <a16:colId xmlns:a16="http://schemas.microsoft.com/office/drawing/2014/main" val="3877248137"/>
                    </a:ext>
                  </a:extLst>
                </a:gridCol>
              </a:tblGrid>
              <a:tr h="0">
                <a:tc>
                  <a:txBody>
                    <a:bodyPr/>
                    <a:lstStyle/>
                    <a:p>
                      <a:pPr marL="0" marR="0" algn="ctr">
                        <a:spcBef>
                          <a:spcPts val="0"/>
                        </a:spcBef>
                        <a:spcAft>
                          <a:spcPts val="0"/>
                        </a:spcAft>
                      </a:pPr>
                      <a:r>
                        <a:rPr lang="en-US" sz="2500" dirty="0">
                          <a:effectLst/>
                          <a:latin typeface="Times New Roman" panose="02020603050405020304" pitchFamily="18" charset="0"/>
                          <a:cs typeface="Times New Roman" panose="02020603050405020304" pitchFamily="18" charset="0"/>
                        </a:rPr>
                        <a:t>Source</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SS</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DF</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dirty="0">
                          <a:effectLst/>
                          <a:latin typeface="Times New Roman" panose="02020603050405020304" pitchFamily="18" charset="0"/>
                          <a:cs typeface="Times New Roman" panose="02020603050405020304" pitchFamily="18" charset="0"/>
                        </a:rPr>
                        <a:t>F-statistic</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P-value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Significant</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318231212"/>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vec</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0.00074</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1.7781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dirty="0">
                          <a:effectLst/>
                          <a:latin typeface="Times New Roman" panose="02020603050405020304" pitchFamily="18" charset="0"/>
                          <a:cs typeface="Times New Roman" panose="02020603050405020304" pitchFamily="18" charset="0"/>
                        </a:rPr>
                        <a:t>0.1850</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No</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20128144"/>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feature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0.09846</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2</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118.3605</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&lt; 0.0001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Yes</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192134853"/>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vec:feature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0.00139</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2</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1.6758</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0.1917</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No</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247676615"/>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Residual</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0.04741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114</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 </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dirty="0">
                          <a:effectLst/>
                          <a:latin typeface="Times New Roman" panose="02020603050405020304" pitchFamily="18" charset="0"/>
                          <a:cs typeface="Times New Roman" panose="02020603050405020304" pitchFamily="18" charset="0"/>
                        </a:rPr>
                        <a:t> </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dirty="0">
                          <a:effectLst/>
                          <a:latin typeface="Times New Roman" panose="02020603050405020304" pitchFamily="18" charset="0"/>
                          <a:cs typeface="Times New Roman" panose="02020603050405020304" pitchFamily="18" charset="0"/>
                        </a:rPr>
                        <a:t> </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78076099"/>
                  </a:ext>
                </a:extLst>
              </a:tr>
            </a:tbl>
          </a:graphicData>
        </a:graphic>
      </p:graphicFrame>
    </p:spTree>
    <p:extLst>
      <p:ext uri="{BB962C8B-B14F-4D97-AF65-F5344CB8AC3E}">
        <p14:creationId xmlns:p14="http://schemas.microsoft.com/office/powerpoint/2010/main" val="2207431242"/>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(skip)</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150" dirty="0"/>
              <a:t>The two-way ANOVA test focuses again on groups “</a:t>
            </a:r>
            <a:r>
              <a:rPr lang="en-US" sz="2150" dirty="0" err="1"/>
              <a:t>vec</a:t>
            </a:r>
            <a:r>
              <a:rPr lang="en-US" sz="2150" dirty="0"/>
              <a:t>” and “feature” against treatments “precision” and “recall” in which precision metric leans forwards accuracy and recall metric leans forward diversity with note F1 is the compromiser of precision and recall. </a:t>
            </a:r>
            <a:r>
              <a:rPr lang="en-US" sz="2150" dirty="0">
                <a:effectLst>
                  <a:outerShdw blurRad="38100" dist="38100" dir="2700000" algn="tl">
                    <a:srgbClr val="000000">
                      <a:alpha val="43137"/>
                    </a:srgbClr>
                  </a:outerShdw>
                </a:effectLst>
              </a:rPr>
              <a:t>The following table shows the ANOVA results for precision metric, which indicates how groups “</a:t>
            </a:r>
            <a:r>
              <a:rPr lang="en-US" sz="2150" dirty="0" err="1">
                <a:effectLst>
                  <a:outerShdw blurRad="38100" dist="38100" dir="2700000" algn="tl">
                    <a:srgbClr val="000000">
                      <a:alpha val="43137"/>
                    </a:srgbClr>
                  </a:outerShdw>
                </a:effectLst>
              </a:rPr>
              <a:t>vec</a:t>
            </a:r>
            <a:r>
              <a:rPr lang="en-US" sz="2150" dirty="0">
                <a:effectLst>
                  <a:outerShdw blurRad="38100" dist="38100" dir="2700000" algn="tl">
                    <a:srgbClr val="000000">
                      <a:alpha val="43137"/>
                    </a:srgbClr>
                  </a:outerShdw>
                </a:effectLst>
              </a:rPr>
              <a:t>” and “feature” affect on treatment “precision”</a:t>
            </a:r>
            <a:r>
              <a:rPr lang="en-US" sz="2150" dirty="0"/>
              <a:t> (Gemini 2025).</a:t>
            </a:r>
            <a:endParaRPr lang="en-US" sz="2150" dirty="0" smtClean="0"/>
          </a:p>
          <a:p>
            <a:pPr marL="0" indent="0">
              <a:buNone/>
            </a:pPr>
            <a:endParaRPr lang="en-US" sz="2150" dirty="0" smtClean="0"/>
          </a:p>
          <a:p>
            <a:pPr marL="0" indent="0">
              <a:buNone/>
            </a:pPr>
            <a:endParaRPr lang="en-US" sz="2150" dirty="0"/>
          </a:p>
          <a:p>
            <a:pPr marL="0" indent="0">
              <a:buNone/>
            </a:pPr>
            <a:endParaRPr lang="en-US" sz="2150" dirty="0" smtClean="0"/>
          </a:p>
          <a:p>
            <a:pPr marL="0" indent="0">
              <a:buNone/>
            </a:pPr>
            <a:endParaRPr lang="en-US" sz="2150" dirty="0"/>
          </a:p>
          <a:p>
            <a:pPr marL="0" indent="0">
              <a:buNone/>
            </a:pPr>
            <a:endParaRPr lang="en-US" sz="2150" dirty="0" smtClean="0"/>
          </a:p>
          <a:p>
            <a:pPr marL="0" indent="0">
              <a:buNone/>
            </a:pPr>
            <a:r>
              <a:rPr lang="en-US" sz="2150" dirty="0"/>
              <a:t>From the result table above, group “feature” affects highly significantly on treatment “precision” in comparison with group “</a:t>
            </a:r>
            <a:r>
              <a:rPr lang="en-US" sz="2150" dirty="0" err="1"/>
              <a:t>vec</a:t>
            </a:r>
            <a:r>
              <a:rPr lang="en-US" sz="2150" dirty="0"/>
              <a:t>” because the F-statistic of group “feature” (23.3842) is highly larger than the F-statistic of group “</a:t>
            </a:r>
            <a:r>
              <a:rPr lang="en-US" sz="2150" dirty="0" err="1"/>
              <a:t>vec</a:t>
            </a:r>
            <a:r>
              <a:rPr lang="en-US" sz="2150" dirty="0"/>
              <a:t>” (0.118) with very small P-value (&lt; 0.0001). Moreover, there is no significant interaction between group “</a:t>
            </a:r>
            <a:r>
              <a:rPr lang="en-US" sz="2150" dirty="0" err="1"/>
              <a:t>vec</a:t>
            </a:r>
            <a:r>
              <a:rPr lang="en-US" sz="2150" dirty="0"/>
              <a:t>” and group “feature” because the F-statistic of the interaction effect “</a:t>
            </a:r>
            <a:r>
              <a:rPr lang="en-US" sz="2150" dirty="0" err="1"/>
              <a:t>vec:feature</a:t>
            </a:r>
            <a:r>
              <a:rPr lang="en-US" sz="2150" dirty="0"/>
              <a:t>” (0.2909) is small and its P-value (0.7481) is too larger than 0.05.</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47</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876166085"/>
              </p:ext>
            </p:extLst>
          </p:nvPr>
        </p:nvGraphicFramePr>
        <p:xfrm>
          <a:off x="833120" y="2582863"/>
          <a:ext cx="10515600" cy="1638300"/>
        </p:xfrm>
        <a:graphic>
          <a:graphicData uri="http://schemas.openxmlformats.org/drawingml/2006/table">
            <a:tbl>
              <a:tblPr firstRow="1" firstCol="1" bandRow="1">
                <a:tableStyleId>{5C22544A-7EE6-4342-B048-85BDC9FD1C3A}</a:tableStyleId>
              </a:tblPr>
              <a:tblGrid>
                <a:gridCol w="1752600">
                  <a:extLst>
                    <a:ext uri="{9D8B030D-6E8A-4147-A177-3AD203B41FA5}">
                      <a16:colId xmlns:a16="http://schemas.microsoft.com/office/drawing/2014/main" val="3852337125"/>
                    </a:ext>
                  </a:extLst>
                </a:gridCol>
                <a:gridCol w="1752600">
                  <a:extLst>
                    <a:ext uri="{9D8B030D-6E8A-4147-A177-3AD203B41FA5}">
                      <a16:colId xmlns:a16="http://schemas.microsoft.com/office/drawing/2014/main" val="2588108206"/>
                    </a:ext>
                  </a:extLst>
                </a:gridCol>
                <a:gridCol w="1752600">
                  <a:extLst>
                    <a:ext uri="{9D8B030D-6E8A-4147-A177-3AD203B41FA5}">
                      <a16:colId xmlns:a16="http://schemas.microsoft.com/office/drawing/2014/main" val="269304889"/>
                    </a:ext>
                  </a:extLst>
                </a:gridCol>
                <a:gridCol w="1752600">
                  <a:extLst>
                    <a:ext uri="{9D8B030D-6E8A-4147-A177-3AD203B41FA5}">
                      <a16:colId xmlns:a16="http://schemas.microsoft.com/office/drawing/2014/main" val="4289408297"/>
                    </a:ext>
                  </a:extLst>
                </a:gridCol>
                <a:gridCol w="1752600">
                  <a:extLst>
                    <a:ext uri="{9D8B030D-6E8A-4147-A177-3AD203B41FA5}">
                      <a16:colId xmlns:a16="http://schemas.microsoft.com/office/drawing/2014/main" val="1066941455"/>
                    </a:ext>
                  </a:extLst>
                </a:gridCol>
                <a:gridCol w="1752600">
                  <a:extLst>
                    <a:ext uri="{9D8B030D-6E8A-4147-A177-3AD203B41FA5}">
                      <a16:colId xmlns:a16="http://schemas.microsoft.com/office/drawing/2014/main" val="3043237073"/>
                    </a:ext>
                  </a:extLst>
                </a:gridCol>
              </a:tblGrid>
              <a:tr h="0">
                <a:tc>
                  <a:txBody>
                    <a:bodyPr/>
                    <a:lstStyle/>
                    <a:p>
                      <a:pPr marL="0" marR="0" algn="ctr">
                        <a:spcBef>
                          <a:spcPts val="0"/>
                        </a:spcBef>
                        <a:spcAft>
                          <a:spcPts val="0"/>
                        </a:spcAft>
                      </a:pPr>
                      <a:r>
                        <a:rPr lang="en-US" sz="2150">
                          <a:effectLst/>
                          <a:latin typeface="Times New Roman" panose="02020603050405020304" pitchFamily="18" charset="0"/>
                          <a:cs typeface="Times New Roman" panose="02020603050405020304" pitchFamily="18" charset="0"/>
                        </a:rPr>
                        <a:t>Source</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50">
                          <a:effectLst/>
                          <a:latin typeface="Times New Roman" panose="02020603050405020304" pitchFamily="18" charset="0"/>
                          <a:cs typeface="Times New Roman" panose="02020603050405020304" pitchFamily="18" charset="0"/>
                        </a:rPr>
                        <a:t>SS</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50" dirty="0">
                          <a:effectLst/>
                          <a:latin typeface="Times New Roman" panose="02020603050405020304" pitchFamily="18" charset="0"/>
                          <a:cs typeface="Times New Roman" panose="02020603050405020304" pitchFamily="18" charset="0"/>
                        </a:rPr>
                        <a:t>DF</a:t>
                      </a:r>
                      <a:endParaRPr lang="en-US" sz="215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50">
                          <a:effectLst/>
                          <a:latin typeface="Times New Roman" panose="02020603050405020304" pitchFamily="18" charset="0"/>
                          <a:cs typeface="Times New Roman" panose="02020603050405020304" pitchFamily="18" charset="0"/>
                        </a:rPr>
                        <a:t>F-statistic</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50">
                          <a:effectLst/>
                          <a:latin typeface="Times New Roman" panose="02020603050405020304" pitchFamily="18" charset="0"/>
                          <a:cs typeface="Times New Roman" panose="02020603050405020304" pitchFamily="18" charset="0"/>
                        </a:rPr>
                        <a:t>P-value</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50">
                          <a:effectLst/>
                          <a:latin typeface="Times New Roman" panose="02020603050405020304" pitchFamily="18" charset="0"/>
                          <a:cs typeface="Times New Roman" panose="02020603050405020304" pitchFamily="18" charset="0"/>
                        </a:rPr>
                        <a:t>Significant</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779014709"/>
                  </a:ext>
                </a:extLst>
              </a:tr>
              <a:tr h="0">
                <a:tc>
                  <a:txBody>
                    <a:bodyPr/>
                    <a:lstStyle/>
                    <a:p>
                      <a:pPr marL="0" marR="0" algn="just">
                        <a:spcBef>
                          <a:spcPts val="0"/>
                        </a:spcBef>
                        <a:spcAft>
                          <a:spcPts val="0"/>
                        </a:spcAft>
                      </a:pPr>
                      <a:r>
                        <a:rPr lang="en-US" sz="2150">
                          <a:effectLst/>
                          <a:latin typeface="Times New Roman" panose="02020603050405020304" pitchFamily="18" charset="0"/>
                          <a:cs typeface="Times New Roman" panose="02020603050405020304" pitchFamily="18" charset="0"/>
                        </a:rPr>
                        <a:t>vec</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4.8e-5</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1</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0.1180</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0.7318</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No</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014156884"/>
                  </a:ext>
                </a:extLst>
              </a:tr>
              <a:tr h="0">
                <a:tc>
                  <a:txBody>
                    <a:bodyPr/>
                    <a:lstStyle/>
                    <a:p>
                      <a:pPr marL="0" marR="0" algn="just">
                        <a:spcBef>
                          <a:spcPts val="0"/>
                        </a:spcBef>
                        <a:spcAft>
                          <a:spcPts val="0"/>
                        </a:spcAft>
                      </a:pPr>
                      <a:r>
                        <a:rPr lang="en-US" sz="2150">
                          <a:effectLst/>
                          <a:latin typeface="Times New Roman" panose="02020603050405020304" pitchFamily="18" charset="0"/>
                          <a:cs typeface="Times New Roman" panose="02020603050405020304" pitchFamily="18" charset="0"/>
                        </a:rPr>
                        <a:t>feature</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0.01908</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2</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23.3842</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&lt; 0.0001</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Yes</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369599067"/>
                  </a:ext>
                </a:extLst>
              </a:tr>
              <a:tr h="0">
                <a:tc>
                  <a:txBody>
                    <a:bodyPr/>
                    <a:lstStyle/>
                    <a:p>
                      <a:pPr marL="0" marR="0" algn="just">
                        <a:spcBef>
                          <a:spcPts val="0"/>
                        </a:spcBef>
                        <a:spcAft>
                          <a:spcPts val="0"/>
                        </a:spcAft>
                      </a:pPr>
                      <a:r>
                        <a:rPr lang="en-US" sz="2150">
                          <a:effectLst/>
                          <a:latin typeface="Times New Roman" panose="02020603050405020304" pitchFamily="18" charset="0"/>
                          <a:cs typeface="Times New Roman" panose="02020603050405020304" pitchFamily="18" charset="0"/>
                        </a:rPr>
                        <a:t>vec:feature</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0.00024</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2</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0.2909</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0.7481</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No</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492799864"/>
                  </a:ext>
                </a:extLst>
              </a:tr>
              <a:tr h="0">
                <a:tc>
                  <a:txBody>
                    <a:bodyPr/>
                    <a:lstStyle/>
                    <a:p>
                      <a:pPr marL="0" marR="0" algn="just">
                        <a:spcBef>
                          <a:spcPts val="0"/>
                        </a:spcBef>
                        <a:spcAft>
                          <a:spcPts val="0"/>
                        </a:spcAft>
                      </a:pPr>
                      <a:r>
                        <a:rPr lang="en-US" sz="2150">
                          <a:effectLst/>
                          <a:latin typeface="Times New Roman" panose="02020603050405020304" pitchFamily="18" charset="0"/>
                          <a:cs typeface="Times New Roman" panose="02020603050405020304" pitchFamily="18" charset="0"/>
                        </a:rPr>
                        <a:t>Residual</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0.0465</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114</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 </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a:effectLst/>
                          <a:latin typeface="Times New Roman" panose="02020603050405020304" pitchFamily="18" charset="0"/>
                          <a:cs typeface="Times New Roman" panose="02020603050405020304" pitchFamily="18" charset="0"/>
                        </a:rPr>
                        <a:t> </a:t>
                      </a:r>
                      <a:endParaRPr lang="en-US" sz="215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50" dirty="0">
                          <a:effectLst/>
                          <a:latin typeface="Times New Roman" panose="02020603050405020304" pitchFamily="18" charset="0"/>
                          <a:cs typeface="Times New Roman" panose="02020603050405020304" pitchFamily="18" charset="0"/>
                        </a:rPr>
                        <a:t> </a:t>
                      </a:r>
                      <a:endParaRPr lang="en-US" sz="215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32884022"/>
                  </a:ext>
                </a:extLst>
              </a:tr>
            </a:tbl>
          </a:graphicData>
        </a:graphic>
      </p:graphicFrame>
    </p:spTree>
    <p:extLst>
      <p:ext uri="{BB962C8B-B14F-4D97-AF65-F5344CB8AC3E}">
        <p14:creationId xmlns:p14="http://schemas.microsoft.com/office/powerpoint/2010/main" val="2869379071"/>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(skip)</a:t>
            </a:r>
            <a:endParaRPr lang="en-US" dirty="0"/>
          </a:p>
        </p:txBody>
      </p:sp>
      <p:sp>
        <p:nvSpPr>
          <p:cNvPr id="3" name="Content Placeholder 2"/>
          <p:cNvSpPr>
            <a:spLocks noGrp="1"/>
          </p:cNvSpPr>
          <p:nvPr>
            <p:ph idx="1"/>
          </p:nvPr>
        </p:nvSpPr>
        <p:spPr>
          <a:xfrm>
            <a:off x="71120" y="914399"/>
            <a:ext cx="12039600" cy="5176066"/>
          </a:xfrm>
        </p:spPr>
        <p:txBody>
          <a:bodyPr>
            <a:noAutofit/>
          </a:bodyPr>
          <a:lstStyle/>
          <a:p>
            <a:pPr marL="0" indent="0">
              <a:buNone/>
            </a:pPr>
            <a:r>
              <a:rPr lang="en-US" sz="2500" dirty="0">
                <a:effectLst>
                  <a:outerShdw blurRad="38100" dist="38100" dir="2700000" algn="tl">
                    <a:srgbClr val="000000">
                      <a:alpha val="43137"/>
                    </a:srgbClr>
                  </a:outerShdw>
                </a:effectLst>
              </a:rPr>
              <a:t>The following table shows the ANOVA results for recall metric, which indicates how groups “</a:t>
            </a:r>
            <a:r>
              <a:rPr lang="en-US" sz="2500" dirty="0" err="1">
                <a:effectLst>
                  <a:outerShdw blurRad="38100" dist="38100" dir="2700000" algn="tl">
                    <a:srgbClr val="000000">
                      <a:alpha val="43137"/>
                    </a:srgbClr>
                  </a:outerShdw>
                </a:effectLst>
              </a:rPr>
              <a:t>vec</a:t>
            </a:r>
            <a:r>
              <a:rPr lang="en-US" sz="2500" dirty="0">
                <a:effectLst>
                  <a:outerShdw blurRad="38100" dist="38100" dir="2700000" algn="tl">
                    <a:srgbClr val="000000">
                      <a:alpha val="43137"/>
                    </a:srgbClr>
                  </a:outerShdw>
                </a:effectLst>
              </a:rPr>
              <a:t>” and “feature” affect on treatment “recall”</a:t>
            </a:r>
            <a:r>
              <a:rPr lang="en-US" sz="2500" dirty="0"/>
              <a:t> (Gemini 2025</a:t>
            </a:r>
            <a:r>
              <a:rPr lang="en-US" sz="2500" dirty="0" smtClean="0"/>
              <a:t>).</a:t>
            </a:r>
          </a:p>
          <a:p>
            <a:pPr marL="0" indent="0">
              <a:buNone/>
            </a:pPr>
            <a:endParaRPr lang="en-US" sz="2500" dirty="0" smtClean="0"/>
          </a:p>
          <a:p>
            <a:pPr marL="0" indent="0">
              <a:buNone/>
            </a:pPr>
            <a:endParaRPr lang="en-US" sz="2500" dirty="0"/>
          </a:p>
          <a:p>
            <a:pPr marL="0" indent="0">
              <a:buNone/>
            </a:pPr>
            <a:endParaRPr lang="en-US" sz="2500" dirty="0" smtClean="0"/>
          </a:p>
          <a:p>
            <a:pPr marL="0" indent="0">
              <a:buNone/>
            </a:pPr>
            <a:endParaRPr lang="en-US" sz="2500" dirty="0"/>
          </a:p>
          <a:p>
            <a:pPr marL="0" indent="0">
              <a:buNone/>
            </a:pPr>
            <a:endParaRPr lang="en-US" sz="2500" dirty="0" smtClean="0"/>
          </a:p>
          <a:p>
            <a:pPr marL="0" indent="0">
              <a:buNone/>
            </a:pPr>
            <a:r>
              <a:rPr lang="en-US" sz="2500" dirty="0"/>
              <a:t>From the result table above, group “feature” affects highly significantly on treatment “recall” in comparison with group “</a:t>
            </a:r>
            <a:r>
              <a:rPr lang="en-US" sz="2500" dirty="0" err="1"/>
              <a:t>vec</a:t>
            </a:r>
            <a:r>
              <a:rPr lang="en-US" sz="2500" dirty="0"/>
              <a:t>” because the F-statistic of group “feature” (315.5278) is highly larger than the F-statistic of group “</a:t>
            </a:r>
            <a:r>
              <a:rPr lang="en-US" sz="2500" dirty="0" err="1"/>
              <a:t>vec</a:t>
            </a:r>
            <a:r>
              <a:rPr lang="en-US" sz="2500" dirty="0"/>
              <a:t>” (1.5663) with very small P-value (&lt; 0.0001). Moreover, there is no significant interaction between group “</a:t>
            </a:r>
            <a:r>
              <a:rPr lang="en-US" sz="2500" dirty="0" err="1"/>
              <a:t>vec</a:t>
            </a:r>
            <a:r>
              <a:rPr lang="en-US" sz="2500" dirty="0"/>
              <a:t>” and group “feature” because the F-statistic of the interaction effect “</a:t>
            </a:r>
            <a:r>
              <a:rPr lang="en-US" sz="2500" dirty="0" err="1"/>
              <a:t>vec:feature</a:t>
            </a:r>
            <a:r>
              <a:rPr lang="en-US" sz="2500" dirty="0"/>
              <a:t>” (1.1690) is small and its P-value (0.3144) is too larger than 0.05</a:t>
            </a:r>
            <a:r>
              <a:rPr lang="en-US" sz="2500" dirty="0" smtClean="0"/>
              <a:t>.</a:t>
            </a:r>
            <a:endParaRPr lang="en-US" sz="25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48</a:t>
            </a:fld>
            <a:endParaRPr lang="en-US"/>
          </a:p>
        </p:txBody>
      </p:sp>
      <p:graphicFrame>
        <p:nvGraphicFramePr>
          <p:cNvPr id="8" name="Table 7"/>
          <p:cNvGraphicFramePr>
            <a:graphicFrameLocks noGrp="1"/>
          </p:cNvGraphicFramePr>
          <p:nvPr>
            <p:extLst>
              <p:ext uri="{D42A27DB-BD31-4B8C-83A1-F6EECF244321}">
                <p14:modId xmlns:p14="http://schemas.microsoft.com/office/powerpoint/2010/main" val="3474911389"/>
              </p:ext>
            </p:extLst>
          </p:nvPr>
        </p:nvGraphicFramePr>
        <p:xfrm>
          <a:off x="833120" y="1749743"/>
          <a:ext cx="10515600" cy="1905000"/>
        </p:xfrm>
        <a:graphic>
          <a:graphicData uri="http://schemas.openxmlformats.org/drawingml/2006/table">
            <a:tbl>
              <a:tblPr firstRow="1" firstCol="1" bandRow="1">
                <a:tableStyleId>{5C22544A-7EE6-4342-B048-85BDC9FD1C3A}</a:tableStyleId>
              </a:tblPr>
              <a:tblGrid>
                <a:gridCol w="1752600">
                  <a:extLst>
                    <a:ext uri="{9D8B030D-6E8A-4147-A177-3AD203B41FA5}">
                      <a16:colId xmlns:a16="http://schemas.microsoft.com/office/drawing/2014/main" val="1341219228"/>
                    </a:ext>
                  </a:extLst>
                </a:gridCol>
                <a:gridCol w="1752600">
                  <a:extLst>
                    <a:ext uri="{9D8B030D-6E8A-4147-A177-3AD203B41FA5}">
                      <a16:colId xmlns:a16="http://schemas.microsoft.com/office/drawing/2014/main" val="1241469421"/>
                    </a:ext>
                  </a:extLst>
                </a:gridCol>
                <a:gridCol w="1752600">
                  <a:extLst>
                    <a:ext uri="{9D8B030D-6E8A-4147-A177-3AD203B41FA5}">
                      <a16:colId xmlns:a16="http://schemas.microsoft.com/office/drawing/2014/main" val="262343123"/>
                    </a:ext>
                  </a:extLst>
                </a:gridCol>
                <a:gridCol w="1752600">
                  <a:extLst>
                    <a:ext uri="{9D8B030D-6E8A-4147-A177-3AD203B41FA5}">
                      <a16:colId xmlns:a16="http://schemas.microsoft.com/office/drawing/2014/main" val="2884467624"/>
                    </a:ext>
                  </a:extLst>
                </a:gridCol>
                <a:gridCol w="1752600">
                  <a:extLst>
                    <a:ext uri="{9D8B030D-6E8A-4147-A177-3AD203B41FA5}">
                      <a16:colId xmlns:a16="http://schemas.microsoft.com/office/drawing/2014/main" val="1127211806"/>
                    </a:ext>
                  </a:extLst>
                </a:gridCol>
                <a:gridCol w="1752600">
                  <a:extLst>
                    <a:ext uri="{9D8B030D-6E8A-4147-A177-3AD203B41FA5}">
                      <a16:colId xmlns:a16="http://schemas.microsoft.com/office/drawing/2014/main" val="2736206560"/>
                    </a:ext>
                  </a:extLst>
                </a:gridCol>
              </a:tblGrid>
              <a:tr h="0">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Source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SS</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dirty="0">
                          <a:effectLst/>
                          <a:latin typeface="Times New Roman" panose="02020603050405020304" pitchFamily="18" charset="0"/>
                          <a:cs typeface="Times New Roman" panose="02020603050405020304" pitchFamily="18" charset="0"/>
                        </a:rPr>
                        <a:t>DF</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F-statistic</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P-value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500">
                          <a:effectLst/>
                          <a:latin typeface="Times New Roman" panose="02020603050405020304" pitchFamily="18" charset="0"/>
                          <a:cs typeface="Times New Roman" panose="02020603050405020304" pitchFamily="18" charset="0"/>
                        </a:rPr>
                        <a:t>Significant</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400686151"/>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vec</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0.00809</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1.5663</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0.2133</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No</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223238860"/>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feature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3.25747</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2</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315.5278</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&lt; 0.0001</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Yes</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414080914"/>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vec:feature</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0.01207</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2</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1.1690</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0.3144</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No</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260855899"/>
                  </a:ext>
                </a:extLst>
              </a:tr>
              <a:tr h="0">
                <a:tc>
                  <a:txBody>
                    <a:bodyPr/>
                    <a:lstStyle/>
                    <a:p>
                      <a:pPr marL="0" marR="0" algn="just">
                        <a:spcBef>
                          <a:spcPts val="0"/>
                        </a:spcBef>
                        <a:spcAft>
                          <a:spcPts val="0"/>
                        </a:spcAft>
                      </a:pPr>
                      <a:r>
                        <a:rPr lang="en-US" sz="2500">
                          <a:effectLst/>
                          <a:latin typeface="Times New Roman" panose="02020603050405020304" pitchFamily="18" charset="0"/>
                          <a:cs typeface="Times New Roman" panose="02020603050405020304" pitchFamily="18" charset="0"/>
                        </a:rPr>
                        <a:t>Residual</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0.58846</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114</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 </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a:effectLst/>
                          <a:latin typeface="Times New Roman" panose="02020603050405020304" pitchFamily="18" charset="0"/>
                          <a:cs typeface="Times New Roman" panose="02020603050405020304" pitchFamily="18" charset="0"/>
                        </a:rPr>
                        <a:t> </a:t>
                      </a:r>
                      <a:endParaRPr lang="en-US" sz="2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500" dirty="0">
                          <a:effectLst/>
                          <a:latin typeface="Times New Roman" panose="02020603050405020304" pitchFamily="18" charset="0"/>
                          <a:cs typeface="Times New Roman" panose="02020603050405020304" pitchFamily="18" charset="0"/>
                        </a:rPr>
                        <a:t> </a:t>
                      </a:r>
                      <a:endParaRPr lang="en-US" sz="2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98080156"/>
                  </a:ext>
                </a:extLst>
              </a:tr>
            </a:tbl>
          </a:graphicData>
        </a:graphic>
      </p:graphicFrame>
    </p:spTree>
    <p:extLst>
      <p:ext uri="{BB962C8B-B14F-4D97-AF65-F5344CB8AC3E}">
        <p14:creationId xmlns:p14="http://schemas.microsoft.com/office/powerpoint/2010/main" val="250544531"/>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(main)</a:t>
            </a:r>
            <a:endParaRPr lang="en-US" dirty="0"/>
          </a:p>
        </p:txBody>
      </p:sp>
      <p:sp>
        <p:nvSpPr>
          <p:cNvPr id="3" name="Content Placeholder 2"/>
          <p:cNvSpPr>
            <a:spLocks noGrp="1"/>
          </p:cNvSpPr>
          <p:nvPr>
            <p:ph idx="1"/>
          </p:nvPr>
        </p:nvSpPr>
        <p:spPr/>
        <p:txBody>
          <a:bodyPr>
            <a:normAutofit/>
          </a:bodyPr>
          <a:lstStyle/>
          <a:p>
            <a:pPr marL="0" indent="0">
              <a:buNone/>
            </a:pPr>
            <a:r>
              <a:rPr lang="en-US" sz="3000" dirty="0">
                <a:effectLst>
                  <a:outerShdw blurRad="38100" dist="38100" dir="2700000" algn="tl">
                    <a:srgbClr val="000000">
                      <a:alpha val="43137"/>
                    </a:srgbClr>
                  </a:outerShdw>
                </a:effectLst>
              </a:rPr>
              <a:t>In general, within metrics accuracy, F1, precision, and recall, for the third hypothesis “FFN of transformer should be MNN (vector FEC is better than matrix FEC)”, it is possible to conclude that FFN/FEC of MNN classifier and TB classifier should be matrix because it is not necessary to </a:t>
            </a:r>
            <a:r>
              <a:rPr lang="en-US" sz="3000" dirty="0" err="1">
                <a:effectLst>
                  <a:outerShdw blurRad="38100" dist="38100" dir="2700000" algn="tl">
                    <a:srgbClr val="000000">
                      <a:alpha val="43137"/>
                    </a:srgbClr>
                  </a:outerShdw>
                </a:effectLst>
              </a:rPr>
              <a:t>vectorize</a:t>
            </a:r>
            <a:r>
              <a:rPr lang="en-US" sz="3000" dirty="0">
                <a:effectLst>
                  <a:outerShdw blurRad="38100" dist="38100" dir="2700000" algn="tl">
                    <a:srgbClr val="000000">
                      <a:alpha val="43137"/>
                    </a:srgbClr>
                  </a:outerShdw>
                </a:effectLst>
              </a:rPr>
              <a:t> FEC to obtain better classification while </a:t>
            </a:r>
            <a:r>
              <a:rPr lang="en-US" sz="3000" dirty="0" err="1">
                <a:effectLst>
                  <a:outerShdw blurRad="38100" dist="38100" dir="2700000" algn="tl">
                    <a:srgbClr val="000000">
                      <a:alpha val="43137"/>
                    </a:srgbClr>
                  </a:outerShdw>
                </a:effectLst>
              </a:rPr>
              <a:t>vectorized</a:t>
            </a:r>
            <a:r>
              <a:rPr lang="en-US" sz="3000" dirty="0">
                <a:effectLst>
                  <a:outerShdw blurRad="38100" dist="38100" dir="2700000" algn="tl">
                    <a:srgbClr val="000000">
                      <a:alpha val="43137"/>
                    </a:srgbClr>
                  </a:outerShdw>
                </a:effectLst>
              </a:rPr>
              <a:t> FEC (vector FEC) consumes much more computational resources. Exactly, there is significant evidence to reject null hypothesis of the third hypothesis or there is significant evidence to support the third hypothesis.</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49</a:t>
            </a:fld>
            <a:endParaRPr lang="en-US"/>
          </a:p>
        </p:txBody>
      </p:sp>
    </p:spTree>
    <p:extLst>
      <p:ext uri="{BB962C8B-B14F-4D97-AF65-F5344CB8AC3E}">
        <p14:creationId xmlns:p14="http://schemas.microsoft.com/office/powerpoint/2010/main" val="2065538033"/>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discussions</a:t>
            </a:r>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673992200"/>
              </p:ext>
            </p:extLst>
          </p:nvPr>
        </p:nvGraphicFramePr>
        <p:xfrm>
          <a:off x="4511039" y="1084739"/>
          <a:ext cx="7566662" cy="5120640"/>
        </p:xfrm>
        <a:graphic>
          <a:graphicData uri="http://schemas.openxmlformats.org/drawingml/2006/table">
            <a:tbl>
              <a:tblPr firstRow="1" firstCol="1" bandRow="1">
                <a:tableStyleId>{5C22544A-7EE6-4342-B048-85BDC9FD1C3A}</a:tableStyleId>
              </a:tblPr>
              <a:tblGrid>
                <a:gridCol w="742341">
                  <a:extLst>
                    <a:ext uri="{9D8B030D-6E8A-4147-A177-3AD203B41FA5}">
                      <a16:colId xmlns:a16="http://schemas.microsoft.com/office/drawing/2014/main" val="1666854527"/>
                    </a:ext>
                  </a:extLst>
                </a:gridCol>
                <a:gridCol w="1292064">
                  <a:extLst>
                    <a:ext uri="{9D8B030D-6E8A-4147-A177-3AD203B41FA5}">
                      <a16:colId xmlns:a16="http://schemas.microsoft.com/office/drawing/2014/main" val="3928887933"/>
                    </a:ext>
                  </a:extLst>
                </a:gridCol>
                <a:gridCol w="1452355">
                  <a:extLst>
                    <a:ext uri="{9D8B030D-6E8A-4147-A177-3AD203B41FA5}">
                      <a16:colId xmlns:a16="http://schemas.microsoft.com/office/drawing/2014/main" val="329281794"/>
                    </a:ext>
                  </a:extLst>
                </a:gridCol>
                <a:gridCol w="1153015">
                  <a:extLst>
                    <a:ext uri="{9D8B030D-6E8A-4147-A177-3AD203B41FA5}">
                      <a16:colId xmlns:a16="http://schemas.microsoft.com/office/drawing/2014/main" val="2014797705"/>
                    </a:ext>
                  </a:extLst>
                </a:gridCol>
                <a:gridCol w="1585396">
                  <a:extLst>
                    <a:ext uri="{9D8B030D-6E8A-4147-A177-3AD203B41FA5}">
                      <a16:colId xmlns:a16="http://schemas.microsoft.com/office/drawing/2014/main" val="1329672026"/>
                    </a:ext>
                  </a:extLst>
                </a:gridCol>
                <a:gridCol w="1341491">
                  <a:extLst>
                    <a:ext uri="{9D8B030D-6E8A-4147-A177-3AD203B41FA5}">
                      <a16:colId xmlns:a16="http://schemas.microsoft.com/office/drawing/2014/main" val="1345919224"/>
                    </a:ext>
                  </a:extLst>
                </a:gridCol>
              </a:tblGrid>
              <a:tr h="0">
                <a:tc>
                  <a:txBody>
                    <a:bodyPr/>
                    <a:lstStyle/>
                    <a:p>
                      <a:pPr marL="0" marR="0" algn="ctr">
                        <a:spcBef>
                          <a:spcPts val="0"/>
                        </a:spcBef>
                        <a:spcAft>
                          <a:spcPts val="0"/>
                        </a:spcAft>
                      </a:pPr>
                      <a:r>
                        <a:rPr lang="en-US" sz="2400">
                          <a:effectLst/>
                          <a:latin typeface="Times New Roman" panose="02020603050405020304" pitchFamily="18" charset="0"/>
                          <a:cs typeface="Times New Roman" panose="02020603050405020304" pitchFamily="18" charset="0"/>
                        </a:rPr>
                        <a:t>vec</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400" dirty="0">
                          <a:effectLst/>
                          <a:latin typeface="Times New Roman" panose="02020603050405020304" pitchFamily="18" charset="0"/>
                          <a:cs typeface="Times New Roman" panose="02020603050405020304" pitchFamily="18" charset="0"/>
                        </a:rPr>
                        <a:t>feature</a:t>
                      </a:r>
                      <a:endParaRPr lang="en-US" sz="24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400">
                          <a:effectLst/>
                          <a:latin typeface="Times New Roman" panose="02020603050405020304" pitchFamily="18" charset="0"/>
                          <a:cs typeface="Times New Roman" panose="02020603050405020304" pitchFamily="18" charset="0"/>
                        </a:rPr>
                        <a:t>Accuracy</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400">
                          <a:effectLst/>
                          <a:latin typeface="Times New Roman" panose="02020603050405020304" pitchFamily="18" charset="0"/>
                          <a:cs typeface="Times New Roman" panose="02020603050405020304" pitchFamily="18" charset="0"/>
                        </a:rPr>
                        <a:t>F1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400">
                          <a:effectLst/>
                          <a:latin typeface="Times New Roman" panose="02020603050405020304" pitchFamily="18" charset="0"/>
                          <a:cs typeface="Times New Roman" panose="02020603050405020304" pitchFamily="18" charset="0"/>
                        </a:rPr>
                        <a:t>Precision</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400">
                          <a:effectLst/>
                          <a:latin typeface="Times New Roman" panose="02020603050405020304" pitchFamily="18" charset="0"/>
                          <a:cs typeface="Times New Roman" panose="02020603050405020304" pitchFamily="18" charset="0"/>
                        </a:rPr>
                        <a:t>Recall</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205075491"/>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false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dirty="0" err="1">
                          <a:effectLst/>
                          <a:latin typeface="Times New Roman" panose="02020603050405020304" pitchFamily="18" charset="0"/>
                          <a:cs typeface="Times New Roman" panose="02020603050405020304" pitchFamily="18" charset="0"/>
                        </a:rPr>
                        <a:t>conv</a:t>
                      </a:r>
                      <a:endParaRPr lang="en-US" sz="24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0.0991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0.0845</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0.0614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0.4154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319985451"/>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false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trans</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0.0834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0.1508</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0.0881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0.7751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863668361"/>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false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weight</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0.0816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0.1530</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0.0887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0.7963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81770696"/>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true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conv</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0.0980</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0.0983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0.0631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0.4601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706990174"/>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true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trans</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0.0857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0.1547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0.0926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0.7790</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750778916"/>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true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weight</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0.0809</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0.1502</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0.0863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0.7970</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58571478"/>
                  </a:ext>
                </a:extLst>
              </a:tr>
              <a:tr h="0">
                <a:tc gridSpan="6">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895425830"/>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conv</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0.0986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0.0914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0.0623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0.4377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658798261"/>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trans</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0.0846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0.1527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0.0903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0.7771</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329232657"/>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weight</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0.0812</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0.1516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0.0875</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0.7966</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580294860"/>
                  </a:ext>
                </a:extLst>
              </a:tr>
              <a:tr h="0">
                <a:tc gridSpan="6">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4278343010"/>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false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0.0880</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0.1294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0.0794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0.6623</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18371559"/>
                  </a:ext>
                </a:extLst>
              </a:tr>
              <a:tr h="0">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true</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400">
                          <a:effectLst/>
                          <a:latin typeface="Times New Roman" panose="02020603050405020304" pitchFamily="18" charset="0"/>
                          <a:cs typeface="Times New Roman" panose="02020603050405020304" pitchFamily="18" charset="0"/>
                        </a:rPr>
                        <a:t> </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0.0882</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0.1344</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a:effectLst/>
                          <a:latin typeface="Times New Roman" panose="02020603050405020304" pitchFamily="18" charset="0"/>
                          <a:cs typeface="Times New Roman" panose="02020603050405020304" pitchFamily="18" charset="0"/>
                        </a:rPr>
                        <a:t>0.0807</a:t>
                      </a:r>
                      <a:endParaRPr lang="en-US" sz="24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400" dirty="0">
                          <a:effectLst/>
                          <a:latin typeface="Times New Roman" panose="02020603050405020304" pitchFamily="18" charset="0"/>
                          <a:cs typeface="Times New Roman" panose="02020603050405020304" pitchFamily="18" charset="0"/>
                        </a:rPr>
                        <a:t>0.6787</a:t>
                      </a:r>
                      <a:endParaRPr lang="en-US" sz="24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78721389"/>
                  </a:ext>
                </a:extLst>
              </a:tr>
            </a:tbl>
          </a:graphicData>
        </a:graphic>
      </p:graphicFrame>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50</a:t>
            </a:fld>
            <a:endParaRPr lang="en-US"/>
          </a:p>
        </p:txBody>
      </p:sp>
      <p:sp>
        <p:nvSpPr>
          <p:cNvPr id="8" name="Rectangle 7"/>
          <p:cNvSpPr/>
          <p:nvPr/>
        </p:nvSpPr>
        <p:spPr>
          <a:xfrm>
            <a:off x="91440" y="1084739"/>
            <a:ext cx="4226560" cy="3416320"/>
          </a:xfrm>
          <a:prstGeom prst="rect">
            <a:avLst/>
          </a:prstGeom>
        </p:spPr>
        <p:txBody>
          <a:bodyPr wrap="square">
            <a:spAutoFit/>
          </a:bodyPr>
          <a:lstStyle/>
          <a:p>
            <a:pPr algn="just"/>
            <a:r>
              <a:rPr lang="en-US" sz="2400" dirty="0">
                <a:latin typeface="Times New Roman" panose="02020603050405020304" pitchFamily="18" charset="0"/>
                <a:ea typeface="DengXian"/>
              </a:rPr>
              <a:t>Although the experiment focuses on testing the three </a:t>
            </a:r>
            <a:r>
              <a:rPr lang="en-US" sz="2400" dirty="0" smtClean="0">
                <a:latin typeface="Times New Roman" panose="02020603050405020304" pitchFamily="18" charset="0"/>
                <a:ea typeface="DengXian"/>
              </a:rPr>
              <a:t>hypotheses </a:t>
            </a:r>
            <a:r>
              <a:rPr lang="en-US" sz="2400" dirty="0">
                <a:latin typeface="Times New Roman" panose="02020603050405020304" pitchFamily="18" charset="0"/>
                <a:ea typeface="DengXian"/>
              </a:rPr>
              <a:t>by ANOVA tests on significant differences, </a:t>
            </a:r>
            <a:r>
              <a:rPr lang="en-US" sz="2400" dirty="0">
                <a:effectLst>
                  <a:outerShdw blurRad="38100" dist="38100" dir="2700000" algn="tl">
                    <a:srgbClr val="000000">
                      <a:alpha val="43137"/>
                    </a:srgbClr>
                  </a:outerShdw>
                </a:effectLst>
                <a:latin typeface="Times New Roman" panose="02020603050405020304" pitchFamily="18" charset="0"/>
                <a:ea typeface="DengXian"/>
              </a:rPr>
              <a:t>it is necessary to summarize means of metrics “accuracy”, “F1”, “precision”, and “recall” with respect to groups “</a:t>
            </a:r>
            <a:r>
              <a:rPr lang="en-US" sz="2400" dirty="0" err="1">
                <a:effectLst>
                  <a:outerShdw blurRad="38100" dist="38100" dir="2700000" algn="tl">
                    <a:srgbClr val="000000">
                      <a:alpha val="43137"/>
                    </a:srgbClr>
                  </a:outerShdw>
                </a:effectLst>
                <a:latin typeface="Times New Roman" panose="02020603050405020304" pitchFamily="18" charset="0"/>
                <a:ea typeface="DengXian"/>
              </a:rPr>
              <a:t>vec</a:t>
            </a:r>
            <a:r>
              <a:rPr lang="en-US" sz="2400" dirty="0">
                <a:effectLst>
                  <a:outerShdw blurRad="38100" dist="38100" dir="2700000" algn="tl">
                    <a:srgbClr val="000000">
                      <a:alpha val="43137"/>
                    </a:srgbClr>
                  </a:outerShdw>
                </a:effectLst>
                <a:latin typeface="Times New Roman" panose="02020603050405020304" pitchFamily="18" charset="0"/>
                <a:ea typeface="DengXian"/>
              </a:rPr>
              <a:t>” and “feature”</a:t>
            </a:r>
            <a:r>
              <a:rPr lang="en-US" sz="2400" dirty="0">
                <a:latin typeface="Times New Roman" panose="02020603050405020304" pitchFamily="18" charset="0"/>
                <a:ea typeface="DengXian"/>
              </a:rPr>
              <a:t> (Gemini 2025).</a:t>
            </a:r>
            <a:endParaRPr lang="en-US" sz="2400" dirty="0"/>
          </a:p>
        </p:txBody>
      </p:sp>
    </p:spTree>
    <p:extLst>
      <p:ext uri="{BB962C8B-B14F-4D97-AF65-F5344CB8AC3E}">
        <p14:creationId xmlns:p14="http://schemas.microsoft.com/office/powerpoint/2010/main" val="2783968594"/>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(main)</a:t>
            </a:r>
            <a:endParaRPr lang="en-US" dirty="0"/>
          </a:p>
        </p:txBody>
      </p:sp>
      <p:sp>
        <p:nvSpPr>
          <p:cNvPr id="3" name="Content Placeholder 2"/>
          <p:cNvSpPr>
            <a:spLocks noGrp="1"/>
          </p:cNvSpPr>
          <p:nvPr>
            <p:ph idx="1"/>
          </p:nvPr>
        </p:nvSpPr>
        <p:spPr>
          <a:xfrm>
            <a:off x="91440" y="914399"/>
            <a:ext cx="12009120" cy="5176066"/>
          </a:xfrm>
        </p:spPr>
        <p:txBody>
          <a:bodyPr>
            <a:noAutofit/>
          </a:bodyPr>
          <a:lstStyle/>
          <a:p>
            <a:r>
              <a:rPr lang="en-US" sz="2000" dirty="0"/>
              <a:t>Because feature “weight”, “trans”, and “</a:t>
            </a:r>
            <a:r>
              <a:rPr lang="en-US" sz="2000" dirty="0" err="1"/>
              <a:t>conv</a:t>
            </a:r>
            <a:r>
              <a:rPr lang="en-US" sz="2000" dirty="0"/>
              <a:t>” represent classifiers MNN, TB, and CNN, respectively, for the result table above, CNN classifier (0.0986) is better than both TB classifier (0.0846) and MNN classifier (0.0812) in accuracy metric but both MNN classifier and TB classifier are better than CNN classifier in remaining metrics such as F1, precision, and recall. Although both F1 and precision measure the accurate aspect in classification task, they reflect the diversity too. Therefore, </a:t>
            </a:r>
            <a:r>
              <a:rPr lang="en-US" sz="2000" i="1" dirty="0">
                <a:effectLst>
                  <a:outerShdw blurRad="38100" dist="38100" dir="2700000" algn="tl">
                    <a:srgbClr val="000000">
                      <a:alpha val="43137"/>
                    </a:srgbClr>
                  </a:outerShdw>
                </a:effectLst>
              </a:rPr>
              <a:t>CNN classifier is the best in accuracy</a:t>
            </a:r>
            <a:r>
              <a:rPr lang="en-US" sz="2000" dirty="0">
                <a:effectLst>
                  <a:outerShdw blurRad="38100" dist="38100" dir="2700000" algn="tl">
                    <a:srgbClr val="000000">
                      <a:alpha val="43137"/>
                    </a:srgbClr>
                  </a:outerShdw>
                </a:effectLst>
              </a:rPr>
              <a:t> </a:t>
            </a:r>
            <a:r>
              <a:rPr lang="en-US" sz="2000" dirty="0"/>
              <a:t>because accuracy metric is the pure metric to measure the ratio of correct number of images to total number of all images in classifying entire dataset</a:t>
            </a:r>
            <a:r>
              <a:rPr lang="en-US" sz="2000" dirty="0" smtClean="0"/>
              <a:t>.</a:t>
            </a:r>
          </a:p>
          <a:p>
            <a:r>
              <a:rPr lang="en-US" sz="2000" dirty="0"/>
              <a:t>Recall metric is the intermediate metric between accuracy and diversity but it leans forwards the diversity, which leads that TB classifier within context of transformer can harmonize MNN classifier and CNN classifier because recall metric of TB classifier (0.7771) is between recall metrics of CNN classifier (0.4377) and MNN classifier (0.7966). Moreover, accuracy metric of TB classifier (0.0846) is between accuracy metrics of CNN classifier (0.0986) and MNN classifier (0.0812). Especially, F1 metric of TB classifier (0.1527) is best and precision metric of TB classifier (0.0903) is best, which concludes that </a:t>
            </a:r>
            <a:r>
              <a:rPr lang="en-US" sz="2000" i="1" dirty="0">
                <a:effectLst>
                  <a:outerShdw blurRad="38100" dist="38100" dir="2700000" algn="tl">
                    <a:srgbClr val="000000">
                      <a:alpha val="43137"/>
                    </a:srgbClr>
                  </a:outerShdw>
                </a:effectLst>
              </a:rPr>
              <a:t>TB classifier can be the preeminent one in compromising all factors</a:t>
            </a:r>
            <a:r>
              <a:rPr lang="en-US" sz="2000" dirty="0" smtClean="0"/>
              <a:t>.</a:t>
            </a:r>
          </a:p>
          <a:p>
            <a:r>
              <a:rPr lang="en-US" sz="2000" dirty="0">
                <a:effectLst>
                  <a:outerShdw blurRad="38100" dist="38100" dir="2700000" algn="tl">
                    <a:srgbClr val="000000">
                      <a:alpha val="43137"/>
                    </a:srgbClr>
                  </a:outerShdw>
                </a:effectLst>
              </a:rPr>
              <a:t>Although there is significant evidence to support the third hypothesis</a:t>
            </a:r>
            <a:r>
              <a:rPr lang="en-US" sz="2000" dirty="0"/>
              <a:t> which means it is not necessary to </a:t>
            </a:r>
            <a:r>
              <a:rPr lang="en-US" sz="2000" dirty="0" err="1"/>
              <a:t>vectorize</a:t>
            </a:r>
            <a:r>
              <a:rPr lang="en-US" sz="2000" dirty="0"/>
              <a:t> FEC to obtain better classification, </a:t>
            </a:r>
            <a:r>
              <a:rPr lang="en-US" sz="2000" dirty="0">
                <a:effectLst>
                  <a:outerShdw blurRad="38100" dist="38100" dir="2700000" algn="tl">
                    <a:srgbClr val="000000">
                      <a:alpha val="43137"/>
                    </a:srgbClr>
                  </a:outerShdw>
                </a:effectLst>
              </a:rPr>
              <a:t>vector FEC </a:t>
            </a:r>
            <a:r>
              <a:rPr lang="en-US" sz="2000" dirty="0"/>
              <a:t>(accuracy=0.0880, F1=0.1294, precision=0.0794, recall=0.6623) </a:t>
            </a:r>
            <a:r>
              <a:rPr lang="en-US" sz="2000" dirty="0">
                <a:effectLst>
                  <a:outerShdw blurRad="38100" dist="38100" dir="2700000" algn="tl">
                    <a:srgbClr val="000000">
                      <a:alpha val="43137"/>
                    </a:srgbClr>
                  </a:outerShdw>
                </a:effectLst>
              </a:rPr>
              <a:t>is always slightly better than matrix FEC </a:t>
            </a:r>
            <a:r>
              <a:rPr lang="en-US" sz="2000" dirty="0"/>
              <a:t>(accuracy=0.0882, F1=0.1344, precision=0.0807, recall=0.6787).</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51</a:t>
            </a:fld>
            <a:endParaRPr lang="en-US"/>
          </a:p>
        </p:txBody>
      </p:sp>
    </p:spTree>
    <p:extLst>
      <p:ext uri="{BB962C8B-B14F-4D97-AF65-F5344CB8AC3E}">
        <p14:creationId xmlns:p14="http://schemas.microsoft.com/office/powerpoint/2010/main" val="4176793195"/>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(main)</a:t>
            </a:r>
            <a:endParaRPr lang="en-US" dirty="0"/>
          </a:p>
        </p:txBody>
      </p:sp>
      <p:sp>
        <p:nvSpPr>
          <p:cNvPr id="3" name="Content Placeholder 2"/>
          <p:cNvSpPr>
            <a:spLocks noGrp="1"/>
          </p:cNvSpPr>
          <p:nvPr>
            <p:ph idx="1"/>
          </p:nvPr>
        </p:nvSpPr>
        <p:spPr>
          <a:xfrm>
            <a:off x="71120" y="914399"/>
            <a:ext cx="12029440" cy="5176066"/>
          </a:xfrm>
        </p:spPr>
        <p:txBody>
          <a:bodyPr>
            <a:normAutofit lnSpcReduction="10000"/>
          </a:bodyPr>
          <a:lstStyle/>
          <a:p>
            <a:pPr marL="0" indent="0">
              <a:buNone/>
            </a:pPr>
            <a:r>
              <a:rPr lang="en-US" sz="2100" dirty="0"/>
              <a:t>Secondly, because it is concluded that group “feature” is the most significant factor on accuracy metric and F1 metric, it is necessary to make Post-Hoc Tukey HSD (Honestly Significant Difference) test on values “weight”, “trans”, “</a:t>
            </a:r>
            <a:r>
              <a:rPr lang="en-US" sz="2100" dirty="0" err="1"/>
              <a:t>conv</a:t>
            </a:r>
            <a:r>
              <a:rPr lang="en-US" sz="2100" dirty="0"/>
              <a:t>” of independent variable “feature” in order to test the first hypothesis and second hypothesis. </a:t>
            </a:r>
            <a:r>
              <a:rPr lang="en-US" sz="2100" dirty="0">
                <a:effectLst>
                  <a:outerShdw blurRad="38100" dist="38100" dir="2700000" algn="tl">
                    <a:srgbClr val="000000">
                      <a:alpha val="43137"/>
                    </a:srgbClr>
                  </a:outerShdw>
                </a:effectLst>
              </a:rPr>
              <a:t>The following table shows the Post-Hoc Tukey HSD results for feature group within accuracy metric, which indicates which specific values (“weight”, “trans”, “</a:t>
            </a:r>
            <a:r>
              <a:rPr lang="en-US" sz="2100" dirty="0" err="1">
                <a:effectLst>
                  <a:outerShdw blurRad="38100" dist="38100" dir="2700000" algn="tl">
                    <a:srgbClr val="000000">
                      <a:alpha val="43137"/>
                    </a:srgbClr>
                  </a:outerShdw>
                </a:effectLst>
              </a:rPr>
              <a:t>conv</a:t>
            </a:r>
            <a:r>
              <a:rPr lang="en-US" sz="2100" dirty="0">
                <a:effectLst>
                  <a:outerShdw blurRad="38100" dist="38100" dir="2700000" algn="tl">
                    <a:srgbClr val="000000">
                      <a:alpha val="43137"/>
                    </a:srgbClr>
                  </a:outerShdw>
                </a:effectLst>
              </a:rPr>
              <a:t>”) </a:t>
            </a:r>
            <a:r>
              <a:rPr lang="en-US" sz="2100">
                <a:effectLst>
                  <a:outerShdw blurRad="38100" dist="38100" dir="2700000" algn="tl">
                    <a:srgbClr val="000000">
                      <a:alpha val="43137"/>
                    </a:srgbClr>
                  </a:outerShdw>
                </a:effectLst>
              </a:rPr>
              <a:t>are </a:t>
            </a:r>
            <a:r>
              <a:rPr lang="en-US" sz="2100" smtClean="0">
                <a:effectLst>
                  <a:outerShdw blurRad="38100" dist="38100" dir="2700000" algn="tl">
                    <a:srgbClr val="000000">
                      <a:alpha val="43137"/>
                    </a:srgbClr>
                  </a:outerShdw>
                </a:effectLst>
              </a:rPr>
              <a:t>significantly </a:t>
            </a:r>
            <a:r>
              <a:rPr lang="en-US" sz="2100" dirty="0">
                <a:effectLst>
                  <a:outerShdw blurRad="38100" dist="38100" dir="2700000" algn="tl">
                    <a:srgbClr val="000000">
                      <a:alpha val="43137"/>
                    </a:srgbClr>
                  </a:outerShdw>
                </a:effectLst>
              </a:rPr>
              <a:t>different among them with context of treatment “accuracy” </a:t>
            </a:r>
            <a:r>
              <a:rPr lang="en-US" sz="2100" dirty="0"/>
              <a:t>(Gemini 2025</a:t>
            </a:r>
            <a:r>
              <a:rPr lang="en-US" sz="2100" dirty="0" smtClean="0"/>
              <a:t>).</a:t>
            </a:r>
          </a:p>
          <a:p>
            <a:pPr marL="0" indent="0">
              <a:buNone/>
            </a:pPr>
            <a:endParaRPr lang="en-US" sz="2100" dirty="0" smtClean="0"/>
          </a:p>
          <a:p>
            <a:pPr marL="0" indent="0">
              <a:buNone/>
            </a:pPr>
            <a:endParaRPr lang="en-US" sz="2100" dirty="0"/>
          </a:p>
          <a:p>
            <a:pPr marL="0" indent="0">
              <a:buNone/>
            </a:pPr>
            <a:endParaRPr lang="en-US" sz="2100" dirty="0" smtClean="0"/>
          </a:p>
          <a:p>
            <a:pPr marL="0" indent="0">
              <a:buNone/>
            </a:pPr>
            <a:endParaRPr lang="en-US" sz="2100" dirty="0"/>
          </a:p>
          <a:p>
            <a:pPr marL="0" indent="0">
              <a:buNone/>
            </a:pPr>
            <a:endParaRPr lang="en-US" sz="2100" dirty="0" smtClean="0"/>
          </a:p>
          <a:p>
            <a:pPr marL="0" indent="0">
              <a:buNone/>
            </a:pPr>
            <a:r>
              <a:rPr lang="en-US" sz="2100" dirty="0"/>
              <a:t>For the result table above, the feature “</a:t>
            </a:r>
            <a:r>
              <a:rPr lang="en-US" sz="2100" dirty="0" err="1"/>
              <a:t>conv</a:t>
            </a:r>
            <a:r>
              <a:rPr lang="en-US" sz="2100" dirty="0"/>
              <a:t>” is significantly much larger than features “weight” and “trans” in accuracy metric because its absolute mean differences with respect to feature “weight” and feature “trans” are larger (|–0.0173|, |–0.014|) with P-values (&lt; 0.001) are too smaller than 0.05. Because these differences are negative, the feature “</a:t>
            </a:r>
            <a:r>
              <a:rPr lang="en-US" sz="2100" dirty="0" err="1"/>
              <a:t>conv</a:t>
            </a:r>
            <a:r>
              <a:rPr lang="en-US" sz="2100" dirty="0"/>
              <a:t>” is significantly much better than features “weight” and “trans”. Conversely, there is no significantly difference between feature “weight” and feature “trans” because the P-value (0.0932) given their absolute mean difference (|–0.0034|) is larger than 0.05.</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52</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2081545380"/>
              </p:ext>
            </p:extLst>
          </p:nvPr>
        </p:nvGraphicFramePr>
        <p:xfrm>
          <a:off x="187960" y="2753132"/>
          <a:ext cx="11795760" cy="1280160"/>
        </p:xfrm>
        <a:graphic>
          <a:graphicData uri="http://schemas.openxmlformats.org/drawingml/2006/table">
            <a:tbl>
              <a:tblPr firstRow="1" firstCol="1" bandRow="1">
                <a:tableStyleId>{5C22544A-7EE6-4342-B048-85BDC9FD1C3A}</a:tableStyleId>
              </a:tblPr>
              <a:tblGrid>
                <a:gridCol w="2359152">
                  <a:extLst>
                    <a:ext uri="{9D8B030D-6E8A-4147-A177-3AD203B41FA5}">
                      <a16:colId xmlns:a16="http://schemas.microsoft.com/office/drawing/2014/main" val="2295461933"/>
                    </a:ext>
                  </a:extLst>
                </a:gridCol>
                <a:gridCol w="2359152">
                  <a:extLst>
                    <a:ext uri="{9D8B030D-6E8A-4147-A177-3AD203B41FA5}">
                      <a16:colId xmlns:a16="http://schemas.microsoft.com/office/drawing/2014/main" val="2983248751"/>
                    </a:ext>
                  </a:extLst>
                </a:gridCol>
                <a:gridCol w="2359152">
                  <a:extLst>
                    <a:ext uri="{9D8B030D-6E8A-4147-A177-3AD203B41FA5}">
                      <a16:colId xmlns:a16="http://schemas.microsoft.com/office/drawing/2014/main" val="3242926981"/>
                    </a:ext>
                  </a:extLst>
                </a:gridCol>
                <a:gridCol w="2359152">
                  <a:extLst>
                    <a:ext uri="{9D8B030D-6E8A-4147-A177-3AD203B41FA5}">
                      <a16:colId xmlns:a16="http://schemas.microsoft.com/office/drawing/2014/main" val="1503370279"/>
                    </a:ext>
                  </a:extLst>
                </a:gridCol>
                <a:gridCol w="2359152">
                  <a:extLst>
                    <a:ext uri="{9D8B030D-6E8A-4147-A177-3AD203B41FA5}">
                      <a16:colId xmlns:a16="http://schemas.microsoft.com/office/drawing/2014/main" val="2516851141"/>
                    </a:ext>
                  </a:extLst>
                </a:gridCol>
              </a:tblGrid>
              <a:tr h="0">
                <a:tc>
                  <a:txBody>
                    <a:bodyPr/>
                    <a:lstStyle/>
                    <a:p>
                      <a:pPr marL="0" marR="0" algn="ctr">
                        <a:spcBef>
                          <a:spcPts val="0"/>
                        </a:spcBef>
                        <a:spcAft>
                          <a:spcPts val="0"/>
                        </a:spcAft>
                      </a:pPr>
                      <a:r>
                        <a:rPr lang="en-US" sz="2100">
                          <a:effectLst/>
                          <a:latin typeface="Times New Roman" panose="02020603050405020304" pitchFamily="18" charset="0"/>
                          <a:cs typeface="Times New Roman" panose="02020603050405020304" pitchFamily="18" charset="0"/>
                        </a:rPr>
                        <a:t>Treatment 1</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dirty="0">
                          <a:effectLst/>
                          <a:latin typeface="Times New Roman" panose="02020603050405020304" pitchFamily="18" charset="0"/>
                          <a:cs typeface="Times New Roman" panose="02020603050405020304" pitchFamily="18" charset="0"/>
                        </a:rPr>
                        <a:t>Treatment 2</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dirty="0" smtClean="0">
                          <a:effectLst/>
                          <a:latin typeface="Times New Roman" panose="02020603050405020304" pitchFamily="18" charset="0"/>
                          <a:cs typeface="Times New Roman" panose="02020603050405020304" pitchFamily="18" charset="0"/>
                        </a:rPr>
                        <a:t>Mean Difference</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dirty="0" smtClean="0">
                          <a:effectLst/>
                          <a:latin typeface="Times New Roman" panose="02020603050405020304" pitchFamily="18" charset="0"/>
                          <a:cs typeface="Times New Roman" panose="02020603050405020304" pitchFamily="18" charset="0"/>
                        </a:rPr>
                        <a:t>Adjusted P-value</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2100">
                          <a:effectLst/>
                          <a:latin typeface="Times New Roman" panose="02020603050405020304" pitchFamily="18" charset="0"/>
                          <a:cs typeface="Times New Roman" panose="02020603050405020304" pitchFamily="18" charset="0"/>
                        </a:rPr>
                        <a:t>Significant</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151033581"/>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conv</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trans</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–0.0140</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&lt; 0.001</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Yes (conv &gt; trans)</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496012199"/>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conv</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weight</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–0.0173</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&lt; 0.001</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Yes (conv &gt; weight)</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59437842"/>
                  </a:ext>
                </a:extLst>
              </a:tr>
              <a:tr h="0">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trans</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a:effectLst/>
                          <a:latin typeface="Times New Roman" panose="02020603050405020304" pitchFamily="18" charset="0"/>
                          <a:cs typeface="Times New Roman" panose="02020603050405020304" pitchFamily="18" charset="0"/>
                        </a:rPr>
                        <a:t>weight</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–0.0034</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2100">
                          <a:effectLst/>
                          <a:latin typeface="Times New Roman" panose="02020603050405020304" pitchFamily="18" charset="0"/>
                          <a:cs typeface="Times New Roman" panose="02020603050405020304" pitchFamily="18" charset="0"/>
                        </a:rPr>
                        <a:t>0.0932</a:t>
                      </a:r>
                      <a:endParaRPr lang="en-US" sz="21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2100" dirty="0">
                          <a:effectLst/>
                          <a:latin typeface="Times New Roman" panose="02020603050405020304" pitchFamily="18" charset="0"/>
                          <a:cs typeface="Times New Roman" panose="02020603050405020304" pitchFamily="18" charset="0"/>
                        </a:rPr>
                        <a:t>No</a:t>
                      </a:r>
                      <a:endParaRPr lang="en-US" sz="21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64074124"/>
                  </a:ext>
                </a:extLst>
              </a:tr>
            </a:tbl>
          </a:graphicData>
        </a:graphic>
      </p:graphicFrame>
    </p:spTree>
    <p:extLst>
      <p:ext uri="{BB962C8B-B14F-4D97-AF65-F5344CB8AC3E}">
        <p14:creationId xmlns:p14="http://schemas.microsoft.com/office/powerpoint/2010/main" val="3653809178"/>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discussions </a:t>
            </a:r>
            <a:r>
              <a:rPr lang="en-US" dirty="0" smtClean="0"/>
              <a:t>(skip)</a:t>
            </a:r>
            <a:endParaRPr lang="en-US" dirty="0"/>
          </a:p>
        </p:txBody>
      </p:sp>
      <p:sp>
        <p:nvSpPr>
          <p:cNvPr id="3" name="Content Placeholder 2"/>
          <p:cNvSpPr>
            <a:spLocks noGrp="1"/>
          </p:cNvSpPr>
          <p:nvPr>
            <p:ph idx="1"/>
          </p:nvPr>
        </p:nvSpPr>
        <p:spPr>
          <a:xfrm>
            <a:off x="91440" y="914399"/>
            <a:ext cx="12009120" cy="5176066"/>
          </a:xfrm>
        </p:spPr>
        <p:txBody>
          <a:bodyPr>
            <a:normAutofit/>
          </a:bodyPr>
          <a:lstStyle/>
          <a:p>
            <a:pPr marL="0" indent="0">
              <a:buNone/>
            </a:pPr>
            <a:r>
              <a:rPr lang="en-US" sz="3000" dirty="0" smtClean="0"/>
              <a:t>Therefore, </a:t>
            </a:r>
            <a:r>
              <a:rPr lang="en-US" sz="3000" dirty="0"/>
              <a:t>there is significant evidence to reject the first hypothesis “MNN is the alternative of CNN” and </a:t>
            </a:r>
            <a:r>
              <a:rPr lang="en-US" sz="3000" dirty="0">
                <a:effectLst>
                  <a:outerShdw blurRad="38100" dist="38100" dir="2700000" algn="tl">
                    <a:srgbClr val="000000">
                      <a:alpha val="43137"/>
                    </a:srgbClr>
                  </a:outerShdw>
                </a:effectLst>
              </a:rPr>
              <a:t>there is no significant evidence to support the second hypothesis “attention is the alternative of CNN”, within accuracy metric</a:t>
            </a:r>
            <a:r>
              <a:rPr lang="en-US" sz="3000" dirty="0"/>
              <a:t>. Of course, CNN is better than both MNN and attention within accuracy metric. In other words, within accuracy metric, </a:t>
            </a:r>
            <a:r>
              <a:rPr lang="en-US" sz="3000" dirty="0" smtClean="0"/>
              <a:t>MNN </a:t>
            </a:r>
            <a:r>
              <a:rPr lang="en-US" sz="3000" dirty="0"/>
              <a:t>should not be the alternative of </a:t>
            </a:r>
            <a:r>
              <a:rPr lang="en-US" sz="3000" dirty="0" smtClean="0"/>
              <a:t>CNN </a:t>
            </a:r>
            <a:r>
              <a:rPr lang="en-US" sz="3000" dirty="0"/>
              <a:t>and it is not necessary to replace MNN by attention but attention is slightly better than MNN because the mean difference between feature “weight” and feature “trans” is negative </a:t>
            </a:r>
            <a:r>
              <a:rPr lang="en-US" sz="3000" dirty="0" smtClean="0"/>
              <a:t>(weight </a:t>
            </a:r>
            <a:r>
              <a:rPr lang="en-US" sz="3000" dirty="0"/>
              <a:t>– </a:t>
            </a:r>
            <a:r>
              <a:rPr lang="en-US" sz="3000" dirty="0" smtClean="0"/>
              <a:t>trans) </a:t>
            </a:r>
            <a:r>
              <a:rPr lang="en-US" sz="3000" dirty="0"/>
              <a:t>= –0.0034.</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53</a:t>
            </a:fld>
            <a:endParaRPr lang="en-US"/>
          </a:p>
        </p:txBody>
      </p:sp>
    </p:spTree>
    <p:extLst>
      <p:ext uri="{BB962C8B-B14F-4D97-AF65-F5344CB8AC3E}">
        <p14:creationId xmlns:p14="http://schemas.microsoft.com/office/powerpoint/2010/main" val="2760680624"/>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discussions </a:t>
            </a:r>
            <a:r>
              <a:rPr lang="en-US" dirty="0" smtClean="0"/>
              <a:t>(skip)</a:t>
            </a:r>
            <a:endParaRPr lang="en-US" dirty="0"/>
          </a:p>
        </p:txBody>
      </p:sp>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900" dirty="0">
                <a:effectLst>
                  <a:outerShdw blurRad="38100" dist="38100" dir="2700000" algn="tl">
                    <a:srgbClr val="000000">
                      <a:alpha val="43137"/>
                    </a:srgbClr>
                  </a:outerShdw>
                </a:effectLst>
              </a:rPr>
              <a:t>The following table shows the Post-Hoc Tukey HSD results for feature group within F1 metric, which indicates which specific values (“weight”, “trans”, “</a:t>
            </a:r>
            <a:r>
              <a:rPr lang="en-US" sz="1900" dirty="0" err="1">
                <a:effectLst>
                  <a:outerShdw blurRad="38100" dist="38100" dir="2700000" algn="tl">
                    <a:srgbClr val="000000">
                      <a:alpha val="43137"/>
                    </a:srgbClr>
                  </a:outerShdw>
                </a:effectLst>
              </a:rPr>
              <a:t>conv</a:t>
            </a:r>
            <a:r>
              <a:rPr lang="en-US" sz="1900" dirty="0">
                <a:effectLst>
                  <a:outerShdw blurRad="38100" dist="38100" dir="2700000" algn="tl">
                    <a:srgbClr val="000000">
                      <a:alpha val="43137"/>
                    </a:srgbClr>
                  </a:outerShdw>
                </a:effectLst>
              </a:rPr>
              <a:t>”) are significantly different among them with context of treatment “F1” </a:t>
            </a:r>
            <a:r>
              <a:rPr lang="en-US" sz="1900" dirty="0"/>
              <a:t>(Gemini 2025</a:t>
            </a:r>
            <a:r>
              <a:rPr lang="en-US" sz="1900" dirty="0" smtClean="0"/>
              <a:t>).</a:t>
            </a:r>
          </a:p>
          <a:p>
            <a:pPr marL="0" indent="0">
              <a:buNone/>
            </a:pPr>
            <a:endParaRPr lang="en-US" sz="1900" dirty="0" smtClean="0"/>
          </a:p>
          <a:p>
            <a:pPr marL="0" indent="0">
              <a:buNone/>
            </a:pPr>
            <a:endParaRPr lang="en-US" sz="1900" dirty="0"/>
          </a:p>
          <a:p>
            <a:pPr marL="0" indent="0">
              <a:buNone/>
            </a:pPr>
            <a:endParaRPr lang="en-US" sz="1900" dirty="0" smtClean="0"/>
          </a:p>
          <a:p>
            <a:pPr marL="0" indent="0">
              <a:buNone/>
            </a:pPr>
            <a:endParaRPr lang="en-US" sz="1900" dirty="0"/>
          </a:p>
          <a:p>
            <a:pPr marL="0" indent="0">
              <a:buNone/>
            </a:pPr>
            <a:r>
              <a:rPr lang="en-US" sz="1900" dirty="0"/>
              <a:t>For the result table above, the feature “</a:t>
            </a:r>
            <a:r>
              <a:rPr lang="en-US" sz="1900" dirty="0" err="1"/>
              <a:t>conv</a:t>
            </a:r>
            <a:r>
              <a:rPr lang="en-US" sz="1900" dirty="0"/>
              <a:t>” is significantly much larger than features “weight” and “trans” in F1 metric because its absolute mean differences with respect to feature “weight” and feature “trans” are larger |0.0602|, (|0.0613|) with P-values (&lt; 0.001) are too smaller than 0.05. Because these differences are positive, the feature “</a:t>
            </a:r>
            <a:r>
              <a:rPr lang="en-US" sz="1900" dirty="0" err="1"/>
              <a:t>conv</a:t>
            </a:r>
            <a:r>
              <a:rPr lang="en-US" sz="1900" dirty="0"/>
              <a:t>” is significantly much worse than features “weight” and “trans”. Conversely, there is no significantly difference between feature “weight” and feature “trans” because the P-value (0.9687) given their absolute mean difference (|–0.0011|) is larger than 0.05</a:t>
            </a:r>
            <a:r>
              <a:rPr lang="en-US" sz="1900" dirty="0" smtClean="0"/>
              <a:t>.</a:t>
            </a:r>
            <a:r>
              <a:rPr lang="en-US" sz="1900" dirty="0"/>
              <a:t> </a:t>
            </a:r>
            <a:r>
              <a:rPr lang="en-US" sz="1900" dirty="0" smtClean="0"/>
              <a:t>Therefore (</a:t>
            </a:r>
            <a:r>
              <a:rPr lang="en-US" sz="1900" b="1" dirty="0" smtClean="0"/>
              <a:t>skip</a:t>
            </a:r>
            <a:r>
              <a:rPr lang="en-US" sz="1900" dirty="0" smtClean="0"/>
              <a:t>), </a:t>
            </a:r>
            <a:r>
              <a:rPr lang="en-US" sz="1900" dirty="0"/>
              <a:t>there is significant evidence to support the first hypothesis “MNN is the alternative of CNN” and there is no significant evidence to support the second hypothesis “attention is the alternative of CNN”, within F1 metric. Of course, CNN is worse than both MNN and attention within F1 metric. In other words, within F1 metric, </a:t>
            </a:r>
            <a:r>
              <a:rPr lang="en-US" sz="1900" dirty="0" smtClean="0"/>
              <a:t>MNN </a:t>
            </a:r>
            <a:r>
              <a:rPr lang="en-US" sz="1900" dirty="0"/>
              <a:t>should be the alternative of </a:t>
            </a:r>
            <a:r>
              <a:rPr lang="en-US" sz="1900" dirty="0" smtClean="0"/>
              <a:t>CNN and </a:t>
            </a:r>
            <a:r>
              <a:rPr lang="en-US" sz="1900" dirty="0"/>
              <a:t>it is not necessary to replace MNN by attention but attention is slightly better than MNN because the mean difference between feature “weight” and feature “trans” is negative </a:t>
            </a:r>
            <a:r>
              <a:rPr lang="en-US" sz="1900" dirty="0" smtClean="0"/>
              <a:t>(weight </a:t>
            </a:r>
            <a:r>
              <a:rPr lang="en-US" sz="1900" dirty="0"/>
              <a:t>– </a:t>
            </a:r>
            <a:r>
              <a:rPr lang="en-US" sz="1900" dirty="0" smtClean="0"/>
              <a:t>trans) </a:t>
            </a:r>
            <a:r>
              <a:rPr lang="en-US" sz="1900" dirty="0"/>
              <a:t>= –0.0011.</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54</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3553009769"/>
              </p:ext>
            </p:extLst>
          </p:nvPr>
        </p:nvGraphicFramePr>
        <p:xfrm>
          <a:off x="838200" y="1800632"/>
          <a:ext cx="10515600" cy="1158240"/>
        </p:xfrm>
        <a:graphic>
          <a:graphicData uri="http://schemas.openxmlformats.org/drawingml/2006/table">
            <a:tbl>
              <a:tblPr firstRow="1" firstCol="1" bandRow="1">
                <a:tableStyleId>{5C22544A-7EE6-4342-B048-85BDC9FD1C3A}</a:tableStyleId>
              </a:tblPr>
              <a:tblGrid>
                <a:gridCol w="2103120">
                  <a:extLst>
                    <a:ext uri="{9D8B030D-6E8A-4147-A177-3AD203B41FA5}">
                      <a16:colId xmlns:a16="http://schemas.microsoft.com/office/drawing/2014/main" val="3599353703"/>
                    </a:ext>
                  </a:extLst>
                </a:gridCol>
                <a:gridCol w="2103120">
                  <a:extLst>
                    <a:ext uri="{9D8B030D-6E8A-4147-A177-3AD203B41FA5}">
                      <a16:colId xmlns:a16="http://schemas.microsoft.com/office/drawing/2014/main" val="1472891259"/>
                    </a:ext>
                  </a:extLst>
                </a:gridCol>
                <a:gridCol w="2103120">
                  <a:extLst>
                    <a:ext uri="{9D8B030D-6E8A-4147-A177-3AD203B41FA5}">
                      <a16:colId xmlns:a16="http://schemas.microsoft.com/office/drawing/2014/main" val="3396543405"/>
                    </a:ext>
                  </a:extLst>
                </a:gridCol>
                <a:gridCol w="2103120">
                  <a:extLst>
                    <a:ext uri="{9D8B030D-6E8A-4147-A177-3AD203B41FA5}">
                      <a16:colId xmlns:a16="http://schemas.microsoft.com/office/drawing/2014/main" val="248266169"/>
                    </a:ext>
                  </a:extLst>
                </a:gridCol>
                <a:gridCol w="2103120">
                  <a:extLst>
                    <a:ext uri="{9D8B030D-6E8A-4147-A177-3AD203B41FA5}">
                      <a16:colId xmlns:a16="http://schemas.microsoft.com/office/drawing/2014/main" val="1657140667"/>
                    </a:ext>
                  </a:extLst>
                </a:gridCol>
              </a:tblGrid>
              <a:tr h="0">
                <a:tc>
                  <a:txBody>
                    <a:bodyPr/>
                    <a:lstStyle/>
                    <a:p>
                      <a:pPr marL="0" marR="0" algn="ctr">
                        <a:spcBef>
                          <a:spcPts val="0"/>
                        </a:spcBef>
                        <a:spcAft>
                          <a:spcPts val="0"/>
                        </a:spcAft>
                      </a:pPr>
                      <a:r>
                        <a:rPr lang="en-US" sz="1900">
                          <a:effectLst/>
                          <a:latin typeface="Times New Roman" panose="02020603050405020304" pitchFamily="18" charset="0"/>
                          <a:cs typeface="Times New Roman" panose="02020603050405020304" pitchFamily="18" charset="0"/>
                        </a:rPr>
                        <a:t>Treatment 1</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a:effectLst/>
                          <a:latin typeface="Times New Roman" panose="02020603050405020304" pitchFamily="18" charset="0"/>
                          <a:cs typeface="Times New Roman" panose="02020603050405020304" pitchFamily="18" charset="0"/>
                        </a:rPr>
                        <a:t>Treatment 2</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Mean Difference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Adjusted P-value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a:effectLst/>
                          <a:latin typeface="Times New Roman" panose="02020603050405020304" pitchFamily="18" charset="0"/>
                          <a:cs typeface="Times New Roman" panose="02020603050405020304" pitchFamily="18" charset="0"/>
                        </a:rPr>
                        <a:t>Significant</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5143400"/>
                  </a:ext>
                </a:extLst>
              </a:tr>
              <a:tr h="0">
                <a:tc>
                  <a:txBody>
                    <a:bodyPr/>
                    <a:lstStyle/>
                    <a:p>
                      <a:pPr marL="0" marR="0" algn="just">
                        <a:spcBef>
                          <a:spcPts val="0"/>
                        </a:spcBef>
                        <a:spcAft>
                          <a:spcPts val="0"/>
                        </a:spcAft>
                      </a:pPr>
                      <a:r>
                        <a:rPr lang="en-US" sz="1900" dirty="0" err="1">
                          <a:effectLst/>
                          <a:latin typeface="Times New Roman" panose="02020603050405020304" pitchFamily="18" charset="0"/>
                          <a:cs typeface="Times New Roman" panose="02020603050405020304" pitchFamily="18" charset="0"/>
                        </a:rPr>
                        <a:t>conv</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trans</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0.0613</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&lt; 0.001</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Yes (trans &gt; conv)</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212869863"/>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conv</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weight</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0.0602</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&lt; 0.001</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Yes (weight &gt; conv)</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382717236"/>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trans</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weight</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–0.0011</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cs typeface="Times New Roman" panose="02020603050405020304" pitchFamily="18" charset="0"/>
                        </a:rPr>
                        <a:t>0.9687</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dirty="0">
                          <a:effectLst/>
                          <a:latin typeface="Times New Roman" panose="02020603050405020304" pitchFamily="18" charset="0"/>
                          <a:cs typeface="Times New Roman" panose="02020603050405020304" pitchFamily="18" charset="0"/>
                        </a:rPr>
                        <a:t>No</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99367629"/>
                  </a:ext>
                </a:extLst>
              </a:tr>
            </a:tbl>
          </a:graphicData>
        </a:graphic>
      </p:graphicFrame>
    </p:spTree>
    <p:extLst>
      <p:ext uri="{BB962C8B-B14F-4D97-AF65-F5344CB8AC3E}">
        <p14:creationId xmlns:p14="http://schemas.microsoft.com/office/powerpoint/2010/main" val="3880311220"/>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discussions </a:t>
            </a:r>
            <a:r>
              <a:rPr lang="en-US" dirty="0" smtClean="0"/>
              <a:t>(skip)</a:t>
            </a:r>
            <a:endParaRPr lang="en-US" dirty="0"/>
          </a:p>
        </p:txBody>
      </p:sp>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900" dirty="0">
                <a:effectLst>
                  <a:outerShdw blurRad="38100" dist="38100" dir="2700000" algn="tl">
                    <a:srgbClr val="000000">
                      <a:alpha val="43137"/>
                    </a:srgbClr>
                  </a:outerShdw>
                </a:effectLst>
              </a:rPr>
              <a:t>The following table shows the Post-Hoc Tukey HSD results for feature group within precision metric, which indicates which specific values (“weight”, “trans”, “</a:t>
            </a:r>
            <a:r>
              <a:rPr lang="en-US" sz="1900" dirty="0" err="1">
                <a:effectLst>
                  <a:outerShdw blurRad="38100" dist="38100" dir="2700000" algn="tl">
                    <a:srgbClr val="000000">
                      <a:alpha val="43137"/>
                    </a:srgbClr>
                  </a:outerShdw>
                </a:effectLst>
              </a:rPr>
              <a:t>conv</a:t>
            </a:r>
            <a:r>
              <a:rPr lang="en-US" sz="1900" dirty="0">
                <a:effectLst>
                  <a:outerShdw blurRad="38100" dist="38100" dir="2700000" algn="tl">
                    <a:srgbClr val="000000">
                      <a:alpha val="43137"/>
                    </a:srgbClr>
                  </a:outerShdw>
                </a:effectLst>
              </a:rPr>
              <a:t>”) are significantly different among them with context of treatment “precision” </a:t>
            </a:r>
            <a:r>
              <a:rPr lang="en-US" sz="1900" dirty="0"/>
              <a:t>(Gemini 2025).</a:t>
            </a:r>
            <a:endParaRPr lang="en-US" sz="1900" dirty="0" smtClean="0"/>
          </a:p>
          <a:p>
            <a:pPr marL="0" indent="0">
              <a:buNone/>
            </a:pPr>
            <a:endParaRPr lang="en-US" sz="1900" dirty="0" smtClean="0"/>
          </a:p>
          <a:p>
            <a:pPr marL="0" indent="0">
              <a:buNone/>
            </a:pPr>
            <a:endParaRPr lang="en-US" sz="1900" dirty="0"/>
          </a:p>
          <a:p>
            <a:pPr marL="0" indent="0">
              <a:buNone/>
            </a:pPr>
            <a:endParaRPr lang="en-US" sz="1900" dirty="0" smtClean="0"/>
          </a:p>
          <a:p>
            <a:pPr marL="0" indent="0">
              <a:buNone/>
            </a:pPr>
            <a:endParaRPr lang="en-US" sz="1900" dirty="0"/>
          </a:p>
          <a:p>
            <a:pPr marL="0" indent="0">
              <a:buNone/>
            </a:pPr>
            <a:r>
              <a:rPr lang="en-US" sz="1900" dirty="0"/>
              <a:t>For the result table above, the feature “</a:t>
            </a:r>
            <a:r>
              <a:rPr lang="en-US" sz="1900" dirty="0" err="1"/>
              <a:t>conv</a:t>
            </a:r>
            <a:r>
              <a:rPr lang="en-US" sz="1900" dirty="0"/>
              <a:t>” is significantly much larger than features “weight” and “trans” in precision metric because its absolute mean differences with respect to feature “weight” and feature “trans” are larger (|0.0252|, |0.0280|) with P-values (&lt; 0.001) are too smaller than 0.05. Because these differences are positive, the feature “</a:t>
            </a:r>
            <a:r>
              <a:rPr lang="en-US" sz="1900" dirty="0" err="1"/>
              <a:t>conv</a:t>
            </a:r>
            <a:r>
              <a:rPr lang="en-US" sz="1900" dirty="0"/>
              <a:t>” is significantly much worse than features “weight” and “trans”. Conversely, there is no significantly difference between feature “weight” and feature “trans” because the P-value (0.806) given their absolute mean difference (|–0.0028|) is larger than 0.05. </a:t>
            </a:r>
            <a:r>
              <a:rPr lang="en-US" sz="1900" dirty="0" smtClean="0"/>
              <a:t>Therefore (</a:t>
            </a:r>
            <a:r>
              <a:rPr lang="en-US" sz="1900" b="1" dirty="0" smtClean="0"/>
              <a:t>skip</a:t>
            </a:r>
            <a:r>
              <a:rPr lang="en-US" sz="1900" dirty="0" smtClean="0"/>
              <a:t>), </a:t>
            </a:r>
            <a:r>
              <a:rPr lang="en-US" sz="1900" dirty="0"/>
              <a:t>there is significant evidence to support the first hypothesis “MNN is the alternative of CNN” and there is no significant evidence to support the second hypothesis “attention is the alternative of CNN”, within precision metric. Of course, CNN is worse than both MNN and attention within precision metric. In other words, within precision metric, </a:t>
            </a:r>
            <a:r>
              <a:rPr lang="en-US" sz="1900" dirty="0" smtClean="0"/>
              <a:t>MNN </a:t>
            </a:r>
            <a:r>
              <a:rPr lang="en-US" sz="1900" dirty="0"/>
              <a:t>should be the alternative of </a:t>
            </a:r>
            <a:r>
              <a:rPr lang="en-US" sz="1900" dirty="0" smtClean="0"/>
              <a:t>CNN and </a:t>
            </a:r>
            <a:r>
              <a:rPr lang="en-US" sz="1900" dirty="0"/>
              <a:t>it is not necessary to replace MNN by attention but attention is slightly better than MNN because the mean difference between feature “weight” and feature “trans” is negative </a:t>
            </a:r>
            <a:r>
              <a:rPr lang="en-US" sz="1900" dirty="0" smtClean="0"/>
              <a:t>(weight </a:t>
            </a:r>
            <a:r>
              <a:rPr lang="en-US" sz="1900" dirty="0"/>
              <a:t>– </a:t>
            </a:r>
            <a:r>
              <a:rPr lang="en-US" sz="1900" dirty="0" smtClean="0"/>
              <a:t>trans) </a:t>
            </a:r>
            <a:r>
              <a:rPr lang="en-US" sz="1900" dirty="0"/>
              <a:t>= –0.0028</a:t>
            </a:r>
            <a:r>
              <a:rPr lang="en-US" sz="1900" dirty="0" smtClean="0"/>
              <a:t>.</a:t>
            </a:r>
            <a:endParaRPr lang="en-US" sz="19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55</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808257919"/>
              </p:ext>
            </p:extLst>
          </p:nvPr>
        </p:nvGraphicFramePr>
        <p:xfrm>
          <a:off x="838200" y="1800632"/>
          <a:ext cx="10515600" cy="1158240"/>
        </p:xfrm>
        <a:graphic>
          <a:graphicData uri="http://schemas.openxmlformats.org/drawingml/2006/table">
            <a:tbl>
              <a:tblPr firstRow="1" firstCol="1" bandRow="1">
                <a:tableStyleId>{5C22544A-7EE6-4342-B048-85BDC9FD1C3A}</a:tableStyleId>
              </a:tblPr>
              <a:tblGrid>
                <a:gridCol w="2103120">
                  <a:extLst>
                    <a:ext uri="{9D8B030D-6E8A-4147-A177-3AD203B41FA5}">
                      <a16:colId xmlns:a16="http://schemas.microsoft.com/office/drawing/2014/main" val="3599353703"/>
                    </a:ext>
                  </a:extLst>
                </a:gridCol>
                <a:gridCol w="2103120">
                  <a:extLst>
                    <a:ext uri="{9D8B030D-6E8A-4147-A177-3AD203B41FA5}">
                      <a16:colId xmlns:a16="http://schemas.microsoft.com/office/drawing/2014/main" val="1472891259"/>
                    </a:ext>
                  </a:extLst>
                </a:gridCol>
                <a:gridCol w="2103120">
                  <a:extLst>
                    <a:ext uri="{9D8B030D-6E8A-4147-A177-3AD203B41FA5}">
                      <a16:colId xmlns:a16="http://schemas.microsoft.com/office/drawing/2014/main" val="3396543405"/>
                    </a:ext>
                  </a:extLst>
                </a:gridCol>
                <a:gridCol w="2103120">
                  <a:extLst>
                    <a:ext uri="{9D8B030D-6E8A-4147-A177-3AD203B41FA5}">
                      <a16:colId xmlns:a16="http://schemas.microsoft.com/office/drawing/2014/main" val="248266169"/>
                    </a:ext>
                  </a:extLst>
                </a:gridCol>
                <a:gridCol w="2103120">
                  <a:extLst>
                    <a:ext uri="{9D8B030D-6E8A-4147-A177-3AD203B41FA5}">
                      <a16:colId xmlns:a16="http://schemas.microsoft.com/office/drawing/2014/main" val="1657140667"/>
                    </a:ext>
                  </a:extLst>
                </a:gridCol>
              </a:tblGrid>
              <a:tr h="0">
                <a:tc>
                  <a:txBody>
                    <a:bodyPr/>
                    <a:lstStyle/>
                    <a:p>
                      <a:pPr marL="0" marR="0" algn="ctr">
                        <a:spcBef>
                          <a:spcPts val="0"/>
                        </a:spcBef>
                        <a:spcAft>
                          <a:spcPts val="0"/>
                        </a:spcAft>
                      </a:pPr>
                      <a:r>
                        <a:rPr lang="en-US" sz="1900">
                          <a:effectLst/>
                          <a:latin typeface="Times New Roman" panose="02020603050405020304" pitchFamily="18" charset="0"/>
                          <a:cs typeface="Times New Roman" panose="02020603050405020304" pitchFamily="18" charset="0"/>
                        </a:rPr>
                        <a:t>Treatment 1</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a:effectLst/>
                          <a:latin typeface="Times New Roman" panose="02020603050405020304" pitchFamily="18" charset="0"/>
                          <a:cs typeface="Times New Roman" panose="02020603050405020304" pitchFamily="18" charset="0"/>
                        </a:rPr>
                        <a:t>Treatment 2</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Mean Difference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Adjusted P-value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a:effectLst/>
                          <a:latin typeface="Times New Roman" panose="02020603050405020304" pitchFamily="18" charset="0"/>
                          <a:cs typeface="Times New Roman" panose="02020603050405020304" pitchFamily="18" charset="0"/>
                        </a:rPr>
                        <a:t>Significant</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5143400"/>
                  </a:ext>
                </a:extLst>
              </a:tr>
              <a:tr h="0">
                <a:tc>
                  <a:txBody>
                    <a:bodyPr/>
                    <a:lstStyle/>
                    <a:p>
                      <a:pPr marL="0" marR="0" algn="just">
                        <a:spcBef>
                          <a:spcPts val="0"/>
                        </a:spcBef>
                        <a:spcAft>
                          <a:spcPts val="0"/>
                        </a:spcAft>
                      </a:pPr>
                      <a:r>
                        <a:rPr lang="en-US" sz="1900" dirty="0" err="1">
                          <a:effectLst/>
                          <a:latin typeface="Times New Roman" panose="02020603050405020304" pitchFamily="18" charset="0"/>
                          <a:cs typeface="Times New Roman" panose="02020603050405020304" pitchFamily="18" charset="0"/>
                        </a:rPr>
                        <a:t>conv</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trans</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0.0280</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&lt; 0.001</a:t>
                      </a: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Yes (trans &gt; conv)</a:t>
                      </a:r>
                    </a:p>
                  </a:txBody>
                  <a:tcPr marL="68580" marR="68580" marT="0" marB="0"/>
                </a:tc>
                <a:extLst>
                  <a:ext uri="{0D108BD9-81ED-4DB2-BD59-A6C34878D82A}">
                    <a16:rowId xmlns:a16="http://schemas.microsoft.com/office/drawing/2014/main" val="3212869863"/>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conv</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weight</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0.0252</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&lt; 0.001</a:t>
                      </a: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Yes (weight &gt; conv)</a:t>
                      </a:r>
                    </a:p>
                  </a:txBody>
                  <a:tcPr marL="68580" marR="68580" marT="0" marB="0"/>
                </a:tc>
                <a:extLst>
                  <a:ext uri="{0D108BD9-81ED-4DB2-BD59-A6C34878D82A}">
                    <a16:rowId xmlns:a16="http://schemas.microsoft.com/office/drawing/2014/main" val="1382717236"/>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trans</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weight</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–0.0028</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0.806</a:t>
                      </a:r>
                    </a:p>
                  </a:txBody>
                  <a:tcPr marL="68580" marR="68580" marT="0" marB="0"/>
                </a:tc>
                <a:tc>
                  <a:txBody>
                    <a:bodyPr/>
                    <a:lstStyle/>
                    <a:p>
                      <a:pPr marL="0" marR="0" algn="just">
                        <a:spcBef>
                          <a:spcPts val="0"/>
                        </a:spcBef>
                        <a:spcAft>
                          <a:spcPts val="0"/>
                        </a:spcAft>
                      </a:pPr>
                      <a:r>
                        <a:rPr lang="en-US" sz="1900" dirty="0">
                          <a:effectLst/>
                          <a:latin typeface="Times New Roman" panose="02020603050405020304" pitchFamily="18" charset="0"/>
                          <a:ea typeface="DengXian"/>
                          <a:cs typeface="Times New Roman" panose="02020603050405020304" pitchFamily="18" charset="0"/>
                        </a:rPr>
                        <a:t>No</a:t>
                      </a:r>
                    </a:p>
                  </a:txBody>
                  <a:tcPr marL="68580" marR="68580" marT="0" marB="0"/>
                </a:tc>
                <a:extLst>
                  <a:ext uri="{0D108BD9-81ED-4DB2-BD59-A6C34878D82A}">
                    <a16:rowId xmlns:a16="http://schemas.microsoft.com/office/drawing/2014/main" val="99367629"/>
                  </a:ext>
                </a:extLst>
              </a:tr>
            </a:tbl>
          </a:graphicData>
        </a:graphic>
      </p:graphicFrame>
    </p:spTree>
    <p:extLst>
      <p:ext uri="{BB962C8B-B14F-4D97-AF65-F5344CB8AC3E}">
        <p14:creationId xmlns:p14="http://schemas.microsoft.com/office/powerpoint/2010/main" val="4091114330"/>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discussions </a:t>
            </a:r>
            <a:r>
              <a:rPr lang="en-US" dirty="0" smtClean="0"/>
              <a:t>(skip)</a:t>
            </a:r>
            <a:endParaRPr lang="en-US" dirty="0"/>
          </a:p>
        </p:txBody>
      </p:sp>
      <p:sp>
        <p:nvSpPr>
          <p:cNvPr id="3" name="Content Placeholder 2"/>
          <p:cNvSpPr>
            <a:spLocks noGrp="1"/>
          </p:cNvSpPr>
          <p:nvPr>
            <p:ph idx="1"/>
          </p:nvPr>
        </p:nvSpPr>
        <p:spPr>
          <a:xfrm>
            <a:off x="71120" y="914399"/>
            <a:ext cx="12049760" cy="5176066"/>
          </a:xfrm>
        </p:spPr>
        <p:txBody>
          <a:bodyPr>
            <a:noAutofit/>
          </a:bodyPr>
          <a:lstStyle/>
          <a:p>
            <a:pPr marL="0" indent="0">
              <a:buNone/>
            </a:pPr>
            <a:r>
              <a:rPr lang="en-US" sz="1900" dirty="0">
                <a:effectLst>
                  <a:outerShdw blurRad="38100" dist="38100" dir="2700000" algn="tl">
                    <a:srgbClr val="000000">
                      <a:alpha val="43137"/>
                    </a:srgbClr>
                  </a:outerShdw>
                </a:effectLst>
              </a:rPr>
              <a:t>The following table shows the Post-Hoc Tukey HSD results for feature group within recall metric, which indicates which specific values (“weight”, “trans”, “</a:t>
            </a:r>
            <a:r>
              <a:rPr lang="en-US" sz="1900" dirty="0" err="1">
                <a:effectLst>
                  <a:outerShdw blurRad="38100" dist="38100" dir="2700000" algn="tl">
                    <a:srgbClr val="000000">
                      <a:alpha val="43137"/>
                    </a:srgbClr>
                  </a:outerShdw>
                </a:effectLst>
              </a:rPr>
              <a:t>conv</a:t>
            </a:r>
            <a:r>
              <a:rPr lang="en-US" sz="1900" dirty="0">
                <a:effectLst>
                  <a:outerShdw blurRad="38100" dist="38100" dir="2700000" algn="tl">
                    <a:srgbClr val="000000">
                      <a:alpha val="43137"/>
                    </a:srgbClr>
                  </a:outerShdw>
                </a:effectLst>
              </a:rPr>
              <a:t>”) are significantly different among them with context of treatment “recall” </a:t>
            </a:r>
            <a:r>
              <a:rPr lang="en-US" sz="1900" dirty="0"/>
              <a:t>(Gemini 2025)</a:t>
            </a:r>
            <a:r>
              <a:rPr lang="en-US" sz="1900" dirty="0" smtClean="0"/>
              <a:t>.</a:t>
            </a:r>
          </a:p>
          <a:p>
            <a:pPr marL="0" indent="0">
              <a:buNone/>
            </a:pPr>
            <a:endParaRPr lang="en-US" sz="1900" dirty="0" smtClean="0"/>
          </a:p>
          <a:p>
            <a:pPr marL="0" indent="0">
              <a:buNone/>
            </a:pPr>
            <a:endParaRPr lang="en-US" sz="1900" dirty="0"/>
          </a:p>
          <a:p>
            <a:pPr marL="0" indent="0">
              <a:buNone/>
            </a:pPr>
            <a:endParaRPr lang="en-US" sz="1900" dirty="0" smtClean="0"/>
          </a:p>
          <a:p>
            <a:pPr marL="0" indent="0">
              <a:buNone/>
            </a:pPr>
            <a:endParaRPr lang="en-US" sz="1900" dirty="0"/>
          </a:p>
          <a:p>
            <a:pPr marL="0" indent="0">
              <a:buNone/>
            </a:pPr>
            <a:r>
              <a:rPr lang="en-US" sz="1900" dirty="0"/>
              <a:t>For the result table above, the feature “</a:t>
            </a:r>
            <a:r>
              <a:rPr lang="en-US" sz="1900" dirty="0" err="1"/>
              <a:t>conv</a:t>
            </a:r>
            <a:r>
              <a:rPr lang="en-US" sz="1900" dirty="0"/>
              <a:t>” is significantly much larger than features “weight” and “trans” in recall metric because its absolute mean differences with respect to feature “weight” and feature “trans” are larger (|0.3589|, |0.3393|) with P-values (&lt; 0.001) are too smaller than 0.05. Because these differences are positive, the feature “</a:t>
            </a:r>
            <a:r>
              <a:rPr lang="en-US" sz="1900" dirty="0" err="1"/>
              <a:t>conv</a:t>
            </a:r>
            <a:r>
              <a:rPr lang="en-US" sz="1900" dirty="0"/>
              <a:t>” is significantly much worse than features “weight” and “trans”. Conversely, there is no significantly difference between feature “weight” and feature “trans” because the P-value (0.4481) given their absolute mean difference (|0.0196|) is larger than 0.05. </a:t>
            </a:r>
            <a:r>
              <a:rPr lang="en-US" sz="1900" dirty="0" smtClean="0"/>
              <a:t>Therefore (</a:t>
            </a:r>
            <a:r>
              <a:rPr lang="en-US" sz="1900" b="1" dirty="0" smtClean="0"/>
              <a:t>skip</a:t>
            </a:r>
            <a:r>
              <a:rPr lang="en-US" sz="1900" dirty="0" smtClean="0"/>
              <a:t>), </a:t>
            </a:r>
            <a:r>
              <a:rPr lang="en-US" sz="1900" dirty="0"/>
              <a:t>there is significant evidence to support the first hypothesis “MNN is the alternative of CNN” and there is no significant evidence to support the second hypothesis “attention is the alternative of CNN”, within recall metric. Of course, CNN is worse than both MNN and attention within recall metric. In other words, within recall metric, </a:t>
            </a:r>
            <a:r>
              <a:rPr lang="en-US" sz="1900" dirty="0" smtClean="0"/>
              <a:t>MNN </a:t>
            </a:r>
            <a:r>
              <a:rPr lang="en-US" sz="1900" dirty="0"/>
              <a:t>should be the alternative of </a:t>
            </a:r>
            <a:r>
              <a:rPr lang="en-US" sz="1900" dirty="0" smtClean="0"/>
              <a:t>CNN and </a:t>
            </a:r>
            <a:r>
              <a:rPr lang="en-US" sz="1900" dirty="0"/>
              <a:t>it is not necessary to replace MNN by attention but attention is slightly worse than MNN because the mean difference between feature “weight” and feature “trans” is positive </a:t>
            </a:r>
            <a:r>
              <a:rPr lang="en-US" sz="1900" dirty="0" smtClean="0"/>
              <a:t>(weight </a:t>
            </a:r>
            <a:r>
              <a:rPr lang="en-US" sz="1900" dirty="0"/>
              <a:t>– </a:t>
            </a:r>
            <a:r>
              <a:rPr lang="en-US" sz="1900" dirty="0" smtClean="0"/>
              <a:t>trans) </a:t>
            </a:r>
            <a:r>
              <a:rPr lang="en-US" sz="1900" dirty="0"/>
              <a:t>= 0.0196</a:t>
            </a:r>
            <a:r>
              <a:rPr lang="en-US" sz="1900" dirty="0" smtClean="0"/>
              <a:t>.</a:t>
            </a:r>
            <a:endParaRPr lang="en-US" sz="19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56</a:t>
            </a:fld>
            <a:endParaRPr lang="en-US"/>
          </a:p>
        </p:txBody>
      </p:sp>
      <p:graphicFrame>
        <p:nvGraphicFramePr>
          <p:cNvPr id="7" name="Table 6"/>
          <p:cNvGraphicFramePr>
            <a:graphicFrameLocks noGrp="1"/>
          </p:cNvGraphicFramePr>
          <p:nvPr>
            <p:extLst>
              <p:ext uri="{D42A27DB-BD31-4B8C-83A1-F6EECF244321}">
                <p14:modId xmlns:p14="http://schemas.microsoft.com/office/powerpoint/2010/main" val="641260221"/>
              </p:ext>
            </p:extLst>
          </p:nvPr>
        </p:nvGraphicFramePr>
        <p:xfrm>
          <a:off x="838200" y="1800632"/>
          <a:ext cx="10515600" cy="1158240"/>
        </p:xfrm>
        <a:graphic>
          <a:graphicData uri="http://schemas.openxmlformats.org/drawingml/2006/table">
            <a:tbl>
              <a:tblPr firstRow="1" firstCol="1" bandRow="1">
                <a:tableStyleId>{5C22544A-7EE6-4342-B048-85BDC9FD1C3A}</a:tableStyleId>
              </a:tblPr>
              <a:tblGrid>
                <a:gridCol w="2103120">
                  <a:extLst>
                    <a:ext uri="{9D8B030D-6E8A-4147-A177-3AD203B41FA5}">
                      <a16:colId xmlns:a16="http://schemas.microsoft.com/office/drawing/2014/main" val="3599353703"/>
                    </a:ext>
                  </a:extLst>
                </a:gridCol>
                <a:gridCol w="2103120">
                  <a:extLst>
                    <a:ext uri="{9D8B030D-6E8A-4147-A177-3AD203B41FA5}">
                      <a16:colId xmlns:a16="http://schemas.microsoft.com/office/drawing/2014/main" val="1472891259"/>
                    </a:ext>
                  </a:extLst>
                </a:gridCol>
                <a:gridCol w="2103120">
                  <a:extLst>
                    <a:ext uri="{9D8B030D-6E8A-4147-A177-3AD203B41FA5}">
                      <a16:colId xmlns:a16="http://schemas.microsoft.com/office/drawing/2014/main" val="3396543405"/>
                    </a:ext>
                  </a:extLst>
                </a:gridCol>
                <a:gridCol w="2103120">
                  <a:extLst>
                    <a:ext uri="{9D8B030D-6E8A-4147-A177-3AD203B41FA5}">
                      <a16:colId xmlns:a16="http://schemas.microsoft.com/office/drawing/2014/main" val="248266169"/>
                    </a:ext>
                  </a:extLst>
                </a:gridCol>
                <a:gridCol w="2103120">
                  <a:extLst>
                    <a:ext uri="{9D8B030D-6E8A-4147-A177-3AD203B41FA5}">
                      <a16:colId xmlns:a16="http://schemas.microsoft.com/office/drawing/2014/main" val="1657140667"/>
                    </a:ext>
                  </a:extLst>
                </a:gridCol>
              </a:tblGrid>
              <a:tr h="0">
                <a:tc>
                  <a:txBody>
                    <a:bodyPr/>
                    <a:lstStyle/>
                    <a:p>
                      <a:pPr marL="0" marR="0" algn="ctr">
                        <a:spcBef>
                          <a:spcPts val="0"/>
                        </a:spcBef>
                        <a:spcAft>
                          <a:spcPts val="0"/>
                        </a:spcAft>
                      </a:pPr>
                      <a:r>
                        <a:rPr lang="en-US" sz="1900" dirty="0">
                          <a:effectLst/>
                          <a:latin typeface="Times New Roman" panose="02020603050405020304" pitchFamily="18" charset="0"/>
                          <a:cs typeface="Times New Roman" panose="02020603050405020304" pitchFamily="18" charset="0"/>
                        </a:rPr>
                        <a:t>Treatment 1</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a:effectLst/>
                          <a:latin typeface="Times New Roman" panose="02020603050405020304" pitchFamily="18" charset="0"/>
                          <a:cs typeface="Times New Roman" panose="02020603050405020304" pitchFamily="18" charset="0"/>
                        </a:rPr>
                        <a:t>Treatment 2</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Mean Difference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dirty="0" smtClean="0">
                          <a:effectLst/>
                          <a:latin typeface="Times New Roman" panose="02020603050405020304" pitchFamily="18" charset="0"/>
                          <a:cs typeface="Times New Roman" panose="02020603050405020304" pitchFamily="18" charset="0"/>
                        </a:rPr>
                        <a:t>Adjusted P-value</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900">
                          <a:effectLst/>
                          <a:latin typeface="Times New Roman" panose="02020603050405020304" pitchFamily="18" charset="0"/>
                          <a:cs typeface="Times New Roman" panose="02020603050405020304" pitchFamily="18" charset="0"/>
                        </a:rPr>
                        <a:t>Significant</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385143400"/>
                  </a:ext>
                </a:extLst>
              </a:tr>
              <a:tr h="0">
                <a:tc>
                  <a:txBody>
                    <a:bodyPr/>
                    <a:lstStyle/>
                    <a:p>
                      <a:pPr marL="0" marR="0" algn="just">
                        <a:spcBef>
                          <a:spcPts val="0"/>
                        </a:spcBef>
                        <a:spcAft>
                          <a:spcPts val="0"/>
                        </a:spcAft>
                      </a:pPr>
                      <a:r>
                        <a:rPr lang="en-US" sz="1900" dirty="0" err="1">
                          <a:effectLst/>
                          <a:latin typeface="Times New Roman" panose="02020603050405020304" pitchFamily="18" charset="0"/>
                          <a:cs typeface="Times New Roman" panose="02020603050405020304" pitchFamily="18" charset="0"/>
                        </a:rPr>
                        <a:t>conv</a:t>
                      </a:r>
                      <a:endParaRPr lang="en-US" sz="19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trans</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0.3393</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&lt; 0.001</a:t>
                      </a: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Yes (trans &gt; conv)</a:t>
                      </a:r>
                    </a:p>
                  </a:txBody>
                  <a:tcPr marL="68580" marR="68580" marT="0" marB="0"/>
                </a:tc>
                <a:extLst>
                  <a:ext uri="{0D108BD9-81ED-4DB2-BD59-A6C34878D82A}">
                    <a16:rowId xmlns:a16="http://schemas.microsoft.com/office/drawing/2014/main" val="3212869863"/>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conv</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weight</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0.3589</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&lt; 0.001</a:t>
                      </a: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Yes (weight &gt; conv)</a:t>
                      </a:r>
                    </a:p>
                  </a:txBody>
                  <a:tcPr marL="68580" marR="68580" marT="0" marB="0"/>
                </a:tc>
                <a:extLst>
                  <a:ext uri="{0D108BD9-81ED-4DB2-BD59-A6C34878D82A}">
                    <a16:rowId xmlns:a16="http://schemas.microsoft.com/office/drawing/2014/main" val="1382717236"/>
                  </a:ext>
                </a:extLst>
              </a:tr>
              <a:tr h="0">
                <a:tc>
                  <a:txBody>
                    <a:bodyPr/>
                    <a:lstStyle/>
                    <a:p>
                      <a:pPr marL="0" marR="0" algn="just">
                        <a:spcBef>
                          <a:spcPts val="0"/>
                        </a:spcBef>
                        <a:spcAft>
                          <a:spcPts val="0"/>
                        </a:spcAft>
                      </a:pPr>
                      <a:r>
                        <a:rPr lang="en-US" sz="1900">
                          <a:effectLst/>
                          <a:latin typeface="Times New Roman" panose="02020603050405020304" pitchFamily="18" charset="0"/>
                          <a:cs typeface="Times New Roman" panose="02020603050405020304" pitchFamily="18" charset="0"/>
                        </a:rPr>
                        <a:t>trans</a:t>
                      </a:r>
                      <a:endParaRPr lang="en-US" sz="19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weight</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0.0196</a:t>
                      </a:r>
                    </a:p>
                  </a:txBody>
                  <a:tcPr marL="68580" marR="68580" marT="0" marB="0"/>
                </a:tc>
                <a:tc>
                  <a:txBody>
                    <a:bodyPr/>
                    <a:lstStyle/>
                    <a:p>
                      <a:pPr marL="0" marR="0" algn="r">
                        <a:spcBef>
                          <a:spcPts val="0"/>
                        </a:spcBef>
                        <a:spcAft>
                          <a:spcPts val="0"/>
                        </a:spcAft>
                      </a:pPr>
                      <a:r>
                        <a:rPr lang="en-US" sz="1900">
                          <a:effectLst/>
                          <a:latin typeface="Times New Roman" panose="02020603050405020304" pitchFamily="18" charset="0"/>
                          <a:ea typeface="DengXian"/>
                          <a:cs typeface="Times New Roman" panose="02020603050405020304" pitchFamily="18" charset="0"/>
                        </a:rPr>
                        <a:t>0.4481</a:t>
                      </a:r>
                    </a:p>
                  </a:txBody>
                  <a:tcPr marL="68580" marR="68580" marT="0" marB="0"/>
                </a:tc>
                <a:tc>
                  <a:txBody>
                    <a:bodyPr/>
                    <a:lstStyle/>
                    <a:p>
                      <a:pPr marL="0" marR="0" algn="just">
                        <a:spcBef>
                          <a:spcPts val="0"/>
                        </a:spcBef>
                        <a:spcAft>
                          <a:spcPts val="0"/>
                        </a:spcAft>
                      </a:pPr>
                      <a:r>
                        <a:rPr lang="en-US" sz="1900" dirty="0">
                          <a:effectLst/>
                          <a:latin typeface="Times New Roman" panose="02020603050405020304" pitchFamily="18" charset="0"/>
                          <a:ea typeface="DengXian"/>
                          <a:cs typeface="Times New Roman" panose="02020603050405020304" pitchFamily="18" charset="0"/>
                        </a:rPr>
                        <a:t>No</a:t>
                      </a:r>
                    </a:p>
                  </a:txBody>
                  <a:tcPr marL="68580" marR="68580" marT="0" marB="0"/>
                </a:tc>
                <a:extLst>
                  <a:ext uri="{0D108BD9-81ED-4DB2-BD59-A6C34878D82A}">
                    <a16:rowId xmlns:a16="http://schemas.microsoft.com/office/drawing/2014/main" val="99367629"/>
                  </a:ext>
                </a:extLst>
              </a:tr>
            </a:tbl>
          </a:graphicData>
        </a:graphic>
      </p:graphicFrame>
    </p:spTree>
    <p:extLst>
      <p:ext uri="{BB962C8B-B14F-4D97-AF65-F5344CB8AC3E}">
        <p14:creationId xmlns:p14="http://schemas.microsoft.com/office/powerpoint/2010/main" val="3482091869"/>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5. Results and </a:t>
            </a:r>
            <a:r>
              <a:rPr lang="en-US" dirty="0" smtClean="0"/>
              <a:t>discussions (main)</a:t>
            </a:r>
            <a:endParaRPr lang="en-US" dirty="0"/>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2531993808"/>
              </p:ext>
            </p:extLst>
          </p:nvPr>
        </p:nvGraphicFramePr>
        <p:xfrm>
          <a:off x="76200" y="1330444"/>
          <a:ext cx="12039600" cy="2286000"/>
        </p:xfrm>
        <a:graphic>
          <a:graphicData uri="http://schemas.openxmlformats.org/drawingml/2006/table">
            <a:tbl>
              <a:tblPr firstRow="1" firstCol="1" bandRow="1">
                <a:tableStyleId>{5C22544A-7EE6-4342-B048-85BDC9FD1C3A}</a:tableStyleId>
              </a:tblPr>
              <a:tblGrid>
                <a:gridCol w="883920">
                  <a:extLst>
                    <a:ext uri="{9D8B030D-6E8A-4147-A177-3AD203B41FA5}">
                      <a16:colId xmlns:a16="http://schemas.microsoft.com/office/drawing/2014/main" val="3435752960"/>
                    </a:ext>
                  </a:extLst>
                </a:gridCol>
                <a:gridCol w="3159760">
                  <a:extLst>
                    <a:ext uri="{9D8B030D-6E8A-4147-A177-3AD203B41FA5}">
                      <a16:colId xmlns:a16="http://schemas.microsoft.com/office/drawing/2014/main" val="1991381918"/>
                    </a:ext>
                  </a:extLst>
                </a:gridCol>
                <a:gridCol w="4216400">
                  <a:extLst>
                    <a:ext uri="{9D8B030D-6E8A-4147-A177-3AD203B41FA5}">
                      <a16:colId xmlns:a16="http://schemas.microsoft.com/office/drawing/2014/main" val="1659599275"/>
                    </a:ext>
                  </a:extLst>
                </a:gridCol>
                <a:gridCol w="3779520">
                  <a:extLst>
                    <a:ext uri="{9D8B030D-6E8A-4147-A177-3AD203B41FA5}">
                      <a16:colId xmlns:a16="http://schemas.microsoft.com/office/drawing/2014/main" val="3435913487"/>
                    </a:ext>
                  </a:extLst>
                </a:gridCol>
              </a:tblGrid>
              <a:tr h="0">
                <a:tc>
                  <a:txBody>
                    <a:bodyPr/>
                    <a:lstStyle/>
                    <a:p>
                      <a:pPr marL="0" marR="0" algn="just">
                        <a:spcBef>
                          <a:spcPts val="0"/>
                        </a:spcBef>
                        <a:spcAft>
                          <a:spcPts val="0"/>
                        </a:spcAft>
                      </a:pPr>
                      <a:r>
                        <a:rPr lang="en-US" sz="1500">
                          <a:effectLst/>
                          <a:latin typeface="Times New Roman" panose="02020603050405020304" pitchFamily="18" charset="0"/>
                          <a:cs typeface="Times New Roman" panose="02020603050405020304" pitchFamily="18" charset="0"/>
                        </a:rPr>
                        <a:t> </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500" dirty="0">
                          <a:effectLst/>
                          <a:latin typeface="Times New Roman" panose="02020603050405020304" pitchFamily="18" charset="0"/>
                          <a:cs typeface="Times New Roman" panose="02020603050405020304" pitchFamily="18" charset="0"/>
                        </a:rPr>
                        <a:t>Hypothesis 1</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500">
                          <a:effectLst/>
                          <a:latin typeface="Times New Roman" panose="02020603050405020304" pitchFamily="18" charset="0"/>
                          <a:cs typeface="Times New Roman" panose="02020603050405020304" pitchFamily="18" charset="0"/>
                        </a:rPr>
                        <a:t>Hypothesis 2</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ctr">
                        <a:spcBef>
                          <a:spcPts val="0"/>
                        </a:spcBef>
                        <a:spcAft>
                          <a:spcPts val="0"/>
                        </a:spcAft>
                      </a:pPr>
                      <a:r>
                        <a:rPr lang="en-US" sz="1500">
                          <a:effectLst/>
                          <a:latin typeface="Times New Roman" panose="02020603050405020304" pitchFamily="18" charset="0"/>
                          <a:cs typeface="Times New Roman" panose="02020603050405020304" pitchFamily="18" charset="0"/>
                        </a:rPr>
                        <a:t>Hypothesis 3</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470923861"/>
                  </a:ext>
                </a:extLst>
              </a:tr>
              <a:tr h="0">
                <a:tc>
                  <a:txBody>
                    <a:bodyPr/>
                    <a:lstStyle/>
                    <a:p>
                      <a:pPr marL="0" marR="0" algn="just">
                        <a:spcBef>
                          <a:spcPts val="0"/>
                        </a:spcBef>
                        <a:spcAft>
                          <a:spcPts val="0"/>
                        </a:spcAft>
                      </a:pPr>
                      <a:r>
                        <a:rPr lang="en-US" sz="1500">
                          <a:effectLst/>
                          <a:latin typeface="Times New Roman" panose="02020603050405020304" pitchFamily="18" charset="0"/>
                          <a:cs typeface="Times New Roman" panose="02020603050405020304" pitchFamily="18" charset="0"/>
                        </a:rPr>
                        <a:t>accuracy</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Not 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CNN is the best.</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Not 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TB is slightly better than MNN but worse than CNN.</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Vector FEC is slightly better than matrix FEC.</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1977003956"/>
                  </a:ext>
                </a:extLst>
              </a:tr>
              <a:tr h="0">
                <a:tc>
                  <a:txBody>
                    <a:bodyPr/>
                    <a:lstStyle/>
                    <a:p>
                      <a:pPr marL="0" marR="0" algn="just">
                        <a:spcBef>
                          <a:spcPts val="0"/>
                        </a:spcBef>
                        <a:spcAft>
                          <a:spcPts val="0"/>
                        </a:spcAft>
                      </a:pPr>
                      <a:r>
                        <a:rPr lang="en-US" sz="1500">
                          <a:effectLst/>
                          <a:latin typeface="Times New Roman" panose="02020603050405020304" pitchFamily="18" charset="0"/>
                          <a:cs typeface="Times New Roman" panose="02020603050405020304" pitchFamily="18" charset="0"/>
                        </a:rPr>
                        <a:t>F1</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CNN is worse than both TB and MNN.</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Not 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TB is slightly better than </a:t>
                      </a:r>
                      <a:r>
                        <a:rPr lang="en-US" sz="1500" dirty="0" smtClean="0">
                          <a:effectLst/>
                          <a:latin typeface="Times New Roman" panose="02020603050405020304" pitchFamily="18" charset="0"/>
                          <a:cs typeface="Times New Roman" panose="02020603050405020304" pitchFamily="18" charset="0"/>
                        </a:rPr>
                        <a:t>both MNN </a:t>
                      </a:r>
                      <a:r>
                        <a:rPr lang="en-US" sz="1500" dirty="0">
                          <a:effectLst/>
                          <a:latin typeface="Times New Roman" panose="02020603050405020304" pitchFamily="18" charset="0"/>
                          <a:cs typeface="Times New Roman" panose="02020603050405020304" pitchFamily="18" charset="0"/>
                        </a:rPr>
                        <a:t>and </a:t>
                      </a:r>
                      <a:r>
                        <a:rPr lang="en-US" sz="1500" dirty="0" smtClean="0">
                          <a:effectLst/>
                          <a:latin typeface="Times New Roman" panose="02020603050405020304" pitchFamily="18" charset="0"/>
                          <a:cs typeface="Times New Roman" panose="02020603050405020304" pitchFamily="18" charset="0"/>
                        </a:rPr>
                        <a:t>CNN</a:t>
                      </a:r>
                      <a:r>
                        <a:rPr lang="en-US" sz="1500" dirty="0">
                          <a:effectLst/>
                          <a:latin typeface="Times New Roman" panose="02020603050405020304" pitchFamily="18" charset="0"/>
                          <a:cs typeface="Times New Roman" panose="02020603050405020304" pitchFamily="18" charset="0"/>
                        </a:rPr>
                        <a:t>.</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Vector FEC is slightly better than matrix FEC.</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603490994"/>
                  </a:ext>
                </a:extLst>
              </a:tr>
              <a:tr h="0">
                <a:tc>
                  <a:txBody>
                    <a:bodyPr/>
                    <a:lstStyle/>
                    <a:p>
                      <a:pPr marL="0" marR="0" algn="just">
                        <a:spcBef>
                          <a:spcPts val="0"/>
                        </a:spcBef>
                        <a:spcAft>
                          <a:spcPts val="0"/>
                        </a:spcAft>
                      </a:pPr>
                      <a:r>
                        <a:rPr lang="en-US" sz="1500">
                          <a:effectLst/>
                          <a:latin typeface="Times New Roman" panose="02020603050405020304" pitchFamily="18" charset="0"/>
                          <a:cs typeface="Times New Roman" panose="02020603050405020304" pitchFamily="18" charset="0"/>
                        </a:rPr>
                        <a:t>precision</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CNN is worse than both TB and MNN.</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Not 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TB is slightly better than </a:t>
                      </a:r>
                      <a:r>
                        <a:rPr lang="en-US" sz="1500" dirty="0" smtClean="0">
                          <a:effectLst/>
                          <a:latin typeface="Times New Roman" panose="02020603050405020304" pitchFamily="18" charset="0"/>
                          <a:cs typeface="Times New Roman" panose="02020603050405020304" pitchFamily="18" charset="0"/>
                        </a:rPr>
                        <a:t>both MNN </a:t>
                      </a:r>
                      <a:r>
                        <a:rPr lang="en-US" sz="1500" dirty="0">
                          <a:effectLst/>
                          <a:latin typeface="Times New Roman" panose="02020603050405020304" pitchFamily="18" charset="0"/>
                          <a:cs typeface="Times New Roman" panose="02020603050405020304" pitchFamily="18" charset="0"/>
                        </a:rPr>
                        <a:t>and </a:t>
                      </a:r>
                      <a:r>
                        <a:rPr lang="en-US" sz="1500" dirty="0" smtClean="0">
                          <a:effectLst/>
                          <a:latin typeface="Times New Roman" panose="02020603050405020304" pitchFamily="18" charset="0"/>
                          <a:cs typeface="Times New Roman" panose="02020603050405020304" pitchFamily="18" charset="0"/>
                        </a:rPr>
                        <a:t>CNN</a:t>
                      </a:r>
                      <a:r>
                        <a:rPr lang="en-US" sz="1500" dirty="0">
                          <a:effectLst/>
                          <a:latin typeface="Times New Roman" panose="02020603050405020304" pitchFamily="18" charset="0"/>
                          <a:cs typeface="Times New Roman" panose="02020603050405020304" pitchFamily="18" charset="0"/>
                        </a:rPr>
                        <a:t>.</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Vector FEC is slightly better than matrix FEC.</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191417799"/>
                  </a:ext>
                </a:extLst>
              </a:tr>
              <a:tr h="0">
                <a:tc>
                  <a:txBody>
                    <a:bodyPr/>
                    <a:lstStyle/>
                    <a:p>
                      <a:pPr marL="0" marR="0" algn="just">
                        <a:spcBef>
                          <a:spcPts val="0"/>
                        </a:spcBef>
                        <a:spcAft>
                          <a:spcPts val="0"/>
                        </a:spcAft>
                      </a:pPr>
                      <a:r>
                        <a:rPr lang="en-US" sz="1500">
                          <a:effectLst/>
                          <a:latin typeface="Times New Roman" panose="02020603050405020304" pitchFamily="18" charset="0"/>
                          <a:cs typeface="Times New Roman" panose="02020603050405020304" pitchFamily="18" charset="0"/>
                        </a:rPr>
                        <a:t>recall</a:t>
                      </a:r>
                      <a:endParaRPr lang="en-US" sz="150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CNN is worse than both TB and MNN.</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Not 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TB is slightly worse than MNN and better than CNN.</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tc>
                  <a:txBody>
                    <a:bodyPr/>
                    <a:lstStyle/>
                    <a:p>
                      <a:pPr marL="0" marR="0" algn="just">
                        <a:spcBef>
                          <a:spcPts val="0"/>
                        </a:spcBef>
                        <a:spcAft>
                          <a:spcPts val="0"/>
                        </a:spcAft>
                      </a:pPr>
                      <a:r>
                        <a:rPr lang="en-US" sz="1500" i="1" dirty="0">
                          <a:effectLst/>
                          <a:latin typeface="Times New Roman" panose="02020603050405020304" pitchFamily="18" charset="0"/>
                          <a:cs typeface="Times New Roman" panose="02020603050405020304" pitchFamily="18" charset="0"/>
                        </a:rPr>
                        <a:t>Supported.</a:t>
                      </a:r>
                    </a:p>
                    <a:p>
                      <a:pPr marL="0" marR="0" algn="just">
                        <a:spcBef>
                          <a:spcPts val="0"/>
                        </a:spcBef>
                        <a:spcAft>
                          <a:spcPts val="0"/>
                        </a:spcAft>
                      </a:pPr>
                      <a:r>
                        <a:rPr lang="en-US" sz="1500" dirty="0">
                          <a:effectLst/>
                          <a:latin typeface="Times New Roman" panose="02020603050405020304" pitchFamily="18" charset="0"/>
                          <a:cs typeface="Times New Roman" panose="02020603050405020304" pitchFamily="18" charset="0"/>
                        </a:rPr>
                        <a:t>Vector FEC is slightly better than matrix FEC.</a:t>
                      </a:r>
                      <a:endParaRPr lang="en-US" sz="1500" dirty="0">
                        <a:effectLst/>
                        <a:latin typeface="Times New Roman" panose="02020603050405020304" pitchFamily="18" charset="0"/>
                        <a:ea typeface="DengXian"/>
                        <a:cs typeface="Times New Roman" panose="02020603050405020304" pitchFamily="18" charset="0"/>
                      </a:endParaRPr>
                    </a:p>
                  </a:txBody>
                  <a:tcPr marL="68580" marR="68580" marT="0" marB="0"/>
                </a:tc>
                <a:extLst>
                  <a:ext uri="{0D108BD9-81ED-4DB2-BD59-A6C34878D82A}">
                    <a16:rowId xmlns:a16="http://schemas.microsoft.com/office/drawing/2014/main" val="2596536903"/>
                  </a:ext>
                </a:extLst>
              </a:tr>
            </a:tbl>
          </a:graphicData>
        </a:graphic>
      </p:graphicFrame>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57</a:t>
            </a:fld>
            <a:endParaRPr lang="en-US"/>
          </a:p>
        </p:txBody>
      </p:sp>
      <p:sp>
        <p:nvSpPr>
          <p:cNvPr id="8" name="Rectangle 7"/>
          <p:cNvSpPr/>
          <p:nvPr/>
        </p:nvSpPr>
        <p:spPr>
          <a:xfrm>
            <a:off x="76200" y="3647916"/>
            <a:ext cx="12039600" cy="2785378"/>
          </a:xfrm>
          <a:prstGeom prst="rect">
            <a:avLst/>
          </a:prstGeom>
        </p:spPr>
        <p:txBody>
          <a:bodyPr wrap="square">
            <a:spAutoFit/>
          </a:bodyPr>
          <a:lstStyle/>
          <a:p>
            <a:pPr algn="just"/>
            <a:r>
              <a:rPr lang="en-US" sz="1750" dirty="0">
                <a:latin typeface="Times New Roman" panose="02020603050405020304" pitchFamily="18" charset="0"/>
                <a:ea typeface="DengXian"/>
              </a:rPr>
              <a:t>Please pay attention that supporting is not acceptance, which means that supporting is slightly stronger than not rejecting. </a:t>
            </a:r>
            <a:r>
              <a:rPr lang="en-US" sz="1750" dirty="0">
                <a:effectLst>
                  <a:outerShdw blurRad="38100" dist="38100" dir="2700000" algn="tl">
                    <a:srgbClr val="000000">
                      <a:alpha val="43137"/>
                    </a:srgbClr>
                  </a:outerShdw>
                </a:effectLst>
                <a:latin typeface="Times New Roman" panose="02020603050405020304" pitchFamily="18" charset="0"/>
                <a:ea typeface="DengXian"/>
              </a:rPr>
              <a:t>The third hypothesis </a:t>
            </a:r>
            <a:r>
              <a:rPr lang="en-US" sz="1750" dirty="0" smtClean="0">
                <a:effectLst>
                  <a:outerShdw blurRad="38100" dist="38100" dir="2700000" algn="tl">
                    <a:srgbClr val="000000">
                      <a:alpha val="43137"/>
                    </a:srgbClr>
                  </a:outerShdw>
                </a:effectLst>
                <a:latin typeface="Times New Roman" panose="02020603050405020304" pitchFamily="18" charset="0"/>
                <a:ea typeface="DengXian"/>
              </a:rPr>
              <a:t>“MNN </a:t>
            </a:r>
            <a:r>
              <a:rPr lang="en-US" sz="1750" dirty="0">
                <a:effectLst>
                  <a:outerShdw blurRad="38100" dist="38100" dir="2700000" algn="tl">
                    <a:srgbClr val="000000">
                      <a:alpha val="43137"/>
                    </a:srgbClr>
                  </a:outerShdw>
                </a:effectLst>
                <a:latin typeface="Times New Roman" panose="02020603050405020304" pitchFamily="18" charset="0"/>
                <a:ea typeface="DengXian"/>
              </a:rPr>
              <a:t>is the alternative of </a:t>
            </a:r>
            <a:r>
              <a:rPr lang="en-US" sz="1750" dirty="0" smtClean="0">
                <a:effectLst>
                  <a:outerShdw blurRad="38100" dist="38100" dir="2700000" algn="tl">
                    <a:srgbClr val="000000">
                      <a:alpha val="43137"/>
                    </a:srgbClr>
                  </a:outerShdw>
                </a:effectLst>
                <a:latin typeface="Times New Roman" panose="02020603050405020304" pitchFamily="18" charset="0"/>
                <a:ea typeface="DengXian"/>
              </a:rPr>
              <a:t>CNN” </a:t>
            </a:r>
            <a:r>
              <a:rPr lang="en-US" sz="1750" dirty="0">
                <a:effectLst>
                  <a:outerShdw blurRad="38100" dist="38100" dir="2700000" algn="tl">
                    <a:srgbClr val="000000">
                      <a:alpha val="43137"/>
                    </a:srgbClr>
                  </a:outerShdw>
                </a:effectLst>
                <a:latin typeface="Times New Roman" panose="02020603050405020304" pitchFamily="18" charset="0"/>
                <a:ea typeface="DengXian"/>
              </a:rPr>
              <a:t>is not supported by only accuracy metric but accuracy metric is the most important metric about accuracy aspect of classification method and so, CNN classifier is the best classifier in accuracy. The second hypothesis “attention is the alternative of CNN” is always not supported but TB is slightly better than </a:t>
            </a:r>
            <a:r>
              <a:rPr lang="en-US" sz="1750" dirty="0" smtClean="0">
                <a:effectLst>
                  <a:outerShdw blurRad="38100" dist="38100" dir="2700000" algn="tl">
                    <a:srgbClr val="000000">
                      <a:alpha val="43137"/>
                    </a:srgbClr>
                  </a:outerShdw>
                </a:effectLst>
                <a:latin typeface="Times New Roman" panose="02020603050405020304" pitchFamily="18" charset="0"/>
                <a:ea typeface="DengXian"/>
              </a:rPr>
              <a:t>MNN </a:t>
            </a:r>
            <a:r>
              <a:rPr lang="en-US" sz="1750" dirty="0">
                <a:effectLst>
                  <a:outerShdw blurRad="38100" dist="38100" dir="2700000" algn="tl">
                    <a:srgbClr val="000000">
                      <a:alpha val="43137"/>
                    </a:srgbClr>
                  </a:outerShdw>
                </a:effectLst>
                <a:latin typeface="Times New Roman" panose="02020603050405020304" pitchFamily="18" charset="0"/>
                <a:ea typeface="DengXian"/>
              </a:rPr>
              <a:t>(except recall metric) and better than CNN. Moreover, CNN classifier is </a:t>
            </a:r>
            <a:r>
              <a:rPr lang="en-US" sz="1750" dirty="0" smtClean="0">
                <a:effectLst>
                  <a:outerShdw blurRad="38100" dist="38100" dir="2700000" algn="tl">
                    <a:srgbClr val="000000">
                      <a:alpha val="43137"/>
                    </a:srgbClr>
                  </a:outerShdw>
                </a:effectLst>
                <a:latin typeface="Times New Roman" panose="02020603050405020304" pitchFamily="18" charset="0"/>
                <a:ea typeface="DengXian"/>
              </a:rPr>
              <a:t>worse </a:t>
            </a:r>
            <a:r>
              <a:rPr lang="en-US" sz="1750" dirty="0">
                <a:effectLst>
                  <a:outerShdw blurRad="38100" dist="38100" dir="2700000" algn="tl">
                    <a:srgbClr val="000000">
                      <a:alpha val="43137"/>
                    </a:srgbClr>
                  </a:outerShdw>
                </a:effectLst>
                <a:latin typeface="Times New Roman" panose="02020603050405020304" pitchFamily="18" charset="0"/>
                <a:ea typeface="DengXian"/>
              </a:rPr>
              <a:t>than both TB classifier and MNN classifier in F1 metric which is the compromiser of accuracy and diversity in image classification. This implies that TB classifier is the best classifier in harmonizing all factors (metrics). The third hypothesis “FFN of transformer should be MNN” is always supported although vector FEC is slightly better than matrix FEC, which implies that it is possible to replace traditional neural network (vector ANN) by matrix neural network (MNN) with note that vector ANN consumes much more computational resources due to boom problem of a huge number of parameters. Moreover, attention of transformer can overcome drawback of vector ANN in accuracy.</a:t>
            </a:r>
            <a:endParaRPr lang="en-US" sz="1750" dirty="0">
              <a:effectLst>
                <a:outerShdw blurRad="38100" dist="38100" dir="2700000" algn="tl">
                  <a:srgbClr val="000000">
                    <a:alpha val="43137"/>
                  </a:srgbClr>
                </a:outerShdw>
              </a:effectLst>
            </a:endParaRPr>
          </a:p>
        </p:txBody>
      </p:sp>
      <p:sp>
        <p:nvSpPr>
          <p:cNvPr id="9" name="Rectangle 8"/>
          <p:cNvSpPr/>
          <p:nvPr/>
        </p:nvSpPr>
        <p:spPr>
          <a:xfrm>
            <a:off x="76200" y="746682"/>
            <a:ext cx="12039600" cy="615553"/>
          </a:xfrm>
          <a:prstGeom prst="rect">
            <a:avLst/>
          </a:prstGeom>
        </p:spPr>
        <p:txBody>
          <a:bodyPr wrap="square">
            <a:spAutoFit/>
          </a:bodyPr>
          <a:lstStyle/>
          <a:p>
            <a:pPr algn="just"/>
            <a:r>
              <a:rPr lang="en-US" sz="1700" dirty="0">
                <a:latin typeface="Times New Roman" panose="02020603050405020304" pitchFamily="18" charset="0"/>
                <a:ea typeface="DengXian"/>
              </a:rPr>
              <a:t>In general, following table summarizes results of hypothesis testing on the three hypotheses: 1) MNN is the alternative of CNN, 2) attention is the alternative of CNN, and 3) FFN of transformer should be MNN.</a:t>
            </a:r>
            <a:endParaRPr lang="en-US" sz="1700" dirty="0"/>
          </a:p>
        </p:txBody>
      </p:sp>
    </p:spTree>
    <p:extLst>
      <p:ext uri="{BB962C8B-B14F-4D97-AF65-F5344CB8AC3E}">
        <p14:creationId xmlns:p14="http://schemas.microsoft.com/office/powerpoint/2010/main" val="434078164"/>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6. Conclusions</a:t>
            </a:r>
          </a:p>
        </p:txBody>
      </p:sp>
      <p:sp>
        <p:nvSpPr>
          <p:cNvPr id="3" name="Content Placeholder 2"/>
          <p:cNvSpPr>
            <a:spLocks noGrp="1"/>
          </p:cNvSpPr>
          <p:nvPr>
            <p:ph idx="1"/>
          </p:nvPr>
        </p:nvSpPr>
        <p:spPr>
          <a:xfrm>
            <a:off x="71120" y="914399"/>
            <a:ext cx="12029440" cy="5176066"/>
          </a:xfrm>
        </p:spPr>
        <p:txBody>
          <a:bodyPr>
            <a:normAutofit/>
          </a:bodyPr>
          <a:lstStyle/>
          <a:p>
            <a:r>
              <a:rPr lang="en-US" sz="2100" dirty="0">
                <a:effectLst>
                  <a:outerShdw blurRad="38100" dist="38100" dir="2700000" algn="tl">
                    <a:srgbClr val="000000">
                      <a:alpha val="43137"/>
                    </a:srgbClr>
                  </a:outerShdw>
                </a:effectLst>
              </a:rPr>
              <a:t>In general, although it is not asserted that </a:t>
            </a:r>
            <a:r>
              <a:rPr lang="en-US" sz="2100" dirty="0" smtClean="0">
                <a:effectLst>
                  <a:outerShdw blurRad="38100" dist="38100" dir="2700000" algn="tl">
                    <a:srgbClr val="000000">
                      <a:alpha val="43137"/>
                    </a:srgbClr>
                  </a:outerShdw>
                </a:effectLst>
              </a:rPr>
              <a:t>matrix neural network (MNN) </a:t>
            </a:r>
            <a:r>
              <a:rPr lang="en-US" sz="2100" dirty="0">
                <a:effectLst>
                  <a:outerShdw blurRad="38100" dist="38100" dir="2700000" algn="tl">
                    <a:srgbClr val="000000">
                      <a:alpha val="43137"/>
                    </a:srgbClr>
                  </a:outerShdw>
                </a:effectLst>
              </a:rPr>
              <a:t>is the alternative of </a:t>
            </a:r>
            <a:r>
              <a:rPr lang="en-US" sz="2100" dirty="0" smtClean="0">
                <a:effectLst>
                  <a:outerShdw blurRad="38100" dist="38100" dir="2700000" algn="tl">
                    <a:srgbClr val="000000">
                      <a:alpha val="43137"/>
                    </a:srgbClr>
                  </a:outerShdw>
                </a:effectLst>
              </a:rPr>
              <a:t>convolutional neural network (CNN), </a:t>
            </a:r>
            <a:r>
              <a:rPr lang="en-US" sz="2100" dirty="0">
                <a:effectLst>
                  <a:outerShdw blurRad="38100" dist="38100" dir="2700000" algn="tl">
                    <a:srgbClr val="000000">
                      <a:alpha val="43137"/>
                    </a:srgbClr>
                  </a:outerShdw>
                </a:effectLst>
              </a:rPr>
              <a:t>transformer is surely preeminence approach in deep learning because of three reasons: 1) its attention is an excellent mechanism to extract internal structure / relationship / feature of any kind of high-dimension data according to self-supervised learning, 2) transformer is different from the methodology of traditional ANN consisting of simple layers equipped by parametric weights when attention of transformer concerns both explicit information via value matrix and implicit information via query </a:t>
            </a:r>
            <a:r>
              <a:rPr lang="en-US" sz="2100" dirty="0" smtClean="0">
                <a:effectLst>
                  <a:outerShdw blurRad="38100" dist="38100" dir="2700000" algn="tl">
                    <a:srgbClr val="000000">
                      <a:alpha val="43137"/>
                    </a:srgbClr>
                  </a:outerShdw>
                </a:effectLst>
              </a:rPr>
              <a:t>matrix </a:t>
            </a:r>
            <a:r>
              <a:rPr lang="en-US" sz="2100" dirty="0">
                <a:effectLst>
                  <a:outerShdw blurRad="38100" dist="38100" dir="2700000" algn="tl">
                    <a:srgbClr val="000000">
                      <a:alpha val="43137"/>
                    </a:srgbClr>
                  </a:outerShdw>
                </a:effectLst>
              </a:rPr>
              <a:t>and key matrix, and 3) ANN and attention are incorporated into transformer so that deep learning still always takes advantages of excellent aspects of </a:t>
            </a:r>
            <a:r>
              <a:rPr lang="en-US" sz="2100" dirty="0" smtClean="0">
                <a:effectLst>
                  <a:outerShdw blurRad="38100" dist="38100" dir="2700000" algn="tl">
                    <a:srgbClr val="000000">
                      <a:alpha val="43137"/>
                    </a:srgbClr>
                  </a:outerShdw>
                </a:effectLst>
              </a:rPr>
              <a:t>ANN.</a:t>
            </a:r>
          </a:p>
          <a:p>
            <a:r>
              <a:rPr lang="en-US" sz="2100" dirty="0" smtClean="0">
                <a:effectLst>
                  <a:outerShdw blurRad="38100" dist="38100" dir="2700000" algn="tl">
                    <a:srgbClr val="000000">
                      <a:alpha val="43137"/>
                    </a:srgbClr>
                  </a:outerShdw>
                </a:effectLst>
              </a:rPr>
              <a:t>Again</a:t>
            </a:r>
            <a:r>
              <a:rPr lang="en-US" sz="2100" dirty="0">
                <a:effectLst>
                  <a:outerShdw blurRad="38100" dist="38100" dir="2700000" algn="tl">
                    <a:srgbClr val="000000">
                      <a:alpha val="43137"/>
                    </a:srgbClr>
                  </a:outerShdw>
                </a:effectLst>
              </a:rPr>
              <a:t>, although it is not asserted that MNN is the alternative of CNN, it is not strict to implement FFN of transformer by vector ANN. Therefore, it is totally possible that MNN and attention are incorporated into transformer</a:t>
            </a:r>
            <a:r>
              <a:rPr lang="en-US" sz="2100" dirty="0"/>
              <a:t> with note that MNN is the ANN implemented by parametric weight matrices in order to reduce significantly computational resources so that its accuracy (performance) is not decreased significantly. Attentional mechanism built in transformer can alleviate the drawback of MNN in performance, especially, in case of huge data. Moreover, for high-dimension data whose dimension is larger than 2, MNN is a possible technique to process such tensor-based data.</a:t>
            </a:r>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58</a:t>
            </a:fld>
            <a:endParaRPr lang="en-US"/>
          </a:p>
        </p:txBody>
      </p:sp>
    </p:spTree>
    <p:extLst>
      <p:ext uri="{BB962C8B-B14F-4D97-AF65-F5344CB8AC3E}">
        <p14:creationId xmlns:p14="http://schemas.microsoft.com/office/powerpoint/2010/main" val="3802401088"/>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References</a:t>
            </a:r>
          </a:p>
        </p:txBody>
      </p:sp>
      <p:sp>
        <p:nvSpPr>
          <p:cNvPr id="3" name="Content Placeholder 2"/>
          <p:cNvSpPr>
            <a:spLocks noGrp="1"/>
          </p:cNvSpPr>
          <p:nvPr>
            <p:ph idx="1"/>
          </p:nvPr>
        </p:nvSpPr>
        <p:spPr>
          <a:xfrm>
            <a:off x="71120" y="914399"/>
            <a:ext cx="12019280" cy="5176066"/>
          </a:xfrm>
        </p:spPr>
        <p:txBody>
          <a:bodyPr>
            <a:noAutofit/>
          </a:bodyPr>
          <a:lstStyle/>
          <a:p>
            <a:pPr marL="457200" indent="-457200">
              <a:buFont typeface="+mj-lt"/>
              <a:buAutoNum type="arabicPeriod"/>
            </a:pPr>
            <a:r>
              <a:rPr lang="en-US" sz="1800" dirty="0"/>
              <a:t>Chen, L., Li, S., Bai, Q., Yang, J., Jiang, S., &amp; Miao, Y. (2021, November 21). Review of Image Classification Algorithms Based on Convolutional Neural Networks. (S. </a:t>
            </a:r>
            <a:r>
              <a:rPr lang="en-US" sz="1800" dirty="0" err="1"/>
              <a:t>Paheding</a:t>
            </a:r>
            <a:r>
              <a:rPr lang="en-US" sz="1800" dirty="0"/>
              <a:t>, Z. </a:t>
            </a:r>
            <a:r>
              <a:rPr lang="en-US" sz="1800" dirty="0" err="1"/>
              <a:t>Alom</a:t>
            </a:r>
            <a:r>
              <a:rPr lang="en-US" sz="1800" dirty="0"/>
              <a:t>, M. </a:t>
            </a:r>
            <a:r>
              <a:rPr lang="en-US" sz="1800" dirty="0" err="1"/>
              <a:t>Maimaitijiang</a:t>
            </a:r>
            <a:r>
              <a:rPr lang="en-US" sz="1800" dirty="0"/>
              <a:t>, &amp; M. </a:t>
            </a:r>
            <a:r>
              <a:rPr lang="en-US" sz="1800" dirty="0" err="1"/>
              <a:t>Maimaitiyiming</a:t>
            </a:r>
            <a:r>
              <a:rPr lang="en-US" sz="1800" dirty="0"/>
              <a:t>, Eds.) </a:t>
            </a:r>
            <a:r>
              <a:rPr lang="en-US" sz="1800" i="1" dirty="0"/>
              <a:t>Remote Sensing, 13</a:t>
            </a:r>
            <a:r>
              <a:rPr lang="en-US" sz="1800" dirty="0"/>
              <a:t>(22), 4712-4763. doi:10.3390/rs13224712</a:t>
            </a:r>
          </a:p>
          <a:p>
            <a:pPr marL="457200" indent="-457200">
              <a:buFont typeface="+mj-lt"/>
              <a:buAutoNum type="arabicPeriod"/>
            </a:pPr>
            <a:r>
              <a:rPr lang="en-US" sz="1800" dirty="0" err="1"/>
              <a:t>D'Ascoli</a:t>
            </a:r>
            <a:r>
              <a:rPr lang="en-US" sz="1800" dirty="0"/>
              <a:t>, S., </a:t>
            </a:r>
            <a:r>
              <a:rPr lang="en-US" sz="1800" dirty="0" err="1"/>
              <a:t>Touvron</a:t>
            </a:r>
            <a:r>
              <a:rPr lang="en-US" sz="1800" dirty="0"/>
              <a:t>, H., Leavitt, M. L., </a:t>
            </a:r>
            <a:r>
              <a:rPr lang="en-US" sz="1800" dirty="0" err="1"/>
              <a:t>Morcos</a:t>
            </a:r>
            <a:r>
              <a:rPr lang="en-US" sz="1800" dirty="0"/>
              <a:t>, A. S., </a:t>
            </a:r>
            <a:r>
              <a:rPr lang="en-US" sz="1800" dirty="0" err="1"/>
              <a:t>Biroli</a:t>
            </a:r>
            <a:r>
              <a:rPr lang="en-US" sz="1800" dirty="0"/>
              <a:t>, G., &amp; </a:t>
            </a:r>
            <a:r>
              <a:rPr lang="en-US" sz="1800" dirty="0" err="1"/>
              <a:t>Sagun</a:t>
            </a:r>
            <a:r>
              <a:rPr lang="en-US" sz="1800" dirty="0"/>
              <a:t>, L. (2021). </a:t>
            </a:r>
            <a:r>
              <a:rPr lang="en-US" sz="1800" dirty="0" err="1"/>
              <a:t>ConViT</a:t>
            </a:r>
            <a:r>
              <a:rPr lang="en-US" sz="1800" dirty="0"/>
              <a:t>: Improving Vision Transformers with Soft Convolutional Inductive Biases. </a:t>
            </a:r>
            <a:r>
              <a:rPr lang="en-US" sz="1800" i="1" dirty="0"/>
              <a:t>Proceedings of the 38th International Conference on Machine Learning.</a:t>
            </a:r>
            <a:r>
              <a:rPr lang="en-US" sz="1800" dirty="0"/>
              <a:t> </a:t>
            </a:r>
            <a:r>
              <a:rPr lang="en-US" sz="1800" i="1" dirty="0"/>
              <a:t>139</a:t>
            </a:r>
            <a:r>
              <a:rPr lang="en-US" sz="1800" dirty="0"/>
              <a:t>, pp. 2286-2296. PMLR. Retrieved from https://proceedings.mlr.press/v139/d-ascoli21a.html</a:t>
            </a:r>
          </a:p>
          <a:p>
            <a:pPr marL="457200" indent="-457200">
              <a:buFont typeface="+mj-lt"/>
              <a:buAutoNum type="arabicPeriod"/>
            </a:pPr>
            <a:r>
              <a:rPr lang="en-US" sz="1800" dirty="0" err="1"/>
              <a:t>Dosovitskiy</a:t>
            </a:r>
            <a:r>
              <a:rPr lang="en-US" sz="1800" dirty="0"/>
              <a:t>, A., Beyer, L., </a:t>
            </a:r>
            <a:r>
              <a:rPr lang="en-US" sz="1800" dirty="0" err="1"/>
              <a:t>Kolesnikov</a:t>
            </a:r>
            <a:r>
              <a:rPr lang="en-US" sz="1800" dirty="0"/>
              <a:t>, A., </a:t>
            </a:r>
            <a:r>
              <a:rPr lang="en-US" sz="1800" dirty="0" err="1"/>
              <a:t>Weissenborn</a:t>
            </a:r>
            <a:r>
              <a:rPr lang="en-US" sz="1800" dirty="0"/>
              <a:t>, D., </a:t>
            </a:r>
            <a:r>
              <a:rPr lang="en-US" sz="1800" dirty="0" err="1"/>
              <a:t>Zhai</a:t>
            </a:r>
            <a:r>
              <a:rPr lang="en-US" sz="1800" dirty="0"/>
              <a:t>, X., </a:t>
            </a:r>
            <a:r>
              <a:rPr lang="en-US" sz="1800" dirty="0" err="1"/>
              <a:t>Unterthiner</a:t>
            </a:r>
            <a:r>
              <a:rPr lang="en-US" sz="1800" dirty="0"/>
              <a:t>, T., . . . </a:t>
            </a:r>
            <a:r>
              <a:rPr lang="en-US" sz="1800" dirty="0" err="1"/>
              <a:t>Houlsby</a:t>
            </a:r>
            <a:r>
              <a:rPr lang="en-US" sz="1800" dirty="0"/>
              <a:t>, N. (2020). An Image is Worth 16x16 Words: Transformers for Image Recognition at Scale. </a:t>
            </a:r>
            <a:r>
              <a:rPr lang="en-US" sz="1800" i="1" dirty="0" err="1"/>
              <a:t>arXiv</a:t>
            </a:r>
            <a:r>
              <a:rPr lang="en-US" sz="1800" i="1" dirty="0"/>
              <a:t> Computer Vision and Pattern Recognition</a:t>
            </a:r>
            <a:r>
              <a:rPr lang="en-US" sz="1800" dirty="0"/>
              <a:t>. doi:10.48550/arXiv.2010.11929</a:t>
            </a:r>
          </a:p>
          <a:p>
            <a:pPr marL="457200" indent="-457200">
              <a:buFont typeface="+mj-lt"/>
              <a:buAutoNum type="arabicPeriod"/>
            </a:pPr>
            <a:r>
              <a:rPr lang="en-US" sz="1800" dirty="0"/>
              <a:t>Gao, J., </a:t>
            </a:r>
            <a:r>
              <a:rPr lang="en-US" sz="1800" dirty="0" err="1"/>
              <a:t>Guo</a:t>
            </a:r>
            <a:r>
              <a:rPr lang="en-US" sz="1800" dirty="0"/>
              <a:t>, Y., &amp; Wang, Z. (2016, December 9). Matrix Neural Networks. </a:t>
            </a:r>
            <a:r>
              <a:rPr lang="en-US" sz="1800" i="1" dirty="0" err="1"/>
              <a:t>arXiv</a:t>
            </a:r>
            <a:r>
              <a:rPr lang="en-US" sz="1800" i="1" dirty="0"/>
              <a:t> Preprints</a:t>
            </a:r>
            <a:r>
              <a:rPr lang="en-US" sz="1800" dirty="0"/>
              <a:t>, 1-28. doi:10.48550/arXiv.1601.03805</a:t>
            </a:r>
          </a:p>
          <a:p>
            <a:pPr marL="457200" indent="-457200">
              <a:buFont typeface="+mj-lt"/>
              <a:buAutoNum type="arabicPeriod"/>
            </a:pPr>
            <a:r>
              <a:rPr lang="en-US" sz="1800" dirty="0"/>
              <a:t>He, K., Zhang, X., Ren, S., &amp; Sun, J. (2016). Deep Residual Learning for Image Recognition. </a:t>
            </a:r>
            <a:r>
              <a:rPr lang="en-US" sz="1800" i="1" dirty="0"/>
              <a:t>Proceedings of the 2016 IEEE Conference on Computer Vision and Pattern Recognition (CVPR 2016)</a:t>
            </a:r>
            <a:r>
              <a:rPr lang="en-US" sz="1800" dirty="0"/>
              <a:t> (pp. 770-778). IEEE. doi:10.1109/CVPR.2016.90</a:t>
            </a:r>
          </a:p>
          <a:p>
            <a:pPr marL="457200" indent="-457200">
              <a:buFont typeface="+mj-lt"/>
              <a:buAutoNum type="arabicPeriod"/>
            </a:pPr>
            <a:r>
              <a:rPr lang="en-US" sz="1800" dirty="0" err="1"/>
              <a:t>Krizhevsky</a:t>
            </a:r>
            <a:r>
              <a:rPr lang="en-US" sz="1800" dirty="0"/>
              <a:t>, A., </a:t>
            </a:r>
            <a:r>
              <a:rPr lang="en-US" sz="1800" dirty="0" err="1"/>
              <a:t>Sutskever</a:t>
            </a:r>
            <a:r>
              <a:rPr lang="en-US" sz="1800" dirty="0"/>
              <a:t>, I., &amp; Hinton, G. E. (2012). ImageNet Classification with Deep Convolutional Neural Networks. (F. Pereira, C. Burges, L. </a:t>
            </a:r>
            <a:r>
              <a:rPr lang="en-US" sz="1800" dirty="0" err="1"/>
              <a:t>Bottou</a:t>
            </a:r>
            <a:r>
              <a:rPr lang="en-US" sz="1800" dirty="0"/>
              <a:t>, &amp; K. Weinberger, Eds.) </a:t>
            </a:r>
            <a:r>
              <a:rPr lang="en-US" sz="1800" i="1" dirty="0"/>
              <a:t>Advances in Neural Information Processing Systems 25 (NIPS 2012)</a:t>
            </a:r>
            <a:r>
              <a:rPr lang="en-US" sz="1800" dirty="0"/>
              <a:t>. doi:10.1145/3065386</a:t>
            </a:r>
          </a:p>
          <a:p>
            <a:pPr marL="457200" indent="-457200">
              <a:buFont typeface="+mj-lt"/>
              <a:buAutoNum type="arabicPeriod"/>
            </a:pPr>
            <a:endParaRPr lang="en-US" sz="1800"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59</a:t>
            </a:fld>
            <a:endParaRPr lang="en-US"/>
          </a:p>
        </p:txBody>
      </p:sp>
    </p:spTree>
    <p:extLst>
      <p:ext uri="{BB962C8B-B14F-4D97-AF65-F5344CB8AC3E}">
        <p14:creationId xmlns:p14="http://schemas.microsoft.com/office/powerpoint/2010/main" val="1929064797"/>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References</a:t>
            </a:r>
          </a:p>
        </p:txBody>
      </p:sp>
      <p:sp>
        <p:nvSpPr>
          <p:cNvPr id="3" name="Content Placeholder 2"/>
          <p:cNvSpPr>
            <a:spLocks noGrp="1"/>
          </p:cNvSpPr>
          <p:nvPr>
            <p:ph idx="1"/>
          </p:nvPr>
        </p:nvSpPr>
        <p:spPr>
          <a:xfrm>
            <a:off x="71120" y="914399"/>
            <a:ext cx="12019280" cy="5176066"/>
          </a:xfrm>
        </p:spPr>
        <p:txBody>
          <a:bodyPr>
            <a:normAutofit fontScale="62500" lnSpcReduction="20000"/>
          </a:bodyPr>
          <a:lstStyle/>
          <a:p>
            <a:pPr marL="514350" indent="-514350">
              <a:lnSpc>
                <a:spcPct val="120000"/>
              </a:lnSpc>
              <a:buFont typeface="+mj-lt"/>
              <a:buAutoNum type="arabicPeriod" startAt="7"/>
            </a:pPr>
            <a:r>
              <a:rPr lang="en-US" dirty="0" err="1" smtClean="0"/>
              <a:t>LeCun</a:t>
            </a:r>
            <a:r>
              <a:rPr lang="en-US" dirty="0"/>
              <a:t>, Y., </a:t>
            </a:r>
            <a:r>
              <a:rPr lang="en-US" dirty="0" err="1"/>
              <a:t>Bottou</a:t>
            </a:r>
            <a:r>
              <a:rPr lang="en-US" dirty="0"/>
              <a:t>, L., </a:t>
            </a:r>
            <a:r>
              <a:rPr lang="en-US" dirty="0" err="1"/>
              <a:t>Bengio</a:t>
            </a:r>
            <a:r>
              <a:rPr lang="en-US" dirty="0"/>
              <a:t>, Y., &amp; </a:t>
            </a:r>
            <a:r>
              <a:rPr lang="en-US" dirty="0" err="1"/>
              <a:t>Haffner</a:t>
            </a:r>
            <a:r>
              <a:rPr lang="en-US" dirty="0"/>
              <a:t>, P. (1998, November 30). Gradient-Based Learning Applied to Document Recognition. </a:t>
            </a:r>
            <a:r>
              <a:rPr lang="en-US" i="1" dirty="0"/>
              <a:t>Proceedings of the IEEE, 86</a:t>
            </a:r>
            <a:r>
              <a:rPr lang="en-US" dirty="0"/>
              <a:t>(11), 2278-2324. doi:10.1109/5.726791</a:t>
            </a:r>
          </a:p>
          <a:p>
            <a:pPr marL="514350" indent="-514350">
              <a:lnSpc>
                <a:spcPct val="120000"/>
              </a:lnSpc>
              <a:buFont typeface="+mj-lt"/>
              <a:buAutoNum type="arabicPeriod" startAt="7"/>
            </a:pPr>
            <a:r>
              <a:rPr lang="en-US" dirty="0"/>
              <a:t>Lin, M., Chen, Q., &amp; Yan, S. (2014, March 4). Network In Network. </a:t>
            </a:r>
            <a:r>
              <a:rPr lang="en-US" i="1" dirty="0" err="1"/>
              <a:t>arXiv</a:t>
            </a:r>
            <a:r>
              <a:rPr lang="en-US" i="1" dirty="0"/>
              <a:t> Neural and Evolutionary Computing</a:t>
            </a:r>
            <a:r>
              <a:rPr lang="en-US" dirty="0"/>
              <a:t>. doi:10.48550/arXiv.1312.4400</a:t>
            </a:r>
          </a:p>
          <a:p>
            <a:pPr marL="514350" indent="-514350">
              <a:lnSpc>
                <a:spcPct val="120000"/>
              </a:lnSpc>
              <a:buFont typeface="+mj-lt"/>
              <a:buAutoNum type="arabicPeriod" startAt="7"/>
            </a:pPr>
            <a:r>
              <a:rPr lang="en-US" dirty="0" err="1"/>
              <a:t>Simonyan</a:t>
            </a:r>
            <a:r>
              <a:rPr lang="en-US" dirty="0"/>
              <a:t>, K., &amp; Zisserman, A. (2015, April 10). Very Deep Convolutional Networks for Large-Scale Image Recognition. </a:t>
            </a:r>
            <a:r>
              <a:rPr lang="en-US" i="1" dirty="0" err="1"/>
              <a:t>arXiv</a:t>
            </a:r>
            <a:r>
              <a:rPr lang="en-US" i="1" dirty="0"/>
              <a:t> Computer Vision and Pattern Recognition</a:t>
            </a:r>
            <a:r>
              <a:rPr lang="en-US" dirty="0"/>
              <a:t>. doi:10.48550/arXiv.1409.1556</a:t>
            </a:r>
          </a:p>
          <a:p>
            <a:pPr marL="514350" indent="-514350">
              <a:lnSpc>
                <a:spcPct val="120000"/>
              </a:lnSpc>
              <a:buFont typeface="+mj-lt"/>
              <a:buAutoNum type="arabicPeriod" startAt="7"/>
            </a:pPr>
            <a:r>
              <a:rPr lang="en-US" dirty="0" err="1"/>
              <a:t>Szegedy</a:t>
            </a:r>
            <a:r>
              <a:rPr lang="en-US" dirty="0"/>
              <a:t>, C., Liu, W., </a:t>
            </a:r>
            <a:r>
              <a:rPr lang="en-US" dirty="0" err="1"/>
              <a:t>Jia</a:t>
            </a:r>
            <a:r>
              <a:rPr lang="en-US" dirty="0"/>
              <a:t>, Y., </a:t>
            </a:r>
            <a:r>
              <a:rPr lang="en-US" dirty="0" err="1"/>
              <a:t>Sermanet</a:t>
            </a:r>
            <a:r>
              <a:rPr lang="en-US" dirty="0"/>
              <a:t>, P., Reed, S., </a:t>
            </a:r>
            <a:r>
              <a:rPr lang="en-US" dirty="0" err="1"/>
              <a:t>Anguelov</a:t>
            </a:r>
            <a:r>
              <a:rPr lang="en-US" dirty="0"/>
              <a:t>, D., . . . </a:t>
            </a:r>
            <a:r>
              <a:rPr lang="en-US" dirty="0" err="1"/>
              <a:t>Rabinovich</a:t>
            </a:r>
            <a:r>
              <a:rPr lang="en-US" dirty="0"/>
              <a:t>, A. (2015). Going Deeper With Convolutions. </a:t>
            </a:r>
            <a:r>
              <a:rPr lang="en-US" i="1" dirty="0"/>
              <a:t>Proceedings of the IEEE Conference on Computer Vision and Pattern Recognition (CVPR 2015)</a:t>
            </a:r>
            <a:r>
              <a:rPr lang="en-US" dirty="0"/>
              <a:t> (pp. 1-9). IEEE. Retrieved from https://www.cv-foundation.org/openaccess/content_cvpr_2015/html/Szegedy_Going_Deeper_With_2015_CVPR_paper.html</a:t>
            </a:r>
          </a:p>
          <a:p>
            <a:pPr marL="514350" indent="-514350">
              <a:lnSpc>
                <a:spcPct val="120000"/>
              </a:lnSpc>
              <a:buFont typeface="+mj-lt"/>
              <a:buAutoNum type="arabicPeriod" startAt="7"/>
            </a:pPr>
            <a:r>
              <a:rPr lang="en-US" dirty="0" err="1"/>
              <a:t>Vaswani</a:t>
            </a:r>
            <a:r>
              <a:rPr lang="en-US" dirty="0"/>
              <a:t>, A., </a:t>
            </a:r>
            <a:r>
              <a:rPr lang="en-US" dirty="0" err="1"/>
              <a:t>Shazeer</a:t>
            </a:r>
            <a:r>
              <a:rPr lang="en-US" dirty="0"/>
              <a:t>, N., </a:t>
            </a:r>
            <a:r>
              <a:rPr lang="en-US" dirty="0" err="1"/>
              <a:t>Parmar</a:t>
            </a:r>
            <a:r>
              <a:rPr lang="en-US" dirty="0"/>
              <a:t>, N., </a:t>
            </a:r>
            <a:r>
              <a:rPr lang="en-US" dirty="0" err="1"/>
              <a:t>Uszkoreit</a:t>
            </a:r>
            <a:r>
              <a:rPr lang="en-US" dirty="0"/>
              <a:t>, J., Jones, L., Gomez, A. N., . . . </a:t>
            </a:r>
            <a:r>
              <a:rPr lang="en-US" dirty="0" err="1"/>
              <a:t>Polosukhin</a:t>
            </a:r>
            <a:r>
              <a:rPr lang="en-US" dirty="0"/>
              <a:t>, I. (2017). Attention Is All You Need. In I. </a:t>
            </a:r>
            <a:r>
              <a:rPr lang="en-US" dirty="0" err="1"/>
              <a:t>Guyon</a:t>
            </a:r>
            <a:r>
              <a:rPr lang="en-US" dirty="0"/>
              <a:t>, U. Von </a:t>
            </a:r>
            <a:r>
              <a:rPr lang="en-US" dirty="0" err="1"/>
              <a:t>Luxburg</a:t>
            </a:r>
            <a:r>
              <a:rPr lang="en-US" dirty="0"/>
              <a:t>, S. </a:t>
            </a:r>
            <a:r>
              <a:rPr lang="en-US" dirty="0" err="1"/>
              <a:t>Bengio</a:t>
            </a:r>
            <a:r>
              <a:rPr lang="en-US" dirty="0"/>
              <a:t>, H. Wallach, R. Fergus, &amp; S. </a:t>
            </a:r>
            <a:r>
              <a:rPr lang="en-US" dirty="0" err="1"/>
              <a:t>Vishwanathan</a:t>
            </a:r>
            <a:r>
              <a:rPr lang="en-US" dirty="0"/>
              <a:t> (Ed.), </a:t>
            </a:r>
            <a:r>
              <a:rPr lang="en-US" i="1" dirty="0"/>
              <a:t>Advances in Neural Information Processing Systems (NIPS 2017).</a:t>
            </a:r>
            <a:r>
              <a:rPr lang="en-US" dirty="0"/>
              <a:t> </a:t>
            </a:r>
            <a:r>
              <a:rPr lang="en-US" i="1" dirty="0"/>
              <a:t>30.</a:t>
            </a:r>
            <a:r>
              <a:rPr lang="en-US" dirty="0"/>
              <a:t> Long Beach: </a:t>
            </a:r>
            <a:r>
              <a:rPr lang="en-US" dirty="0" err="1"/>
              <a:t>NeurIPS</a:t>
            </a:r>
            <a:r>
              <a:rPr lang="en-US" dirty="0"/>
              <a:t>. Retrieved from https://arxiv.org/abs/1706.03762</a:t>
            </a:r>
          </a:p>
          <a:p>
            <a:pPr marL="514350" indent="-514350">
              <a:lnSpc>
                <a:spcPct val="120000"/>
              </a:lnSpc>
              <a:buFont typeface="+mj-lt"/>
              <a:buAutoNum type="arabicPeriod" startAt="7"/>
            </a:pPr>
            <a:r>
              <a:rPr lang="en-US" dirty="0"/>
              <a:t>Wang, F., Jiang, M., Qian, C., Yang, S., Li, C., Zhang, H., . . . Tang, X. (2017, April 23). Residual Attention Network for Image Classification. </a:t>
            </a:r>
            <a:r>
              <a:rPr lang="en-US" i="1" dirty="0"/>
              <a:t>Proceedings of the IEEE Conference on Computer Vision and Pattern Recognition (CVPR 2017)</a:t>
            </a:r>
            <a:r>
              <a:rPr lang="en-US" dirty="0"/>
              <a:t> (pp. 3156-3164). IEEE. Retrieved from https://openaccess.thecvf.com/content_cvpr_2017/html/Wang_Residual_Attention_Network_CVPR_2017_paper.html</a:t>
            </a:r>
          </a:p>
          <a:p>
            <a:pPr marL="514350" indent="-514350">
              <a:buFont typeface="+mj-lt"/>
              <a:buAutoNum type="arabicPeriod" startAt="7"/>
            </a:pPr>
            <a:endParaRPr lang="en-US" dirty="0"/>
          </a:p>
        </p:txBody>
      </p:sp>
      <p:sp>
        <p:nvSpPr>
          <p:cNvPr id="4" name="Date Placeholder 3"/>
          <p:cNvSpPr>
            <a:spLocks noGrp="1"/>
          </p:cNvSpPr>
          <p:nvPr>
            <p:ph type="dt" sz="half" idx="10"/>
          </p:nvPr>
        </p:nvSpPr>
        <p:spPr/>
        <p:txBody>
          <a:bodyPr/>
          <a:lstStyle/>
          <a:p>
            <a:r>
              <a:rPr lang="en-US" smtClean="0"/>
              <a:t>3/4/2026</a:t>
            </a:r>
            <a:endParaRPr lang="en-US"/>
          </a:p>
        </p:txBody>
      </p:sp>
      <p:sp>
        <p:nvSpPr>
          <p:cNvPr id="5" name="Footer Placeholder 4"/>
          <p:cNvSpPr>
            <a:spLocks noGrp="1"/>
          </p:cNvSpPr>
          <p:nvPr>
            <p:ph type="ftr" sz="quarter" idx="11"/>
          </p:nvPr>
        </p:nvSpPr>
        <p:spPr/>
        <p:txBody>
          <a:bodyPr/>
          <a:lstStyle/>
          <a:p>
            <a:r>
              <a:rPr lang="en-US" smtClean="0"/>
              <a:t>Matrix neural network - Loc Nguyen</a:t>
            </a:r>
            <a:endParaRPr lang="en-US"/>
          </a:p>
        </p:txBody>
      </p:sp>
      <p:sp>
        <p:nvSpPr>
          <p:cNvPr id="6" name="Slide Number Placeholder 5"/>
          <p:cNvSpPr>
            <a:spLocks noGrp="1"/>
          </p:cNvSpPr>
          <p:nvPr>
            <p:ph type="sldNum" sz="quarter" idx="12"/>
          </p:nvPr>
        </p:nvSpPr>
        <p:spPr/>
        <p:txBody>
          <a:bodyPr/>
          <a:lstStyle/>
          <a:p>
            <a:fld id="{5DB5036F-1FF2-46C4-8D2B-59C7E3B91952}" type="slidenum">
              <a:rPr lang="en-US" smtClean="0"/>
              <a:pPr/>
              <a:t>60</a:t>
            </a:fld>
            <a:endParaRPr lang="en-US"/>
          </a:p>
        </p:txBody>
      </p:sp>
    </p:spTree>
    <p:extLst>
      <p:ext uri="{BB962C8B-B14F-4D97-AF65-F5344CB8AC3E}">
        <p14:creationId xmlns:p14="http://schemas.microsoft.com/office/powerpoint/2010/main" val="1065549049"/>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48159"/>
            <a:ext cx="10515600" cy="660486"/>
          </a:xfrm>
        </p:spPr>
        <p:txBody>
          <a:bodyPr>
            <a:noAutofit/>
          </a:bodyPr>
          <a:lstStyle/>
          <a:p>
            <a:pPr algn="ctr"/>
            <a:r>
              <a:rPr lang="en-US" sz="5000" dirty="0">
                <a:effectLst>
                  <a:outerShdw blurRad="38100" dist="38100" dir="2700000" algn="tl">
                    <a:srgbClr val="000000">
                      <a:alpha val="43137"/>
                    </a:srgbClr>
                  </a:outerShdw>
                </a:effectLst>
              </a:rPr>
              <a:t>Thank you for </a:t>
            </a:r>
            <a:r>
              <a:rPr lang="en-US" sz="5000" dirty="0" smtClean="0">
                <a:effectLst>
                  <a:outerShdw blurRad="38100" dist="38100" dir="2700000" algn="tl">
                    <a:srgbClr val="000000">
                      <a:alpha val="43137"/>
                    </a:srgbClr>
                  </a:outerShdw>
                </a:effectLst>
              </a:rPr>
              <a:t>listening</a:t>
            </a:r>
            <a:endParaRPr lang="en-US" sz="5000" dirty="0">
              <a:effectLst>
                <a:outerShdw blurRad="38100" dist="38100" dir="2700000" algn="tl">
                  <a:srgbClr val="000000">
                    <a:alpha val="43137"/>
                  </a:srgbClr>
                </a:outerShdw>
              </a:effectLst>
            </a:endParaRPr>
          </a:p>
        </p:txBody>
      </p:sp>
      <p:sp>
        <p:nvSpPr>
          <p:cNvPr id="4" name="Slide Number Placeholder 3"/>
          <p:cNvSpPr>
            <a:spLocks noGrp="1"/>
          </p:cNvSpPr>
          <p:nvPr>
            <p:ph type="sldNum" sz="quarter" idx="12"/>
          </p:nvPr>
        </p:nvSpPr>
        <p:spPr/>
        <p:txBody>
          <a:bodyPr/>
          <a:lstStyle/>
          <a:p>
            <a:fld id="{5DB5036F-1FF2-46C4-8D2B-59C7E3B91952}" type="slidenum">
              <a:rPr lang="en-US" smtClean="0"/>
              <a:pPr/>
              <a:t>61</a:t>
            </a:fld>
            <a:endParaRPr lang="en-US"/>
          </a:p>
        </p:txBody>
      </p:sp>
      <p:sp>
        <p:nvSpPr>
          <p:cNvPr id="3" name="Footer Placeholder 2"/>
          <p:cNvSpPr>
            <a:spLocks noGrp="1"/>
          </p:cNvSpPr>
          <p:nvPr>
            <p:ph type="ftr" sz="quarter" idx="11"/>
          </p:nvPr>
        </p:nvSpPr>
        <p:spPr/>
        <p:txBody>
          <a:bodyPr/>
          <a:lstStyle/>
          <a:p>
            <a:r>
              <a:rPr lang="en-US" smtClean="0"/>
              <a:t>Matrix neural network - Loc Nguyen</a:t>
            </a:r>
            <a:endParaRPr lang="en-US"/>
          </a:p>
        </p:txBody>
      </p:sp>
      <p:sp>
        <p:nvSpPr>
          <p:cNvPr id="5" name="Date Placeholder 4"/>
          <p:cNvSpPr>
            <a:spLocks noGrp="1"/>
          </p:cNvSpPr>
          <p:nvPr>
            <p:ph type="dt" sz="half" idx="10"/>
          </p:nvPr>
        </p:nvSpPr>
        <p:spPr/>
        <p:txBody>
          <a:bodyPr/>
          <a:lstStyle/>
          <a:p>
            <a:r>
              <a:rPr lang="en-US" smtClean="0"/>
              <a:t>3/4/2026</a:t>
            </a:r>
            <a:endParaRPr lang="en-US"/>
          </a:p>
        </p:txBody>
      </p:sp>
    </p:spTree>
    <p:extLst>
      <p:ext uri="{BB962C8B-B14F-4D97-AF65-F5344CB8AC3E}">
        <p14:creationId xmlns:p14="http://schemas.microsoft.com/office/powerpoint/2010/main" val="1326608893"/>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2583</TotalTime>
  <Words>10414</Words>
  <Application>Microsoft Office PowerPoint</Application>
  <PresentationFormat>Widescreen</PresentationFormat>
  <Paragraphs>1134</Paragraphs>
  <Slides>61</Slides>
  <Notes>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61</vt:i4>
      </vt:variant>
    </vt:vector>
  </HeadingPairs>
  <TitlesOfParts>
    <vt:vector size="67" baseType="lpstr">
      <vt:lpstr>DengXian</vt:lpstr>
      <vt:lpstr>Arial</vt:lpstr>
      <vt:lpstr>Calibri</vt:lpstr>
      <vt:lpstr>Cambria Math</vt:lpstr>
      <vt:lpstr>Times New Roman</vt:lpstr>
      <vt:lpstr>Office Theme</vt:lpstr>
      <vt:lpstr>Is matrix neural network the alternative of convolutional neural network?</vt:lpstr>
      <vt:lpstr>Abstract</vt:lpstr>
      <vt:lpstr>Table of contents</vt:lpstr>
      <vt:lpstr>1. Introduction (main)</vt:lpstr>
      <vt:lpstr>1. Introduction (main)</vt:lpstr>
      <vt:lpstr>1. Introduction(main)</vt:lpstr>
      <vt:lpstr>1. Introduction (main)</vt:lpstr>
      <vt:lpstr>1. Introduction</vt:lpstr>
      <vt:lpstr>2. Related works (main)</vt:lpstr>
      <vt:lpstr>2. Related works (skip)</vt:lpstr>
      <vt:lpstr>2. Related works (skip)</vt:lpstr>
      <vt:lpstr>2. Related works (skip)</vt:lpstr>
      <vt:lpstr>2. Related works</vt:lpstr>
      <vt:lpstr>3. Matrix neural network (main)</vt:lpstr>
      <vt:lpstr>3. Matrix neural network</vt:lpstr>
      <vt:lpstr>3. Matrix neural network (skip)</vt:lpstr>
      <vt:lpstr>3. Matrix neural network (skip)</vt:lpstr>
      <vt:lpstr>3. Matrix neural network (skip)</vt:lpstr>
      <vt:lpstr>3. Matrix neural network (main)</vt:lpstr>
      <vt:lpstr>3. Matrix neural network</vt:lpstr>
      <vt:lpstr>3. Matrix neural network</vt:lpstr>
      <vt:lpstr>3. Matrix neural network (main)</vt:lpstr>
      <vt:lpstr>3. Matrix neural network</vt:lpstr>
      <vt:lpstr>3. Matrix neural network (main)</vt:lpstr>
      <vt:lpstr>3. Matrix neural network</vt:lpstr>
      <vt:lpstr>3. Matrix neural network</vt:lpstr>
      <vt:lpstr>3. Matrix neural network (skip)</vt:lpstr>
      <vt:lpstr>3. Matrix neural network (skip)</vt:lpstr>
      <vt:lpstr>3. Matrix neural network (main)</vt:lpstr>
      <vt:lpstr>3. Matrix neural network</vt:lpstr>
      <vt:lpstr>3. Matrix neural network</vt:lpstr>
      <vt:lpstr>3. Matrix neural network (main)</vt:lpstr>
      <vt:lpstr>3. Matrix neural network (main)</vt:lpstr>
      <vt:lpstr>3. Matrix neural network</vt:lpstr>
      <vt:lpstr>4. Experimental design (main)</vt:lpstr>
      <vt:lpstr>4. Experimental design</vt:lpstr>
      <vt:lpstr>4. Experimental design (main)</vt:lpstr>
      <vt:lpstr>4. Experimental design (skip)</vt:lpstr>
      <vt:lpstr>4. Experimental design</vt:lpstr>
      <vt:lpstr>4. Experimental design (skip)</vt:lpstr>
      <vt:lpstr>4. Experimental design (skip)</vt:lpstr>
      <vt:lpstr>5. Results and discussions (main)</vt:lpstr>
      <vt:lpstr>5. Results and discussions (skip)</vt:lpstr>
      <vt:lpstr>5. Results and discussions (skip)</vt:lpstr>
      <vt:lpstr>5. Results and discussions (main)</vt:lpstr>
      <vt:lpstr>5. Results and discussions (skip)</vt:lpstr>
      <vt:lpstr>5. Results and discussions (skip)</vt:lpstr>
      <vt:lpstr>5. Results and discussions (skip)</vt:lpstr>
      <vt:lpstr>5. Results and discussions (main)</vt:lpstr>
      <vt:lpstr>5. Results and discussions</vt:lpstr>
      <vt:lpstr>5. Results and discussions (main)</vt:lpstr>
      <vt:lpstr>5. Results and discussions (main)</vt:lpstr>
      <vt:lpstr>5. Results and discussions (skip)</vt:lpstr>
      <vt:lpstr>5. Results and discussions (skip)</vt:lpstr>
      <vt:lpstr>5. Results and discussions (skip)</vt:lpstr>
      <vt:lpstr>5. Results and discussions (skip)</vt:lpstr>
      <vt:lpstr>5. Results and discussions (main)</vt:lpstr>
      <vt:lpstr>6. Conclusions</vt:lpstr>
      <vt:lpstr>References</vt:lpstr>
      <vt:lpstr>References</vt:lpstr>
      <vt:lpstr>Thank you for listening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Loc Nguyen</dc:creator>
  <cp:lastModifiedBy>USER</cp:lastModifiedBy>
  <cp:revision>502</cp:revision>
  <dcterms:created xsi:type="dcterms:W3CDTF">2017-06-28T03:43:04Z</dcterms:created>
  <dcterms:modified xsi:type="dcterms:W3CDTF">2026-06-14T01:47:03Z</dcterms:modified>
</cp:coreProperties>
</file>